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48" r:id="rId1"/>
  </p:sldMasterIdLst>
  <p:notesMasterIdLst>
    <p:notesMasterId r:id="rId27"/>
  </p:notesMasterIdLst>
  <p:sldIdLst>
    <p:sldId id="330" r:id="rId2"/>
    <p:sldId id="273" r:id="rId3"/>
    <p:sldId id="329" r:id="rId4"/>
    <p:sldId id="266" r:id="rId5"/>
    <p:sldId id="312" r:id="rId6"/>
    <p:sldId id="327" r:id="rId7"/>
    <p:sldId id="328" r:id="rId8"/>
    <p:sldId id="272" r:id="rId9"/>
    <p:sldId id="326" r:id="rId10"/>
    <p:sldId id="313" r:id="rId11"/>
    <p:sldId id="281" r:id="rId12"/>
    <p:sldId id="315" r:id="rId13"/>
    <p:sldId id="316" r:id="rId14"/>
    <p:sldId id="284" r:id="rId15"/>
    <p:sldId id="317" r:id="rId16"/>
    <p:sldId id="318" r:id="rId17"/>
    <p:sldId id="288" r:id="rId18"/>
    <p:sldId id="319" r:id="rId19"/>
    <p:sldId id="321" r:id="rId20"/>
    <p:sldId id="322" r:id="rId21"/>
    <p:sldId id="323" r:id="rId22"/>
    <p:sldId id="324" r:id="rId23"/>
    <p:sldId id="331" r:id="rId24"/>
    <p:sldId id="325" r:id="rId25"/>
    <p:sldId id="258"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822334"/>
    <a:srgbClr val="F0EBF5"/>
    <a:srgbClr val="FFF1E6"/>
    <a:srgbClr val="FFEAEA"/>
    <a:srgbClr val="D7E4D7"/>
    <a:srgbClr val="EAF7E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E269D01E-BC32-4049-B463-5C60D7B0CCD2}" styleName="Themed Style 2 - Acc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8088"/>
    <p:restoredTop sz="96860"/>
  </p:normalViewPr>
  <p:slideViewPr>
    <p:cSldViewPr snapToGrid="0">
      <p:cViewPr varScale="1">
        <p:scale>
          <a:sx n="128" d="100"/>
          <a:sy n="128" d="100"/>
        </p:scale>
        <p:origin x="320" y="176"/>
      </p:cViewPr>
      <p:guideLst/>
    </p:cSldViewPr>
  </p:slideViewPr>
  <p:outlineViewPr>
    <p:cViewPr>
      <p:scale>
        <a:sx n="33" d="100"/>
        <a:sy n="33" d="100"/>
      </p:scale>
      <p:origin x="0" y="0"/>
    </p:cViewPr>
  </p:outlin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B924955-8B34-A04F-9FB2-E0067282C414}" type="datetimeFigureOut">
              <a:rPr lang="en-US" smtClean="0"/>
              <a:t>4/5/26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552EBC6-F9AA-0C43-A9D5-630614822BE9}" type="slidenum">
              <a:rPr lang="en-US" smtClean="0"/>
              <a:t>‹#›</a:t>
            </a:fld>
            <a:endParaRPr lang="en-US"/>
          </a:p>
        </p:txBody>
      </p:sp>
    </p:spTree>
    <p:extLst>
      <p:ext uri="{BB962C8B-B14F-4D97-AF65-F5344CB8AC3E}">
        <p14:creationId xmlns:p14="http://schemas.microsoft.com/office/powerpoint/2010/main" val="3297750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2C7EE-05C5-6ED5-7B79-573E62AAD680}"/>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3C82534-CC9F-2F84-7FB8-53311B9783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3E9B9B4-89EE-DC92-DD3C-50AEEFE3F014}"/>
              </a:ext>
            </a:extLst>
          </p:cNvPr>
          <p:cNvSpPr>
            <a:spLocks noGrp="1"/>
          </p:cNvSpPr>
          <p:nvPr>
            <p:ph type="dt" sz="half" idx="10"/>
          </p:nvPr>
        </p:nvSpPr>
        <p:spPr/>
        <p:txBody>
          <a:bodyPr/>
          <a:lstStyle/>
          <a:p>
            <a:fld id="{1213D8A6-EA0A-084D-8DA9-8594A0AEFD45}" type="datetime1">
              <a:rPr lang="en-US" smtClean="0"/>
              <a:t>4/5/26</a:t>
            </a:fld>
            <a:endParaRPr lang="en-US"/>
          </a:p>
        </p:txBody>
      </p:sp>
      <p:sp>
        <p:nvSpPr>
          <p:cNvPr id="5" name="Footer Placeholder 4">
            <a:extLst>
              <a:ext uri="{FF2B5EF4-FFF2-40B4-BE49-F238E27FC236}">
                <a16:creationId xmlns:a16="http://schemas.microsoft.com/office/drawing/2014/main" id="{FDEEEEB6-93DB-7DC9-5677-209D3C224EB9}"/>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1C26F21C-5E60-E9F6-108B-615BF7324409}"/>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11512007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1D08D0-CF38-4DB2-3D35-564D22D8ECC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BA19E71-6189-DF70-BAC9-1B4169F629A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9D9D928-B0D8-EB43-04E1-87E493BFBF8A}"/>
              </a:ext>
            </a:extLst>
          </p:cNvPr>
          <p:cNvSpPr>
            <a:spLocks noGrp="1"/>
          </p:cNvSpPr>
          <p:nvPr>
            <p:ph type="dt" sz="half" idx="10"/>
          </p:nvPr>
        </p:nvSpPr>
        <p:spPr/>
        <p:txBody>
          <a:bodyPr/>
          <a:lstStyle/>
          <a:p>
            <a:fld id="{45C60FBC-0A6B-934E-946F-80179CBF291D}" type="datetime1">
              <a:rPr lang="en-US" smtClean="0"/>
              <a:t>4/5/26</a:t>
            </a:fld>
            <a:endParaRPr lang="en-US"/>
          </a:p>
        </p:txBody>
      </p:sp>
      <p:sp>
        <p:nvSpPr>
          <p:cNvPr id="5" name="Footer Placeholder 4">
            <a:extLst>
              <a:ext uri="{FF2B5EF4-FFF2-40B4-BE49-F238E27FC236}">
                <a16:creationId xmlns:a16="http://schemas.microsoft.com/office/drawing/2014/main" id="{00D1214F-C646-0BC1-9D09-935E79D0DB01}"/>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7CE9C569-E1A7-8178-B827-543644285846}"/>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686841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D28589-55A8-4B2D-537D-2EA6A6B17EE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5C8D8C3A-9276-9ABF-6996-961FC5FD6DB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01FD18D4-1B31-A6B0-D518-15E1B5D5CC79}"/>
              </a:ext>
            </a:extLst>
          </p:cNvPr>
          <p:cNvSpPr>
            <a:spLocks noGrp="1"/>
          </p:cNvSpPr>
          <p:nvPr>
            <p:ph type="dt" sz="half" idx="10"/>
          </p:nvPr>
        </p:nvSpPr>
        <p:spPr/>
        <p:txBody>
          <a:bodyPr/>
          <a:lstStyle/>
          <a:p>
            <a:fld id="{C9B4B6B2-7D13-4746-97B3-7239DAEC0C59}" type="datetime1">
              <a:rPr lang="en-US" smtClean="0"/>
              <a:t>4/5/26</a:t>
            </a:fld>
            <a:endParaRPr lang="en-US"/>
          </a:p>
        </p:txBody>
      </p:sp>
      <p:sp>
        <p:nvSpPr>
          <p:cNvPr id="5" name="Footer Placeholder 4">
            <a:extLst>
              <a:ext uri="{FF2B5EF4-FFF2-40B4-BE49-F238E27FC236}">
                <a16:creationId xmlns:a16="http://schemas.microsoft.com/office/drawing/2014/main" id="{94E13EC7-CB12-69C5-890C-A9B9DBAC4B70}"/>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202B0C25-A597-EDEA-B562-4B6EB3360491}"/>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6221634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F16FE8-4D22-6768-605E-719011CBC77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27DC3C0-D65E-81BA-5F4A-E41CFFE882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6C41ADB-1B73-7713-91A3-38DDC077E1FF}"/>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E2AE9D0-E821-A243-92CF-7BA2DD02102B}"/>
              </a:ext>
            </a:extLst>
          </p:cNvPr>
          <p:cNvSpPr>
            <a:spLocks noGrp="1"/>
          </p:cNvSpPr>
          <p:nvPr>
            <p:ph type="dt" sz="half" idx="10"/>
          </p:nvPr>
        </p:nvSpPr>
        <p:spPr/>
        <p:txBody>
          <a:bodyPr/>
          <a:lstStyle/>
          <a:p>
            <a:fld id="{0BB48F2C-DA62-AB40-B5CB-43F3501FA683}" type="datetime1">
              <a:rPr lang="en-US" smtClean="0"/>
              <a:t>4/5/26</a:t>
            </a:fld>
            <a:endParaRPr lang="en-US"/>
          </a:p>
        </p:txBody>
      </p:sp>
      <p:sp>
        <p:nvSpPr>
          <p:cNvPr id="6" name="Footer Placeholder 5">
            <a:extLst>
              <a:ext uri="{FF2B5EF4-FFF2-40B4-BE49-F238E27FC236}">
                <a16:creationId xmlns:a16="http://schemas.microsoft.com/office/drawing/2014/main" id="{E4EE1C03-B9E8-FA43-1D26-4EEE16FE3C98}"/>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11C47D1-873B-8229-66D1-8AE195EAE6CE}"/>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740213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B8A01B-6CF2-2CE9-8859-6BC5C6137FFB}"/>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F3628FA-E687-FEAC-5200-EC1283FF3EB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093ECC-1D4F-C58A-8461-FDB86C366DD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C6E81B4-E614-5AD7-1EE1-2EFB6D18F16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644A966-7DE4-582F-AE48-DF1A1CEAB90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EEB33C7-9053-600F-7458-B39589E9DE0D}"/>
              </a:ext>
            </a:extLst>
          </p:cNvPr>
          <p:cNvSpPr>
            <a:spLocks noGrp="1"/>
          </p:cNvSpPr>
          <p:nvPr>
            <p:ph type="dt" sz="half" idx="10"/>
          </p:nvPr>
        </p:nvSpPr>
        <p:spPr/>
        <p:txBody>
          <a:bodyPr/>
          <a:lstStyle/>
          <a:p>
            <a:fld id="{E9D5FA40-FE31-A749-A407-5160762ED597}" type="datetime1">
              <a:rPr lang="en-US" smtClean="0"/>
              <a:t>4/5/26</a:t>
            </a:fld>
            <a:endParaRPr lang="en-US"/>
          </a:p>
        </p:txBody>
      </p:sp>
      <p:sp>
        <p:nvSpPr>
          <p:cNvPr id="8" name="Footer Placeholder 7">
            <a:extLst>
              <a:ext uri="{FF2B5EF4-FFF2-40B4-BE49-F238E27FC236}">
                <a16:creationId xmlns:a16="http://schemas.microsoft.com/office/drawing/2014/main" id="{BD924CAA-DD4D-DD7F-B9D0-EDB9C4456331}"/>
              </a:ext>
            </a:extLst>
          </p:cNvPr>
          <p:cNvSpPr>
            <a:spLocks noGrp="1"/>
          </p:cNvSpPr>
          <p:nvPr>
            <p:ph type="ftr" sz="quarter" idx="11"/>
          </p:nvPr>
        </p:nvSpPr>
        <p:spPr/>
        <p:txBody>
          <a:bodyPr/>
          <a:lstStyle/>
          <a:p>
            <a:r>
              <a:rPr lang="en-US"/>
              <a:t>Sapienza University of Rome</a:t>
            </a:r>
          </a:p>
        </p:txBody>
      </p:sp>
      <p:sp>
        <p:nvSpPr>
          <p:cNvPr id="9" name="Slide Number Placeholder 8">
            <a:extLst>
              <a:ext uri="{FF2B5EF4-FFF2-40B4-BE49-F238E27FC236}">
                <a16:creationId xmlns:a16="http://schemas.microsoft.com/office/drawing/2014/main" id="{778435DE-8D3F-F113-93C2-67B5E3717E8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316383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91BF0-5B82-1665-F951-384202291E8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10D6866-CB71-C42D-B274-BBEBAB15EB37}"/>
              </a:ext>
            </a:extLst>
          </p:cNvPr>
          <p:cNvSpPr>
            <a:spLocks noGrp="1"/>
          </p:cNvSpPr>
          <p:nvPr>
            <p:ph type="dt" sz="half" idx="10"/>
          </p:nvPr>
        </p:nvSpPr>
        <p:spPr/>
        <p:txBody>
          <a:bodyPr/>
          <a:lstStyle/>
          <a:p>
            <a:fld id="{72C7143F-B2B1-FD4E-A03F-2D48B4C4756E}" type="datetime1">
              <a:rPr lang="en-US" smtClean="0"/>
              <a:t>4/5/26</a:t>
            </a:fld>
            <a:endParaRPr lang="en-US"/>
          </a:p>
        </p:txBody>
      </p:sp>
      <p:sp>
        <p:nvSpPr>
          <p:cNvPr id="4" name="Footer Placeholder 3">
            <a:extLst>
              <a:ext uri="{FF2B5EF4-FFF2-40B4-BE49-F238E27FC236}">
                <a16:creationId xmlns:a16="http://schemas.microsoft.com/office/drawing/2014/main" id="{E41F4385-19B3-18BF-14FC-DC423F456870}"/>
              </a:ext>
            </a:extLst>
          </p:cNvPr>
          <p:cNvSpPr>
            <a:spLocks noGrp="1"/>
          </p:cNvSpPr>
          <p:nvPr>
            <p:ph type="ftr" sz="quarter" idx="11"/>
          </p:nvPr>
        </p:nvSpPr>
        <p:spPr/>
        <p:txBody>
          <a:bodyPr/>
          <a:lstStyle/>
          <a:p>
            <a:r>
              <a:rPr lang="en-US"/>
              <a:t>Sapienza University of Rome</a:t>
            </a:r>
          </a:p>
        </p:txBody>
      </p:sp>
      <p:sp>
        <p:nvSpPr>
          <p:cNvPr id="5" name="Slide Number Placeholder 4">
            <a:extLst>
              <a:ext uri="{FF2B5EF4-FFF2-40B4-BE49-F238E27FC236}">
                <a16:creationId xmlns:a16="http://schemas.microsoft.com/office/drawing/2014/main" id="{CF64C7DB-BEB2-D1FD-A36F-D0D6EDC3BF94}"/>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470354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81D84C01-DF2D-3EEA-5595-767CCCD3E1F3}"/>
              </a:ext>
            </a:extLst>
          </p:cNvPr>
          <p:cNvSpPr>
            <a:spLocks noGrp="1"/>
          </p:cNvSpPr>
          <p:nvPr>
            <p:ph type="dt" sz="half" idx="10"/>
          </p:nvPr>
        </p:nvSpPr>
        <p:spPr/>
        <p:txBody>
          <a:bodyPr/>
          <a:lstStyle/>
          <a:p>
            <a:fld id="{D6D38C82-3D04-8649-87B1-E37B3CC6F257}" type="datetime1">
              <a:rPr lang="en-US" smtClean="0"/>
              <a:t>4/5/26</a:t>
            </a:fld>
            <a:endParaRPr lang="en-US"/>
          </a:p>
        </p:txBody>
      </p:sp>
      <p:sp>
        <p:nvSpPr>
          <p:cNvPr id="3" name="Footer Placeholder 2">
            <a:extLst>
              <a:ext uri="{FF2B5EF4-FFF2-40B4-BE49-F238E27FC236}">
                <a16:creationId xmlns:a16="http://schemas.microsoft.com/office/drawing/2014/main" id="{6783BB7A-86B1-1EB3-1622-B26475CCDC6B}"/>
              </a:ext>
            </a:extLst>
          </p:cNvPr>
          <p:cNvSpPr>
            <a:spLocks noGrp="1"/>
          </p:cNvSpPr>
          <p:nvPr>
            <p:ph type="ftr" sz="quarter" idx="11"/>
          </p:nvPr>
        </p:nvSpPr>
        <p:spPr/>
        <p:txBody>
          <a:bodyPr/>
          <a:lstStyle/>
          <a:p>
            <a:r>
              <a:rPr lang="en-US"/>
              <a:t>Sapienza University of Rome</a:t>
            </a:r>
          </a:p>
        </p:txBody>
      </p:sp>
      <p:sp>
        <p:nvSpPr>
          <p:cNvPr id="4" name="Slide Number Placeholder 3">
            <a:extLst>
              <a:ext uri="{FF2B5EF4-FFF2-40B4-BE49-F238E27FC236}">
                <a16:creationId xmlns:a16="http://schemas.microsoft.com/office/drawing/2014/main" id="{87EA820C-ECA5-EEF7-8673-A46C3D4CB9AF}"/>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188231112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73DA-2A54-FCA0-C360-8554CF703E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AD2AFF9-8CA5-CD7D-DEEE-195EFD05A21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73B1DF3-AF68-D52B-182A-D9ABF9A6A9E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6C026D9-3021-FAAF-C413-30A5A52C79BD}"/>
              </a:ext>
            </a:extLst>
          </p:cNvPr>
          <p:cNvSpPr>
            <a:spLocks noGrp="1"/>
          </p:cNvSpPr>
          <p:nvPr>
            <p:ph type="dt" sz="half" idx="10"/>
          </p:nvPr>
        </p:nvSpPr>
        <p:spPr/>
        <p:txBody>
          <a:bodyPr/>
          <a:lstStyle/>
          <a:p>
            <a:fld id="{B5A2484E-3F4D-204D-93DF-E49FAFB9DF97}" type="datetime1">
              <a:rPr lang="en-US" smtClean="0"/>
              <a:t>4/5/26</a:t>
            </a:fld>
            <a:endParaRPr lang="en-US"/>
          </a:p>
        </p:txBody>
      </p:sp>
      <p:sp>
        <p:nvSpPr>
          <p:cNvPr id="6" name="Footer Placeholder 5">
            <a:extLst>
              <a:ext uri="{FF2B5EF4-FFF2-40B4-BE49-F238E27FC236}">
                <a16:creationId xmlns:a16="http://schemas.microsoft.com/office/drawing/2014/main" id="{C88B5962-833D-57DF-2059-51B30BCAD60D}"/>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90EA2546-9567-4CBF-9E26-EDEA3851B317}"/>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40577605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4F1B2-480F-9C52-FD1A-CAF938BCA5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BC852BC0-7818-613C-5BCB-E7B4F33B306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1C3A47-8405-1622-FAEB-23C5478B905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D22C07F-B333-BE61-1D86-53CBC15D1C0F}"/>
              </a:ext>
            </a:extLst>
          </p:cNvPr>
          <p:cNvSpPr>
            <a:spLocks noGrp="1"/>
          </p:cNvSpPr>
          <p:nvPr>
            <p:ph type="dt" sz="half" idx="10"/>
          </p:nvPr>
        </p:nvSpPr>
        <p:spPr/>
        <p:txBody>
          <a:bodyPr/>
          <a:lstStyle/>
          <a:p>
            <a:fld id="{AD472E14-530C-BB46-8E59-461E234CEAFE}" type="datetime1">
              <a:rPr lang="en-US" smtClean="0"/>
              <a:t>4/5/26</a:t>
            </a:fld>
            <a:endParaRPr lang="en-US"/>
          </a:p>
        </p:txBody>
      </p:sp>
      <p:sp>
        <p:nvSpPr>
          <p:cNvPr id="6" name="Footer Placeholder 5">
            <a:extLst>
              <a:ext uri="{FF2B5EF4-FFF2-40B4-BE49-F238E27FC236}">
                <a16:creationId xmlns:a16="http://schemas.microsoft.com/office/drawing/2014/main" id="{1C522695-CC4C-B1E9-01A6-5DF84153BA1E}"/>
              </a:ext>
            </a:extLst>
          </p:cNvPr>
          <p:cNvSpPr>
            <a:spLocks noGrp="1"/>
          </p:cNvSpPr>
          <p:nvPr>
            <p:ph type="ftr" sz="quarter" idx="11"/>
          </p:nvPr>
        </p:nvSpPr>
        <p:spPr/>
        <p:txBody>
          <a:bodyPr/>
          <a:lstStyle/>
          <a:p>
            <a:r>
              <a:rPr lang="en-US"/>
              <a:t>Sapienza University of Rome</a:t>
            </a:r>
          </a:p>
        </p:txBody>
      </p:sp>
      <p:sp>
        <p:nvSpPr>
          <p:cNvPr id="7" name="Slide Number Placeholder 6">
            <a:extLst>
              <a:ext uri="{FF2B5EF4-FFF2-40B4-BE49-F238E27FC236}">
                <a16:creationId xmlns:a16="http://schemas.microsoft.com/office/drawing/2014/main" id="{1A4CDD63-E81C-A76C-CCB4-F3A1B81D07EC}"/>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28171082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FF8ABC-9AB7-5DB7-A86C-66A6BAB89A2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DD59D7A-56ED-A78B-A34A-051E288772B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CE3C8D-D31D-0ACC-FC8F-AD641C6AEF7D}"/>
              </a:ext>
            </a:extLst>
          </p:cNvPr>
          <p:cNvSpPr>
            <a:spLocks noGrp="1"/>
          </p:cNvSpPr>
          <p:nvPr>
            <p:ph type="dt" sz="half" idx="10"/>
          </p:nvPr>
        </p:nvSpPr>
        <p:spPr/>
        <p:txBody>
          <a:bodyPr/>
          <a:lstStyle/>
          <a:p>
            <a:fld id="{E30EFC2B-6928-3945-94D4-8A6718977E52}" type="datetime1">
              <a:rPr lang="en-US" smtClean="0"/>
              <a:t>4/5/26</a:t>
            </a:fld>
            <a:endParaRPr lang="en-US"/>
          </a:p>
        </p:txBody>
      </p:sp>
      <p:sp>
        <p:nvSpPr>
          <p:cNvPr id="5" name="Footer Placeholder 4">
            <a:extLst>
              <a:ext uri="{FF2B5EF4-FFF2-40B4-BE49-F238E27FC236}">
                <a16:creationId xmlns:a16="http://schemas.microsoft.com/office/drawing/2014/main" id="{26E797D8-ABD3-BD50-0F4B-93E857CD3EAC}"/>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0D26C04E-D5D5-B445-53EA-21D28A1A9C28}"/>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754442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BAC7F4-937D-BCD4-A638-EAED628EFBB5}"/>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4CCD961-7227-B3C5-342E-D0777F4E91F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66551EF-BA91-9DC2-B373-C35CD03B6DA2}"/>
              </a:ext>
            </a:extLst>
          </p:cNvPr>
          <p:cNvSpPr>
            <a:spLocks noGrp="1"/>
          </p:cNvSpPr>
          <p:nvPr>
            <p:ph type="dt" sz="half" idx="10"/>
          </p:nvPr>
        </p:nvSpPr>
        <p:spPr/>
        <p:txBody>
          <a:bodyPr/>
          <a:lstStyle/>
          <a:p>
            <a:fld id="{497B982F-F446-394C-BCD8-D0F6884AB04A}" type="datetime1">
              <a:rPr lang="en-US" smtClean="0"/>
              <a:t>4/5/26</a:t>
            </a:fld>
            <a:endParaRPr lang="en-US"/>
          </a:p>
        </p:txBody>
      </p:sp>
      <p:sp>
        <p:nvSpPr>
          <p:cNvPr id="5" name="Footer Placeholder 4">
            <a:extLst>
              <a:ext uri="{FF2B5EF4-FFF2-40B4-BE49-F238E27FC236}">
                <a16:creationId xmlns:a16="http://schemas.microsoft.com/office/drawing/2014/main" id="{CE8C42EA-F6DC-2048-71B6-A55883311EDE}"/>
              </a:ext>
            </a:extLst>
          </p:cNvPr>
          <p:cNvSpPr>
            <a:spLocks noGrp="1"/>
          </p:cNvSpPr>
          <p:nvPr>
            <p:ph type="ftr" sz="quarter" idx="11"/>
          </p:nvPr>
        </p:nvSpPr>
        <p:spPr/>
        <p:txBody>
          <a:bodyPr/>
          <a:lstStyle/>
          <a:p>
            <a:r>
              <a:rPr lang="en-US"/>
              <a:t>Sapienza University of Rome</a:t>
            </a:r>
          </a:p>
        </p:txBody>
      </p:sp>
      <p:sp>
        <p:nvSpPr>
          <p:cNvPr id="6" name="Slide Number Placeholder 5">
            <a:extLst>
              <a:ext uri="{FF2B5EF4-FFF2-40B4-BE49-F238E27FC236}">
                <a16:creationId xmlns:a16="http://schemas.microsoft.com/office/drawing/2014/main" id="{D79E56BC-50D5-636D-477A-9B86D0E922AB}"/>
              </a:ext>
            </a:extLst>
          </p:cNvPr>
          <p:cNvSpPr>
            <a:spLocks noGrp="1"/>
          </p:cNvSpPr>
          <p:nvPr>
            <p:ph type="sldNum" sz="quarter" idx="12"/>
          </p:nvPr>
        </p:nvSpPr>
        <p:spPr/>
        <p:txBody>
          <a:bodyPr/>
          <a:lstStyle/>
          <a:p>
            <a:fld id="{48F19E39-9933-F648-B2F3-3AC17C0DC986}" type="slidenum">
              <a:rPr lang="en-US" smtClean="0"/>
              <a:t>‹#›</a:t>
            </a:fld>
            <a:endParaRPr lang="en-US"/>
          </a:p>
        </p:txBody>
      </p:sp>
    </p:spTree>
    <p:extLst>
      <p:ext uri="{BB962C8B-B14F-4D97-AF65-F5344CB8AC3E}">
        <p14:creationId xmlns:p14="http://schemas.microsoft.com/office/powerpoint/2010/main" val="301647240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DC26D7D-CED8-F7E2-6C98-BEFB8A43634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20271B9-5CFD-DB35-B320-9D25AC83DCB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84C3B05-8623-04ED-9CDC-21C9B0B47A9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EBEFF2B-B0F7-AA47-9437-9D2D75C12C3B}" type="datetime1">
              <a:rPr lang="en-US" smtClean="0"/>
              <a:t>4/5/26</a:t>
            </a:fld>
            <a:endParaRPr lang="en-US"/>
          </a:p>
        </p:txBody>
      </p:sp>
      <p:sp>
        <p:nvSpPr>
          <p:cNvPr id="5" name="Footer Placeholder 4">
            <a:extLst>
              <a:ext uri="{FF2B5EF4-FFF2-40B4-BE49-F238E27FC236}">
                <a16:creationId xmlns:a16="http://schemas.microsoft.com/office/drawing/2014/main" id="{3C54498D-CC66-7554-D838-3FD45332DDB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Sapienza University of Rome</a:t>
            </a:r>
          </a:p>
        </p:txBody>
      </p:sp>
      <p:sp>
        <p:nvSpPr>
          <p:cNvPr id="6" name="Slide Number Placeholder 5">
            <a:extLst>
              <a:ext uri="{FF2B5EF4-FFF2-40B4-BE49-F238E27FC236}">
                <a16:creationId xmlns:a16="http://schemas.microsoft.com/office/drawing/2014/main" id="{441A3BC8-96CB-4936-5AAB-65888F04521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8F19E39-9933-F648-B2F3-3AC17C0DC986}" type="slidenum">
              <a:rPr lang="en-US" smtClean="0"/>
              <a:t>‹#›</a:t>
            </a:fld>
            <a:endParaRPr lang="en-US"/>
          </a:p>
        </p:txBody>
      </p:sp>
    </p:spTree>
    <p:extLst>
      <p:ext uri="{BB962C8B-B14F-4D97-AF65-F5344CB8AC3E}">
        <p14:creationId xmlns:p14="http://schemas.microsoft.com/office/powerpoint/2010/main" val="8041937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e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e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15" descr="Fondino">
            <a:extLst>
              <a:ext uri="{FF2B5EF4-FFF2-40B4-BE49-F238E27FC236}">
                <a16:creationId xmlns:a16="http://schemas.microsoft.com/office/drawing/2014/main" id="{B609E531-63FD-6702-EB99-A8B360E7BAB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5122718"/>
            <a:ext cx="12192000" cy="17384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Picture 13" descr="logo +marchio">
            <a:extLst>
              <a:ext uri="{FF2B5EF4-FFF2-40B4-BE49-F238E27FC236}">
                <a16:creationId xmlns:a16="http://schemas.microsoft.com/office/drawing/2014/main" id="{93857B77-7E9D-09F1-8D44-8DABE74E8887}"/>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5541" t="19500" r="55731" b="8712"/>
          <a:stretch/>
        </p:blipFill>
        <p:spPr bwMode="auto">
          <a:xfrm>
            <a:off x="596348" y="5589722"/>
            <a:ext cx="2627299" cy="8227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TextBox 5">
            <a:extLst>
              <a:ext uri="{FF2B5EF4-FFF2-40B4-BE49-F238E27FC236}">
                <a16:creationId xmlns:a16="http://schemas.microsoft.com/office/drawing/2014/main" id="{E8822AD0-7E03-F7CA-5FCE-05C7A5AD190C}"/>
              </a:ext>
            </a:extLst>
          </p:cNvPr>
          <p:cNvSpPr txBox="1"/>
          <p:nvPr/>
        </p:nvSpPr>
        <p:spPr>
          <a:xfrm>
            <a:off x="596348" y="926308"/>
            <a:ext cx="10883348" cy="707886"/>
          </a:xfrm>
          <a:prstGeom prst="rect">
            <a:avLst/>
          </a:prstGeom>
          <a:noFill/>
        </p:spPr>
        <p:txBody>
          <a:bodyPr wrap="square" rtlCol="0">
            <a:spAutoFit/>
          </a:bodyPr>
          <a:lstStyle/>
          <a:p>
            <a:r>
              <a:rPr lang="en-US" sz="4000" b="1" dirty="0">
                <a:solidFill>
                  <a:srgbClr val="822334"/>
                </a:solidFill>
                <a:latin typeface="Inter" panose="02000503000000020004" pitchFamily="2" charset="0"/>
                <a:ea typeface="Inter" panose="02000503000000020004" pitchFamily="2" charset="0"/>
                <a:cs typeface="Inter" panose="02000503000000020004" pitchFamily="2" charset="0"/>
              </a:rPr>
              <a:t>CINECA AGENTIC PLATFORM</a:t>
            </a:r>
            <a:endParaRPr lang="en-US" sz="40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8" name="TextBox 7">
            <a:extLst>
              <a:ext uri="{FF2B5EF4-FFF2-40B4-BE49-F238E27FC236}">
                <a16:creationId xmlns:a16="http://schemas.microsoft.com/office/drawing/2014/main" id="{D332E4FC-2896-9B56-6749-272BA4E11690}"/>
              </a:ext>
            </a:extLst>
          </p:cNvPr>
          <p:cNvSpPr txBox="1"/>
          <p:nvPr/>
        </p:nvSpPr>
        <p:spPr>
          <a:xfrm>
            <a:off x="596348" y="2326237"/>
            <a:ext cx="3260036" cy="2062103"/>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University: </a:t>
            </a:r>
          </a:p>
          <a:p>
            <a:r>
              <a:rPr lang="en-US" sz="1600" dirty="0">
                <a:latin typeface="Inter" panose="02000503000000020004" pitchFamily="2" charset="0"/>
                <a:ea typeface="Inter" panose="02000503000000020004" pitchFamily="2" charset="0"/>
                <a:cs typeface="Inter" panose="02000503000000020004" pitchFamily="2" charset="0"/>
              </a:rPr>
              <a:t>Sapienza University of Rome</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Academic Year: </a:t>
            </a:r>
          </a:p>
          <a:p>
            <a:r>
              <a:rPr lang="en-US" sz="1600" dirty="0">
                <a:latin typeface="Inter" panose="02000503000000020004" pitchFamily="2" charset="0"/>
                <a:ea typeface="Inter" panose="02000503000000020004" pitchFamily="2" charset="0"/>
                <a:cs typeface="Inter" panose="02000503000000020004" pitchFamily="2" charset="0"/>
              </a:rPr>
              <a:t>2025/2026</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Author: </a:t>
            </a:r>
          </a:p>
          <a:p>
            <a:r>
              <a:rPr lang="en-US" sz="1600" dirty="0">
                <a:latin typeface="Inter" panose="02000503000000020004" pitchFamily="2" charset="0"/>
                <a:ea typeface="Inter" panose="02000503000000020004" pitchFamily="2" charset="0"/>
                <a:cs typeface="Inter" panose="02000503000000020004" pitchFamily="2" charset="0"/>
              </a:rPr>
              <a:t>Arman Feili</a:t>
            </a:r>
          </a:p>
        </p:txBody>
      </p:sp>
      <p:sp>
        <p:nvSpPr>
          <p:cNvPr id="9" name="CasellaDiTesto 1">
            <a:extLst>
              <a:ext uri="{FF2B5EF4-FFF2-40B4-BE49-F238E27FC236}">
                <a16:creationId xmlns:a16="http://schemas.microsoft.com/office/drawing/2014/main" id="{E9CB3607-E574-4BB8-80A3-1648106621F9}"/>
              </a:ext>
            </a:extLst>
          </p:cNvPr>
          <p:cNvSpPr txBox="1">
            <a:spLocks noChangeArrowheads="1"/>
          </p:cNvSpPr>
          <p:nvPr/>
        </p:nvSpPr>
        <p:spPr bwMode="auto">
          <a:xfrm>
            <a:off x="3568464" y="5607660"/>
            <a:ext cx="4821383" cy="861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lr>
                <a:srgbClr val="822433"/>
              </a:buClr>
              <a:buChar char="•"/>
              <a:defRPr sz="2400">
                <a:solidFill>
                  <a:srgbClr val="000000"/>
                </a:solidFill>
                <a:latin typeface="Arial" panose="020B0604020202020204" pitchFamily="34" charset="0"/>
                <a:ea typeface="ＭＳ Ｐゴシック" panose="020B0600070205080204" pitchFamily="34" charset="-128"/>
              </a:defRPr>
            </a:lvl1pPr>
            <a:lvl2pPr marL="742950" indent="-285750">
              <a:spcBef>
                <a:spcPct val="20000"/>
              </a:spcBef>
              <a:buChar char="–"/>
              <a:defRPr sz="2000">
                <a:solidFill>
                  <a:srgbClr val="000000"/>
                </a:solidFill>
                <a:latin typeface="Arial" panose="020B0604020202020204" pitchFamily="34" charset="0"/>
                <a:ea typeface="ＭＳ Ｐゴシック" panose="020B0600070205080204" pitchFamily="34" charset="-128"/>
              </a:defRPr>
            </a:lvl2pPr>
            <a:lvl3pPr marL="1143000" indent="-228600">
              <a:spcBef>
                <a:spcPct val="20000"/>
              </a:spcBef>
              <a:buChar char="•"/>
              <a:defRPr sz="1600">
                <a:solidFill>
                  <a:srgbClr val="000000"/>
                </a:solidFill>
                <a:latin typeface="Arial" panose="020B0604020202020204" pitchFamily="34" charset="0"/>
                <a:ea typeface="ＭＳ Ｐゴシック" panose="020B0600070205080204" pitchFamily="34" charset="-128"/>
              </a:defRPr>
            </a:lvl3pPr>
            <a:lvl4pPr marL="1600200" indent="-228600">
              <a:spcBef>
                <a:spcPct val="20000"/>
              </a:spcBef>
              <a:buChar char="–"/>
              <a:defRPr sz="1400">
                <a:solidFill>
                  <a:srgbClr val="000000"/>
                </a:solidFill>
                <a:latin typeface="Arial" panose="020B0604020202020204" pitchFamily="34" charset="0"/>
                <a:ea typeface="ＭＳ Ｐゴシック" panose="020B0600070205080204" pitchFamily="34" charset="-128"/>
              </a:defRPr>
            </a:lvl4pPr>
            <a:lvl5pPr marL="2057400" indent="-228600">
              <a:spcBef>
                <a:spcPct val="20000"/>
              </a:spcBef>
              <a:buChar char="»"/>
              <a:defRPr sz="1200">
                <a:solidFill>
                  <a:srgbClr val="000000"/>
                </a:solidFill>
                <a:latin typeface="Arial" panose="020B0604020202020204" pitchFamily="34" charset="0"/>
                <a:ea typeface="ＭＳ Ｐゴシック" panose="020B0600070205080204" pitchFamily="34" charset="-128"/>
              </a:defRPr>
            </a:lvl5pPr>
            <a:lvl6pPr marL="25146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6pPr>
            <a:lvl7pPr marL="29718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7pPr>
            <a:lvl8pPr marL="34290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8pPr>
            <a:lvl9pPr marL="3886200" indent="-228600" eaLnBrk="0" fontAlgn="base" hangingPunct="0">
              <a:spcBef>
                <a:spcPct val="20000"/>
              </a:spcBef>
              <a:spcAft>
                <a:spcPct val="0"/>
              </a:spcAft>
              <a:buChar char="»"/>
              <a:defRPr sz="1200">
                <a:solidFill>
                  <a:srgbClr val="000000"/>
                </a:solidFill>
                <a:latin typeface="Arial" panose="020B0604020202020204" pitchFamily="34" charset="0"/>
                <a:ea typeface="ＭＳ Ｐゴシック" panose="020B0600070205080204" pitchFamily="34" charset="-128"/>
              </a:defRPr>
            </a:lvl9pPr>
          </a:lstStyle>
          <a:p>
            <a:pPr algn="just">
              <a:spcBef>
                <a:spcPct val="0"/>
              </a:spcBef>
              <a:buClrTx/>
              <a:buFontTx/>
              <a:buNone/>
            </a:pPr>
            <a:r>
              <a:rPr lang="en-US" sz="1000" dirty="0">
                <a:solidFill>
                  <a:schemeClr val="bg1"/>
                </a:solidFill>
              </a:rPr>
              <a:t>All rights relating to this teaching material and its contents are reserved by Sapienza and its authors (or teachers who produced it). Personal use of the same by the student for study purposes is permitted. Its dissemination, duplication, assignment, transmission, distribution to third parties or to the public is absolutely prohibited under penalty of the sanctions applicable by law.</a:t>
            </a:r>
            <a:endParaRPr lang="it-IT" altLang="it-IT" sz="1000" dirty="0">
              <a:solidFill>
                <a:schemeClr val="bg1"/>
              </a:solidFill>
            </a:endParaRPr>
          </a:p>
        </p:txBody>
      </p:sp>
      <p:sp>
        <p:nvSpPr>
          <p:cNvPr id="3" name="TextBox 2">
            <a:extLst>
              <a:ext uri="{FF2B5EF4-FFF2-40B4-BE49-F238E27FC236}">
                <a16:creationId xmlns:a16="http://schemas.microsoft.com/office/drawing/2014/main" id="{4BB9E0F2-E6EC-CB8E-AAA6-E687219EE315}"/>
              </a:ext>
            </a:extLst>
          </p:cNvPr>
          <p:cNvSpPr txBox="1"/>
          <p:nvPr/>
        </p:nvSpPr>
        <p:spPr>
          <a:xfrm>
            <a:off x="4002006" y="2321835"/>
            <a:ext cx="6260493" cy="2308324"/>
          </a:xfrm>
          <a:prstGeom prst="rect">
            <a:avLst/>
          </a:prstGeom>
          <a:noFill/>
        </p:spPr>
        <p:txBody>
          <a:bodyPr wrap="square" rtlCol="0">
            <a:spAutoFit/>
          </a:bodyPr>
          <a:lstStyle/>
          <a:p>
            <a:r>
              <a:rPr lang="en-US" sz="1600" b="1" dirty="0">
                <a:latin typeface="Inter" panose="02000503000000020004" pitchFamily="2" charset="0"/>
                <a:ea typeface="Inter" panose="02000503000000020004" pitchFamily="2" charset="0"/>
                <a:cs typeface="Inter" panose="02000503000000020004" pitchFamily="2" charset="0"/>
              </a:rPr>
              <a:t>Department:</a:t>
            </a:r>
          </a:p>
          <a:p>
            <a:r>
              <a:rPr lang="en-US" sz="1600" dirty="0">
                <a:latin typeface="Inter" panose="02000503000000020004" pitchFamily="2" charset="0"/>
                <a:ea typeface="Inter" panose="02000503000000020004" pitchFamily="2" charset="0"/>
                <a:cs typeface="Inter" panose="02000503000000020004" pitchFamily="2" charset="0"/>
              </a:rPr>
              <a:t>Information Engineering, Electronics and Telecommunications</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University Advisor: </a:t>
            </a:r>
          </a:p>
          <a:p>
            <a:r>
              <a:rPr lang="en-US" sz="1600" dirty="0">
                <a:latin typeface="Inter" panose="02000503000000020004" pitchFamily="2" charset="0"/>
                <a:ea typeface="Inter" panose="02000503000000020004" pitchFamily="2" charset="0"/>
                <a:cs typeface="Inter" panose="02000503000000020004" pitchFamily="2" charset="0"/>
              </a:rPr>
              <a:t>Prof. Maria De Marsico </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University Co-Advisors: </a:t>
            </a:r>
            <a:br>
              <a:rPr lang="en-US" sz="1600" b="1"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Prof. Marco Raoul Marini</a:t>
            </a:r>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Valerio </a:t>
            </a:r>
            <a:r>
              <a:rPr lang="en-US" sz="1600" dirty="0" err="1">
                <a:latin typeface="Inter" panose="02000503000000020004" pitchFamily="2" charset="0"/>
                <a:ea typeface="Inter" panose="02000503000000020004" pitchFamily="2" charset="0"/>
                <a:cs typeface="Inter" panose="02000503000000020004" pitchFamily="2" charset="0"/>
              </a:rPr>
              <a:t>Venanzi</a:t>
            </a:r>
            <a:r>
              <a:rPr lang="en-US" sz="1600" dirty="0">
                <a:latin typeface="Inter" panose="02000503000000020004" pitchFamily="2" charset="0"/>
                <a:ea typeface="Inter" panose="02000503000000020004" pitchFamily="2" charset="0"/>
                <a:cs typeface="Inter" panose="02000503000000020004" pitchFamily="2" charset="0"/>
              </a:rPr>
              <a:t> </a:t>
            </a:r>
          </a:p>
        </p:txBody>
      </p:sp>
      <p:pic>
        <p:nvPicPr>
          <p:cNvPr id="12" name="Picture 11">
            <a:extLst>
              <a:ext uri="{FF2B5EF4-FFF2-40B4-BE49-F238E27FC236}">
                <a16:creationId xmlns:a16="http://schemas.microsoft.com/office/drawing/2014/main" id="{2651F5B7-411C-4482-F86F-14D613D813CE}"/>
              </a:ext>
            </a:extLst>
          </p:cNvPr>
          <p:cNvPicPr>
            <a:picLocks noChangeAspect="1"/>
          </p:cNvPicPr>
          <p:nvPr/>
        </p:nvPicPr>
        <p:blipFill>
          <a:blip r:embed="rId4"/>
          <a:stretch>
            <a:fillRect/>
          </a:stretch>
        </p:blipFill>
        <p:spPr>
          <a:xfrm>
            <a:off x="8731092" y="5607660"/>
            <a:ext cx="2630872" cy="718088"/>
          </a:xfrm>
          <a:prstGeom prst="rect">
            <a:avLst/>
          </a:prstGeom>
        </p:spPr>
      </p:pic>
      <p:sp>
        <p:nvSpPr>
          <p:cNvPr id="2" name="TextBox 1">
            <a:extLst>
              <a:ext uri="{FF2B5EF4-FFF2-40B4-BE49-F238E27FC236}">
                <a16:creationId xmlns:a16="http://schemas.microsoft.com/office/drawing/2014/main" id="{366A3898-4044-35BC-81E5-B9E84385A1D5}"/>
              </a:ext>
            </a:extLst>
          </p:cNvPr>
          <p:cNvSpPr txBox="1"/>
          <p:nvPr/>
        </p:nvSpPr>
        <p:spPr>
          <a:xfrm>
            <a:off x="7764310" y="2321835"/>
            <a:ext cx="2643811" cy="2308324"/>
          </a:xfrm>
          <a:prstGeom prst="rect">
            <a:avLst/>
          </a:prstGeom>
          <a:noFill/>
        </p:spPr>
        <p:txBody>
          <a:bodyPr wrap="square" rtlCol="0">
            <a:spAutoFit/>
          </a:bodyPr>
          <a:lstStyle/>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endParaRPr lang="en-US" sz="1600" b="1" dirty="0">
              <a:latin typeface="Inter" panose="02000503000000020004" pitchFamily="2" charset="0"/>
              <a:ea typeface="Inter" panose="02000503000000020004" pitchFamily="2" charset="0"/>
              <a:cs typeface="Inter" panose="02000503000000020004" pitchFamily="2" charset="0"/>
            </a:endParaRPr>
          </a:p>
          <a:p>
            <a:r>
              <a:rPr lang="en-US" sz="1600" b="1" dirty="0">
                <a:latin typeface="Inter" panose="02000503000000020004" pitchFamily="2" charset="0"/>
                <a:ea typeface="Inter" panose="02000503000000020004" pitchFamily="2" charset="0"/>
                <a:cs typeface="Inter" panose="02000503000000020004" pitchFamily="2" charset="0"/>
              </a:rPr>
              <a:t>Company: </a:t>
            </a:r>
          </a:p>
          <a:p>
            <a:r>
              <a:rPr lang="en-US" sz="1600" dirty="0">
                <a:latin typeface="Inter" panose="02000503000000020004" pitchFamily="2" charset="0"/>
                <a:ea typeface="Inter" panose="02000503000000020004" pitchFamily="2" charset="0"/>
                <a:cs typeface="Inter" panose="02000503000000020004" pitchFamily="2" charset="0"/>
              </a:rPr>
              <a:t>CINECA</a:t>
            </a:r>
          </a:p>
          <a:p>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b="1" dirty="0" err="1">
                <a:latin typeface="Inter" panose="02000503000000020004" pitchFamily="2" charset="0"/>
                <a:ea typeface="Inter" panose="02000503000000020004" pitchFamily="2" charset="0"/>
                <a:cs typeface="Inter" panose="02000503000000020004" pitchFamily="2" charset="0"/>
              </a:rPr>
              <a:t>Cineca</a:t>
            </a:r>
            <a:r>
              <a:rPr lang="en-US" sz="1600" b="1" dirty="0">
                <a:latin typeface="Inter" panose="02000503000000020004" pitchFamily="2" charset="0"/>
                <a:ea typeface="Inter" panose="02000503000000020004" pitchFamily="2" charset="0"/>
                <a:cs typeface="Inter" panose="02000503000000020004" pitchFamily="2" charset="0"/>
              </a:rPr>
              <a:t> Advisors: </a:t>
            </a:r>
            <a:br>
              <a:rPr lang="en-US" sz="1600" b="1" dirty="0">
                <a:latin typeface="Inter" panose="02000503000000020004" pitchFamily="2" charset="0"/>
                <a:ea typeface="Inter" panose="02000503000000020004" pitchFamily="2" charset="0"/>
                <a:cs typeface="Inter" panose="02000503000000020004" pitchFamily="2" charset="0"/>
              </a:rPr>
            </a:br>
            <a:r>
              <a:rPr lang="en-US" sz="1600" dirty="0">
                <a:latin typeface="Inter" panose="02000503000000020004" pitchFamily="2" charset="0"/>
                <a:ea typeface="Inter" panose="02000503000000020004" pitchFamily="2" charset="0"/>
                <a:cs typeface="Inter" panose="02000503000000020004" pitchFamily="2" charset="0"/>
              </a:rPr>
              <a:t>Dr. Giuseppe </a:t>
            </a:r>
            <a:r>
              <a:rPr lang="en-US" sz="1600" dirty="0" err="1">
                <a:latin typeface="Inter" panose="02000503000000020004" pitchFamily="2" charset="0"/>
                <a:ea typeface="Inter" panose="02000503000000020004" pitchFamily="2" charset="0"/>
                <a:cs typeface="Inter" panose="02000503000000020004" pitchFamily="2" charset="0"/>
              </a:rPr>
              <a:t>Melfi</a:t>
            </a:r>
            <a:endParaRPr lang="en-US" sz="1600" dirty="0">
              <a:latin typeface="Inter" panose="02000503000000020004" pitchFamily="2" charset="0"/>
              <a:ea typeface="Inter" panose="02000503000000020004" pitchFamily="2" charset="0"/>
              <a:cs typeface="Inter" panose="02000503000000020004" pitchFamily="2" charset="0"/>
            </a:endParaRPr>
          </a:p>
          <a:p>
            <a:r>
              <a:rPr lang="en-US" sz="1600" dirty="0">
                <a:latin typeface="Inter" panose="02000503000000020004" pitchFamily="2" charset="0"/>
                <a:ea typeface="Inter" panose="02000503000000020004" pitchFamily="2" charset="0"/>
                <a:cs typeface="Inter" panose="02000503000000020004" pitchFamily="2" charset="0"/>
              </a:rPr>
              <a:t>Dr. Marco Puccini</a:t>
            </a:r>
          </a:p>
        </p:txBody>
      </p:sp>
      <p:sp>
        <p:nvSpPr>
          <p:cNvPr id="10" name="TextBox 9">
            <a:extLst>
              <a:ext uri="{FF2B5EF4-FFF2-40B4-BE49-F238E27FC236}">
                <a16:creationId xmlns:a16="http://schemas.microsoft.com/office/drawing/2014/main" id="{F5A24252-5B62-93A6-97DD-B2CE31FA8F53}"/>
              </a:ext>
            </a:extLst>
          </p:cNvPr>
          <p:cNvSpPr txBox="1"/>
          <p:nvPr/>
        </p:nvSpPr>
        <p:spPr>
          <a:xfrm>
            <a:off x="596348" y="1634194"/>
            <a:ext cx="10765616" cy="369332"/>
          </a:xfrm>
          <a:prstGeom prst="rect">
            <a:avLst/>
          </a:prstGeom>
          <a:noFill/>
        </p:spPr>
        <p:txBody>
          <a:bodyPr wrap="square">
            <a:spAutoFit/>
          </a:bodyPr>
          <a:lstStyle/>
          <a:p>
            <a:r>
              <a:rPr lang="en-US" dirty="0">
                <a:solidFill>
                  <a:srgbClr val="822334"/>
                </a:solidFill>
                <a:latin typeface="Inter" panose="02000503000000020004" pitchFamily="2" charset="0"/>
                <a:ea typeface="Inter" panose="02000503000000020004" pitchFamily="2" charset="0"/>
                <a:cs typeface="Inter" panose="02000503000000020004" pitchFamily="2" charset="0"/>
              </a:rPr>
              <a:t>An Enterprise-Grade Multi-Tenant AI Orchestrator with MCP Tools and Secure Graph Querying</a:t>
            </a:r>
          </a:p>
        </p:txBody>
      </p:sp>
    </p:spTree>
    <p:extLst>
      <p:ext uri="{BB962C8B-B14F-4D97-AF65-F5344CB8AC3E}">
        <p14:creationId xmlns:p14="http://schemas.microsoft.com/office/powerpoint/2010/main" val="26475925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2D3F30-9C46-9CE1-0C1E-6F165BC509E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4398078A-B5EC-733A-610D-8C3ACF9927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78377C2-5E41-0371-262D-703F529390E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CD98C48-56F7-4963-6223-1E96C366D127}"/>
              </a:ext>
            </a:extLst>
          </p:cNvPr>
          <p:cNvSpPr>
            <a:spLocks noGrp="1"/>
          </p:cNvSpPr>
          <p:nvPr>
            <p:ph type="sldNum" sz="quarter" idx="12"/>
          </p:nvPr>
        </p:nvSpPr>
        <p:spPr/>
        <p:txBody>
          <a:bodyPr/>
          <a:lstStyle/>
          <a:p>
            <a:fld id="{48F19E39-9933-F648-B2F3-3AC17C0DC986}" type="slidenum">
              <a:rPr lang="en-US" smtClean="0">
                <a:solidFill>
                  <a:schemeClr val="bg1"/>
                </a:solidFill>
              </a:rPr>
              <a:t>2</a:t>
            </a:fld>
            <a:endParaRPr lang="en-US" dirty="0">
              <a:solidFill>
                <a:schemeClr val="bg1"/>
              </a:solidFill>
            </a:endParaRPr>
          </a:p>
        </p:txBody>
      </p:sp>
      <p:sp>
        <p:nvSpPr>
          <p:cNvPr id="10" name="Footer Placeholder 10">
            <a:extLst>
              <a:ext uri="{FF2B5EF4-FFF2-40B4-BE49-F238E27FC236}">
                <a16:creationId xmlns:a16="http://schemas.microsoft.com/office/drawing/2014/main" id="{D9E49A75-DBE9-A71A-2F56-7D1E2F5ACE0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5" name="TextBox 14">
            <a:extLst>
              <a:ext uri="{FF2B5EF4-FFF2-40B4-BE49-F238E27FC236}">
                <a16:creationId xmlns:a16="http://schemas.microsoft.com/office/drawing/2014/main" id="{C18F3D6D-AA54-1F40-9C7B-0796FD4552B9}"/>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INDEX</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Overview of the presentation structure</a:t>
            </a:r>
          </a:p>
        </p:txBody>
      </p:sp>
      <p:sp>
        <p:nvSpPr>
          <p:cNvPr id="16" name="TextBox 15">
            <a:extLst>
              <a:ext uri="{FF2B5EF4-FFF2-40B4-BE49-F238E27FC236}">
                <a16:creationId xmlns:a16="http://schemas.microsoft.com/office/drawing/2014/main" id="{34F7A41C-0600-739B-978A-F7E00D2E67A9}"/>
              </a:ext>
            </a:extLst>
          </p:cNvPr>
          <p:cNvSpPr txBox="1"/>
          <p:nvPr/>
        </p:nvSpPr>
        <p:spPr>
          <a:xfrm>
            <a:off x="596348" y="1160904"/>
            <a:ext cx="6142382" cy="3539430"/>
          </a:xfrm>
          <a:prstGeom prst="rect">
            <a:avLst/>
          </a:prstGeom>
          <a:noFill/>
        </p:spPr>
        <p:txBody>
          <a:bodyPr wrap="square" rtlCol="0">
            <a:spAutoFit/>
          </a:bodyPr>
          <a:lstStyle/>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Production Gap</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Final Architecture (Simplified + Full)</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What Was Delivered</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Authentication Layer &amp; UI</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Security Middleware Stack</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API Layer - Routers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Job Creation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Workers + </a:t>
            </a:r>
            <a:r>
              <a:rPr lang="en-US" sz="1400" dirty="0" err="1">
                <a:latin typeface="Inter" panose="02000503000000020004" pitchFamily="2" charset="0"/>
                <a:ea typeface="Inter" panose="02000503000000020004" pitchFamily="2" charset="0"/>
                <a:cs typeface="Inter" panose="02000503000000020004" pitchFamily="2" charset="0"/>
              </a:rPr>
              <a:t>Agent.run</a:t>
            </a:r>
            <a:r>
              <a:rPr lang="en-US" sz="1400" dirty="0">
                <a:latin typeface="Inter" panose="02000503000000020004" pitchFamily="2" charset="0"/>
                <a:ea typeface="Inter" panose="02000503000000020004" pitchFamily="2" charset="0"/>
                <a:cs typeface="Inter" panose="02000503000000020004" pitchFamily="2" charset="0"/>
              </a:rPr>
              <a:t> Handler → Job Processing Engine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Service Layer → Orchestrator Service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LLM Providers → Model-Agnostic Architecture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MCP Runtime &amp; Tools - 34 Tools, 12 Categories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Data Layer → Redis, PostgreSQL, </a:t>
            </a:r>
            <a:r>
              <a:rPr lang="en-US" sz="1400" dirty="0" err="1">
                <a:latin typeface="Inter" panose="02000503000000020004" pitchFamily="2" charset="0"/>
                <a:ea typeface="Inter" panose="02000503000000020004" pitchFamily="2" charset="0"/>
                <a:cs typeface="Inter" panose="02000503000000020004" pitchFamily="2" charset="0"/>
              </a:rPr>
              <a:t>Memgraph</a:t>
            </a:r>
            <a:endParaRPr lang="en-US" sz="1400" dirty="0">
              <a:latin typeface="Inter" panose="02000503000000020004" pitchFamily="2" charset="0"/>
              <a:ea typeface="Inter" panose="02000503000000020004" pitchFamily="2" charset="0"/>
              <a:cs typeface="Inter" panose="02000503000000020004" pitchFamily="2" charset="0"/>
            </a:endParaRP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Adapters + Resilience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Background Tasks + Observability</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Comparison with the State of the Art</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Conclusion + Future Work</a:t>
            </a:r>
          </a:p>
        </p:txBody>
      </p:sp>
      <p:pic>
        <p:nvPicPr>
          <p:cNvPr id="20" name="Picture 19">
            <a:extLst>
              <a:ext uri="{FF2B5EF4-FFF2-40B4-BE49-F238E27FC236}">
                <a16:creationId xmlns:a16="http://schemas.microsoft.com/office/drawing/2014/main" id="{C124917D-1195-11F4-79A6-78CD5563469E}"/>
              </a:ext>
            </a:extLst>
          </p:cNvPr>
          <p:cNvPicPr>
            <a:picLocks noChangeAspect="1"/>
          </p:cNvPicPr>
          <p:nvPr/>
        </p:nvPicPr>
        <p:blipFill>
          <a:blip r:embed="rId3"/>
          <a:srcRect t="1" b="144"/>
          <a:stretch/>
        </p:blipFill>
        <p:spPr>
          <a:xfrm>
            <a:off x="7417782" y="1160904"/>
            <a:ext cx="3936018" cy="3539430"/>
          </a:xfrm>
          <a:prstGeom prst="rect">
            <a:avLst/>
          </a:prstGeom>
        </p:spPr>
      </p:pic>
    </p:spTree>
    <p:extLst>
      <p:ext uri="{BB962C8B-B14F-4D97-AF65-F5344CB8AC3E}">
        <p14:creationId xmlns:p14="http://schemas.microsoft.com/office/powerpoint/2010/main" val="39588671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FA35D-2EA2-3155-C083-B8B1502D52A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8A98BC7C-0058-E485-B23B-90819FB4BC1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19D921E9-7E1B-D7F3-F924-FF08A053A24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7F22908C-4C61-1F4E-BE95-319914978B71}"/>
              </a:ext>
            </a:extLst>
          </p:cNvPr>
          <p:cNvSpPr>
            <a:spLocks noGrp="1"/>
          </p:cNvSpPr>
          <p:nvPr>
            <p:ph type="sldNum" sz="quarter" idx="12"/>
          </p:nvPr>
        </p:nvSpPr>
        <p:spPr/>
        <p:txBody>
          <a:bodyPr/>
          <a:lstStyle/>
          <a:p>
            <a:fld id="{48F19E39-9933-F648-B2F3-3AC17C0DC986}" type="slidenum">
              <a:rPr lang="en-US" smtClean="0">
                <a:solidFill>
                  <a:schemeClr val="bg1"/>
                </a:solidFill>
              </a:rPr>
              <a:t>3</a:t>
            </a:fld>
            <a:endParaRPr lang="en-US" dirty="0">
              <a:solidFill>
                <a:schemeClr val="bg1"/>
              </a:solidFill>
            </a:endParaRPr>
          </a:p>
        </p:txBody>
      </p:sp>
      <p:sp>
        <p:nvSpPr>
          <p:cNvPr id="2" name="TextBox 1">
            <a:extLst>
              <a:ext uri="{FF2B5EF4-FFF2-40B4-BE49-F238E27FC236}">
                <a16:creationId xmlns:a16="http://schemas.microsoft.com/office/drawing/2014/main" id="{CC7C95F7-4CB5-6764-5557-40618080E207}"/>
              </a:ext>
            </a:extLst>
          </p:cNvPr>
          <p:cNvSpPr txBox="1"/>
          <p:nvPr/>
        </p:nvSpPr>
        <p:spPr>
          <a:xfrm>
            <a:off x="596348" y="3407673"/>
            <a:ext cx="5080834" cy="1815882"/>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Why This Matters for CINECA</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CINECA needs a platform that lets users query graph data directly in natural language, while remaining:</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Secure</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Scalable</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Reproducible</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cost-efficient</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flexible across LLM providers</a:t>
            </a:r>
          </a:p>
        </p:txBody>
      </p:sp>
      <p:sp>
        <p:nvSpPr>
          <p:cNvPr id="10" name="Footer Placeholder 10">
            <a:extLst>
              <a:ext uri="{FF2B5EF4-FFF2-40B4-BE49-F238E27FC236}">
                <a16:creationId xmlns:a16="http://schemas.microsoft.com/office/drawing/2014/main" id="{96751903-CD7D-B663-D5E9-8D9D1A227042}"/>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5" name="TextBox 14">
            <a:extLst>
              <a:ext uri="{FF2B5EF4-FFF2-40B4-BE49-F238E27FC236}">
                <a16:creationId xmlns:a16="http://schemas.microsoft.com/office/drawing/2014/main" id="{48E3E19D-1CCA-3D35-A993-D4243C8942BA}"/>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PRODUCTION GAP</a:t>
            </a:r>
          </a:p>
          <a:p>
            <a:pPr algn="l"/>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 gap between what users need and what current tools provide.</a:t>
            </a:r>
          </a:p>
        </p:txBody>
      </p:sp>
      <p:sp>
        <p:nvSpPr>
          <p:cNvPr id="16" name="TextBox 15">
            <a:extLst>
              <a:ext uri="{FF2B5EF4-FFF2-40B4-BE49-F238E27FC236}">
                <a16:creationId xmlns:a16="http://schemas.microsoft.com/office/drawing/2014/main" id="{457C5036-91B3-00BF-D4D9-8F59687F4F48}"/>
              </a:ext>
            </a:extLst>
          </p:cNvPr>
          <p:cNvSpPr txBox="1"/>
          <p:nvPr/>
        </p:nvSpPr>
        <p:spPr>
          <a:xfrm>
            <a:off x="596348" y="1160904"/>
            <a:ext cx="10999304" cy="2246769"/>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The Problem</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Most users cannot write Cypher, so they depend on developers to access graph data. This creates delays and keeps data locked behind technical complexity.</a:t>
            </a:r>
          </a:p>
          <a:p>
            <a:pPr marL="285750" indent="-285750">
              <a:buFontTx/>
              <a:buChar char="-"/>
            </a:pPr>
            <a:endParaRPr lang="en-US" sz="14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Why Simple Chatbots Are Not Enough</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Basic chatbots can answer questions, but they cannot</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handle multi-step tasks</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query databases or run jobs</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enforce security and access control</a:t>
            </a:r>
          </a:p>
          <a:p>
            <a:pPr marL="742950" lvl="1"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provide audit trails and traceability</a:t>
            </a:r>
          </a:p>
        </p:txBody>
      </p:sp>
      <p:pic>
        <p:nvPicPr>
          <p:cNvPr id="17" name="Picture 16">
            <a:extLst>
              <a:ext uri="{FF2B5EF4-FFF2-40B4-BE49-F238E27FC236}">
                <a16:creationId xmlns:a16="http://schemas.microsoft.com/office/drawing/2014/main" id="{3D3FE706-3CC6-A40C-BBE5-6D989AA3577D}"/>
              </a:ext>
            </a:extLst>
          </p:cNvPr>
          <p:cNvPicPr>
            <a:picLocks noChangeAspect="1"/>
          </p:cNvPicPr>
          <p:nvPr/>
        </p:nvPicPr>
        <p:blipFill>
          <a:blip r:embed="rId3"/>
          <a:stretch>
            <a:fillRect/>
          </a:stretch>
        </p:blipFill>
        <p:spPr>
          <a:xfrm>
            <a:off x="6883467" y="2290299"/>
            <a:ext cx="4470333" cy="2391578"/>
          </a:xfrm>
          <a:prstGeom prst="rect">
            <a:avLst/>
          </a:prstGeom>
        </p:spPr>
      </p:pic>
    </p:spTree>
    <p:extLst>
      <p:ext uri="{BB962C8B-B14F-4D97-AF65-F5344CB8AC3E}">
        <p14:creationId xmlns:p14="http://schemas.microsoft.com/office/powerpoint/2010/main" val="311165176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2F93B4-7EFF-6877-4A92-7FD6C5B4ECB2}"/>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BADCE589-CEC0-7F75-6C75-5210D1899D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0999632-F88B-5A69-D241-F1F20F59D1E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17F384E7-5592-3B39-2800-8891C760FCE7}"/>
              </a:ext>
            </a:extLst>
          </p:cNvPr>
          <p:cNvSpPr>
            <a:spLocks noGrp="1"/>
          </p:cNvSpPr>
          <p:nvPr>
            <p:ph type="sldNum" sz="quarter" idx="12"/>
          </p:nvPr>
        </p:nvSpPr>
        <p:spPr/>
        <p:txBody>
          <a:bodyPr/>
          <a:lstStyle/>
          <a:p>
            <a:fld id="{48F19E39-9933-F648-B2F3-3AC17C0DC986}" type="slidenum">
              <a:rPr lang="en-US" smtClean="0">
                <a:solidFill>
                  <a:schemeClr val="bg1"/>
                </a:solidFill>
              </a:rPr>
              <a:t>4</a:t>
            </a:fld>
            <a:endParaRPr lang="en-US" dirty="0">
              <a:solidFill>
                <a:schemeClr val="bg1"/>
              </a:solidFill>
            </a:endParaRPr>
          </a:p>
        </p:txBody>
      </p:sp>
      <p:sp>
        <p:nvSpPr>
          <p:cNvPr id="2" name="TextBox 1">
            <a:extLst>
              <a:ext uri="{FF2B5EF4-FFF2-40B4-BE49-F238E27FC236}">
                <a16:creationId xmlns:a16="http://schemas.microsoft.com/office/drawing/2014/main" id="{885F3E51-9D2C-E0AD-1F09-D1FA984FB33A}"/>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FINAL ARCHITECTURE</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Simplified</a:t>
            </a:r>
          </a:p>
        </p:txBody>
      </p:sp>
      <p:sp>
        <p:nvSpPr>
          <p:cNvPr id="8" name="Footer Placeholder 10">
            <a:extLst>
              <a:ext uri="{FF2B5EF4-FFF2-40B4-BE49-F238E27FC236}">
                <a16:creationId xmlns:a16="http://schemas.microsoft.com/office/drawing/2014/main" id="{AD6D2AFD-6803-08E8-4784-6C4A073B8D5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0" name="Picture 9">
            <a:extLst>
              <a:ext uri="{FF2B5EF4-FFF2-40B4-BE49-F238E27FC236}">
                <a16:creationId xmlns:a16="http://schemas.microsoft.com/office/drawing/2014/main" id="{0E17671C-2C9F-2801-62F6-1F605A69A47B}"/>
              </a:ext>
            </a:extLst>
          </p:cNvPr>
          <p:cNvPicPr>
            <a:picLocks noChangeAspect="1"/>
          </p:cNvPicPr>
          <p:nvPr/>
        </p:nvPicPr>
        <p:blipFill>
          <a:blip r:embed="rId3"/>
          <a:stretch>
            <a:fillRect/>
          </a:stretch>
        </p:blipFill>
        <p:spPr>
          <a:xfrm>
            <a:off x="579340" y="1499821"/>
            <a:ext cx="11033319" cy="3858357"/>
          </a:xfrm>
          <a:prstGeom prst="rect">
            <a:avLst/>
          </a:prstGeom>
        </p:spPr>
      </p:pic>
    </p:spTree>
    <p:extLst>
      <p:ext uri="{BB962C8B-B14F-4D97-AF65-F5344CB8AC3E}">
        <p14:creationId xmlns:p14="http://schemas.microsoft.com/office/powerpoint/2010/main" val="40099163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EAA4FD-6180-B4D1-4353-EA1B1EA2E67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B362958-A883-D0D9-543B-A8262F9F2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2179CBFC-0AB6-57F9-CD2E-D4D7E41B2A4C}"/>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D1A0ED6-84E3-D3C1-2A59-82233CC2AB58}"/>
              </a:ext>
            </a:extLst>
          </p:cNvPr>
          <p:cNvSpPr>
            <a:spLocks noGrp="1"/>
          </p:cNvSpPr>
          <p:nvPr>
            <p:ph type="sldNum" sz="quarter" idx="12"/>
          </p:nvPr>
        </p:nvSpPr>
        <p:spPr/>
        <p:txBody>
          <a:bodyPr/>
          <a:lstStyle/>
          <a:p>
            <a:fld id="{48F19E39-9933-F648-B2F3-3AC17C0DC986}" type="slidenum">
              <a:rPr lang="en-US" smtClean="0">
                <a:solidFill>
                  <a:schemeClr val="bg1"/>
                </a:solidFill>
              </a:rPr>
              <a:t>5</a:t>
            </a:fld>
            <a:endParaRPr lang="en-US" dirty="0">
              <a:solidFill>
                <a:schemeClr val="bg1"/>
              </a:solidFill>
            </a:endParaRPr>
          </a:p>
        </p:txBody>
      </p:sp>
      <p:sp>
        <p:nvSpPr>
          <p:cNvPr id="2" name="TextBox 1">
            <a:extLst>
              <a:ext uri="{FF2B5EF4-FFF2-40B4-BE49-F238E27FC236}">
                <a16:creationId xmlns:a16="http://schemas.microsoft.com/office/drawing/2014/main" id="{BB57F243-71C0-8BA3-1908-9E3CFAE559FA}"/>
              </a:ext>
            </a:extLst>
          </p:cNvPr>
          <p:cNvSpPr txBox="1"/>
          <p:nvPr/>
        </p:nvSpPr>
        <p:spPr>
          <a:xfrm>
            <a:off x="596348" y="374273"/>
            <a:ext cx="11038604"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FINAL ARCHITECTURE </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Full</a:t>
            </a:r>
          </a:p>
        </p:txBody>
      </p:sp>
      <p:pic>
        <p:nvPicPr>
          <p:cNvPr id="3" name="Picture 2">
            <a:extLst>
              <a:ext uri="{FF2B5EF4-FFF2-40B4-BE49-F238E27FC236}">
                <a16:creationId xmlns:a16="http://schemas.microsoft.com/office/drawing/2014/main" id="{719556FB-814E-4A32-ECBF-E6C1C947A6EC}"/>
              </a:ext>
            </a:extLst>
          </p:cNvPr>
          <p:cNvPicPr>
            <a:picLocks noChangeAspect="1"/>
          </p:cNvPicPr>
          <p:nvPr/>
        </p:nvPicPr>
        <p:blipFill>
          <a:blip r:embed="rId3"/>
          <a:stretch>
            <a:fillRect/>
          </a:stretch>
        </p:blipFill>
        <p:spPr>
          <a:xfrm>
            <a:off x="596348" y="1340196"/>
            <a:ext cx="3315325" cy="4177607"/>
          </a:xfrm>
          <a:prstGeom prst="rect">
            <a:avLst/>
          </a:prstGeom>
        </p:spPr>
      </p:pic>
      <p:sp>
        <p:nvSpPr>
          <p:cNvPr id="7" name="Left-Right Arrow 6">
            <a:extLst>
              <a:ext uri="{FF2B5EF4-FFF2-40B4-BE49-F238E27FC236}">
                <a16:creationId xmlns:a16="http://schemas.microsoft.com/office/drawing/2014/main" id="{6DF34A88-8F89-34F6-76A0-12F1796D7822}"/>
              </a:ext>
            </a:extLst>
          </p:cNvPr>
          <p:cNvSpPr/>
          <p:nvPr/>
        </p:nvSpPr>
        <p:spPr>
          <a:xfrm>
            <a:off x="4083260" y="3186683"/>
            <a:ext cx="879088" cy="484632"/>
          </a:xfrm>
          <a:prstGeom prst="leftRightArrow">
            <a:avLst>
              <a:gd name="adj1" fmla="val 31592"/>
              <a:gd name="adj2" fmla="val 43097"/>
            </a:avLst>
          </a:prstGeom>
          <a:solidFill>
            <a:srgbClr val="822334"/>
          </a:solidFill>
          <a:ln>
            <a:solidFill>
              <a:srgbClr val="82233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Footer Placeholder 10">
            <a:extLst>
              <a:ext uri="{FF2B5EF4-FFF2-40B4-BE49-F238E27FC236}">
                <a16:creationId xmlns:a16="http://schemas.microsoft.com/office/drawing/2014/main" id="{BD7799DC-A9C3-8DEE-D94C-2F297FDE0B6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0" name="Picture 9">
            <a:extLst>
              <a:ext uri="{FF2B5EF4-FFF2-40B4-BE49-F238E27FC236}">
                <a16:creationId xmlns:a16="http://schemas.microsoft.com/office/drawing/2014/main" id="{11495BDF-377F-2FB5-6590-F5255750484D}"/>
              </a:ext>
            </a:extLst>
          </p:cNvPr>
          <p:cNvPicPr>
            <a:picLocks noChangeAspect="1"/>
          </p:cNvPicPr>
          <p:nvPr/>
        </p:nvPicPr>
        <p:blipFill>
          <a:blip r:embed="rId4"/>
          <a:stretch>
            <a:fillRect/>
          </a:stretch>
        </p:blipFill>
        <p:spPr>
          <a:xfrm>
            <a:off x="5133936" y="1041976"/>
            <a:ext cx="6355700" cy="5033773"/>
          </a:xfrm>
          <a:prstGeom prst="rect">
            <a:avLst/>
          </a:prstGeom>
        </p:spPr>
      </p:pic>
    </p:spTree>
    <p:extLst>
      <p:ext uri="{BB962C8B-B14F-4D97-AF65-F5344CB8AC3E}">
        <p14:creationId xmlns:p14="http://schemas.microsoft.com/office/powerpoint/2010/main" val="6221604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F79F2C-13A6-DA3F-981D-D1617CB0F7B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3C84BF9-0925-EBEC-B180-3431DA1893F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B60D7B3-AAC6-36AE-A53C-2C24E3C79516}"/>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2EE020B3-E6EF-8C3D-6561-9145603A5D80}"/>
              </a:ext>
            </a:extLst>
          </p:cNvPr>
          <p:cNvSpPr>
            <a:spLocks noGrp="1"/>
          </p:cNvSpPr>
          <p:nvPr>
            <p:ph type="sldNum" sz="quarter" idx="12"/>
          </p:nvPr>
        </p:nvSpPr>
        <p:spPr/>
        <p:txBody>
          <a:bodyPr/>
          <a:lstStyle/>
          <a:p>
            <a:fld id="{48F19E39-9933-F648-B2F3-3AC17C0DC986}" type="slidenum">
              <a:rPr lang="en-US" smtClean="0">
                <a:solidFill>
                  <a:schemeClr val="bg1"/>
                </a:solidFill>
              </a:rPr>
              <a:t>6</a:t>
            </a:fld>
            <a:endParaRPr lang="en-US" dirty="0">
              <a:solidFill>
                <a:schemeClr val="bg1"/>
              </a:solidFill>
            </a:endParaRPr>
          </a:p>
        </p:txBody>
      </p:sp>
      <p:sp>
        <p:nvSpPr>
          <p:cNvPr id="10" name="Footer Placeholder 10">
            <a:extLst>
              <a:ext uri="{FF2B5EF4-FFF2-40B4-BE49-F238E27FC236}">
                <a16:creationId xmlns:a16="http://schemas.microsoft.com/office/drawing/2014/main" id="{8C5EF849-B03A-A6E1-D659-B1D130008F70}"/>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5" name="TextBox 14">
            <a:extLst>
              <a:ext uri="{FF2B5EF4-FFF2-40B4-BE49-F238E27FC236}">
                <a16:creationId xmlns:a16="http://schemas.microsoft.com/office/drawing/2014/main" id="{8EDAE21E-077C-16A9-51C9-EF38FBE4247F}"/>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WHAT WAS DELIVERED</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A production-ready agentic platform for secure natural-language access to graph data.</a:t>
            </a:r>
          </a:p>
        </p:txBody>
      </p:sp>
      <p:sp>
        <p:nvSpPr>
          <p:cNvPr id="16" name="TextBox 15">
            <a:extLst>
              <a:ext uri="{FF2B5EF4-FFF2-40B4-BE49-F238E27FC236}">
                <a16:creationId xmlns:a16="http://schemas.microsoft.com/office/drawing/2014/main" id="{7E64D521-C292-C6D3-5C0E-622179EC1439}"/>
              </a:ext>
            </a:extLst>
          </p:cNvPr>
          <p:cNvSpPr txBox="1"/>
          <p:nvPr/>
        </p:nvSpPr>
        <p:spPr>
          <a:xfrm>
            <a:off x="596348" y="1160904"/>
            <a:ext cx="5864087" cy="3323987"/>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Core Delivery</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End-to-end platform: UI, APIs, orchestration, workers, and a three-database backend</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Safe 4-phase agent workflow with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capabilities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Multi-tenant security and support for multiple LLM providers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Reliability, background processing, and observability built in</a:t>
            </a:r>
            <a:br>
              <a:rPr lang="en-US" sz="1400" dirty="0">
                <a:latin typeface="Inter" panose="02000503000000020004" pitchFamily="2" charset="0"/>
                <a:ea typeface="Inter" panose="02000503000000020004" pitchFamily="2" charset="0"/>
                <a:cs typeface="Inter" panose="02000503000000020004" pitchFamily="2" charset="0"/>
              </a:rPr>
            </a:br>
            <a:endParaRPr lang="en-US" sz="14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Production Evidence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16+ platform components (databases, queues, gateway, tracing)</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76 API endpoints across 16 router groups (e.g. auth, tools, jobs, graph)</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34 tools across 17 categories with governed execution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3,000+ automated tests (unit, integration, security, end-to-end)</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~411,700 total lines of code</a:t>
            </a:r>
            <a:endParaRPr lang="en-US" sz="1300" b="1" dirty="0">
              <a:latin typeface="Inter" panose="02000503000000020004" pitchFamily="2" charset="0"/>
              <a:ea typeface="Inter" panose="02000503000000020004" pitchFamily="2" charset="0"/>
              <a:cs typeface="Inter" panose="02000503000000020004" pitchFamily="2" charset="0"/>
            </a:endParaRPr>
          </a:p>
        </p:txBody>
      </p:sp>
      <p:pic>
        <p:nvPicPr>
          <p:cNvPr id="6" name="Picture 5">
            <a:extLst>
              <a:ext uri="{FF2B5EF4-FFF2-40B4-BE49-F238E27FC236}">
                <a16:creationId xmlns:a16="http://schemas.microsoft.com/office/drawing/2014/main" id="{1926FA28-A4F7-DEA6-C0C4-8832A9C1E939}"/>
              </a:ext>
            </a:extLst>
          </p:cNvPr>
          <p:cNvPicPr>
            <a:picLocks noChangeAspect="1"/>
          </p:cNvPicPr>
          <p:nvPr/>
        </p:nvPicPr>
        <p:blipFill>
          <a:blip r:embed="rId3"/>
          <a:stretch>
            <a:fillRect/>
          </a:stretch>
        </p:blipFill>
        <p:spPr>
          <a:xfrm>
            <a:off x="6875016" y="1649478"/>
            <a:ext cx="4674559" cy="2467128"/>
          </a:xfrm>
          <a:prstGeom prst="rect">
            <a:avLst/>
          </a:prstGeom>
        </p:spPr>
      </p:pic>
    </p:spTree>
    <p:extLst>
      <p:ext uri="{BB962C8B-B14F-4D97-AF65-F5344CB8AC3E}">
        <p14:creationId xmlns:p14="http://schemas.microsoft.com/office/powerpoint/2010/main" val="10467508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B65288-3215-C5AA-B682-DDC22EB9FE9F}"/>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2695705-FAE5-FCCB-07A6-04628299CC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E972185-F0DE-AC7A-2FB9-A8E8A9AC704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58A0B9F0-364D-7066-320D-0F084EB8974A}"/>
              </a:ext>
            </a:extLst>
          </p:cNvPr>
          <p:cNvSpPr>
            <a:spLocks noGrp="1"/>
          </p:cNvSpPr>
          <p:nvPr>
            <p:ph type="sldNum" sz="quarter" idx="12"/>
          </p:nvPr>
        </p:nvSpPr>
        <p:spPr/>
        <p:txBody>
          <a:bodyPr/>
          <a:lstStyle/>
          <a:p>
            <a:fld id="{48F19E39-9933-F648-B2F3-3AC17C0DC986}" type="slidenum">
              <a:rPr lang="en-US" smtClean="0">
                <a:solidFill>
                  <a:schemeClr val="bg1"/>
                </a:solidFill>
              </a:rPr>
              <a:t>7</a:t>
            </a:fld>
            <a:endParaRPr lang="en-US" dirty="0">
              <a:solidFill>
                <a:schemeClr val="bg1"/>
              </a:solidFill>
            </a:endParaRPr>
          </a:p>
        </p:txBody>
      </p:sp>
      <p:sp>
        <p:nvSpPr>
          <p:cNvPr id="10" name="Footer Placeholder 10">
            <a:extLst>
              <a:ext uri="{FF2B5EF4-FFF2-40B4-BE49-F238E27FC236}">
                <a16:creationId xmlns:a16="http://schemas.microsoft.com/office/drawing/2014/main" id="{E9E9F416-6B33-3E86-A223-861132D1A58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5" name="TextBox 14">
            <a:extLst>
              <a:ext uri="{FF2B5EF4-FFF2-40B4-BE49-F238E27FC236}">
                <a16:creationId xmlns:a16="http://schemas.microsoft.com/office/drawing/2014/main" id="{69BBD39C-E47B-FC1E-81F0-A55582D4D824}"/>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AUTHENTICATION LAYER &amp; UI</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Users sign in through an identity provider, receive a JWT, and access the platform through a secure gateway.</a:t>
            </a:r>
            <a:endParaRPr lang="en-US" sz="1600" b="1"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sp>
        <p:nvSpPr>
          <p:cNvPr id="16" name="TextBox 15">
            <a:extLst>
              <a:ext uri="{FF2B5EF4-FFF2-40B4-BE49-F238E27FC236}">
                <a16:creationId xmlns:a16="http://schemas.microsoft.com/office/drawing/2014/main" id="{923EC657-6581-986B-97CF-A03649629F42}"/>
              </a:ext>
            </a:extLst>
          </p:cNvPr>
          <p:cNvSpPr txBox="1"/>
          <p:nvPr/>
        </p:nvSpPr>
        <p:spPr>
          <a:xfrm>
            <a:off x="596348" y="1160904"/>
            <a:ext cx="5834269" cy="3539430"/>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Authentication &amp; Access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Users log in with OAuth 2.0 and receive a JWT with their identity, tenant, role, and permissions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Every request verifies the token and applies role-based access control</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The UI adapts to different access levels</a:t>
            </a:r>
            <a:br>
              <a:rPr lang="en-US" sz="1400" dirty="0">
                <a:latin typeface="Inter" panose="02000503000000020004" pitchFamily="2" charset="0"/>
                <a:ea typeface="Inter" panose="02000503000000020004" pitchFamily="2" charset="0"/>
                <a:cs typeface="Inter" panose="02000503000000020004" pitchFamily="2" charset="0"/>
              </a:rPr>
            </a:br>
            <a:endParaRPr lang="en-US" sz="14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Agent Chat UI</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Main interface for asking questions in natural language and interacting with agents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Sends authenticated requests to the backend</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Shows live progress, execution steps, final results, and the selected model</a:t>
            </a:r>
            <a:br>
              <a:rPr lang="en-US" sz="1400" dirty="0">
                <a:latin typeface="Inter" panose="02000503000000020004" pitchFamily="2" charset="0"/>
                <a:ea typeface="Inter" panose="02000503000000020004" pitchFamily="2" charset="0"/>
                <a:cs typeface="Inter" panose="02000503000000020004" pitchFamily="2" charset="0"/>
              </a:rPr>
            </a:br>
            <a:endParaRPr lang="en-US" sz="14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Gateway</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NGINX handles secure access, routing, and CORS</a:t>
            </a:r>
          </a:p>
        </p:txBody>
      </p:sp>
      <p:pic>
        <p:nvPicPr>
          <p:cNvPr id="5" name="Picture 4">
            <a:extLst>
              <a:ext uri="{FF2B5EF4-FFF2-40B4-BE49-F238E27FC236}">
                <a16:creationId xmlns:a16="http://schemas.microsoft.com/office/drawing/2014/main" id="{164C1954-8B01-AC26-DCDB-C72D2C2FEED1}"/>
              </a:ext>
            </a:extLst>
          </p:cNvPr>
          <p:cNvPicPr>
            <a:picLocks noChangeAspect="1"/>
          </p:cNvPicPr>
          <p:nvPr/>
        </p:nvPicPr>
        <p:blipFill>
          <a:blip r:embed="rId3"/>
          <a:stretch>
            <a:fillRect/>
          </a:stretch>
        </p:blipFill>
        <p:spPr>
          <a:xfrm>
            <a:off x="7851913" y="1160904"/>
            <a:ext cx="2289313" cy="4955609"/>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31055195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8BA11-4F2B-BA85-253C-79735EC9817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9B42AAFC-D967-DBE5-8FC1-19A34DC684C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B232326-5B86-6E1F-8EA9-896BA8347E0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90ED0DA-BA7F-7112-C336-89DD4BC82710}"/>
              </a:ext>
            </a:extLst>
          </p:cNvPr>
          <p:cNvSpPr>
            <a:spLocks noGrp="1"/>
          </p:cNvSpPr>
          <p:nvPr>
            <p:ph type="sldNum" sz="quarter" idx="12"/>
          </p:nvPr>
        </p:nvSpPr>
        <p:spPr/>
        <p:txBody>
          <a:bodyPr/>
          <a:lstStyle/>
          <a:p>
            <a:fld id="{48F19E39-9933-F648-B2F3-3AC17C0DC986}" type="slidenum">
              <a:rPr lang="en-US" smtClean="0">
                <a:solidFill>
                  <a:schemeClr val="bg1"/>
                </a:solidFill>
              </a:rPr>
              <a:t>8</a:t>
            </a:fld>
            <a:endParaRPr lang="en-US" dirty="0">
              <a:solidFill>
                <a:schemeClr val="bg1"/>
              </a:solidFill>
            </a:endParaRPr>
          </a:p>
        </p:txBody>
      </p:sp>
      <p:sp>
        <p:nvSpPr>
          <p:cNvPr id="2" name="TextBox 1">
            <a:extLst>
              <a:ext uri="{FF2B5EF4-FFF2-40B4-BE49-F238E27FC236}">
                <a16:creationId xmlns:a16="http://schemas.microsoft.com/office/drawing/2014/main" id="{32F0F7FE-8C60-FD82-206B-86C2E62A1668}"/>
              </a:ext>
            </a:extLst>
          </p:cNvPr>
          <p:cNvSpPr txBox="1"/>
          <p:nvPr/>
        </p:nvSpPr>
        <p:spPr>
          <a:xfrm>
            <a:off x="596348" y="1160904"/>
            <a:ext cx="7881730" cy="3323987"/>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1. CORS Handler</a:t>
            </a:r>
            <a:br>
              <a:rPr lang="en-US" sz="1400" b="1"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Controls which websites can call the API.</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requests from the official chat UI are allowed; unknown domains are blocked.</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2. Trace Context</a:t>
            </a:r>
            <a:br>
              <a:rPr lang="en-US" sz="1400" b="1"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Assigns a trace ID so one request can be followed across the whole system.</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one user request can be tracked through the API, orchestrator, and database.</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3. JWT Auth + RBAC</a:t>
            </a:r>
            <a:br>
              <a:rPr lang="en-US" sz="1400" b="1"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Checks the user token and enforces role-based permissions.</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a viewer tries to delete a run and gets 403 Forbidden.</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4. Rate Limiter</a:t>
            </a:r>
            <a:br>
              <a:rPr lang="en-US" sz="1400" b="1"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Prevents abuse by limiting how many requests can be sent.</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after too many requests in one minute, the user gets 429 Too Many Requests.</a:t>
            </a:r>
            <a:endParaRPr lang="en-US" sz="1400" b="0" i="0" dirty="0">
              <a:effectLst/>
              <a:latin typeface="Inter" panose="02000503000000020004" pitchFamily="2" charset="0"/>
              <a:ea typeface="Inter" panose="02000503000000020004" pitchFamily="2" charset="0"/>
              <a:cs typeface="Inter" panose="02000503000000020004" pitchFamily="2" charset="0"/>
            </a:endParaRPr>
          </a:p>
        </p:txBody>
      </p:sp>
      <p:graphicFrame>
        <p:nvGraphicFramePr>
          <p:cNvPr id="6" name="Table 5">
            <a:extLst>
              <a:ext uri="{FF2B5EF4-FFF2-40B4-BE49-F238E27FC236}">
                <a16:creationId xmlns:a16="http://schemas.microsoft.com/office/drawing/2014/main" id="{18F6A390-DEC0-9971-97F5-919189EB0E43}"/>
              </a:ext>
            </a:extLst>
          </p:cNvPr>
          <p:cNvGraphicFramePr>
            <a:graphicFrameLocks noGrp="1"/>
          </p:cNvGraphicFramePr>
          <p:nvPr>
            <p:extLst>
              <p:ext uri="{D42A27DB-BD31-4B8C-83A1-F6EECF244321}">
                <p14:modId xmlns:p14="http://schemas.microsoft.com/office/powerpoint/2010/main" val="466609662"/>
              </p:ext>
            </p:extLst>
          </p:nvPr>
        </p:nvGraphicFramePr>
        <p:xfrm>
          <a:off x="2557670" y="4619625"/>
          <a:ext cx="7076660" cy="1447800"/>
        </p:xfrm>
        <a:graphic>
          <a:graphicData uri="http://schemas.openxmlformats.org/drawingml/2006/table">
            <a:tbl>
              <a:tblPr>
                <a:tableStyleId>{21E4AEA4-8DFA-4A89-87EB-49C32662AFE0}</a:tableStyleId>
              </a:tblPr>
              <a:tblGrid>
                <a:gridCol w="1322609">
                  <a:extLst>
                    <a:ext uri="{9D8B030D-6E8A-4147-A177-3AD203B41FA5}">
                      <a16:colId xmlns:a16="http://schemas.microsoft.com/office/drawing/2014/main" val="2901218323"/>
                    </a:ext>
                  </a:extLst>
                </a:gridCol>
                <a:gridCol w="1311261">
                  <a:extLst>
                    <a:ext uri="{9D8B030D-6E8A-4147-A177-3AD203B41FA5}">
                      <a16:colId xmlns:a16="http://schemas.microsoft.com/office/drawing/2014/main" val="377770775"/>
                    </a:ext>
                  </a:extLst>
                </a:gridCol>
                <a:gridCol w="1103244">
                  <a:extLst>
                    <a:ext uri="{9D8B030D-6E8A-4147-A177-3AD203B41FA5}">
                      <a16:colId xmlns:a16="http://schemas.microsoft.com/office/drawing/2014/main" val="4033670224"/>
                    </a:ext>
                  </a:extLst>
                </a:gridCol>
                <a:gridCol w="1003852">
                  <a:extLst>
                    <a:ext uri="{9D8B030D-6E8A-4147-A177-3AD203B41FA5}">
                      <a16:colId xmlns:a16="http://schemas.microsoft.com/office/drawing/2014/main" val="1996386480"/>
                    </a:ext>
                  </a:extLst>
                </a:gridCol>
                <a:gridCol w="1003852">
                  <a:extLst>
                    <a:ext uri="{9D8B030D-6E8A-4147-A177-3AD203B41FA5}">
                      <a16:colId xmlns:a16="http://schemas.microsoft.com/office/drawing/2014/main" val="1490375004"/>
                    </a:ext>
                  </a:extLst>
                </a:gridCol>
                <a:gridCol w="1331842">
                  <a:extLst>
                    <a:ext uri="{9D8B030D-6E8A-4147-A177-3AD203B41FA5}">
                      <a16:colId xmlns:a16="http://schemas.microsoft.com/office/drawing/2014/main" val="1430761344"/>
                    </a:ext>
                  </a:extLst>
                </a:gridCol>
              </a:tblGrid>
              <a:tr h="247598">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Role</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agent-runs</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jobs</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tools</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tenants</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Graph (write)</a:t>
                      </a:r>
                    </a:p>
                  </a:txBody>
                  <a:tcPr marL="57150" marR="57150" marT="38100" marB="38100" anchor="ctr"/>
                </a:tc>
                <a:extLst>
                  <a:ext uri="{0D108BD9-81ED-4DB2-BD59-A6C34878D82A}">
                    <a16:rowId xmlns:a16="http://schemas.microsoft.com/office/drawing/2014/main" val="3423743289"/>
                  </a:ext>
                </a:extLst>
              </a:tr>
              <a:tr h="145144">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admin</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509805184"/>
                  </a:ext>
                </a:extLst>
              </a:tr>
              <a:tr h="145144">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operator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CRUD</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1398323414"/>
                  </a:ext>
                </a:extLst>
              </a:tr>
              <a:tr h="145144">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user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CRD</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3055337032"/>
                  </a:ext>
                </a:extLst>
              </a:tr>
              <a:tr h="145144">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viewer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R</a:t>
                      </a:r>
                    </a:p>
                  </a:txBody>
                  <a:tcPr marL="57150" marR="57150" marT="38100" marB="38100" anchor="ctr"/>
                </a:tc>
                <a:tc>
                  <a:txBody>
                    <a:bodyPr/>
                    <a:lstStyle/>
                    <a:p>
                      <a:r>
                        <a:rPr lang="en-US" sz="140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tc>
                  <a:txBody>
                    <a:bodyPr/>
                    <a:lstStyle/>
                    <a:p>
                      <a:r>
                        <a:rPr lang="en-US" sz="1400" dirty="0">
                          <a:effectLst/>
                          <a:latin typeface="Inter" panose="02000503000000020004" pitchFamily="2" charset="0"/>
                          <a:ea typeface="Inter" panose="02000503000000020004" pitchFamily="2" charset="0"/>
                          <a:cs typeface="Inter" panose="02000503000000020004" pitchFamily="2" charset="0"/>
                        </a:rPr>
                        <a:t>✗</a:t>
                      </a:r>
                    </a:p>
                  </a:txBody>
                  <a:tcPr marL="57150" marR="57150" marT="38100" marB="38100" anchor="ctr"/>
                </a:tc>
                <a:extLst>
                  <a:ext uri="{0D108BD9-81ED-4DB2-BD59-A6C34878D82A}">
                    <a16:rowId xmlns:a16="http://schemas.microsoft.com/office/drawing/2014/main" val="2017887367"/>
                  </a:ext>
                </a:extLst>
              </a:tr>
            </a:tbl>
          </a:graphicData>
        </a:graphic>
      </p:graphicFrame>
      <p:sp>
        <p:nvSpPr>
          <p:cNvPr id="15" name="Footer Placeholder 10">
            <a:extLst>
              <a:ext uri="{FF2B5EF4-FFF2-40B4-BE49-F238E27FC236}">
                <a16:creationId xmlns:a16="http://schemas.microsoft.com/office/drawing/2014/main" id="{72B7CE12-1EF0-B4D9-34FF-E38045B77FF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6" name="TextBox 15">
            <a:extLst>
              <a:ext uri="{FF2B5EF4-FFF2-40B4-BE49-F238E27FC236}">
                <a16:creationId xmlns:a16="http://schemas.microsoft.com/office/drawing/2014/main" id="{E53A3490-A33B-2B62-1423-8EC3C96A8DE6}"/>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1/2)</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122482437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26872-B0DA-D689-5F3A-01CAFB271B5E}"/>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F30066CE-E194-6177-4696-0EE0BE1F35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319D276-5B19-EBE9-80DE-C7A7781BF64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C2B0DCE-CFB1-03CE-7137-4C54088D0711}"/>
              </a:ext>
            </a:extLst>
          </p:cNvPr>
          <p:cNvSpPr>
            <a:spLocks noGrp="1"/>
          </p:cNvSpPr>
          <p:nvPr>
            <p:ph type="sldNum" sz="quarter" idx="12"/>
          </p:nvPr>
        </p:nvSpPr>
        <p:spPr/>
        <p:txBody>
          <a:bodyPr/>
          <a:lstStyle/>
          <a:p>
            <a:fld id="{48F19E39-9933-F648-B2F3-3AC17C0DC986}" type="slidenum">
              <a:rPr lang="en-US" smtClean="0">
                <a:solidFill>
                  <a:schemeClr val="bg1"/>
                </a:solidFill>
              </a:rPr>
              <a:t>9</a:t>
            </a:fld>
            <a:endParaRPr lang="en-US" dirty="0">
              <a:solidFill>
                <a:schemeClr val="bg1"/>
              </a:solidFill>
            </a:endParaRPr>
          </a:p>
        </p:txBody>
      </p:sp>
      <p:sp>
        <p:nvSpPr>
          <p:cNvPr id="2" name="TextBox 1">
            <a:extLst>
              <a:ext uri="{FF2B5EF4-FFF2-40B4-BE49-F238E27FC236}">
                <a16:creationId xmlns:a16="http://schemas.microsoft.com/office/drawing/2014/main" id="{09D5BC0F-C728-D591-CD93-145FA855D6CC}"/>
              </a:ext>
            </a:extLst>
          </p:cNvPr>
          <p:cNvSpPr txBox="1"/>
          <p:nvPr/>
        </p:nvSpPr>
        <p:spPr>
          <a:xfrm>
            <a:off x="596348" y="1160904"/>
            <a:ext cx="6390861" cy="3323987"/>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5. Tenant Resolver</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Ensures each user only accesses data from their own organization.</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a user from one tenant cannot see data from another tenant.</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6. Input Guard</a:t>
            </a:r>
            <a:br>
              <a:rPr lang="en-US" sz="1400" b="1"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Validates requests and blocks unsafe or malformed input.</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an injection-like prompt is rejected before execution.</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7. Output Guard</a:t>
            </a:r>
            <a:br>
              <a:rPr lang="en-US" sz="1400" b="1"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Cleans responses before they are returned to the user.</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an email address in the output is redacted.</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8. Error Handler</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Returns safe, standardized errors without exposing internal details.</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Example: a database failure returns a generic error plus a correlation ID.</a:t>
            </a:r>
            <a:endParaRPr lang="en-US" sz="1400" b="0" i="0" dirty="0">
              <a:effectLst/>
              <a:latin typeface="Inter" panose="02000503000000020004" pitchFamily="2" charset="0"/>
              <a:ea typeface="Inter" panose="02000503000000020004" pitchFamily="2" charset="0"/>
              <a:cs typeface="Inter" panose="02000503000000020004" pitchFamily="2" charset="0"/>
            </a:endParaRPr>
          </a:p>
        </p:txBody>
      </p:sp>
      <p:sp>
        <p:nvSpPr>
          <p:cNvPr id="10" name="Footer Placeholder 10">
            <a:extLst>
              <a:ext uri="{FF2B5EF4-FFF2-40B4-BE49-F238E27FC236}">
                <a16:creationId xmlns:a16="http://schemas.microsoft.com/office/drawing/2014/main" id="{79C9BBE1-907B-A524-F625-1FF24D1B5B4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15" name="TextBox 14">
            <a:extLst>
              <a:ext uri="{FF2B5EF4-FFF2-40B4-BE49-F238E27FC236}">
                <a16:creationId xmlns:a16="http://schemas.microsoft.com/office/drawing/2014/main" id="{617DE955-D5FA-FFDB-A079-A18A488B8F40}"/>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SECURITY MIDDLEWARE STACK (Part 2/2)</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Every request passes through 8 Security middleware layers before reaching the business logic.</a:t>
            </a:r>
            <a:endParaRPr lang="en-US" sz="1600" i="0" dirty="0">
              <a:effectLst/>
              <a:latin typeface="Inter" panose="02000503000000020004" pitchFamily="2" charset="0"/>
              <a:ea typeface="Inter" panose="02000503000000020004" pitchFamily="2" charset="0"/>
              <a:cs typeface="Inter" panose="02000503000000020004" pitchFamily="2" charset="0"/>
            </a:endParaRPr>
          </a:p>
        </p:txBody>
      </p:sp>
      <p:pic>
        <p:nvPicPr>
          <p:cNvPr id="7" name="Picture 6">
            <a:extLst>
              <a:ext uri="{FF2B5EF4-FFF2-40B4-BE49-F238E27FC236}">
                <a16:creationId xmlns:a16="http://schemas.microsoft.com/office/drawing/2014/main" id="{F30B60E9-5D70-2449-8A46-01A129868714}"/>
              </a:ext>
            </a:extLst>
          </p:cNvPr>
          <p:cNvPicPr>
            <a:picLocks noChangeAspect="1"/>
          </p:cNvPicPr>
          <p:nvPr/>
        </p:nvPicPr>
        <p:blipFill>
          <a:blip r:embed="rId3"/>
          <a:stretch>
            <a:fillRect/>
          </a:stretch>
        </p:blipFill>
        <p:spPr>
          <a:xfrm>
            <a:off x="8060634" y="1282393"/>
            <a:ext cx="2790055" cy="3202498"/>
          </a:xfrm>
          <a:prstGeom prst="rect">
            <a:avLst/>
          </a:prstGeom>
        </p:spPr>
      </p:pic>
    </p:spTree>
    <p:extLst>
      <p:ext uri="{BB962C8B-B14F-4D97-AF65-F5344CB8AC3E}">
        <p14:creationId xmlns:p14="http://schemas.microsoft.com/office/powerpoint/2010/main" val="135149311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EB1921-F852-997B-2449-E6F2E989782E}"/>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67D0C9B3-4465-3094-11BE-7EC7F5D64C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1AB996B7-5870-4AD5-47CF-DD9938F249B2}"/>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88D984C8-D02D-ED04-492F-F3B42981E989}"/>
              </a:ext>
            </a:extLst>
          </p:cNvPr>
          <p:cNvSpPr>
            <a:spLocks noGrp="1"/>
          </p:cNvSpPr>
          <p:nvPr>
            <p:ph type="sldNum" sz="quarter" idx="12"/>
          </p:nvPr>
        </p:nvSpPr>
        <p:spPr/>
        <p:txBody>
          <a:bodyPr/>
          <a:lstStyle/>
          <a:p>
            <a:fld id="{48F19E39-9933-F648-B2F3-3AC17C0DC986}" type="slidenum">
              <a:rPr lang="en-US" smtClean="0">
                <a:solidFill>
                  <a:schemeClr val="bg1"/>
                </a:solidFill>
              </a:rPr>
              <a:t>10</a:t>
            </a:fld>
            <a:endParaRPr lang="en-US" dirty="0">
              <a:solidFill>
                <a:schemeClr val="bg1"/>
              </a:solidFill>
            </a:endParaRPr>
          </a:p>
        </p:txBody>
      </p:sp>
      <p:sp>
        <p:nvSpPr>
          <p:cNvPr id="2" name="TextBox 1">
            <a:extLst>
              <a:ext uri="{FF2B5EF4-FFF2-40B4-BE49-F238E27FC236}">
                <a16:creationId xmlns:a16="http://schemas.microsoft.com/office/drawing/2014/main" id="{0C1E64A0-FC83-0A8D-D24B-8A3CDEB5D6B6}"/>
              </a:ext>
            </a:extLst>
          </p:cNvPr>
          <p:cNvSpPr txBox="1"/>
          <p:nvPr/>
        </p:nvSpPr>
        <p:spPr>
          <a:xfrm>
            <a:off x="596349" y="374273"/>
            <a:ext cx="10953226"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API LAYER - Routers</a:t>
            </a:r>
          </a:p>
          <a:p>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exposes 76 endpoints grouped by domain under versioned APIs.</a:t>
            </a:r>
            <a:endParaRPr lang="en-US" sz="1400" b="1" i="0" dirty="0">
              <a:solidFill>
                <a:srgbClr val="822334"/>
              </a:solidFill>
              <a:effectLst/>
              <a:latin typeface="Inter" panose="02000503000000020004" pitchFamily="2" charset="0"/>
              <a:ea typeface="Inter" panose="02000503000000020004" pitchFamily="2" charset="0"/>
              <a:cs typeface="Inter" panose="02000503000000020004" pitchFamily="2" charset="0"/>
            </a:endParaRPr>
          </a:p>
        </p:txBody>
      </p:sp>
      <p:sp>
        <p:nvSpPr>
          <p:cNvPr id="5" name="Footer Placeholder 10">
            <a:extLst>
              <a:ext uri="{FF2B5EF4-FFF2-40B4-BE49-F238E27FC236}">
                <a16:creationId xmlns:a16="http://schemas.microsoft.com/office/drawing/2014/main" id="{88FFA157-0405-664A-686C-7D256DDBD798}"/>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6" name="TextBox 5">
            <a:extLst>
              <a:ext uri="{FF2B5EF4-FFF2-40B4-BE49-F238E27FC236}">
                <a16:creationId xmlns:a16="http://schemas.microsoft.com/office/drawing/2014/main" id="{ECCDB28C-C55B-A648-D0E4-23FA386DBAD2}"/>
              </a:ext>
            </a:extLst>
          </p:cNvPr>
          <p:cNvSpPr txBox="1"/>
          <p:nvPr/>
        </p:nvSpPr>
        <p:spPr>
          <a:xfrm>
            <a:off x="596348" y="1160904"/>
            <a:ext cx="10757452" cy="3754874"/>
          </a:xfrm>
          <a:prstGeom prst="rect">
            <a:avLst/>
          </a:prstGeom>
          <a:noFill/>
        </p:spPr>
        <p:txBody>
          <a:bodyPr wrap="square" rtlCol="0">
            <a:spAutoFit/>
          </a:bodyPr>
          <a:lstStyle/>
          <a:p>
            <a:r>
              <a:rPr lang="en-US" sz="1400" b="1" dirty="0">
                <a:latin typeface="Inter" panose="02000503000000020004" pitchFamily="2" charset="0"/>
                <a:ea typeface="Inter" panose="02000503000000020004" pitchFamily="2" charset="0"/>
                <a:cs typeface="Inter" panose="02000503000000020004" pitchFamily="2" charset="0"/>
              </a:rPr>
              <a:t>Core API Groups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/v1/health → service and dependency health checks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/v1/auth → authentication and token validation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/v1/agents → agent definitions and configuration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/v1/tenants → tenant settings, limits, and feature control</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/v1/models → LLM provider and model management</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/v1/tools → MCP tool discovery and invocation</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Execution APIs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/v1/jobs → long-running jobs, live progress, and cancellation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/v1/agent-runs → start runs, track status, get results, cancel execution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/v1/graph → direct Cypher queries and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execution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/v1/sessions → session and conversation state management</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Operational APIs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/v1/admin → maintenance tasks, cache control, and system stats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/v1/export → export runs, job results, and audit logs</a:t>
            </a:r>
            <a:endParaRPr lang="en-US" sz="1400" i="0" dirty="0">
              <a:effectLst/>
              <a:latin typeface="Inter" panose="02000503000000020004" pitchFamily="2" charset="0"/>
              <a:ea typeface="Inter" panose="02000503000000020004" pitchFamily="2" charset="0"/>
              <a:cs typeface="Inter" panose="02000503000000020004" pitchFamily="2" charset="0"/>
            </a:endParaRPr>
          </a:p>
        </p:txBody>
      </p:sp>
      <p:pic>
        <p:nvPicPr>
          <p:cNvPr id="8" name="Picture 7">
            <a:extLst>
              <a:ext uri="{FF2B5EF4-FFF2-40B4-BE49-F238E27FC236}">
                <a16:creationId xmlns:a16="http://schemas.microsoft.com/office/drawing/2014/main" id="{4E1C5234-06B8-428E-7B2F-48B52572F4A2}"/>
              </a:ext>
            </a:extLst>
          </p:cNvPr>
          <p:cNvPicPr>
            <a:picLocks noChangeAspect="1"/>
          </p:cNvPicPr>
          <p:nvPr/>
        </p:nvPicPr>
        <p:blipFill>
          <a:blip r:embed="rId3"/>
          <a:stretch>
            <a:fillRect/>
          </a:stretch>
        </p:blipFill>
        <p:spPr>
          <a:xfrm>
            <a:off x="8035160" y="1282393"/>
            <a:ext cx="2815530" cy="3202498"/>
          </a:xfrm>
          <a:prstGeom prst="rect">
            <a:avLst/>
          </a:prstGeom>
        </p:spPr>
      </p:pic>
    </p:spTree>
    <p:extLst>
      <p:ext uri="{BB962C8B-B14F-4D97-AF65-F5344CB8AC3E}">
        <p14:creationId xmlns:p14="http://schemas.microsoft.com/office/powerpoint/2010/main" val="389874974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407383-8871-1EE2-166A-B589E1CB40D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C69C75C-4A01-EF6E-E80E-25ED610402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DA923677-03C1-5941-C0A2-17F3C1C859F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416E3709-B6DA-1869-5D4C-B684FCEA70F7}"/>
              </a:ext>
            </a:extLst>
          </p:cNvPr>
          <p:cNvSpPr>
            <a:spLocks noGrp="1"/>
          </p:cNvSpPr>
          <p:nvPr>
            <p:ph type="sldNum" sz="quarter" idx="12"/>
          </p:nvPr>
        </p:nvSpPr>
        <p:spPr/>
        <p:txBody>
          <a:bodyPr/>
          <a:lstStyle/>
          <a:p>
            <a:fld id="{48F19E39-9933-F648-B2F3-3AC17C0DC986}" type="slidenum">
              <a:rPr lang="en-US" smtClean="0">
                <a:solidFill>
                  <a:schemeClr val="bg1"/>
                </a:solidFill>
              </a:rPr>
              <a:t>11</a:t>
            </a:fld>
            <a:endParaRPr lang="en-US" dirty="0">
              <a:solidFill>
                <a:schemeClr val="bg1"/>
              </a:solidFill>
            </a:endParaRPr>
          </a:p>
        </p:txBody>
      </p:sp>
      <p:sp>
        <p:nvSpPr>
          <p:cNvPr id="2" name="TextBox 1">
            <a:extLst>
              <a:ext uri="{FF2B5EF4-FFF2-40B4-BE49-F238E27FC236}">
                <a16:creationId xmlns:a16="http://schemas.microsoft.com/office/drawing/2014/main" id="{6F970B62-8B8A-7A1E-BD52-F7FE59CBC869}"/>
              </a:ext>
            </a:extLst>
          </p:cNvPr>
          <p:cNvSpPr txBox="1"/>
          <p:nvPr/>
        </p:nvSpPr>
        <p:spPr>
          <a:xfrm>
            <a:off x="596349" y="1161505"/>
            <a:ext cx="5499647" cy="4401205"/>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Request Validation</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Checks required fields and payload structure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Example: </a:t>
            </a:r>
            <a:r>
              <a:rPr lang="en-US" sz="1400" i="0" dirty="0" err="1">
                <a:effectLst/>
                <a:latin typeface="Inter" panose="02000503000000020004" pitchFamily="2" charset="0"/>
                <a:ea typeface="Inter" panose="02000503000000020004" pitchFamily="2" charset="0"/>
                <a:cs typeface="Inter" panose="02000503000000020004" pitchFamily="2" charset="0"/>
              </a:rPr>
              <a:t>agent.run</a:t>
            </a:r>
            <a:r>
              <a:rPr lang="en-US" sz="1400" i="0" dirty="0">
                <a:effectLst/>
                <a:latin typeface="Inter" panose="02000503000000020004" pitchFamily="2" charset="0"/>
                <a:ea typeface="Inter" panose="02000503000000020004" pitchFamily="2" charset="0"/>
                <a:cs typeface="Inter" panose="02000503000000020004" pitchFamily="2" charset="0"/>
              </a:rPr>
              <a:t> must include prompt, </a:t>
            </a:r>
            <a:r>
              <a:rPr lang="en-US" sz="1400" i="0" dirty="0" err="1">
                <a:effectLst/>
                <a:latin typeface="Inter" panose="02000503000000020004" pitchFamily="2" charset="0"/>
                <a:ea typeface="Inter" panose="02000503000000020004" pitchFamily="2" charset="0"/>
                <a:cs typeface="Inter" panose="02000503000000020004" pitchFamily="2" charset="0"/>
              </a:rPr>
              <a:t>user_id</a:t>
            </a:r>
            <a:r>
              <a:rPr lang="en-US" sz="1400" i="0" dirty="0">
                <a:effectLst/>
                <a:latin typeface="Inter" panose="02000503000000020004" pitchFamily="2" charset="0"/>
                <a:ea typeface="Inter" panose="02000503000000020004" pitchFamily="2" charset="0"/>
                <a:cs typeface="Inter" panose="02000503000000020004" pitchFamily="2" charset="0"/>
              </a:rPr>
              <a:t>, and </a:t>
            </a:r>
            <a:r>
              <a:rPr lang="en-US" sz="1400" i="0" dirty="0" err="1">
                <a:effectLst/>
                <a:latin typeface="Inter" panose="02000503000000020004" pitchFamily="2" charset="0"/>
                <a:ea typeface="Inter" panose="02000503000000020004" pitchFamily="2" charset="0"/>
                <a:cs typeface="Inter" panose="02000503000000020004" pitchFamily="2" charset="0"/>
              </a:rPr>
              <a:t>tenant_id</a:t>
            </a:r>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Idempotency Check</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Looks for an existing job with the same idempotency key</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Example: if the client retries after a timeout, the same job is returned</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3. Job Record Creation</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Creates a new PostgreSQL job record with status = queued</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Example: the job is stored before execution starts</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i="0" dirty="0">
                <a:effectLst/>
                <a:latin typeface="Inter" panose="02000503000000020004" pitchFamily="2" charset="0"/>
                <a:ea typeface="Inter" panose="02000503000000020004" pitchFamily="2" charset="0"/>
                <a:cs typeface="Inter" panose="02000503000000020004" pitchFamily="2" charset="0"/>
              </a:rPr>
              <a:t>Supported Job Types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demo, test, long-running, </a:t>
            </a:r>
            <a:r>
              <a:rPr lang="en-US" sz="1400" i="0" dirty="0" err="1">
                <a:effectLst/>
                <a:latin typeface="Inter" panose="02000503000000020004" pitchFamily="2" charset="0"/>
                <a:ea typeface="Inter" panose="02000503000000020004" pitchFamily="2" charset="0"/>
                <a:cs typeface="Inter" panose="02000503000000020004" pitchFamily="2" charset="0"/>
              </a:rPr>
              <a:t>agent.run</a:t>
            </a:r>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4. Queue Enqueue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Pushes the job ID into the Redis queue for workers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Example: </a:t>
            </a:r>
            <a:r>
              <a:rPr lang="en-US" sz="1400" i="0" dirty="0" err="1">
                <a:effectLst/>
                <a:latin typeface="Inter" panose="02000503000000020004" pitchFamily="2" charset="0"/>
                <a:ea typeface="Inter" panose="02000503000000020004" pitchFamily="2" charset="0"/>
                <a:cs typeface="Inter" panose="02000503000000020004" pitchFamily="2" charset="0"/>
              </a:rPr>
              <a:t>agent.run</a:t>
            </a:r>
            <a:r>
              <a:rPr lang="en-US" sz="1400" i="0" dirty="0">
                <a:effectLst/>
                <a:latin typeface="Inter" panose="02000503000000020004" pitchFamily="2" charset="0"/>
                <a:ea typeface="Inter" panose="02000503000000020004" pitchFamily="2" charset="0"/>
                <a:cs typeface="Inter" panose="02000503000000020004" pitchFamily="2" charset="0"/>
              </a:rPr>
              <a:t> jobs go to </a:t>
            </a:r>
            <a:r>
              <a:rPr lang="en-US" sz="1400" i="0" dirty="0" err="1">
                <a:effectLst/>
                <a:latin typeface="Inter" panose="02000503000000020004" pitchFamily="2" charset="0"/>
                <a:ea typeface="Inter" panose="02000503000000020004" pitchFamily="2" charset="0"/>
                <a:cs typeface="Inter" panose="02000503000000020004" pitchFamily="2" charset="0"/>
              </a:rPr>
              <a:t>jobs:queue:agent.run</a:t>
            </a:r>
            <a:endParaRPr lang="en-US" sz="1400" i="0" dirty="0">
              <a:effectLst/>
              <a:latin typeface="Inter" panose="02000503000000020004" pitchFamily="2" charset="0"/>
              <a:ea typeface="Inter" panose="02000503000000020004" pitchFamily="2" charset="0"/>
              <a:cs typeface="Inter" panose="02000503000000020004" pitchFamily="2" charset="0"/>
            </a:endParaRPr>
          </a:p>
        </p:txBody>
      </p:sp>
      <p:sp>
        <p:nvSpPr>
          <p:cNvPr id="3" name="TextBox 2">
            <a:extLst>
              <a:ext uri="{FF2B5EF4-FFF2-40B4-BE49-F238E27FC236}">
                <a16:creationId xmlns:a16="http://schemas.microsoft.com/office/drawing/2014/main" id="{2D4D84ED-A7B3-C8DD-5400-FFFACECCC1FD}"/>
              </a:ext>
            </a:extLst>
          </p:cNvPr>
          <p:cNvSpPr txBox="1"/>
          <p:nvPr/>
        </p:nvSpPr>
        <p:spPr>
          <a:xfrm>
            <a:off x="6324784" y="1161505"/>
            <a:ext cx="5781261" cy="181588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5. Idempotency Cache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Stores key → job ID mapping in Redis for fast duplicate detection</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Example: future retries can return the same job immediately</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6. HTTP Response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Returns 202 Accepted with the job ID and status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Example: client receives a Location header to poll /v1/jobs/{id}</a:t>
            </a:r>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sp>
        <p:nvSpPr>
          <p:cNvPr id="5" name="TextBox 4">
            <a:extLst>
              <a:ext uri="{FF2B5EF4-FFF2-40B4-BE49-F238E27FC236}">
                <a16:creationId xmlns:a16="http://schemas.microsoft.com/office/drawing/2014/main" id="{2817CA2A-2BBF-DDB2-3CCE-957C1C692365}"/>
              </a:ext>
            </a:extLst>
          </p:cNvPr>
          <p:cNvSpPr txBox="1"/>
          <p:nvPr/>
        </p:nvSpPr>
        <p:spPr>
          <a:xfrm>
            <a:off x="596349" y="374273"/>
            <a:ext cx="10999302" cy="646331"/>
          </a:xfrm>
          <a:prstGeom prst="rect">
            <a:avLst/>
          </a:prstGeom>
          <a:noFill/>
        </p:spPr>
        <p:txBody>
          <a:bodyPr wrap="square" rtlCol="0">
            <a:spAutoFit/>
          </a:bodyPr>
          <a:lstStyle/>
          <a:p>
            <a:pPr algn="just"/>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JOB CREATION</a:t>
            </a:r>
          </a:p>
          <a:p>
            <a:pPr algn="just"/>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Client submits a long-running task → the system validates it, avoids duplicates, and queues it safely.</a:t>
            </a:r>
          </a:p>
        </p:txBody>
      </p:sp>
      <p:sp>
        <p:nvSpPr>
          <p:cNvPr id="10" name="Footer Placeholder 10">
            <a:extLst>
              <a:ext uri="{FF2B5EF4-FFF2-40B4-BE49-F238E27FC236}">
                <a16:creationId xmlns:a16="http://schemas.microsoft.com/office/drawing/2014/main" id="{5A878182-FEA6-DEC8-BB8E-41AD2FE41452}"/>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8" name="Picture 7">
            <a:extLst>
              <a:ext uri="{FF2B5EF4-FFF2-40B4-BE49-F238E27FC236}">
                <a16:creationId xmlns:a16="http://schemas.microsoft.com/office/drawing/2014/main" id="{5446CBCC-5237-3424-D5C2-57726B26F903}"/>
              </a:ext>
            </a:extLst>
          </p:cNvPr>
          <p:cNvPicPr>
            <a:picLocks noChangeAspect="1"/>
          </p:cNvPicPr>
          <p:nvPr/>
        </p:nvPicPr>
        <p:blipFill>
          <a:blip r:embed="rId3"/>
          <a:stretch>
            <a:fillRect/>
          </a:stretch>
        </p:blipFill>
        <p:spPr>
          <a:xfrm>
            <a:off x="6530014" y="3630126"/>
            <a:ext cx="5147603" cy="1002634"/>
          </a:xfrm>
          <a:prstGeom prst="rect">
            <a:avLst/>
          </a:prstGeom>
        </p:spPr>
      </p:pic>
      <p:cxnSp>
        <p:nvCxnSpPr>
          <p:cNvPr id="16" name="Straight Connector 15">
            <a:extLst>
              <a:ext uri="{FF2B5EF4-FFF2-40B4-BE49-F238E27FC236}">
                <a16:creationId xmlns:a16="http://schemas.microsoft.com/office/drawing/2014/main" id="{81FC72E4-0A04-A6A5-0D78-718AF36FD4F5}"/>
              </a:ext>
            </a:extLst>
          </p:cNvPr>
          <p:cNvCxnSpPr>
            <a:cxnSpLocks/>
          </p:cNvCxnSpPr>
          <p:nvPr/>
        </p:nvCxnSpPr>
        <p:spPr>
          <a:xfrm>
            <a:off x="6215359" y="1161505"/>
            <a:ext cx="0" cy="496094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8900059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E022E4-21DB-0138-0DDA-924AB2FA3B43}"/>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993AADE-1D92-5EAC-23F4-ED1BCB9BC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0E5CAC2-4A96-3823-6C18-65A8A717D3F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E7802B7-55CA-7398-3826-9098013730A6}"/>
              </a:ext>
            </a:extLst>
          </p:cNvPr>
          <p:cNvSpPr>
            <a:spLocks noGrp="1"/>
          </p:cNvSpPr>
          <p:nvPr>
            <p:ph type="sldNum" sz="quarter" idx="12"/>
          </p:nvPr>
        </p:nvSpPr>
        <p:spPr/>
        <p:txBody>
          <a:bodyPr/>
          <a:lstStyle/>
          <a:p>
            <a:fld id="{48F19E39-9933-F648-B2F3-3AC17C0DC986}" type="slidenum">
              <a:rPr lang="en-US" smtClean="0">
                <a:solidFill>
                  <a:schemeClr val="bg1"/>
                </a:solidFill>
              </a:rPr>
              <a:t>12</a:t>
            </a:fld>
            <a:endParaRPr lang="en-US" dirty="0">
              <a:solidFill>
                <a:schemeClr val="bg1"/>
              </a:solidFill>
            </a:endParaRPr>
          </a:p>
        </p:txBody>
      </p:sp>
      <p:sp>
        <p:nvSpPr>
          <p:cNvPr id="2" name="TextBox 1">
            <a:extLst>
              <a:ext uri="{FF2B5EF4-FFF2-40B4-BE49-F238E27FC236}">
                <a16:creationId xmlns:a16="http://schemas.microsoft.com/office/drawing/2014/main" id="{0B61383C-2F5F-EFC0-64CF-99C813986D96}"/>
              </a:ext>
            </a:extLst>
          </p:cNvPr>
          <p:cNvSpPr txBox="1"/>
          <p:nvPr/>
        </p:nvSpPr>
        <p:spPr>
          <a:xfrm>
            <a:off x="596349" y="1161505"/>
            <a:ext cx="5499647" cy="4401205"/>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 Acquire Job</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The worker waits for a job in Redis and takes exclusive ownership when one appears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This prevents the same job from being processed twice</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2. Load Job Data</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Using the job ID, the worker loads the full job record from PostgreSQL</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PostgreSQL is the source of truth; Redis only provides the queue entry</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3. Check Early Cancellation</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Before starting, the worker checks whether the job was cancelled</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If already cancelled, execution is skipped safely</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4. Mark as Running</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The worker updates the job state from queued to running</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This state change is stored for tracking, audit, and live updates</a:t>
            </a:r>
          </a:p>
        </p:txBody>
      </p:sp>
      <p:sp>
        <p:nvSpPr>
          <p:cNvPr id="10" name="Footer Placeholder 10">
            <a:extLst>
              <a:ext uri="{FF2B5EF4-FFF2-40B4-BE49-F238E27FC236}">
                <a16:creationId xmlns:a16="http://schemas.microsoft.com/office/drawing/2014/main" id="{B055684E-E5FA-792D-1258-4AE5B9E25933}"/>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9" name="TextBox 8">
            <a:extLst>
              <a:ext uri="{FF2B5EF4-FFF2-40B4-BE49-F238E27FC236}">
                <a16:creationId xmlns:a16="http://schemas.microsoft.com/office/drawing/2014/main" id="{0B9B25CF-026F-8D71-0A81-93B753F81566}"/>
              </a:ext>
            </a:extLst>
          </p:cNvPr>
          <p:cNvSpPr txBox="1"/>
          <p:nvPr/>
        </p:nvSpPr>
        <p:spPr>
          <a:xfrm>
            <a:off x="596349" y="374273"/>
            <a:ext cx="10999302" cy="646331"/>
          </a:xfrm>
          <a:prstGeom prst="rect">
            <a:avLst/>
          </a:prstGeom>
          <a:noFill/>
        </p:spPr>
        <p:txBody>
          <a:bodyPr wrap="square" rtlCol="0">
            <a:spAutoFit/>
          </a:bodyPr>
          <a:lstStyle/>
          <a:p>
            <a:r>
              <a:rPr lang="en-US" sz="2000" b="1" i="0" dirty="0">
                <a:solidFill>
                  <a:srgbClr val="822334"/>
                </a:solidFill>
                <a:effectLst/>
                <a:latin typeface="Inter" panose="02000503000000020004" pitchFamily="2" charset="0"/>
                <a:ea typeface="Inter" panose="02000503000000020004" pitchFamily="2" charset="0"/>
                <a:cs typeface="Inter" panose="02000503000000020004" pitchFamily="2" charset="0"/>
              </a:rPr>
              <a:t>WORKERS + AGENT.RUN HANDLER → JOB PROCESSING ENGINE (Part 1/2) </a:t>
            </a:r>
          </a:p>
          <a:p>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Background workers pick up queued jobs and execute full agent workflows reliably outside the API process.</a:t>
            </a:r>
          </a:p>
        </p:txBody>
      </p:sp>
      <p:sp>
        <p:nvSpPr>
          <p:cNvPr id="16" name="TextBox 15">
            <a:extLst>
              <a:ext uri="{FF2B5EF4-FFF2-40B4-BE49-F238E27FC236}">
                <a16:creationId xmlns:a16="http://schemas.microsoft.com/office/drawing/2014/main" id="{25B7804A-1A39-BD12-B24B-E07284A67FFE}"/>
              </a:ext>
            </a:extLst>
          </p:cNvPr>
          <p:cNvSpPr txBox="1"/>
          <p:nvPr/>
        </p:nvSpPr>
        <p:spPr>
          <a:xfrm>
            <a:off x="6320800" y="1161505"/>
            <a:ext cx="5596676" cy="1169551"/>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5. Start Heartbeat</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While the job is active, the worker sends periodic heartbeat updates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If the heartbeat stops, the system can detect a stuck or failed worker</a:t>
            </a:r>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cxnSp>
        <p:nvCxnSpPr>
          <p:cNvPr id="18" name="Straight Connector 17">
            <a:extLst>
              <a:ext uri="{FF2B5EF4-FFF2-40B4-BE49-F238E27FC236}">
                <a16:creationId xmlns:a16="http://schemas.microsoft.com/office/drawing/2014/main" id="{0722A3EC-480C-0692-9EEA-6FE8204F62A7}"/>
              </a:ext>
            </a:extLst>
          </p:cNvPr>
          <p:cNvCxnSpPr>
            <a:cxnSpLocks/>
          </p:cNvCxnSpPr>
          <p:nvPr/>
        </p:nvCxnSpPr>
        <p:spPr>
          <a:xfrm>
            <a:off x="6215359" y="1161505"/>
            <a:ext cx="0" cy="496094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pic>
        <p:nvPicPr>
          <p:cNvPr id="19" name="Picture 18">
            <a:extLst>
              <a:ext uri="{FF2B5EF4-FFF2-40B4-BE49-F238E27FC236}">
                <a16:creationId xmlns:a16="http://schemas.microsoft.com/office/drawing/2014/main" id="{EDC66AEF-B1D9-D758-23FF-3960C51CB560}"/>
              </a:ext>
            </a:extLst>
          </p:cNvPr>
          <p:cNvPicPr>
            <a:picLocks noChangeAspect="1"/>
          </p:cNvPicPr>
          <p:nvPr/>
        </p:nvPicPr>
        <p:blipFill>
          <a:blip r:embed="rId3"/>
          <a:stretch>
            <a:fillRect/>
          </a:stretch>
        </p:blipFill>
        <p:spPr>
          <a:xfrm>
            <a:off x="6505008" y="3063028"/>
            <a:ext cx="5076709" cy="2105320"/>
          </a:xfrm>
          <a:prstGeom prst="rect">
            <a:avLst/>
          </a:prstGeom>
        </p:spPr>
      </p:pic>
      <p:sp>
        <p:nvSpPr>
          <p:cNvPr id="20" name="Left Brace 19">
            <a:extLst>
              <a:ext uri="{FF2B5EF4-FFF2-40B4-BE49-F238E27FC236}">
                <a16:creationId xmlns:a16="http://schemas.microsoft.com/office/drawing/2014/main" id="{DBB25726-B677-58A4-264F-AE730956E0DE}"/>
              </a:ext>
            </a:extLst>
          </p:cNvPr>
          <p:cNvSpPr/>
          <p:nvPr/>
        </p:nvSpPr>
        <p:spPr>
          <a:xfrm rot="5400000">
            <a:off x="8904294" y="238609"/>
            <a:ext cx="427383" cy="4927463"/>
          </a:xfrm>
          <a:prstGeom prst="leftBrace">
            <a:avLst>
              <a:gd name="adj1" fmla="val 96705"/>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69196677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60DA53-4325-F846-7780-A9D471F4805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2009F14A-DE35-56D1-D3C7-C464DDDA7D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828231EC-B8AD-0196-8DD4-BDE4C48560B5}"/>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BE1C280-AD27-1917-1A8D-26E59D74CC37}"/>
              </a:ext>
            </a:extLst>
          </p:cNvPr>
          <p:cNvSpPr>
            <a:spLocks noGrp="1"/>
          </p:cNvSpPr>
          <p:nvPr>
            <p:ph type="sldNum" sz="quarter" idx="12"/>
          </p:nvPr>
        </p:nvSpPr>
        <p:spPr/>
        <p:txBody>
          <a:bodyPr/>
          <a:lstStyle/>
          <a:p>
            <a:fld id="{48F19E39-9933-F648-B2F3-3AC17C0DC986}" type="slidenum">
              <a:rPr lang="en-US" smtClean="0">
                <a:solidFill>
                  <a:schemeClr val="bg1"/>
                </a:solidFill>
              </a:rPr>
              <a:t>13</a:t>
            </a:fld>
            <a:endParaRPr lang="en-US" dirty="0">
              <a:solidFill>
                <a:schemeClr val="bg1"/>
              </a:solidFill>
            </a:endParaRPr>
          </a:p>
        </p:txBody>
      </p:sp>
      <p:sp>
        <p:nvSpPr>
          <p:cNvPr id="2" name="TextBox 1">
            <a:extLst>
              <a:ext uri="{FF2B5EF4-FFF2-40B4-BE49-F238E27FC236}">
                <a16:creationId xmlns:a16="http://schemas.microsoft.com/office/drawing/2014/main" id="{743FDE96-15D2-F794-32C0-D662CBD8E29D}"/>
              </a:ext>
            </a:extLst>
          </p:cNvPr>
          <p:cNvSpPr txBox="1"/>
          <p:nvPr/>
        </p:nvSpPr>
        <p:spPr>
          <a:xfrm>
            <a:off x="596349" y="1161505"/>
            <a:ext cx="5619010" cy="483209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6. Initialize Agent Run</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For </a:t>
            </a:r>
            <a:r>
              <a:rPr lang="en-US" sz="1400" i="0" dirty="0" err="1">
                <a:effectLst/>
                <a:latin typeface="Inter" panose="02000503000000020004" pitchFamily="2" charset="0"/>
                <a:ea typeface="Inter" panose="02000503000000020004" pitchFamily="2" charset="0"/>
                <a:cs typeface="Inter" panose="02000503000000020004" pitchFamily="2" charset="0"/>
              </a:rPr>
              <a:t>agent.run</a:t>
            </a:r>
            <a:r>
              <a:rPr lang="en-US" sz="1400" i="0" dirty="0">
                <a:effectLst/>
                <a:latin typeface="Inter" panose="02000503000000020004" pitchFamily="2" charset="0"/>
                <a:ea typeface="Inter" panose="02000503000000020004" pitchFamily="2" charset="0"/>
                <a:cs typeface="Inter" panose="02000503000000020004" pitchFamily="2" charset="0"/>
              </a:rPr>
              <a:t> jobs, the worker creates an </a:t>
            </a:r>
            <a:r>
              <a:rPr lang="en-US" sz="1400" i="0" dirty="0" err="1">
                <a:effectLst/>
                <a:latin typeface="Inter" panose="02000503000000020004" pitchFamily="2" charset="0"/>
                <a:ea typeface="Inter" panose="02000503000000020004" pitchFamily="2" charset="0"/>
                <a:cs typeface="Inter" panose="02000503000000020004" pitchFamily="2" charset="0"/>
              </a:rPr>
              <a:t>AgentRun</a:t>
            </a:r>
            <a:r>
              <a:rPr lang="en-US" sz="1400" i="0" dirty="0">
                <a:effectLst/>
                <a:latin typeface="Inter" panose="02000503000000020004" pitchFamily="2" charset="0"/>
                <a:ea typeface="Inter" panose="02000503000000020004" pitchFamily="2" charset="0"/>
                <a:cs typeface="Inter" panose="02000503000000020004" pitchFamily="2" charset="0"/>
              </a:rPr>
              <a:t> record linked to the job</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Startup events are emitted so the UI can show immediate progress</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7. Run the Orchestrator</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The worker calls the orchestrator as the core execution engine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The orchestrator plans and executes the workflow step by step</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8. Execute and Persist Steps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Each step may call an LLM, invoke MCP tools, or query the graph</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Completed steps are saved immediately so progress is not lost</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9. Check Cancellation During Execution</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Between steps, the worker checks again whether cancellation was requested</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If cancelled, it stops cleanly after the current completed step</a:t>
            </a:r>
          </a:p>
        </p:txBody>
      </p:sp>
      <p:sp>
        <p:nvSpPr>
          <p:cNvPr id="3" name="TextBox 2">
            <a:extLst>
              <a:ext uri="{FF2B5EF4-FFF2-40B4-BE49-F238E27FC236}">
                <a16:creationId xmlns:a16="http://schemas.microsoft.com/office/drawing/2014/main" id="{D327AF55-B9A3-764A-86EC-C83D30475151}"/>
              </a:ext>
            </a:extLst>
          </p:cNvPr>
          <p:cNvSpPr txBox="1"/>
          <p:nvPr/>
        </p:nvSpPr>
        <p:spPr>
          <a:xfrm>
            <a:off x="6320800" y="1161505"/>
            <a:ext cx="5513569" cy="1169551"/>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10. Emit Progress and Finalize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Progress events are streamed live, outputs are post-processed for safety, and metrics are recorded</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At the end, the final result is saved and the job is marked as succeeded or failed</a:t>
            </a:r>
            <a:endParaRPr lang="en-US" sz="1300" b="0" i="0" dirty="0">
              <a:effectLst/>
              <a:latin typeface="Inter" panose="02000503000000020004" pitchFamily="2" charset="0"/>
              <a:ea typeface="Inter" panose="02000503000000020004" pitchFamily="2" charset="0"/>
              <a:cs typeface="Inter" panose="02000503000000020004" pitchFamily="2" charset="0"/>
            </a:endParaRPr>
          </a:p>
        </p:txBody>
      </p:sp>
      <p:cxnSp>
        <p:nvCxnSpPr>
          <p:cNvPr id="7" name="Straight Connector 6">
            <a:extLst>
              <a:ext uri="{FF2B5EF4-FFF2-40B4-BE49-F238E27FC236}">
                <a16:creationId xmlns:a16="http://schemas.microsoft.com/office/drawing/2014/main" id="{3B423150-2F7F-04A7-55BF-6F0EF5F2D0B4}"/>
              </a:ext>
            </a:extLst>
          </p:cNvPr>
          <p:cNvCxnSpPr>
            <a:cxnSpLocks/>
          </p:cNvCxnSpPr>
          <p:nvPr/>
        </p:nvCxnSpPr>
        <p:spPr>
          <a:xfrm>
            <a:off x="6215359" y="1161505"/>
            <a:ext cx="0" cy="4960942"/>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
        <p:nvSpPr>
          <p:cNvPr id="10" name="Footer Placeholder 10">
            <a:extLst>
              <a:ext uri="{FF2B5EF4-FFF2-40B4-BE49-F238E27FC236}">
                <a16:creationId xmlns:a16="http://schemas.microsoft.com/office/drawing/2014/main" id="{A26BF884-77C0-1918-1BB1-76F655F5DEBD}"/>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5" name="TextBox 4">
            <a:extLst>
              <a:ext uri="{FF2B5EF4-FFF2-40B4-BE49-F238E27FC236}">
                <a16:creationId xmlns:a16="http://schemas.microsoft.com/office/drawing/2014/main" id="{08CB5F14-B6D6-D5A0-9840-4EEDB429D7C3}"/>
              </a:ext>
            </a:extLst>
          </p:cNvPr>
          <p:cNvSpPr txBox="1"/>
          <p:nvPr/>
        </p:nvSpPr>
        <p:spPr>
          <a:xfrm>
            <a:off x="596349" y="374273"/>
            <a:ext cx="10999302" cy="646331"/>
          </a:xfrm>
          <a:prstGeom prst="rect">
            <a:avLst/>
          </a:prstGeom>
          <a:noFill/>
        </p:spPr>
        <p:txBody>
          <a:bodyPr wrap="square" rtlCol="0">
            <a:spAutoFit/>
          </a:bodyPr>
          <a:lstStyle/>
          <a:p>
            <a:r>
              <a:rPr lang="en-US" sz="2000" b="1" i="0" dirty="0">
                <a:solidFill>
                  <a:srgbClr val="822334"/>
                </a:solidFill>
                <a:effectLst/>
                <a:latin typeface="Inter" panose="02000503000000020004" pitchFamily="2" charset="0"/>
                <a:ea typeface="Inter" panose="02000503000000020004" pitchFamily="2" charset="0"/>
                <a:cs typeface="Inter" panose="02000503000000020004" pitchFamily="2" charset="0"/>
              </a:rPr>
              <a:t>WORKERS + AGENT.RUN HANDLER → JOB PROCESSING ENGINE (Part 2/2) </a:t>
            </a:r>
          </a:p>
          <a:p>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Background workers pick up queued jobs and execute full agent workflows reliably outside the API process.</a:t>
            </a:r>
          </a:p>
        </p:txBody>
      </p:sp>
      <p:pic>
        <p:nvPicPr>
          <p:cNvPr id="14" name="Picture 13">
            <a:extLst>
              <a:ext uri="{FF2B5EF4-FFF2-40B4-BE49-F238E27FC236}">
                <a16:creationId xmlns:a16="http://schemas.microsoft.com/office/drawing/2014/main" id="{964855F4-97F2-D5C2-9FEA-0722A505FBC5}"/>
              </a:ext>
            </a:extLst>
          </p:cNvPr>
          <p:cNvPicPr>
            <a:picLocks noChangeAspect="1"/>
          </p:cNvPicPr>
          <p:nvPr/>
        </p:nvPicPr>
        <p:blipFill>
          <a:blip r:embed="rId3"/>
          <a:stretch>
            <a:fillRect/>
          </a:stretch>
        </p:blipFill>
        <p:spPr>
          <a:xfrm>
            <a:off x="6505008" y="3063028"/>
            <a:ext cx="5076709" cy="2105320"/>
          </a:xfrm>
          <a:prstGeom prst="rect">
            <a:avLst/>
          </a:prstGeom>
        </p:spPr>
      </p:pic>
      <p:sp>
        <p:nvSpPr>
          <p:cNvPr id="16" name="Left Brace 15">
            <a:extLst>
              <a:ext uri="{FF2B5EF4-FFF2-40B4-BE49-F238E27FC236}">
                <a16:creationId xmlns:a16="http://schemas.microsoft.com/office/drawing/2014/main" id="{CDAF7B6F-045D-E45A-69D0-A2E66BA47247}"/>
              </a:ext>
            </a:extLst>
          </p:cNvPr>
          <p:cNvSpPr/>
          <p:nvPr/>
        </p:nvSpPr>
        <p:spPr>
          <a:xfrm rot="16200000">
            <a:off x="8918228" y="2926468"/>
            <a:ext cx="427383" cy="4927463"/>
          </a:xfrm>
          <a:prstGeom prst="leftBrace">
            <a:avLst>
              <a:gd name="adj1" fmla="val 96705"/>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8490785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4C9E9-0966-4274-C2AB-F4F7C6413354}"/>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D2F55D2-ABA6-818A-3C0A-0FAC1B224FF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0E76AAA-D723-919D-5187-032318A94FF0}"/>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BD7840C2-B9E0-1BA0-F184-A949C1B7FA48}"/>
              </a:ext>
            </a:extLst>
          </p:cNvPr>
          <p:cNvSpPr>
            <a:spLocks noGrp="1"/>
          </p:cNvSpPr>
          <p:nvPr>
            <p:ph type="sldNum" sz="quarter" idx="12"/>
          </p:nvPr>
        </p:nvSpPr>
        <p:spPr/>
        <p:txBody>
          <a:bodyPr/>
          <a:lstStyle/>
          <a:p>
            <a:fld id="{48F19E39-9933-F648-B2F3-3AC17C0DC986}" type="slidenum">
              <a:rPr lang="en-US" smtClean="0">
                <a:solidFill>
                  <a:schemeClr val="bg1"/>
                </a:solidFill>
              </a:rPr>
              <a:t>14</a:t>
            </a:fld>
            <a:endParaRPr lang="en-US" dirty="0">
              <a:solidFill>
                <a:schemeClr val="bg1"/>
              </a:solidFill>
            </a:endParaRPr>
          </a:p>
        </p:txBody>
      </p:sp>
      <p:sp>
        <p:nvSpPr>
          <p:cNvPr id="2" name="TextBox 1">
            <a:extLst>
              <a:ext uri="{FF2B5EF4-FFF2-40B4-BE49-F238E27FC236}">
                <a16:creationId xmlns:a16="http://schemas.microsoft.com/office/drawing/2014/main" id="{67082897-D895-F136-CCD4-8D7D07D5907E}"/>
              </a:ext>
            </a:extLst>
          </p:cNvPr>
          <p:cNvSpPr txBox="1"/>
          <p:nvPr/>
        </p:nvSpPr>
        <p:spPr>
          <a:xfrm>
            <a:off x="596352" y="1161505"/>
            <a:ext cx="7673006" cy="5047536"/>
          </a:xfrm>
          <a:prstGeom prst="rect">
            <a:avLst/>
          </a:prstGeom>
          <a:noFill/>
        </p:spPr>
        <p:txBody>
          <a:bodyPr wrap="square" rtlCol="0">
            <a:spAutoFit/>
          </a:bodyPr>
          <a:lstStyle/>
          <a:p>
            <a:pPr algn="l"/>
            <a:r>
              <a:rPr lang="en-US" sz="1400" b="1" dirty="0">
                <a:latin typeface="Inter" panose="02000503000000020004" pitchFamily="2" charset="0"/>
                <a:ea typeface="Inter" panose="02000503000000020004" pitchFamily="2" charset="0"/>
                <a:cs typeface="Inter" panose="02000503000000020004" pitchFamily="2" charset="0"/>
              </a:rPr>
              <a:t>Phase 1 → Intent Classification</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The orchestrator first determines what kind of request the user is making</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It checks a prompt catalog first; if no match is found, it uses an LLM classifier</a:t>
            </a:r>
          </a:p>
          <a:p>
            <a:endParaRPr lang="en-US" sz="1400" b="1"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Main intent types include: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CHAT → normal conversational response</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GRAPH →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query</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SECURITY → permission or access question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ADMIN → administrative action</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DANGEROUS → destructive request, refused safely</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EXPLAIN → explain an action without executing it</a:t>
            </a:r>
          </a:p>
          <a:p>
            <a:pPr lvl="1"/>
            <a:endParaRPr lang="en-US" sz="1400" dirty="0">
              <a:latin typeface="Inter" panose="02000503000000020004" pitchFamily="2" charset="0"/>
              <a:ea typeface="Inter" panose="02000503000000020004" pitchFamily="2" charset="0"/>
              <a:cs typeface="Inter" panose="02000503000000020004" pitchFamily="2" charset="0"/>
            </a:endParaRPr>
          </a:p>
          <a:p>
            <a:r>
              <a:rPr lang="en-US" sz="1400" b="1" dirty="0">
                <a:latin typeface="Inter" panose="02000503000000020004" pitchFamily="2" charset="0"/>
                <a:ea typeface="Inter" panose="02000503000000020004" pitchFamily="2" charset="0"/>
                <a:cs typeface="Inter" panose="02000503000000020004" pitchFamily="2" charset="0"/>
              </a:rPr>
              <a:t>Phase 2 → TODO Planning</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For multi-step tasks, the orchestrator turns the prompt into an ordered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TODO plan</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Planning uses the user request, conversation context, and available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schema/tool information</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The output is a structured sequence of actions, such as query → analyze → summarize</a:t>
            </a:r>
            <a:br>
              <a:rPr lang="en-US" sz="1400" dirty="0">
                <a:latin typeface="Inter" panose="02000503000000020004" pitchFamily="2" charset="0"/>
                <a:ea typeface="Inter" panose="02000503000000020004" pitchFamily="2" charset="0"/>
                <a:cs typeface="Inter" panose="02000503000000020004" pitchFamily="2" charset="0"/>
              </a:rPr>
            </a:br>
            <a:br>
              <a:rPr lang="en-US" sz="1400" dirty="0">
                <a:latin typeface="Inter" panose="02000503000000020004" pitchFamily="2" charset="0"/>
                <a:ea typeface="Inter" panose="02000503000000020004" pitchFamily="2" charset="0"/>
                <a:cs typeface="Inter" panose="02000503000000020004" pitchFamily="2" charset="0"/>
              </a:rPr>
            </a:br>
            <a:r>
              <a:rPr lang="en-US" sz="1400" b="1" dirty="0">
                <a:latin typeface="Inter" panose="02000503000000020004" pitchFamily="2" charset="0"/>
                <a:ea typeface="Inter" panose="02000503000000020004" pitchFamily="2" charset="0"/>
                <a:cs typeface="Inter" panose="02000503000000020004" pitchFamily="2" charset="0"/>
              </a:rPr>
              <a:t>Planning Modes:</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full → creates a detailed step-by-step plan for complex tasks</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optional → tries direct execution first, plans only if needed</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 none → uses a fixed path for predefined or catalog-matched requests</a:t>
            </a:r>
            <a:endParaRPr lang="en-US" sz="1300" b="1" i="0" dirty="0">
              <a:effectLst/>
              <a:latin typeface="Inter" panose="02000503000000020004" pitchFamily="2" charset="0"/>
              <a:ea typeface="Inter" panose="02000503000000020004" pitchFamily="2" charset="0"/>
              <a:cs typeface="Inter" panose="02000503000000020004" pitchFamily="2" charset="0"/>
            </a:endParaRPr>
          </a:p>
        </p:txBody>
      </p:sp>
      <p:sp>
        <p:nvSpPr>
          <p:cNvPr id="5" name="TextBox 4">
            <a:extLst>
              <a:ext uri="{FF2B5EF4-FFF2-40B4-BE49-F238E27FC236}">
                <a16:creationId xmlns:a16="http://schemas.microsoft.com/office/drawing/2014/main" id="{29F36FB4-6D4A-1E46-A9F5-FB9484653C9F}"/>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1/3)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orchestrator contains the core business logic and processes each prompt in 4 phases.</a:t>
            </a:r>
          </a:p>
        </p:txBody>
      </p:sp>
      <p:sp>
        <p:nvSpPr>
          <p:cNvPr id="8" name="Footer Placeholder 10">
            <a:extLst>
              <a:ext uri="{FF2B5EF4-FFF2-40B4-BE49-F238E27FC236}">
                <a16:creationId xmlns:a16="http://schemas.microsoft.com/office/drawing/2014/main" id="{81D91C4D-78B7-1A8E-FF7B-902FA955588E}"/>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4" name="Picture 13">
            <a:extLst>
              <a:ext uri="{FF2B5EF4-FFF2-40B4-BE49-F238E27FC236}">
                <a16:creationId xmlns:a16="http://schemas.microsoft.com/office/drawing/2014/main" id="{C3CA8D97-2B9F-7DA5-6119-7B4ACEFDD3F3}"/>
              </a:ext>
            </a:extLst>
          </p:cNvPr>
          <p:cNvPicPr>
            <a:picLocks noChangeAspect="1"/>
          </p:cNvPicPr>
          <p:nvPr/>
        </p:nvPicPr>
        <p:blipFill>
          <a:blip r:embed="rId3"/>
          <a:stretch>
            <a:fillRect/>
          </a:stretch>
        </p:blipFill>
        <p:spPr>
          <a:xfrm>
            <a:off x="7359046" y="2112980"/>
            <a:ext cx="4236602" cy="1823022"/>
          </a:xfrm>
          <a:prstGeom prst="rect">
            <a:avLst/>
          </a:prstGeom>
        </p:spPr>
      </p:pic>
      <p:sp>
        <p:nvSpPr>
          <p:cNvPr id="15" name="Left Brace 14">
            <a:extLst>
              <a:ext uri="{FF2B5EF4-FFF2-40B4-BE49-F238E27FC236}">
                <a16:creationId xmlns:a16="http://schemas.microsoft.com/office/drawing/2014/main" id="{81F7FDDE-3B15-B2A5-2E27-508876A2F3CF}"/>
              </a:ext>
            </a:extLst>
          </p:cNvPr>
          <p:cNvSpPr/>
          <p:nvPr/>
        </p:nvSpPr>
        <p:spPr>
          <a:xfrm rot="5400000">
            <a:off x="8233918" y="1020218"/>
            <a:ext cx="194917" cy="1977792"/>
          </a:xfrm>
          <a:prstGeom prst="leftBrace">
            <a:avLst>
              <a:gd name="adj1" fmla="val 96705"/>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3022326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A113B1-646D-BDAC-EFDA-F497752581E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60D2C65-8C2B-A7DE-B7BB-9FD2BD0EC5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43E50588-F24B-D5FC-6658-7B1DE7D4FD3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B2D84275-470B-F467-2786-543AE781C48B}"/>
              </a:ext>
            </a:extLst>
          </p:cNvPr>
          <p:cNvSpPr>
            <a:spLocks noGrp="1"/>
          </p:cNvSpPr>
          <p:nvPr>
            <p:ph type="sldNum" sz="quarter" idx="12"/>
          </p:nvPr>
        </p:nvSpPr>
        <p:spPr/>
        <p:txBody>
          <a:bodyPr/>
          <a:lstStyle/>
          <a:p>
            <a:fld id="{48F19E39-9933-F648-B2F3-3AC17C0DC986}" type="slidenum">
              <a:rPr lang="en-US" smtClean="0">
                <a:solidFill>
                  <a:schemeClr val="bg1"/>
                </a:solidFill>
              </a:rPr>
              <a:t>15</a:t>
            </a:fld>
            <a:endParaRPr lang="en-US" dirty="0">
              <a:solidFill>
                <a:schemeClr val="bg1"/>
              </a:solidFill>
            </a:endParaRPr>
          </a:p>
        </p:txBody>
      </p:sp>
      <p:sp>
        <p:nvSpPr>
          <p:cNvPr id="8" name="Footer Placeholder 10">
            <a:extLst>
              <a:ext uri="{FF2B5EF4-FFF2-40B4-BE49-F238E27FC236}">
                <a16:creationId xmlns:a16="http://schemas.microsoft.com/office/drawing/2014/main" id="{CFB63083-C3B7-F7E9-8F84-A30AB4CC779A}"/>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3" name="TextBox 2">
            <a:extLst>
              <a:ext uri="{FF2B5EF4-FFF2-40B4-BE49-F238E27FC236}">
                <a16:creationId xmlns:a16="http://schemas.microsoft.com/office/drawing/2014/main" id="{92F78B4B-D69A-CAD6-6006-44A0B966CE79}"/>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2/3)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orchestrator contains the core business logic and processes each prompt in 4 phases.</a:t>
            </a:r>
          </a:p>
        </p:txBody>
      </p:sp>
      <p:sp>
        <p:nvSpPr>
          <p:cNvPr id="19" name="TextBox 18">
            <a:extLst>
              <a:ext uri="{FF2B5EF4-FFF2-40B4-BE49-F238E27FC236}">
                <a16:creationId xmlns:a16="http://schemas.microsoft.com/office/drawing/2014/main" id="{C37E1CBD-3AC2-0183-BE03-DDE8E6EEB65E}"/>
              </a:ext>
            </a:extLst>
          </p:cNvPr>
          <p:cNvSpPr txBox="1"/>
          <p:nvPr/>
        </p:nvSpPr>
        <p:spPr>
          <a:xfrm>
            <a:off x="596351" y="1155097"/>
            <a:ext cx="11127819" cy="4832092"/>
          </a:xfrm>
          <a:prstGeom prst="rect">
            <a:avLst/>
          </a:prstGeom>
          <a:noFill/>
        </p:spPr>
        <p:txBody>
          <a:bodyPr wrap="square" rtlCol="0">
            <a:spAutoFit/>
          </a:bodyPr>
          <a:lstStyle/>
          <a:p>
            <a:pPr algn="l"/>
            <a:r>
              <a:rPr lang="en-US" sz="1400" b="1" dirty="0">
                <a:latin typeface="Inter" panose="02000503000000020004" pitchFamily="2" charset="0"/>
                <a:ea typeface="Inter" panose="02000503000000020004" pitchFamily="2" charset="0"/>
                <a:cs typeface="Inter" panose="02000503000000020004" pitchFamily="2" charset="0"/>
              </a:rPr>
              <a:t>Phase 3 → Step Execution</a:t>
            </a:r>
          </a:p>
          <a:p>
            <a:pPr algn="l"/>
            <a:r>
              <a:rPr lang="en-US" sz="1400" dirty="0">
                <a:latin typeface="Inter" panose="02000503000000020004" pitchFamily="2" charset="0"/>
                <a:ea typeface="Inter" panose="02000503000000020004" pitchFamily="2" charset="0"/>
                <a:cs typeface="Inter" panose="02000503000000020004" pitchFamily="2" charset="0"/>
              </a:rPr>
              <a:t>The orchestrator executes the TODO plan step by step using LLMs, MCP tools, the graph pipeline, and runtime state.</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1. Call LLM Providers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Uses different LLM roles for planning, checking results, and generating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responses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Calls go through adapters with retries, fallbacks, and circuit breakers</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2. Invoke MCP Tools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Calls tools for graph queries, security checks, cache access, and export</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Each tool call is permission-checked and keeps session context</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3. Run the Graph Pipeline</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For graph requests, the system runs a 6-stage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flow:</a:t>
            </a:r>
          </a:p>
          <a:p>
            <a:pPr marL="742950" lvl="1" indent="-285750">
              <a:buFontTx/>
              <a:buChar char="-"/>
            </a:pPr>
            <a:r>
              <a:rPr lang="en-US" sz="1200" dirty="0">
                <a:latin typeface="Menlo" panose="020B0609030804020204" pitchFamily="49" charset="0"/>
                <a:ea typeface="Menlo" panose="020B0609030804020204" pitchFamily="49" charset="0"/>
                <a:cs typeface="Menlo" panose="020B0609030804020204" pitchFamily="49" charset="0"/>
              </a:rPr>
              <a:t>normalize input → check catalog match → generate Cypher → </a:t>
            </a:r>
            <a:br>
              <a:rPr lang="en-US" sz="1200" dirty="0">
                <a:latin typeface="Menlo" panose="020B0609030804020204" pitchFamily="49" charset="0"/>
                <a:ea typeface="Menlo" panose="020B0609030804020204" pitchFamily="49" charset="0"/>
                <a:cs typeface="Menlo" panose="020B0609030804020204" pitchFamily="49" charset="0"/>
              </a:rPr>
            </a:br>
            <a:r>
              <a:rPr lang="en-US" sz="1200" dirty="0">
                <a:latin typeface="Menlo" panose="020B0609030804020204" pitchFamily="49" charset="0"/>
                <a:ea typeface="Menlo" panose="020B0609030804020204" pitchFamily="49" charset="0"/>
                <a:cs typeface="Menlo" panose="020B0609030804020204" pitchFamily="49" charset="0"/>
              </a:rPr>
              <a:t>validate safety → execute on </a:t>
            </a:r>
            <a:r>
              <a:rPr lang="en-US" sz="1200" dirty="0" err="1">
                <a:latin typeface="Menlo" panose="020B0609030804020204" pitchFamily="49" charset="0"/>
                <a:ea typeface="Menlo" panose="020B0609030804020204" pitchFamily="49" charset="0"/>
                <a:cs typeface="Menlo" panose="020B0609030804020204" pitchFamily="49" charset="0"/>
              </a:rPr>
              <a:t>Memgraph</a:t>
            </a:r>
            <a:r>
              <a:rPr lang="en-US" sz="1200" dirty="0">
                <a:latin typeface="Menlo" panose="020B0609030804020204" pitchFamily="49" charset="0"/>
                <a:ea typeface="Menlo" panose="020B0609030804020204" pitchFamily="49" charset="0"/>
                <a:cs typeface="Menlo" panose="020B0609030804020204" pitchFamily="49" charset="0"/>
              </a:rPr>
              <a:t> → summarize results.</a:t>
            </a:r>
          </a:p>
          <a:p>
            <a:pPr marL="285750" indent="-285750">
              <a:buFontTx/>
              <a:buChar char="-"/>
            </a:pPr>
            <a:r>
              <a:rPr lang="en-US" sz="1400" dirty="0">
                <a:latin typeface="Inter" panose="02000503000000020004" pitchFamily="2" charset="0"/>
                <a:ea typeface="Inter" panose="02000503000000020004" pitchFamily="2" charset="0"/>
                <a:cs typeface="Inter" panose="02000503000000020004" pitchFamily="2" charset="0"/>
              </a:rPr>
              <a:t>Validation includes syntax, tenant boundaries, query depth, timeout,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result limits, and read-only enforcement</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4. Save Progress and Manage State</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Each step is saved to PostgreSQL for traceability and recovery</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Redis is used for caching and cancellation checks</a:t>
            </a:r>
            <a:endParaRPr lang="en-US" sz="1300" i="0" dirty="0">
              <a:effectLst/>
              <a:latin typeface="Inter" panose="02000503000000020004" pitchFamily="2" charset="0"/>
              <a:ea typeface="Inter" panose="02000503000000020004" pitchFamily="2" charset="0"/>
              <a:cs typeface="Inter" panose="02000503000000020004" pitchFamily="2" charset="0"/>
            </a:endParaRPr>
          </a:p>
        </p:txBody>
      </p:sp>
      <p:sp>
        <p:nvSpPr>
          <p:cNvPr id="22" name="TextBox 21">
            <a:extLst>
              <a:ext uri="{FF2B5EF4-FFF2-40B4-BE49-F238E27FC236}">
                <a16:creationId xmlns:a16="http://schemas.microsoft.com/office/drawing/2014/main" id="{AA4113A4-15CD-2F90-7638-33ED292D3A75}"/>
              </a:ext>
            </a:extLst>
          </p:cNvPr>
          <p:cNvSpPr txBox="1"/>
          <p:nvPr/>
        </p:nvSpPr>
        <p:spPr>
          <a:xfrm>
            <a:off x="7359046" y="4076903"/>
            <a:ext cx="4291907" cy="1785104"/>
          </a:xfrm>
          <a:prstGeom prst="rect">
            <a:avLst/>
          </a:prstGeom>
          <a:noFill/>
        </p:spPr>
        <p:txBody>
          <a:bodyPr wrap="square">
            <a:spAutoFit/>
          </a:bodyPr>
          <a:lstStyle/>
          <a:p>
            <a:r>
              <a:rPr lang="en-US" sz="1000" b="0" dirty="0">
                <a:solidFill>
                  <a:srgbClr val="A31515"/>
                </a:solidFill>
                <a:effectLst/>
                <a:latin typeface="Menlo" panose="020B0609030804020204" pitchFamily="49" charset="0"/>
              </a:rPr>
              <a:t>"Show 5 Blast pairs outputting to same </a:t>
            </a:r>
            <a:r>
              <a:rPr lang="en-US" sz="1000" b="0" dirty="0" err="1">
                <a:solidFill>
                  <a:srgbClr val="A31515"/>
                </a:solidFill>
                <a:effectLst/>
                <a:latin typeface="Menlo" panose="020B0609030804020204" pitchFamily="49" charset="0"/>
              </a:rPr>
              <a:t>BlastedSeq</a:t>
            </a:r>
            <a:r>
              <a:rPr lang="en-US" sz="1000" b="0" dirty="0">
                <a:solidFill>
                  <a:srgbClr val="A31515"/>
                </a:solidFill>
                <a:effectLst/>
                <a:latin typeface="Menlo" panose="020B0609030804020204" pitchFamily="49" charset="0"/>
              </a:rPr>
              <a:t>"</a:t>
            </a:r>
            <a:br>
              <a:rPr lang="en-US" sz="1000" b="0" dirty="0">
                <a:solidFill>
                  <a:srgbClr val="000000"/>
                </a:solidFill>
                <a:effectLst/>
                <a:latin typeface="Menlo" panose="020B0609030804020204" pitchFamily="49" charset="0"/>
              </a:rPr>
            </a:br>
            <a:endParaRPr lang="en-US" sz="1000" dirty="0">
              <a:solidFill>
                <a:srgbClr val="A31515"/>
              </a:solidFill>
              <a:latin typeface="Menlo" panose="020B0609030804020204" pitchFamily="49" charset="0"/>
            </a:endParaRPr>
          </a:p>
          <a:p>
            <a:r>
              <a:rPr lang="en-US" sz="1000" b="0" dirty="0">
                <a:solidFill>
                  <a:srgbClr val="098658"/>
                </a:solidFill>
                <a:effectLst/>
                <a:latin typeface="Menlo" panose="020B0609030804020204" pitchFamily="49" charset="0"/>
              </a:rPr>
              <a:t>1</a:t>
            </a:r>
            <a:r>
              <a:rPr lang="en-US" sz="1000" b="0" dirty="0">
                <a:solidFill>
                  <a:srgbClr val="000000"/>
                </a:solidFill>
                <a:effectLst/>
                <a:latin typeface="Menlo" panose="020B0609030804020204" pitchFamily="49" charset="0"/>
              </a:rPr>
              <a:t>. Normalize → </a:t>
            </a:r>
            <a:r>
              <a:rPr lang="en-US" sz="1000" b="0" dirty="0">
                <a:solidFill>
                  <a:srgbClr val="A31515"/>
                </a:solidFill>
                <a:effectLst/>
                <a:latin typeface="Menlo" panose="020B0609030804020204" pitchFamily="49" charset="0"/>
              </a:rPr>
              <a:t>"blast pairs same </a:t>
            </a:r>
            <a:r>
              <a:rPr lang="en-US" sz="1000" b="0" dirty="0" err="1">
                <a:solidFill>
                  <a:srgbClr val="A31515"/>
                </a:solidFill>
                <a:effectLst/>
                <a:latin typeface="Menlo" panose="020B0609030804020204" pitchFamily="49" charset="0"/>
              </a:rPr>
              <a:t>blastedseq</a:t>
            </a:r>
            <a:r>
              <a:rPr lang="en-US" sz="1000" b="0" dirty="0">
                <a:solidFill>
                  <a:srgbClr val="A31515"/>
                </a:solidFill>
                <a:effectLst/>
                <a:latin typeface="Menlo" panose="020B0609030804020204" pitchFamily="49" charset="0"/>
              </a:rPr>
              <a:t> limit 5"</a:t>
            </a:r>
            <a:endParaRPr lang="en-US" sz="1000" b="0" dirty="0">
              <a:solidFill>
                <a:srgbClr val="000000"/>
              </a:solidFill>
              <a:effectLst/>
              <a:latin typeface="Menlo" panose="020B0609030804020204" pitchFamily="49" charset="0"/>
            </a:endParaRPr>
          </a:p>
          <a:p>
            <a:r>
              <a:rPr lang="en-US" sz="1000" b="0" dirty="0">
                <a:solidFill>
                  <a:srgbClr val="098658"/>
                </a:solidFill>
                <a:effectLst/>
                <a:latin typeface="Menlo" panose="020B0609030804020204" pitchFamily="49" charset="0"/>
              </a:rPr>
              <a:t>2</a:t>
            </a:r>
            <a:r>
              <a:rPr lang="en-US" sz="1000" b="0" dirty="0">
                <a:solidFill>
                  <a:srgbClr val="000000"/>
                </a:solidFill>
                <a:effectLst/>
                <a:latin typeface="Menlo" panose="020B0609030804020204" pitchFamily="49" charset="0"/>
              </a:rPr>
              <a:t>. Catalog → No match → LLM</a:t>
            </a:r>
          </a:p>
          <a:p>
            <a:r>
              <a:rPr lang="en-US" sz="1000" b="0" dirty="0">
                <a:solidFill>
                  <a:srgbClr val="098658"/>
                </a:solidFill>
                <a:effectLst/>
                <a:latin typeface="Menlo" panose="020B0609030804020204" pitchFamily="49" charset="0"/>
              </a:rPr>
              <a:t>3</a:t>
            </a:r>
            <a:r>
              <a:rPr lang="en-US" sz="1000" b="0" dirty="0">
                <a:solidFill>
                  <a:srgbClr val="000000"/>
                </a:solidFill>
                <a:effectLst/>
                <a:latin typeface="Menlo" panose="020B0609030804020204" pitchFamily="49" charset="0"/>
              </a:rPr>
              <a:t>. Generate → </a:t>
            </a:r>
          </a:p>
          <a:p>
            <a:r>
              <a:rPr lang="en-US" sz="1000" b="0" dirty="0">
                <a:solidFill>
                  <a:srgbClr val="008000"/>
                </a:solidFill>
                <a:effectLst/>
                <a:latin typeface="Menlo" panose="020B0609030804020204" pitchFamily="49" charset="0"/>
              </a:rPr>
              <a:t>MATCH (b1:Blast)-[:OUTPUT]-&gt;(s)&lt;-[:OUTPUT]-(b2:Blast) </a:t>
            </a:r>
          </a:p>
          <a:p>
            <a:r>
              <a:rPr lang="en-US" sz="1000" b="0" dirty="0">
                <a:solidFill>
                  <a:srgbClr val="008000"/>
                </a:solidFill>
                <a:effectLst/>
                <a:latin typeface="Menlo" panose="020B0609030804020204" pitchFamily="49" charset="0"/>
              </a:rPr>
              <a:t>WHERE b1&lt;&gt;b2 LIMIT 5</a:t>
            </a:r>
            <a:endParaRPr lang="en-US" sz="1000" b="0" dirty="0">
              <a:solidFill>
                <a:srgbClr val="000000"/>
              </a:solidFill>
              <a:effectLst/>
              <a:latin typeface="Menlo" panose="020B0609030804020204" pitchFamily="49" charset="0"/>
            </a:endParaRPr>
          </a:p>
          <a:p>
            <a:r>
              <a:rPr lang="en-US" sz="1000" b="0" dirty="0">
                <a:solidFill>
                  <a:srgbClr val="098658"/>
                </a:solidFill>
                <a:effectLst/>
                <a:latin typeface="Menlo" panose="020B0609030804020204" pitchFamily="49" charset="0"/>
              </a:rPr>
              <a:t>4</a:t>
            </a:r>
            <a:r>
              <a:rPr lang="en-US" sz="1000" b="0" dirty="0">
                <a:solidFill>
                  <a:srgbClr val="000000"/>
                </a:solidFill>
                <a:effectLst/>
                <a:latin typeface="Menlo" panose="020B0609030804020204" pitchFamily="49" charset="0"/>
              </a:rPr>
              <a:t>. Validate → ✓ Read-only ✓ Tenant ✓ Depth ✓ Timeout</a:t>
            </a:r>
          </a:p>
          <a:p>
            <a:r>
              <a:rPr lang="en-US" sz="1000" b="0" dirty="0">
                <a:solidFill>
                  <a:srgbClr val="098658"/>
                </a:solidFill>
                <a:effectLst/>
                <a:latin typeface="Menlo" panose="020B0609030804020204" pitchFamily="49" charset="0"/>
              </a:rPr>
              <a:t>5</a:t>
            </a:r>
            <a:r>
              <a:rPr lang="en-US" sz="1000" b="0" dirty="0">
                <a:solidFill>
                  <a:srgbClr val="000000"/>
                </a:solidFill>
                <a:effectLst/>
                <a:latin typeface="Menlo" panose="020B0609030804020204" pitchFamily="49" charset="0"/>
              </a:rPr>
              <a:t>. Execute → Returns </a:t>
            </a:r>
            <a:r>
              <a:rPr lang="en-US" sz="1000" b="0" dirty="0">
                <a:solidFill>
                  <a:srgbClr val="098658"/>
                </a:solidFill>
                <a:effectLst/>
                <a:latin typeface="Menlo" panose="020B0609030804020204" pitchFamily="49" charset="0"/>
              </a:rPr>
              <a:t>5</a:t>
            </a:r>
            <a:r>
              <a:rPr lang="en-US" sz="1000" b="0" dirty="0">
                <a:solidFill>
                  <a:srgbClr val="000000"/>
                </a:solidFill>
                <a:effectLst/>
                <a:latin typeface="Menlo" panose="020B0609030804020204" pitchFamily="49" charset="0"/>
              </a:rPr>
              <a:t> pairs</a:t>
            </a:r>
          </a:p>
          <a:p>
            <a:r>
              <a:rPr lang="en-US" sz="1000" b="0" dirty="0">
                <a:solidFill>
                  <a:srgbClr val="098658"/>
                </a:solidFill>
                <a:effectLst/>
                <a:latin typeface="Menlo" panose="020B0609030804020204" pitchFamily="49" charset="0"/>
              </a:rPr>
              <a:t>6</a:t>
            </a:r>
            <a:r>
              <a:rPr lang="en-US" sz="1000" b="0" dirty="0">
                <a:solidFill>
                  <a:srgbClr val="000000"/>
                </a:solidFill>
                <a:effectLst/>
                <a:latin typeface="Menlo" panose="020B0609030804020204" pitchFamily="49" charset="0"/>
              </a:rPr>
              <a:t>. Summarize → </a:t>
            </a:r>
          </a:p>
          <a:p>
            <a:r>
              <a:rPr lang="en-US" sz="1000" b="0" dirty="0">
                <a:solidFill>
                  <a:srgbClr val="A31515"/>
                </a:solidFill>
                <a:effectLst/>
                <a:latin typeface="Menlo" panose="020B0609030804020204" pitchFamily="49" charset="0"/>
              </a:rPr>
              <a:t>"Found 5 Blast pairs sharing </a:t>
            </a:r>
            <a:r>
              <a:rPr lang="en-US" sz="1000" b="0" dirty="0" err="1">
                <a:solidFill>
                  <a:srgbClr val="A31515"/>
                </a:solidFill>
                <a:effectLst/>
                <a:latin typeface="Menlo" panose="020B0609030804020204" pitchFamily="49" charset="0"/>
              </a:rPr>
              <a:t>BlastedSeq</a:t>
            </a:r>
            <a:r>
              <a:rPr lang="en-US" sz="1000" b="0" dirty="0">
                <a:solidFill>
                  <a:srgbClr val="A31515"/>
                </a:solidFill>
                <a:effectLst/>
                <a:latin typeface="Menlo" panose="020B0609030804020204" pitchFamily="49" charset="0"/>
              </a:rPr>
              <a:t> targets..."</a:t>
            </a:r>
            <a:endParaRPr lang="en-US" sz="1000" b="0" dirty="0">
              <a:solidFill>
                <a:srgbClr val="000000"/>
              </a:solidFill>
              <a:effectLst/>
              <a:latin typeface="Menlo" panose="020B0609030804020204" pitchFamily="49" charset="0"/>
            </a:endParaRPr>
          </a:p>
        </p:txBody>
      </p:sp>
      <p:cxnSp>
        <p:nvCxnSpPr>
          <p:cNvPr id="23" name="Straight Connector 22">
            <a:extLst>
              <a:ext uri="{FF2B5EF4-FFF2-40B4-BE49-F238E27FC236}">
                <a16:creationId xmlns:a16="http://schemas.microsoft.com/office/drawing/2014/main" id="{3E5292AD-5B64-7556-EE49-126CA0E5954A}"/>
              </a:ext>
            </a:extLst>
          </p:cNvPr>
          <p:cNvCxnSpPr>
            <a:cxnSpLocks/>
          </p:cNvCxnSpPr>
          <p:nvPr/>
        </p:nvCxnSpPr>
        <p:spPr>
          <a:xfrm>
            <a:off x="7356839" y="4076903"/>
            <a:ext cx="0" cy="1785104"/>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pic>
        <p:nvPicPr>
          <p:cNvPr id="30" name="Picture 29">
            <a:extLst>
              <a:ext uri="{FF2B5EF4-FFF2-40B4-BE49-F238E27FC236}">
                <a16:creationId xmlns:a16="http://schemas.microsoft.com/office/drawing/2014/main" id="{62DCA88C-F845-FB97-8DAD-5533F9C9908B}"/>
              </a:ext>
            </a:extLst>
          </p:cNvPr>
          <p:cNvPicPr>
            <a:picLocks noChangeAspect="1"/>
          </p:cNvPicPr>
          <p:nvPr/>
        </p:nvPicPr>
        <p:blipFill>
          <a:blip r:embed="rId3"/>
          <a:stretch>
            <a:fillRect/>
          </a:stretch>
        </p:blipFill>
        <p:spPr>
          <a:xfrm>
            <a:off x="7359046" y="2112980"/>
            <a:ext cx="4236602" cy="1823022"/>
          </a:xfrm>
          <a:prstGeom prst="rect">
            <a:avLst/>
          </a:prstGeom>
        </p:spPr>
      </p:pic>
      <p:sp>
        <p:nvSpPr>
          <p:cNvPr id="31" name="Left Brace 30">
            <a:extLst>
              <a:ext uri="{FF2B5EF4-FFF2-40B4-BE49-F238E27FC236}">
                <a16:creationId xmlns:a16="http://schemas.microsoft.com/office/drawing/2014/main" id="{1CD65507-57C5-FA22-29D0-853E017F1E43}"/>
              </a:ext>
            </a:extLst>
          </p:cNvPr>
          <p:cNvSpPr/>
          <p:nvPr/>
        </p:nvSpPr>
        <p:spPr>
          <a:xfrm rot="5400000">
            <a:off x="9898513" y="1472239"/>
            <a:ext cx="194917" cy="1073751"/>
          </a:xfrm>
          <a:prstGeom prst="leftBrace">
            <a:avLst>
              <a:gd name="adj1" fmla="val 96705"/>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57739065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196E72-CC04-20ED-B570-098810579196}"/>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99CB6F2-947C-36BD-C793-7F10237BE57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F9607DA-3140-58EA-5E07-9F02858EA6DE}"/>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E5C8EECF-56FF-6EA8-EA49-8FE642CD5F2D}"/>
              </a:ext>
            </a:extLst>
          </p:cNvPr>
          <p:cNvSpPr>
            <a:spLocks noGrp="1"/>
          </p:cNvSpPr>
          <p:nvPr>
            <p:ph type="sldNum" sz="quarter" idx="12"/>
          </p:nvPr>
        </p:nvSpPr>
        <p:spPr/>
        <p:txBody>
          <a:bodyPr/>
          <a:lstStyle/>
          <a:p>
            <a:fld id="{48F19E39-9933-F648-B2F3-3AC17C0DC986}" type="slidenum">
              <a:rPr lang="en-US" smtClean="0">
                <a:solidFill>
                  <a:schemeClr val="bg1"/>
                </a:solidFill>
              </a:rPr>
              <a:t>16</a:t>
            </a:fld>
            <a:endParaRPr lang="en-US" dirty="0">
              <a:solidFill>
                <a:schemeClr val="bg1"/>
              </a:solidFill>
            </a:endParaRPr>
          </a:p>
        </p:txBody>
      </p:sp>
      <p:sp>
        <p:nvSpPr>
          <p:cNvPr id="2" name="TextBox 1">
            <a:extLst>
              <a:ext uri="{FF2B5EF4-FFF2-40B4-BE49-F238E27FC236}">
                <a16:creationId xmlns:a16="http://schemas.microsoft.com/office/drawing/2014/main" id="{D8A94D57-5FB1-000B-FCA6-67FCE7787DF7}"/>
              </a:ext>
            </a:extLst>
          </p:cNvPr>
          <p:cNvSpPr txBox="1"/>
          <p:nvPr/>
        </p:nvSpPr>
        <p:spPr>
          <a:xfrm>
            <a:off x="596351" y="1161505"/>
            <a:ext cx="11127820" cy="4832092"/>
          </a:xfrm>
          <a:prstGeom prst="rect">
            <a:avLst/>
          </a:prstGeom>
          <a:noFill/>
        </p:spPr>
        <p:txBody>
          <a:bodyPr wrap="square" rtlCol="0">
            <a:spAutoFit/>
          </a:bodyPr>
          <a:lstStyle/>
          <a:p>
            <a:pPr algn="l"/>
            <a:r>
              <a:rPr lang="en-US" sz="1400" b="1" dirty="0">
                <a:latin typeface="Inter" panose="02000503000000020004" pitchFamily="2" charset="0"/>
                <a:ea typeface="Inter" panose="02000503000000020004" pitchFamily="2" charset="0"/>
                <a:cs typeface="Inter" panose="02000503000000020004" pitchFamily="2" charset="0"/>
              </a:rPr>
              <a:t>Phase 4 → Finalization and Response Generation</a:t>
            </a:r>
          </a:p>
          <a:p>
            <a:pPr algn="l"/>
            <a:r>
              <a:rPr lang="en-US" sz="1400" dirty="0">
                <a:latin typeface="Inter" panose="02000503000000020004" pitchFamily="2" charset="0"/>
                <a:ea typeface="Inter" panose="02000503000000020004" pitchFamily="2" charset="0"/>
                <a:cs typeface="Inter" panose="02000503000000020004" pitchFamily="2" charset="0"/>
              </a:rPr>
              <a:t>The orchestrator assembles the final result, applies safety checks, saves the outcome, and records monitoring data.</a:t>
            </a:r>
          </a:p>
          <a:p>
            <a:pPr algn="l"/>
            <a:endParaRPr lang="en-US" sz="1400" b="1"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1. Build the Final Response</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Combines all completed step outputs into one final answer</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Can fall back to a cached or default response if needed</a:t>
            </a:r>
          </a:p>
          <a:p>
            <a:pPr algn="l"/>
            <a:endParaRPr lang="en-US" sz="1400" b="1"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2. Normalize the Output</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Returns a consistent output format, including user-facing text and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optional JSON</a:t>
            </a:r>
          </a:p>
          <a:p>
            <a:pPr algn="l"/>
            <a:endParaRPr lang="en-US" sz="1400" b="1"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3. Apply Safety Checks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Removes sensitive data and filters unsafe content before sending the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response</a:t>
            </a:r>
          </a:p>
          <a:p>
            <a:pPr algn="l"/>
            <a:endParaRPr lang="en-US" sz="1400" b="1"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4. Save the Final State</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Stores the final status, output, and metrics in PostgreSQL for audit and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analysis</a:t>
            </a:r>
          </a:p>
          <a:p>
            <a:pPr algn="l"/>
            <a:endParaRPr lang="en-US" sz="1400" b="1"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5. Emit Observability Data</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Records metrics and traces for dashboards, debugging, alerting, and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monitoring</a:t>
            </a:r>
          </a:p>
        </p:txBody>
      </p:sp>
      <p:sp>
        <p:nvSpPr>
          <p:cNvPr id="8" name="Footer Placeholder 10">
            <a:extLst>
              <a:ext uri="{FF2B5EF4-FFF2-40B4-BE49-F238E27FC236}">
                <a16:creationId xmlns:a16="http://schemas.microsoft.com/office/drawing/2014/main" id="{DD206231-7D7E-025E-5256-580CE71DFE25}"/>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3" name="TextBox 2">
            <a:extLst>
              <a:ext uri="{FF2B5EF4-FFF2-40B4-BE49-F238E27FC236}">
                <a16:creationId xmlns:a16="http://schemas.microsoft.com/office/drawing/2014/main" id="{553A73B9-5B5E-490D-C20F-E503FA2CDA77}"/>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SERVICE LAYER → ORCHESTRATOR SERVICE (Part 3/3)</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orchestrator contains the core business logic and processes each prompt in 4 phases.</a:t>
            </a:r>
          </a:p>
        </p:txBody>
      </p:sp>
      <p:sp>
        <p:nvSpPr>
          <p:cNvPr id="33" name="TextBox 32">
            <a:extLst>
              <a:ext uri="{FF2B5EF4-FFF2-40B4-BE49-F238E27FC236}">
                <a16:creationId xmlns:a16="http://schemas.microsoft.com/office/drawing/2014/main" id="{6265C696-1D52-E60F-CC06-A6ACAC93F5E7}"/>
              </a:ext>
            </a:extLst>
          </p:cNvPr>
          <p:cNvSpPr txBox="1"/>
          <p:nvPr/>
        </p:nvSpPr>
        <p:spPr>
          <a:xfrm>
            <a:off x="7361254" y="4070261"/>
            <a:ext cx="4291907" cy="1169551"/>
          </a:xfrm>
          <a:prstGeom prst="rect">
            <a:avLst/>
          </a:prstGeom>
          <a:noFill/>
        </p:spPr>
        <p:txBody>
          <a:bodyPr wrap="square">
            <a:spAutoFit/>
          </a:bodyPr>
          <a:lstStyle/>
          <a:p>
            <a:r>
              <a:rPr lang="en-US" sz="1000" b="0" dirty="0">
                <a:solidFill>
                  <a:srgbClr val="000000"/>
                </a:solidFill>
                <a:effectLst/>
                <a:latin typeface="Menlo" panose="020B0609030804020204" pitchFamily="49" charset="0"/>
              </a:rPr>
              <a:t>{</a:t>
            </a:r>
          </a:p>
          <a:p>
            <a:r>
              <a:rPr lang="en-US" sz="1000" b="0" dirty="0">
                <a:solidFill>
                  <a:srgbClr val="0451A5"/>
                </a:solidFill>
                <a:effectLst/>
                <a:latin typeface="Menlo" panose="020B0609030804020204" pitchFamily="49" charset="0"/>
              </a:rPr>
              <a:t>"goal"</a:t>
            </a:r>
            <a:r>
              <a:rPr lang="en-US" sz="1000" b="0" dirty="0">
                <a:solidFill>
                  <a:srgbClr val="000000"/>
                </a:solidFill>
                <a:effectLst/>
                <a:latin typeface="Menlo" panose="020B0609030804020204" pitchFamily="49" charset="0"/>
              </a:rPr>
              <a:t>: </a:t>
            </a:r>
            <a:r>
              <a:rPr lang="en-US" sz="1000" b="0" dirty="0">
                <a:solidFill>
                  <a:srgbClr val="A31515"/>
                </a:solidFill>
                <a:effectLst/>
                <a:latin typeface="Menlo" panose="020B0609030804020204" pitchFamily="49" charset="0"/>
              </a:rPr>
              <a:t>"Find collaborating institutions"</a:t>
            </a:r>
            <a:r>
              <a:rPr lang="en-US" sz="1000" b="0" dirty="0">
                <a:solidFill>
                  <a:srgbClr val="000000"/>
                </a:solidFill>
                <a:effectLst/>
                <a:latin typeface="Menlo" panose="020B0609030804020204" pitchFamily="49" charset="0"/>
              </a:rPr>
              <a:t>,</a:t>
            </a:r>
          </a:p>
          <a:p>
            <a:r>
              <a:rPr lang="en-US" sz="1000" b="0" dirty="0">
                <a:solidFill>
                  <a:srgbClr val="0451A5"/>
                </a:solidFill>
                <a:effectLst/>
                <a:latin typeface="Menlo" panose="020B0609030804020204" pitchFamily="49" charset="0"/>
              </a:rPr>
              <a:t>"steps"</a:t>
            </a:r>
            <a:r>
              <a:rPr lang="en-US" sz="1000" b="0" dirty="0">
                <a:solidFill>
                  <a:srgbClr val="000000"/>
                </a:solidFill>
                <a:effectLst/>
                <a:latin typeface="Menlo" panose="020B0609030804020204" pitchFamily="49" charset="0"/>
              </a:rPr>
              <a:t>: [</a:t>
            </a:r>
            <a:r>
              <a:rPr lang="en-US" sz="1000" b="0" dirty="0">
                <a:solidFill>
                  <a:srgbClr val="CD3131"/>
                </a:solidFill>
                <a:effectLst/>
                <a:latin typeface="Menlo" panose="020B0609030804020204" pitchFamily="49" charset="0"/>
              </a:rPr>
              <a:t>step1</a:t>
            </a:r>
            <a:r>
              <a:rPr lang="en-US" sz="1000" b="0" dirty="0">
                <a:solidFill>
                  <a:srgbClr val="000000"/>
                </a:solidFill>
                <a:effectLst/>
                <a:latin typeface="Menlo" panose="020B0609030804020204" pitchFamily="49" charset="0"/>
              </a:rPr>
              <a:t>, </a:t>
            </a:r>
            <a:r>
              <a:rPr lang="en-US" sz="1000" b="0" dirty="0">
                <a:solidFill>
                  <a:srgbClr val="CD3131"/>
                </a:solidFill>
                <a:effectLst/>
                <a:latin typeface="Menlo" panose="020B0609030804020204" pitchFamily="49" charset="0"/>
              </a:rPr>
              <a:t>step2</a:t>
            </a:r>
            <a:r>
              <a:rPr lang="en-US" sz="1000" b="0" dirty="0">
                <a:solidFill>
                  <a:srgbClr val="000000"/>
                </a:solidFill>
                <a:effectLst/>
                <a:latin typeface="Menlo" panose="020B0609030804020204" pitchFamily="49" charset="0"/>
              </a:rPr>
              <a:t>, </a:t>
            </a:r>
            <a:r>
              <a:rPr lang="en-US" sz="1000" b="0" dirty="0">
                <a:solidFill>
                  <a:srgbClr val="CD3131"/>
                </a:solidFill>
                <a:effectLst/>
                <a:latin typeface="Menlo" panose="020B0609030804020204" pitchFamily="49" charset="0"/>
              </a:rPr>
              <a:t>step3</a:t>
            </a:r>
            <a:r>
              <a:rPr lang="en-US" sz="1000" b="0" dirty="0">
                <a:solidFill>
                  <a:srgbClr val="000000"/>
                </a:solidFill>
                <a:effectLst/>
                <a:latin typeface="Menlo" panose="020B0609030804020204" pitchFamily="49" charset="0"/>
              </a:rPr>
              <a:t>],</a:t>
            </a:r>
          </a:p>
          <a:p>
            <a:r>
              <a:rPr lang="en-US" sz="1000" b="0" dirty="0">
                <a:solidFill>
                  <a:srgbClr val="0451A5"/>
                </a:solidFill>
                <a:effectLst/>
                <a:latin typeface="Menlo" panose="020B0609030804020204" pitchFamily="49" charset="0"/>
              </a:rPr>
              <a:t>"outputs"</a:t>
            </a:r>
            <a:r>
              <a:rPr lang="en-US" sz="1000" b="0" dirty="0">
                <a:solidFill>
                  <a:srgbClr val="000000"/>
                </a:solidFill>
                <a:effectLst/>
                <a:latin typeface="Menlo" panose="020B0609030804020204" pitchFamily="49" charset="0"/>
              </a:rPr>
              <a:t>: [</a:t>
            </a:r>
            <a:r>
              <a:rPr lang="en-US" sz="1000" b="0" dirty="0">
                <a:solidFill>
                  <a:srgbClr val="A31515"/>
                </a:solidFill>
                <a:effectLst/>
                <a:latin typeface="Menlo" panose="020B0609030804020204" pitchFamily="49" charset="0"/>
              </a:rPr>
              <a:t>"Found 5 institutions..."</a:t>
            </a:r>
            <a:r>
              <a:rPr lang="en-US" sz="1000" b="0" dirty="0">
                <a:solidFill>
                  <a:srgbClr val="000000"/>
                </a:solidFill>
                <a:effectLst/>
                <a:latin typeface="Menlo" panose="020B0609030804020204" pitchFamily="49" charset="0"/>
              </a:rPr>
              <a:t>],</a:t>
            </a:r>
          </a:p>
          <a:p>
            <a:r>
              <a:rPr lang="en-US" sz="1000" b="0" dirty="0">
                <a:solidFill>
                  <a:srgbClr val="0451A5"/>
                </a:solidFill>
                <a:effectLst/>
                <a:latin typeface="Menlo" panose="020B0609030804020204" pitchFamily="49" charset="0"/>
              </a:rPr>
              <a:t>"</a:t>
            </a:r>
            <a:r>
              <a:rPr lang="en-US" sz="1000" b="0" dirty="0" err="1">
                <a:solidFill>
                  <a:srgbClr val="0451A5"/>
                </a:solidFill>
                <a:effectLst/>
                <a:latin typeface="Menlo" panose="020B0609030804020204" pitchFamily="49" charset="0"/>
              </a:rPr>
              <a:t>todos</a:t>
            </a:r>
            <a:r>
              <a:rPr lang="en-US" sz="1000" b="0" dirty="0">
                <a:solidFill>
                  <a:srgbClr val="0451A5"/>
                </a:solidFill>
                <a:effectLst/>
                <a:latin typeface="Menlo" panose="020B0609030804020204" pitchFamily="49" charset="0"/>
              </a:rPr>
              <a:t>"</a:t>
            </a:r>
            <a:r>
              <a:rPr lang="en-US" sz="1000" b="0" dirty="0">
                <a:solidFill>
                  <a:srgbClr val="000000"/>
                </a:solidFill>
                <a:effectLst/>
                <a:latin typeface="Menlo" panose="020B0609030804020204" pitchFamily="49" charset="0"/>
              </a:rPr>
              <a:t>: [</a:t>
            </a:r>
            <a:r>
              <a:rPr lang="en-US" sz="1000" b="0" dirty="0">
                <a:solidFill>
                  <a:srgbClr val="CD3131"/>
                </a:solidFill>
                <a:effectLst/>
                <a:latin typeface="Menlo" panose="020B0609030804020204" pitchFamily="49" charset="0"/>
              </a:rPr>
              <a:t>completed_todo1</a:t>
            </a:r>
            <a:r>
              <a:rPr lang="en-US" sz="1000" b="0" dirty="0">
                <a:solidFill>
                  <a:srgbClr val="000000"/>
                </a:solidFill>
                <a:effectLst/>
                <a:latin typeface="Menlo" panose="020B0609030804020204" pitchFamily="49" charset="0"/>
              </a:rPr>
              <a:t>, </a:t>
            </a:r>
            <a:r>
              <a:rPr lang="en-US" sz="1000" b="0" dirty="0">
                <a:solidFill>
                  <a:srgbClr val="CD3131"/>
                </a:solidFill>
                <a:effectLst/>
                <a:latin typeface="Menlo" panose="020B0609030804020204" pitchFamily="49" charset="0"/>
              </a:rPr>
              <a:t>completed_todo2</a:t>
            </a:r>
            <a:r>
              <a:rPr lang="en-US" sz="1000" b="0" dirty="0">
                <a:solidFill>
                  <a:srgbClr val="000000"/>
                </a:solidFill>
                <a:effectLst/>
                <a:latin typeface="Menlo" panose="020B0609030804020204" pitchFamily="49" charset="0"/>
              </a:rPr>
              <a:t>],</a:t>
            </a:r>
          </a:p>
          <a:p>
            <a:r>
              <a:rPr lang="en-US" sz="1000" b="0" dirty="0">
                <a:solidFill>
                  <a:srgbClr val="0451A5"/>
                </a:solidFill>
                <a:effectLst/>
                <a:latin typeface="Menlo" panose="020B0609030804020204" pitchFamily="49" charset="0"/>
              </a:rPr>
              <a:t>"metrics"</a:t>
            </a:r>
            <a:r>
              <a:rPr lang="en-US" sz="1000" b="0" dirty="0">
                <a:solidFill>
                  <a:srgbClr val="000000"/>
                </a:solidFill>
                <a:effectLst/>
                <a:latin typeface="Menlo" panose="020B0609030804020204" pitchFamily="49" charset="0"/>
              </a:rPr>
              <a:t>: { </a:t>
            </a:r>
            <a:r>
              <a:rPr lang="en-US" sz="1000" b="0" dirty="0">
                <a:solidFill>
                  <a:srgbClr val="0451A5"/>
                </a:solidFill>
                <a:effectLst/>
                <a:latin typeface="Menlo" panose="020B0609030804020204" pitchFamily="49" charset="0"/>
              </a:rPr>
              <a:t>"</a:t>
            </a:r>
            <a:r>
              <a:rPr lang="en-US" sz="1000" b="0" dirty="0" err="1">
                <a:solidFill>
                  <a:srgbClr val="0451A5"/>
                </a:solidFill>
                <a:effectLst/>
                <a:latin typeface="Menlo" panose="020B0609030804020204" pitchFamily="49" charset="0"/>
              </a:rPr>
              <a:t>duration_ms</a:t>
            </a:r>
            <a:r>
              <a:rPr lang="en-US" sz="1000" b="0" dirty="0">
                <a:solidFill>
                  <a:srgbClr val="0451A5"/>
                </a:solidFill>
                <a:effectLst/>
                <a:latin typeface="Menlo" panose="020B0609030804020204" pitchFamily="49" charset="0"/>
              </a:rPr>
              <a:t>"</a:t>
            </a:r>
            <a:r>
              <a:rPr lang="en-US" sz="1000" b="0" dirty="0">
                <a:solidFill>
                  <a:srgbClr val="000000"/>
                </a:solidFill>
                <a:effectLst/>
                <a:latin typeface="Menlo" panose="020B0609030804020204" pitchFamily="49" charset="0"/>
              </a:rPr>
              <a:t>: </a:t>
            </a:r>
            <a:r>
              <a:rPr lang="en-US" sz="1000" b="0" dirty="0">
                <a:solidFill>
                  <a:srgbClr val="098658"/>
                </a:solidFill>
                <a:effectLst/>
                <a:latin typeface="Menlo" panose="020B0609030804020204" pitchFamily="49" charset="0"/>
              </a:rPr>
              <a:t>2340</a:t>
            </a:r>
            <a:r>
              <a:rPr lang="en-US" sz="1000" b="0" dirty="0">
                <a:solidFill>
                  <a:srgbClr val="000000"/>
                </a:solidFill>
                <a:effectLst/>
                <a:latin typeface="Menlo" panose="020B0609030804020204" pitchFamily="49" charset="0"/>
              </a:rPr>
              <a:t>, </a:t>
            </a:r>
            <a:r>
              <a:rPr lang="en-US" sz="1000" b="0" dirty="0">
                <a:solidFill>
                  <a:srgbClr val="0451A5"/>
                </a:solidFill>
                <a:effectLst/>
                <a:latin typeface="Menlo" panose="020B0609030804020204" pitchFamily="49" charset="0"/>
              </a:rPr>
              <a:t>"tokens"</a:t>
            </a:r>
            <a:r>
              <a:rPr lang="en-US" sz="1000" b="0" dirty="0">
                <a:solidFill>
                  <a:srgbClr val="000000"/>
                </a:solidFill>
                <a:effectLst/>
                <a:latin typeface="Menlo" panose="020B0609030804020204" pitchFamily="49" charset="0"/>
              </a:rPr>
              <a:t>: </a:t>
            </a:r>
            <a:r>
              <a:rPr lang="en-US" sz="1000" b="0" dirty="0">
                <a:solidFill>
                  <a:srgbClr val="098658"/>
                </a:solidFill>
                <a:effectLst/>
                <a:latin typeface="Menlo" panose="020B0609030804020204" pitchFamily="49" charset="0"/>
              </a:rPr>
              <a:t>1850</a:t>
            </a:r>
            <a:r>
              <a:rPr lang="en-US" sz="1000" b="0" dirty="0">
                <a:solidFill>
                  <a:srgbClr val="000000"/>
                </a:solidFill>
                <a:effectLst/>
                <a:latin typeface="Menlo" panose="020B0609030804020204" pitchFamily="49" charset="0"/>
              </a:rPr>
              <a:t> }</a:t>
            </a:r>
          </a:p>
          <a:p>
            <a:r>
              <a:rPr lang="en-US" sz="1000" b="0" dirty="0">
                <a:solidFill>
                  <a:srgbClr val="000000"/>
                </a:solidFill>
                <a:effectLst/>
                <a:latin typeface="Menlo" panose="020B0609030804020204" pitchFamily="49" charset="0"/>
              </a:rPr>
              <a:t>}</a:t>
            </a:r>
            <a:endParaRPr lang="en-US" sz="1000" b="1" i="0" dirty="0">
              <a:solidFill>
                <a:srgbClr val="000000"/>
              </a:solidFill>
              <a:effectLst/>
              <a:latin typeface="Courier New" panose="02070309020205020404" pitchFamily="49" charset="0"/>
              <a:ea typeface="Inter" panose="02000503000000020004" pitchFamily="2" charset="0"/>
              <a:cs typeface="Inter" panose="02000503000000020004" pitchFamily="2" charset="0"/>
            </a:endParaRPr>
          </a:p>
        </p:txBody>
      </p:sp>
      <p:cxnSp>
        <p:nvCxnSpPr>
          <p:cNvPr id="34" name="Straight Connector 33">
            <a:extLst>
              <a:ext uri="{FF2B5EF4-FFF2-40B4-BE49-F238E27FC236}">
                <a16:creationId xmlns:a16="http://schemas.microsoft.com/office/drawing/2014/main" id="{F92769A2-7B18-BF0B-5751-3938685FA519}"/>
              </a:ext>
            </a:extLst>
          </p:cNvPr>
          <p:cNvCxnSpPr>
            <a:cxnSpLocks/>
          </p:cNvCxnSpPr>
          <p:nvPr/>
        </p:nvCxnSpPr>
        <p:spPr>
          <a:xfrm>
            <a:off x="7359046" y="4070261"/>
            <a:ext cx="2208" cy="1169551"/>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pic>
        <p:nvPicPr>
          <p:cNvPr id="38" name="Picture 37">
            <a:extLst>
              <a:ext uri="{FF2B5EF4-FFF2-40B4-BE49-F238E27FC236}">
                <a16:creationId xmlns:a16="http://schemas.microsoft.com/office/drawing/2014/main" id="{1D19788B-A10B-7D4B-7517-72F6ADECA4CA}"/>
              </a:ext>
            </a:extLst>
          </p:cNvPr>
          <p:cNvPicPr>
            <a:picLocks noChangeAspect="1"/>
          </p:cNvPicPr>
          <p:nvPr/>
        </p:nvPicPr>
        <p:blipFill>
          <a:blip r:embed="rId3"/>
          <a:stretch>
            <a:fillRect/>
          </a:stretch>
        </p:blipFill>
        <p:spPr>
          <a:xfrm>
            <a:off x="7359046" y="2112980"/>
            <a:ext cx="4236602" cy="1823022"/>
          </a:xfrm>
          <a:prstGeom prst="rect">
            <a:avLst/>
          </a:prstGeom>
        </p:spPr>
      </p:pic>
      <p:sp>
        <p:nvSpPr>
          <p:cNvPr id="39" name="Left Brace 38">
            <a:extLst>
              <a:ext uri="{FF2B5EF4-FFF2-40B4-BE49-F238E27FC236}">
                <a16:creationId xmlns:a16="http://schemas.microsoft.com/office/drawing/2014/main" id="{57AA85E8-86B3-9BE2-0E7D-0FF56B4BA88F}"/>
              </a:ext>
            </a:extLst>
          </p:cNvPr>
          <p:cNvSpPr/>
          <p:nvPr/>
        </p:nvSpPr>
        <p:spPr>
          <a:xfrm rot="5400000">
            <a:off x="11055340" y="1601986"/>
            <a:ext cx="194917" cy="814257"/>
          </a:xfrm>
          <a:prstGeom prst="leftBrace">
            <a:avLst>
              <a:gd name="adj1" fmla="val 96705"/>
              <a:gd name="adj2" fmla="val 50000"/>
            </a:avLst>
          </a:prstGeom>
        </p:spPr>
        <p:style>
          <a:lnRef idx="3">
            <a:schemeClr val="dk1"/>
          </a:lnRef>
          <a:fillRef idx="0">
            <a:schemeClr val="dk1"/>
          </a:fillRef>
          <a:effectRef idx="2">
            <a:schemeClr val="dk1"/>
          </a:effectRef>
          <a:fontRef idx="minor">
            <a:schemeClr val="tx1"/>
          </a:fontRef>
        </p:style>
        <p:txBody>
          <a:bodyPr rtlCol="0" anchor="ctr"/>
          <a:lstStyle/>
          <a:p>
            <a:pPr algn="ctr"/>
            <a:endParaRPr lang="en-US"/>
          </a:p>
        </p:txBody>
      </p:sp>
    </p:spTree>
    <p:extLst>
      <p:ext uri="{BB962C8B-B14F-4D97-AF65-F5344CB8AC3E}">
        <p14:creationId xmlns:p14="http://schemas.microsoft.com/office/powerpoint/2010/main" val="29566853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DC375-2693-AC3F-6178-40CF605B35E7}"/>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255B66C3-29CA-9161-A2CB-AA9DE5CF64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5538FE69-0CCE-1DE2-9432-7D71C1719FB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36A20E72-19E8-7D50-A503-CBC45740C8E6}"/>
              </a:ext>
            </a:extLst>
          </p:cNvPr>
          <p:cNvSpPr>
            <a:spLocks noGrp="1"/>
          </p:cNvSpPr>
          <p:nvPr>
            <p:ph type="sldNum" sz="quarter" idx="12"/>
          </p:nvPr>
        </p:nvSpPr>
        <p:spPr/>
        <p:txBody>
          <a:bodyPr/>
          <a:lstStyle/>
          <a:p>
            <a:fld id="{48F19E39-9933-F648-B2F3-3AC17C0DC986}" type="slidenum">
              <a:rPr lang="en-US" smtClean="0">
                <a:solidFill>
                  <a:schemeClr val="bg1"/>
                </a:solidFill>
              </a:rPr>
              <a:t>17</a:t>
            </a:fld>
            <a:endParaRPr lang="en-US" dirty="0">
              <a:solidFill>
                <a:schemeClr val="bg1"/>
              </a:solidFill>
            </a:endParaRPr>
          </a:p>
        </p:txBody>
      </p:sp>
      <p:sp>
        <p:nvSpPr>
          <p:cNvPr id="2" name="TextBox 1">
            <a:extLst>
              <a:ext uri="{FF2B5EF4-FFF2-40B4-BE49-F238E27FC236}">
                <a16:creationId xmlns:a16="http://schemas.microsoft.com/office/drawing/2014/main" id="{3D91DE74-FC41-AE51-C9C5-94EF153C117D}"/>
              </a:ext>
            </a:extLst>
          </p:cNvPr>
          <p:cNvSpPr txBox="1"/>
          <p:nvPr/>
        </p:nvSpPr>
        <p:spPr>
          <a:xfrm>
            <a:off x="596348" y="1161505"/>
            <a:ext cx="7007088" cy="4293483"/>
          </a:xfrm>
          <a:prstGeom prst="rect">
            <a:avLst/>
          </a:prstGeom>
          <a:noFill/>
        </p:spPr>
        <p:txBody>
          <a:bodyPr wrap="square" rtlCol="0">
            <a:spAutoFit/>
          </a:bodyPr>
          <a:lstStyle/>
          <a:p>
            <a:pPr algn="l"/>
            <a:r>
              <a:rPr lang="en-US" sz="1300" b="1" i="0" dirty="0">
                <a:effectLst/>
                <a:latin typeface="Inter" panose="02000503000000020004" pitchFamily="2" charset="0"/>
                <a:ea typeface="Inter" panose="02000503000000020004" pitchFamily="2" charset="0"/>
                <a:cs typeface="Inter" panose="02000503000000020004" pitchFamily="2" charset="0"/>
              </a:rPr>
              <a:t>Local Models → </a:t>
            </a:r>
            <a:r>
              <a:rPr lang="en-US" sz="1300" b="1" i="0" dirty="0" err="1">
                <a:effectLst/>
                <a:latin typeface="Inter" panose="02000503000000020004" pitchFamily="2" charset="0"/>
                <a:ea typeface="Inter" panose="02000503000000020004" pitchFamily="2" charset="0"/>
                <a:cs typeface="Inter" panose="02000503000000020004" pitchFamily="2" charset="0"/>
              </a:rPr>
              <a:t>Ollama</a:t>
            </a:r>
            <a:endParaRPr lang="en-US" sz="1300" b="1" dirty="0">
              <a:latin typeface="Inter" panose="02000503000000020004" pitchFamily="2" charset="0"/>
              <a:ea typeface="Inter" panose="02000503000000020004" pitchFamily="2" charset="0"/>
              <a:cs typeface="Inter" panose="02000503000000020004" pitchFamily="2" charset="0"/>
            </a:endParaRP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Supports running open models locally on your own infrastructure</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Useful for data control, lower cost, offline use, and custom setups</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Example models: Phi-3, Mistral, </a:t>
            </a:r>
            <a:r>
              <a:rPr lang="en-US" sz="1300" i="0" dirty="0" err="1">
                <a:effectLst/>
                <a:latin typeface="Inter" panose="02000503000000020004" pitchFamily="2" charset="0"/>
                <a:ea typeface="Inter" panose="02000503000000020004" pitchFamily="2" charset="0"/>
                <a:cs typeface="Inter" panose="02000503000000020004" pitchFamily="2" charset="0"/>
              </a:rPr>
              <a:t>LLaMA</a:t>
            </a:r>
            <a:r>
              <a:rPr lang="en-US" sz="1300" i="0" dirty="0">
                <a:effectLst/>
                <a:latin typeface="Inter" panose="02000503000000020004" pitchFamily="2" charset="0"/>
                <a:ea typeface="Inter" panose="02000503000000020004" pitchFamily="2" charset="0"/>
                <a:cs typeface="Inter" panose="02000503000000020004" pitchFamily="2" charset="0"/>
              </a:rPr>
              <a:t>, </a:t>
            </a:r>
            <a:r>
              <a:rPr lang="en-US" sz="1300" i="0" dirty="0" err="1">
                <a:effectLst/>
                <a:latin typeface="Inter" panose="02000503000000020004" pitchFamily="2" charset="0"/>
                <a:ea typeface="Inter" panose="02000503000000020004" pitchFamily="2" charset="0"/>
                <a:cs typeface="Inter" panose="02000503000000020004" pitchFamily="2" charset="0"/>
              </a:rPr>
              <a:t>Qwen</a:t>
            </a:r>
            <a:r>
              <a:rPr lang="en-US" sz="1300" i="0" dirty="0">
                <a:effectLst/>
                <a:latin typeface="Inter" panose="02000503000000020004" pitchFamily="2" charset="0"/>
                <a:ea typeface="Inter" panose="02000503000000020004" pitchFamily="2" charset="0"/>
                <a:cs typeface="Inter" panose="02000503000000020004" pitchFamily="2" charset="0"/>
              </a:rPr>
              <a:t>, Gemma</a:t>
            </a: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Cloud Models → OpenAI / Azure / Others</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Supports hosted providers for strong model quality and managed infrastructure</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Useful for easy deployment, enterprise compliance, and regional hosting</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Examples: OpenAI, Azure OpenAI, and compatible providers</a:t>
            </a:r>
          </a:p>
          <a:p>
            <a:pPr algn="l"/>
            <a:endParaRPr lang="en-US" sz="1300" i="0" dirty="0">
              <a:effectLst/>
              <a:latin typeface="Inter" panose="02000503000000020004" pitchFamily="2" charset="0"/>
              <a:ea typeface="Inter" panose="02000503000000020004" pitchFamily="2" charset="0"/>
              <a:cs typeface="Inter" panose="02000503000000020004" pitchFamily="2" charset="0"/>
            </a:endParaRPr>
          </a:p>
          <a:p>
            <a:pPr algn="l"/>
            <a:r>
              <a:rPr lang="en-US" sz="1300" b="1" i="0" dirty="0">
                <a:effectLst/>
                <a:latin typeface="Inter" panose="02000503000000020004" pitchFamily="2" charset="0"/>
                <a:ea typeface="Inter" panose="02000503000000020004" pitchFamily="2" charset="0"/>
                <a:cs typeface="Inter" panose="02000503000000020004" pitchFamily="2" charset="0"/>
              </a:rPr>
              <a:t>Provider Selection</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A model can be chosen at different levels: </a:t>
            </a:r>
          </a:p>
          <a:p>
            <a:pPr marL="285750" indent="-285750" algn="l">
              <a:buFontTx/>
              <a:buChar char="-"/>
            </a:pPr>
            <a:r>
              <a:rPr lang="en-US" sz="1300" i="0" dirty="0">
                <a:effectLst/>
                <a:latin typeface="Inter" panose="02000503000000020004" pitchFamily="2" charset="0"/>
                <a:ea typeface="Inter" panose="02000503000000020004" pitchFamily="2" charset="0"/>
                <a:cs typeface="Inter" panose="02000503000000020004" pitchFamily="2" charset="0"/>
              </a:rPr>
              <a:t>This gives flexibility to users, teams, and platform administrators</a:t>
            </a:r>
          </a:p>
          <a:p>
            <a:pPr algn="l"/>
            <a:endParaRPr lang="en-US" sz="1300" dirty="0">
              <a:latin typeface="Inter" panose="02000503000000020004" pitchFamily="2" charset="0"/>
              <a:ea typeface="Inter" panose="02000503000000020004" pitchFamily="2" charset="0"/>
              <a:cs typeface="Inter" panose="02000503000000020004" pitchFamily="2" charset="0"/>
            </a:endParaRPr>
          </a:p>
          <a:p>
            <a:pPr lvl="1"/>
            <a:r>
              <a:rPr lang="en-US" sz="1300" dirty="0">
                <a:latin typeface="Inter" panose="02000503000000020004" pitchFamily="2" charset="0"/>
                <a:ea typeface="Inter" panose="02000503000000020004" pitchFamily="2" charset="0"/>
                <a:cs typeface="Inter" panose="02000503000000020004" pitchFamily="2" charset="0"/>
              </a:rPr>
              <a:t>Request-level override</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Session-level default</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Tenant-level default</a:t>
            </a:r>
          </a:p>
          <a:p>
            <a:pPr lvl="1"/>
            <a:r>
              <a:rPr lang="en-US" sz="1300" dirty="0">
                <a:latin typeface="Inter" panose="02000503000000020004" pitchFamily="2" charset="0"/>
                <a:ea typeface="Inter" panose="02000503000000020004" pitchFamily="2" charset="0"/>
                <a:cs typeface="Inter" panose="02000503000000020004" pitchFamily="2" charset="0"/>
              </a:rPr>
              <a:t>↓ (if not set)</a:t>
            </a:r>
          </a:p>
          <a:p>
            <a:pPr lvl="1"/>
            <a:r>
              <a:rPr lang="en-US" sz="1300" dirty="0">
                <a:latin typeface="Inter" panose="02000503000000020004" pitchFamily="2" charset="0"/>
                <a:ea typeface="Inter" panose="02000503000000020004" pitchFamily="2" charset="0"/>
                <a:cs typeface="Inter" panose="02000503000000020004" pitchFamily="2" charset="0"/>
              </a:rPr>
              <a:t>Global platform default</a:t>
            </a:r>
          </a:p>
        </p:txBody>
      </p:sp>
      <p:sp>
        <p:nvSpPr>
          <p:cNvPr id="5" name="TextBox 4">
            <a:extLst>
              <a:ext uri="{FF2B5EF4-FFF2-40B4-BE49-F238E27FC236}">
                <a16:creationId xmlns:a16="http://schemas.microsoft.com/office/drawing/2014/main" id="{7E99C776-7756-855C-3AF2-1CEE6EC622A5}"/>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LLM PROVIDERS → MODEL-AGNOSTIC ARCHITECTURE</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can use multiple LLM providers, both local and cloud, without changing the application logic.</a:t>
            </a:r>
          </a:p>
        </p:txBody>
      </p:sp>
      <p:sp>
        <p:nvSpPr>
          <p:cNvPr id="16" name="Footer Placeholder 10">
            <a:extLst>
              <a:ext uri="{FF2B5EF4-FFF2-40B4-BE49-F238E27FC236}">
                <a16:creationId xmlns:a16="http://schemas.microsoft.com/office/drawing/2014/main" id="{4A34FCDF-32C1-F73A-2314-4E676E500EE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3" name="Picture 2">
            <a:extLst>
              <a:ext uri="{FF2B5EF4-FFF2-40B4-BE49-F238E27FC236}">
                <a16:creationId xmlns:a16="http://schemas.microsoft.com/office/drawing/2014/main" id="{066E89F2-DF95-7C79-B7DF-3D8276303C49}"/>
              </a:ext>
            </a:extLst>
          </p:cNvPr>
          <p:cNvPicPr>
            <a:picLocks noChangeAspect="1"/>
          </p:cNvPicPr>
          <p:nvPr/>
        </p:nvPicPr>
        <p:blipFill>
          <a:blip r:embed="rId3"/>
          <a:stretch>
            <a:fillRect/>
          </a:stretch>
        </p:blipFill>
        <p:spPr>
          <a:xfrm>
            <a:off x="8029037" y="1166507"/>
            <a:ext cx="3566615" cy="3749879"/>
          </a:xfrm>
          <a:prstGeom prst="rect">
            <a:avLst/>
          </a:prstGeom>
        </p:spPr>
      </p:pic>
      <p:cxnSp>
        <p:nvCxnSpPr>
          <p:cNvPr id="7" name="Straight Connector 6">
            <a:extLst>
              <a:ext uri="{FF2B5EF4-FFF2-40B4-BE49-F238E27FC236}">
                <a16:creationId xmlns:a16="http://schemas.microsoft.com/office/drawing/2014/main" id="{9DE6A2F6-AD34-4E43-5EC5-58290A76CA5B}"/>
              </a:ext>
            </a:extLst>
          </p:cNvPr>
          <p:cNvCxnSpPr>
            <a:cxnSpLocks/>
          </p:cNvCxnSpPr>
          <p:nvPr/>
        </p:nvCxnSpPr>
        <p:spPr>
          <a:xfrm>
            <a:off x="1069012" y="4022100"/>
            <a:ext cx="0" cy="1315304"/>
          </a:xfrm>
          <a:prstGeom prst="line">
            <a:avLst/>
          </a:prstGeom>
          <a:ln>
            <a:solidFill>
              <a:srgbClr val="822334"/>
            </a:solidFill>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67810551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DBA807-84CE-D6AC-900B-D4F539A7F13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3D4670CE-7461-2AA2-CDC9-FF7CDB1E246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65DE662E-05C0-0A5B-D886-ED58BB2CA98D}"/>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0314469-F425-9B54-49DF-BE7CAD5E526F}"/>
              </a:ext>
            </a:extLst>
          </p:cNvPr>
          <p:cNvSpPr>
            <a:spLocks noGrp="1"/>
          </p:cNvSpPr>
          <p:nvPr>
            <p:ph type="sldNum" sz="quarter" idx="12"/>
          </p:nvPr>
        </p:nvSpPr>
        <p:spPr/>
        <p:txBody>
          <a:bodyPr/>
          <a:lstStyle/>
          <a:p>
            <a:fld id="{48F19E39-9933-F648-B2F3-3AC17C0DC986}" type="slidenum">
              <a:rPr lang="en-US" smtClean="0">
                <a:solidFill>
                  <a:schemeClr val="bg1"/>
                </a:solidFill>
              </a:rPr>
              <a:t>18</a:t>
            </a:fld>
            <a:endParaRPr lang="en-US" dirty="0">
              <a:solidFill>
                <a:schemeClr val="bg1"/>
              </a:solidFill>
            </a:endParaRPr>
          </a:p>
        </p:txBody>
      </p:sp>
      <p:sp>
        <p:nvSpPr>
          <p:cNvPr id="2" name="TextBox 1">
            <a:extLst>
              <a:ext uri="{FF2B5EF4-FFF2-40B4-BE49-F238E27FC236}">
                <a16:creationId xmlns:a16="http://schemas.microsoft.com/office/drawing/2014/main" id="{BC22F58E-C891-5083-F96C-A608CCA8306C}"/>
              </a:ext>
            </a:extLst>
          </p:cNvPr>
          <p:cNvSpPr txBox="1"/>
          <p:nvPr/>
        </p:nvSpPr>
        <p:spPr>
          <a:xfrm>
            <a:off x="596347" y="1161505"/>
            <a:ext cx="10757453" cy="4832092"/>
          </a:xfrm>
          <a:prstGeom prst="rect">
            <a:avLst/>
          </a:prstGeom>
          <a:noFill/>
        </p:spPr>
        <p:txBody>
          <a:bodyPr wrap="square" rtlCol="0">
            <a:spAutoFit/>
          </a:bodyPr>
          <a:lstStyle/>
          <a:p>
            <a:pPr algn="l"/>
            <a:r>
              <a:rPr lang="en-US" sz="1400" b="1" i="0" dirty="0">
                <a:effectLst/>
                <a:latin typeface="Inter" panose="02000503000000020004" pitchFamily="2" charset="0"/>
                <a:ea typeface="Inter" panose="02000503000000020004" pitchFamily="2" charset="0"/>
                <a:cs typeface="Inter" panose="02000503000000020004" pitchFamily="2" charset="0"/>
              </a:rPr>
              <a:t>Core Ideas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Tool definitions are stored in a registry with schema, required scopes, and limits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Each tool call is checked against user permissions before execution</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Tool Invocation Flow</a:t>
            </a:r>
          </a:p>
          <a:p>
            <a:pPr algn="l"/>
            <a:r>
              <a:rPr lang="en-US" sz="1400" i="0" dirty="0">
                <a:effectLst/>
                <a:latin typeface="Inter" panose="02000503000000020004" pitchFamily="2" charset="0"/>
                <a:ea typeface="Inter" panose="02000503000000020004" pitchFamily="2" charset="0"/>
                <a:cs typeface="Inter" panose="02000503000000020004" pitchFamily="2" charset="0"/>
              </a:rPr>
              <a:t>Request → validate input → check permissions → execute tool → audit → return result</a:t>
            </a:r>
          </a:p>
          <a:p>
            <a:pPr algn="l"/>
            <a:endParaRPr lang="en-US" sz="1400"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Main Categories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Graph → query </a:t>
            </a:r>
            <a:r>
              <a:rPr lang="en-US" sz="1400" i="0" dirty="0" err="1">
                <a:effectLst/>
                <a:latin typeface="Inter" panose="02000503000000020004" pitchFamily="2" charset="0"/>
                <a:ea typeface="Inter" panose="02000503000000020004" pitchFamily="2" charset="0"/>
                <a:cs typeface="Inter" panose="02000503000000020004" pitchFamily="2" charset="0"/>
              </a:rPr>
              <a:t>Memgraph</a:t>
            </a:r>
            <a:r>
              <a:rPr lang="en-US" sz="1400" i="0" dirty="0">
                <a:effectLst/>
                <a:latin typeface="Inter" panose="02000503000000020004" pitchFamily="2" charset="0"/>
                <a:ea typeface="Inter" panose="02000503000000020004" pitchFamily="2" charset="0"/>
                <a:cs typeface="Inter" panose="02000503000000020004" pitchFamily="2" charset="0"/>
              </a:rPr>
              <a:t>, inspect schema, generate or explain Cypher</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Security → inspect identity, permissions, and allowed actions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System → check platform health, metrics, configuration, and status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Catalog → discover available resources, tools, and schemas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Model → list, inspect, warm up, or switch LLMs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Agent → access conversation context, history, and session state</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Analytics → run aggregations and prepare visualization data</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Admin → perform restricted database administration actions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ETL / CRUD / Export → import data, update graph entities, and export results in formats such as CSV or JSON</a:t>
            </a:r>
          </a:p>
          <a:p>
            <a:pPr algn="l"/>
            <a:endParaRPr lang="en-US" sz="1400" b="1" i="0" dirty="0">
              <a:effectLst/>
              <a:latin typeface="Inter" panose="02000503000000020004" pitchFamily="2" charset="0"/>
              <a:ea typeface="Inter" panose="02000503000000020004" pitchFamily="2" charset="0"/>
              <a:cs typeface="Inter" panose="02000503000000020004" pitchFamily="2" charset="0"/>
            </a:endParaRPr>
          </a:p>
          <a:p>
            <a:pPr algn="l"/>
            <a:r>
              <a:rPr lang="en-US" sz="1400" b="1" i="0" dirty="0">
                <a:effectLst/>
                <a:latin typeface="Inter" panose="02000503000000020004" pitchFamily="2" charset="0"/>
                <a:ea typeface="Inter" panose="02000503000000020004" pitchFamily="2" charset="0"/>
                <a:cs typeface="Inter" panose="02000503000000020004" pitchFamily="2" charset="0"/>
              </a:rPr>
              <a:t>Examples</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Graph tools can answer a natural-language question by generating and running Cypher</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Security tools can tell a user what actions they are allowed to perform</a:t>
            </a:r>
          </a:p>
          <a:p>
            <a:pPr marL="285750" indent="-285750" algn="l">
              <a:buFontTx/>
              <a:buChar char="-"/>
            </a:pPr>
            <a:r>
              <a:rPr lang="en-US" sz="1400" i="0" dirty="0">
                <a:effectLst/>
                <a:latin typeface="Inter" panose="02000503000000020004" pitchFamily="2" charset="0"/>
                <a:ea typeface="Inter" panose="02000503000000020004" pitchFamily="2" charset="0"/>
                <a:cs typeface="Inter" panose="02000503000000020004" pitchFamily="2" charset="0"/>
              </a:rPr>
              <a:t>Export tools can return query results as CSV or JSON</a:t>
            </a:r>
          </a:p>
        </p:txBody>
      </p:sp>
      <p:sp>
        <p:nvSpPr>
          <p:cNvPr id="5" name="TextBox 4">
            <a:extLst>
              <a:ext uri="{FF2B5EF4-FFF2-40B4-BE49-F238E27FC236}">
                <a16:creationId xmlns:a16="http://schemas.microsoft.com/office/drawing/2014/main" id="{9CABCAB4-FD08-AE46-D879-F0F54DF4FA44}"/>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MCP RUNTIME &amp; TOOLS - 34 Tools, 12 Categories</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Every MCP tool the agent can use is registered, validated, permission-checked, and audited.</a:t>
            </a:r>
          </a:p>
        </p:txBody>
      </p:sp>
      <p:sp>
        <p:nvSpPr>
          <p:cNvPr id="28" name="Footer Placeholder 10">
            <a:extLst>
              <a:ext uri="{FF2B5EF4-FFF2-40B4-BE49-F238E27FC236}">
                <a16:creationId xmlns:a16="http://schemas.microsoft.com/office/drawing/2014/main" id="{E469FBAF-539C-6540-8836-C4FD49984BE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10" name="Picture 9">
            <a:extLst>
              <a:ext uri="{FF2B5EF4-FFF2-40B4-BE49-F238E27FC236}">
                <a16:creationId xmlns:a16="http://schemas.microsoft.com/office/drawing/2014/main" id="{5B92B56E-6054-DBDC-10F6-873CE3A22F0A}"/>
              </a:ext>
            </a:extLst>
          </p:cNvPr>
          <p:cNvPicPr>
            <a:picLocks noChangeAspect="1"/>
          </p:cNvPicPr>
          <p:nvPr/>
        </p:nvPicPr>
        <p:blipFill>
          <a:blip r:embed="rId3"/>
          <a:stretch>
            <a:fillRect/>
          </a:stretch>
        </p:blipFill>
        <p:spPr>
          <a:xfrm>
            <a:off x="8266043" y="1365929"/>
            <a:ext cx="3087757" cy="3087757"/>
          </a:xfrm>
          <a:prstGeom prst="rect">
            <a:avLst/>
          </a:prstGeom>
        </p:spPr>
      </p:pic>
    </p:spTree>
    <p:extLst>
      <p:ext uri="{BB962C8B-B14F-4D97-AF65-F5344CB8AC3E}">
        <p14:creationId xmlns:p14="http://schemas.microsoft.com/office/powerpoint/2010/main" val="171486431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A7BEA-E7B9-B76F-454F-E4F5C7436991}"/>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5EF9E3CE-D71E-C9E7-8B3F-56168250EA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92385C10-1D74-65B9-7599-3069C1BB083A}"/>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57537ACC-4442-7C1C-ABB2-F2039999E40E}"/>
              </a:ext>
            </a:extLst>
          </p:cNvPr>
          <p:cNvSpPr>
            <a:spLocks noGrp="1"/>
          </p:cNvSpPr>
          <p:nvPr>
            <p:ph type="sldNum" sz="quarter" idx="12"/>
          </p:nvPr>
        </p:nvSpPr>
        <p:spPr/>
        <p:txBody>
          <a:bodyPr/>
          <a:lstStyle/>
          <a:p>
            <a:fld id="{48F19E39-9933-F648-B2F3-3AC17C0DC986}" type="slidenum">
              <a:rPr lang="en-US" smtClean="0">
                <a:solidFill>
                  <a:schemeClr val="bg1"/>
                </a:solidFill>
              </a:rPr>
              <a:t>19</a:t>
            </a:fld>
            <a:endParaRPr lang="en-US" dirty="0">
              <a:solidFill>
                <a:schemeClr val="bg1"/>
              </a:solidFill>
            </a:endParaRPr>
          </a:p>
        </p:txBody>
      </p:sp>
      <p:sp>
        <p:nvSpPr>
          <p:cNvPr id="2" name="TextBox 1">
            <a:extLst>
              <a:ext uri="{FF2B5EF4-FFF2-40B4-BE49-F238E27FC236}">
                <a16:creationId xmlns:a16="http://schemas.microsoft.com/office/drawing/2014/main" id="{A5CED8E8-F1C5-1CAE-454B-06AB7230FD60}"/>
              </a:ext>
            </a:extLst>
          </p:cNvPr>
          <p:cNvSpPr txBox="1"/>
          <p:nvPr/>
        </p:nvSpPr>
        <p:spPr>
          <a:xfrm>
            <a:off x="596346" y="4053891"/>
            <a:ext cx="7557054" cy="1600438"/>
          </a:xfrm>
          <a:prstGeom prst="rect">
            <a:avLst/>
          </a:prstGeom>
          <a:noFill/>
        </p:spPr>
        <p:txBody>
          <a:bodyPr wrap="square" rtlCol="0">
            <a:spAutoFit/>
          </a:bodyPr>
          <a:lstStyle/>
          <a:p>
            <a:pPr algn="l"/>
            <a:r>
              <a:rPr lang="en-US" sz="1400" b="1" dirty="0" err="1">
                <a:latin typeface="Inter" panose="02000503000000020004" pitchFamily="2" charset="0"/>
                <a:ea typeface="Inter" panose="02000503000000020004" pitchFamily="2" charset="0"/>
                <a:cs typeface="Inter" panose="02000503000000020004" pitchFamily="2" charset="0"/>
              </a:rPr>
              <a:t>Memgraph</a:t>
            </a:r>
            <a:r>
              <a:rPr lang="en-US" sz="1400" b="1" dirty="0">
                <a:latin typeface="Inter" panose="02000503000000020004" pitchFamily="2" charset="0"/>
                <a:ea typeface="Inter" panose="02000503000000020004" pitchFamily="2" charset="0"/>
                <a:cs typeface="Inter" panose="02000503000000020004" pitchFamily="2" charset="0"/>
              </a:rPr>
              <a:t> </a:t>
            </a:r>
            <a:r>
              <a:rPr lang="en-US" sz="1400" dirty="0">
                <a:latin typeface="Inter" panose="02000503000000020004" pitchFamily="2" charset="0"/>
                <a:ea typeface="Inter" panose="02000503000000020004" pitchFamily="2" charset="0"/>
                <a:cs typeface="Inter" panose="02000503000000020004" pitchFamily="2" charset="0"/>
              </a:rPr>
              <a:t>→ Bioinformatics Graph State for connected bioinformatics data and efficient Cypher queries</a:t>
            </a:r>
          </a:p>
          <a:p>
            <a:pPr algn="l"/>
            <a:r>
              <a:rPr lang="en-US" sz="1400" dirty="0">
                <a:latin typeface="Inter" panose="02000503000000020004" pitchFamily="2" charset="0"/>
                <a:ea typeface="Inter" panose="02000503000000020004" pitchFamily="2" charset="0"/>
                <a:cs typeface="Inter" panose="02000503000000020004" pitchFamily="2" charset="0"/>
              </a:rPr>
              <a:t>It stores: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graph nodes such as users, institutions, tasks, files, datasets, samples, experiments, publications, genes, proteins, pathways, tools, workflows, and results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graph relationships such as WORKS_AT, RUNS, INPUT, and OUTPUT</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node and edge metadata such as roles, status, timestamps, tags, and file details</a:t>
            </a:r>
            <a:endParaRPr lang="en-US" sz="1400" i="0" dirty="0">
              <a:effectLst/>
              <a:latin typeface="Inter" panose="02000503000000020004" pitchFamily="2" charset="0"/>
              <a:ea typeface="Inter" panose="02000503000000020004" pitchFamily="2" charset="0"/>
              <a:cs typeface="Inter" panose="02000503000000020004" pitchFamily="2" charset="0"/>
            </a:endParaRPr>
          </a:p>
        </p:txBody>
      </p:sp>
      <p:sp>
        <p:nvSpPr>
          <p:cNvPr id="5" name="TextBox 4">
            <a:extLst>
              <a:ext uri="{FF2B5EF4-FFF2-40B4-BE49-F238E27FC236}">
                <a16:creationId xmlns:a16="http://schemas.microsoft.com/office/drawing/2014/main" id="{2E29D061-5059-9CE8-72F3-A6CA8DEE7A1C}"/>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DATA LAYER → REDIS, POSTGRESQL, MEMGRAPH</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i="0" dirty="0">
                <a:solidFill>
                  <a:srgbClr val="822334"/>
                </a:solidFill>
                <a:effectLst/>
                <a:latin typeface="Inter" panose="02000503000000020004" pitchFamily="2" charset="0"/>
                <a:ea typeface="Inter" panose="02000503000000020004" pitchFamily="2" charset="0"/>
                <a:cs typeface="Inter" panose="02000503000000020004" pitchFamily="2" charset="0"/>
              </a:rPr>
              <a:t>The platform uses three databases, each with a different role: speed, durability, and graph relationships.</a:t>
            </a:r>
          </a:p>
        </p:txBody>
      </p:sp>
      <p:sp>
        <p:nvSpPr>
          <p:cNvPr id="28" name="Footer Placeholder 10">
            <a:extLst>
              <a:ext uri="{FF2B5EF4-FFF2-40B4-BE49-F238E27FC236}">
                <a16:creationId xmlns:a16="http://schemas.microsoft.com/office/drawing/2014/main" id="{EEAFD447-B9A0-C3C3-12DE-3738C0F9E9E7}"/>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9" name="Picture 8">
            <a:extLst>
              <a:ext uri="{FF2B5EF4-FFF2-40B4-BE49-F238E27FC236}">
                <a16:creationId xmlns:a16="http://schemas.microsoft.com/office/drawing/2014/main" id="{3C96B1AD-9B40-02C9-E0DE-75ED85957BE6}"/>
              </a:ext>
            </a:extLst>
          </p:cNvPr>
          <p:cNvPicPr>
            <a:picLocks noChangeAspect="1"/>
          </p:cNvPicPr>
          <p:nvPr/>
        </p:nvPicPr>
        <p:blipFill>
          <a:blip r:embed="rId3"/>
          <a:stretch>
            <a:fillRect/>
          </a:stretch>
        </p:blipFill>
        <p:spPr>
          <a:xfrm>
            <a:off x="7971183" y="2361392"/>
            <a:ext cx="3752988" cy="1703712"/>
          </a:xfrm>
          <a:prstGeom prst="rect">
            <a:avLst/>
          </a:prstGeom>
        </p:spPr>
      </p:pic>
      <p:sp>
        <p:nvSpPr>
          <p:cNvPr id="10" name="TextBox 9">
            <a:extLst>
              <a:ext uri="{FF2B5EF4-FFF2-40B4-BE49-F238E27FC236}">
                <a16:creationId xmlns:a16="http://schemas.microsoft.com/office/drawing/2014/main" id="{C4AEEF93-DCC5-0E5F-0FD0-DCA399CBD17E}"/>
              </a:ext>
            </a:extLst>
          </p:cNvPr>
          <p:cNvSpPr txBox="1"/>
          <p:nvPr/>
        </p:nvSpPr>
        <p:spPr>
          <a:xfrm>
            <a:off x="596346" y="1160791"/>
            <a:ext cx="6990703" cy="2893100"/>
          </a:xfrm>
          <a:prstGeom prst="rect">
            <a:avLst/>
          </a:prstGeom>
          <a:noFill/>
        </p:spPr>
        <p:txBody>
          <a:bodyPr wrap="square" rtlCol="0">
            <a:spAutoFit/>
          </a:bodyPr>
          <a:lstStyle/>
          <a:p>
            <a:pPr algn="l"/>
            <a:r>
              <a:rPr lang="en-US" sz="1400" b="1" dirty="0">
                <a:latin typeface="Inter" panose="02000503000000020004" pitchFamily="2" charset="0"/>
                <a:ea typeface="Inter" panose="02000503000000020004" pitchFamily="2" charset="0"/>
                <a:cs typeface="Inter" panose="02000503000000020004" pitchFamily="2" charset="0"/>
              </a:rPr>
              <a:t>Redis </a:t>
            </a:r>
            <a:r>
              <a:rPr lang="en-US" sz="1400" dirty="0">
                <a:latin typeface="Inter" panose="02000503000000020004" pitchFamily="2" charset="0"/>
                <a:ea typeface="Inter" panose="02000503000000020004" pitchFamily="2" charset="0"/>
                <a:cs typeface="Inter" panose="02000503000000020004" pitchFamily="2" charset="0"/>
              </a:rPr>
              <a:t>→ Real-Time Runtime State for speed and real-time coordination</a:t>
            </a:r>
          </a:p>
          <a:p>
            <a:pPr algn="l"/>
            <a:r>
              <a:rPr lang="en-US" sz="1400" dirty="0">
                <a:latin typeface="Inter" panose="02000503000000020004" pitchFamily="2" charset="0"/>
                <a:ea typeface="Inter" panose="02000503000000020004" pitchFamily="2" charset="0"/>
                <a:cs typeface="Inter" panose="02000503000000020004" pitchFamily="2" charset="0"/>
              </a:rPr>
              <a:t>It stores: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cache data, sessions, tenant config, and model defaults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rate limits for users, tenants, and endpoints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job queues, job state, and progress events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cancellation flags, idempotency keys, and circuit-breaker state</a:t>
            </a:r>
          </a:p>
          <a:p>
            <a:pPr algn="l"/>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PostgreSQL </a:t>
            </a:r>
            <a:r>
              <a:rPr lang="en-US" sz="1400" dirty="0">
                <a:latin typeface="Inter" panose="02000503000000020004" pitchFamily="2" charset="0"/>
                <a:ea typeface="Inter" panose="02000503000000020004" pitchFamily="2" charset="0"/>
                <a:cs typeface="Inter" panose="02000503000000020004" pitchFamily="2" charset="0"/>
              </a:rPr>
              <a:t>→ Durable Platform State for reliable and transactional system data</a:t>
            </a:r>
          </a:p>
          <a:p>
            <a:pPr algn="l"/>
            <a:r>
              <a:rPr lang="en-US" sz="1400" dirty="0">
                <a:latin typeface="Inter" panose="02000503000000020004" pitchFamily="2" charset="0"/>
                <a:ea typeface="Inter" panose="02000503000000020004" pitchFamily="2" charset="0"/>
                <a:cs typeface="Inter" panose="02000503000000020004" pitchFamily="2" charset="0"/>
              </a:rPr>
              <a:t>It stores: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tenants, sessions, runs, steps, and jobs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job events, tool definitions, and tool invocation history</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model defaults, user preferences, and provider configs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encrypted secrets, audit logs, and idempotency records</a:t>
            </a:r>
          </a:p>
        </p:txBody>
      </p:sp>
    </p:spTree>
    <p:extLst>
      <p:ext uri="{BB962C8B-B14F-4D97-AF65-F5344CB8AC3E}">
        <p14:creationId xmlns:p14="http://schemas.microsoft.com/office/powerpoint/2010/main" val="308967423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73A7508-9434-3784-ADF6-F587E36A8C40}"/>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ABF232E4-1CFF-BDCD-33C4-F2C65A2D15C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B0CC3A0-5F9C-83AD-DC3E-24468D5CAB2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A0C8BBBC-FD6B-2CB6-7B56-DAD26F35F685}"/>
              </a:ext>
            </a:extLst>
          </p:cNvPr>
          <p:cNvSpPr>
            <a:spLocks noGrp="1"/>
          </p:cNvSpPr>
          <p:nvPr>
            <p:ph type="sldNum" sz="quarter" idx="12"/>
          </p:nvPr>
        </p:nvSpPr>
        <p:spPr/>
        <p:txBody>
          <a:bodyPr/>
          <a:lstStyle/>
          <a:p>
            <a:fld id="{48F19E39-9933-F648-B2F3-3AC17C0DC986}" type="slidenum">
              <a:rPr lang="en-US" smtClean="0">
                <a:solidFill>
                  <a:schemeClr val="bg1"/>
                </a:solidFill>
              </a:rPr>
              <a:t>20</a:t>
            </a:fld>
            <a:endParaRPr lang="en-US" dirty="0">
              <a:solidFill>
                <a:schemeClr val="bg1"/>
              </a:solidFill>
            </a:endParaRPr>
          </a:p>
        </p:txBody>
      </p:sp>
      <p:sp>
        <p:nvSpPr>
          <p:cNvPr id="2" name="TextBox 1">
            <a:extLst>
              <a:ext uri="{FF2B5EF4-FFF2-40B4-BE49-F238E27FC236}">
                <a16:creationId xmlns:a16="http://schemas.microsoft.com/office/drawing/2014/main" id="{7A44ECA7-6911-21D7-CF38-F7A4670A5EC2}"/>
              </a:ext>
            </a:extLst>
          </p:cNvPr>
          <p:cNvSpPr txBox="1"/>
          <p:nvPr/>
        </p:nvSpPr>
        <p:spPr>
          <a:xfrm>
            <a:off x="596345" y="4048801"/>
            <a:ext cx="8014255" cy="2031325"/>
          </a:xfrm>
          <a:prstGeom prst="rect">
            <a:avLst/>
          </a:prstGeom>
          <a:noFill/>
        </p:spPr>
        <p:txBody>
          <a:bodyPr wrap="square" rtlCol="0">
            <a:spAutoFit/>
          </a:bodyPr>
          <a:lstStyle/>
          <a:p>
            <a:pPr algn="l"/>
            <a:r>
              <a:rPr lang="en-US" sz="1400" b="1" dirty="0">
                <a:latin typeface="Inter" panose="02000503000000020004" pitchFamily="2" charset="0"/>
                <a:ea typeface="Inter" panose="02000503000000020004" pitchFamily="2" charset="0"/>
                <a:cs typeface="Inter" panose="02000503000000020004" pitchFamily="2" charset="0"/>
              </a:rPr>
              <a:t>Resilience</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The platform does not fail immediately when a provider has problems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It uses retries with backoff, circuit breakers, and fallback providers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If one provider becomes unhealthy, requests can fail fast or move to another provider</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Circuit breakers move between closed, open, and half-open states to control recovery</a:t>
            </a:r>
            <a:br>
              <a:rPr lang="en-US" sz="1400" dirty="0">
                <a:latin typeface="Inter" panose="02000503000000020004" pitchFamily="2" charset="0"/>
                <a:ea typeface="Inter" panose="02000503000000020004" pitchFamily="2" charset="0"/>
                <a:cs typeface="Inter" panose="02000503000000020004" pitchFamily="2" charset="0"/>
              </a:rPr>
            </a:br>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Operational Tracking</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Every LLM call is measured for tokens, cost, and latency</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This supports monitoring, budgeting, and capacity planning</a:t>
            </a:r>
            <a:endParaRPr lang="en-US" sz="1400" i="0" dirty="0">
              <a:effectLst/>
              <a:latin typeface="Inter" panose="02000503000000020004" pitchFamily="2" charset="0"/>
              <a:ea typeface="Inter" panose="02000503000000020004" pitchFamily="2" charset="0"/>
              <a:cs typeface="Inter" panose="02000503000000020004" pitchFamily="2" charset="0"/>
            </a:endParaRPr>
          </a:p>
        </p:txBody>
      </p:sp>
      <p:sp>
        <p:nvSpPr>
          <p:cNvPr id="5" name="TextBox 4">
            <a:extLst>
              <a:ext uri="{FF2B5EF4-FFF2-40B4-BE49-F238E27FC236}">
                <a16:creationId xmlns:a16="http://schemas.microsoft.com/office/drawing/2014/main" id="{77A1F173-CF36-0695-B8A5-34627A9CA3D5}"/>
              </a:ext>
            </a:extLst>
          </p:cNvPr>
          <p:cNvSpPr txBox="1"/>
          <p:nvPr/>
        </p:nvSpPr>
        <p:spPr>
          <a:xfrm>
            <a:off x="596348" y="374273"/>
            <a:ext cx="11127823" cy="646331"/>
          </a:xfrm>
          <a:prstGeom prst="rect">
            <a:avLst/>
          </a:prstGeom>
          <a:noFill/>
        </p:spPr>
        <p:txBody>
          <a:bodyPr wrap="square" rtlCol="0">
            <a:spAutoFit/>
          </a:bodyPr>
          <a:lstStyle/>
          <a:p>
            <a:pPr algn="l"/>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ADAPTERS + RESILIENCE</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stays flexible and reliable by using swappable adapters and automatic failure handling.</a:t>
            </a:r>
          </a:p>
        </p:txBody>
      </p:sp>
      <p:sp>
        <p:nvSpPr>
          <p:cNvPr id="28" name="Footer Placeholder 10">
            <a:extLst>
              <a:ext uri="{FF2B5EF4-FFF2-40B4-BE49-F238E27FC236}">
                <a16:creationId xmlns:a16="http://schemas.microsoft.com/office/drawing/2014/main" id="{F1285CC4-2B9B-4C56-E516-95A92B546FCF}"/>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3" name="TextBox 2">
            <a:extLst>
              <a:ext uri="{FF2B5EF4-FFF2-40B4-BE49-F238E27FC236}">
                <a16:creationId xmlns:a16="http://schemas.microsoft.com/office/drawing/2014/main" id="{71CFF372-BA2E-984E-724F-0B18E674AF8B}"/>
              </a:ext>
            </a:extLst>
          </p:cNvPr>
          <p:cNvSpPr txBox="1"/>
          <p:nvPr/>
        </p:nvSpPr>
        <p:spPr>
          <a:xfrm>
            <a:off x="596346" y="1155701"/>
            <a:ext cx="7905103" cy="2893100"/>
          </a:xfrm>
          <a:prstGeom prst="rect">
            <a:avLst/>
          </a:prstGeom>
          <a:noFill/>
        </p:spPr>
        <p:txBody>
          <a:bodyPr wrap="square" rtlCol="0">
            <a:spAutoFit/>
          </a:bodyPr>
          <a:lstStyle/>
          <a:p>
            <a:pPr algn="l"/>
            <a:r>
              <a:rPr lang="en-US" sz="1400" b="1" dirty="0">
                <a:latin typeface="Inter" panose="02000503000000020004" pitchFamily="2" charset="0"/>
                <a:ea typeface="Inter" panose="02000503000000020004" pitchFamily="2" charset="0"/>
                <a:cs typeface="Inter" panose="02000503000000020004" pitchFamily="2" charset="0"/>
              </a:rPr>
              <a:t>Adapters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The platform uses swappable adapters for both LLM providers and databases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This keeps the business logic independent from specific vendors or storage systems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For LLMs, the same internal interface can work with </a:t>
            </a:r>
            <a:r>
              <a:rPr lang="en-US" sz="1400" dirty="0" err="1">
                <a:latin typeface="Inter" panose="02000503000000020004" pitchFamily="2" charset="0"/>
                <a:ea typeface="Inter" panose="02000503000000020004" pitchFamily="2" charset="0"/>
                <a:cs typeface="Inter" panose="02000503000000020004" pitchFamily="2" charset="0"/>
              </a:rPr>
              <a:t>Ollama</a:t>
            </a:r>
            <a:r>
              <a:rPr lang="en-US" sz="1400" dirty="0">
                <a:latin typeface="Inter" panose="02000503000000020004" pitchFamily="2" charset="0"/>
                <a:ea typeface="Inter" panose="02000503000000020004" pitchFamily="2" charset="0"/>
                <a:cs typeface="Inter" panose="02000503000000020004" pitchFamily="2" charset="0"/>
              </a:rPr>
              <a:t>, OpenAI, Azure OpenAI, or stub/demo providers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For databases, the same logic can call cache, queue, relational, or graph operations through Redis, PostgreSQL, and </a:t>
            </a:r>
            <a:r>
              <a:rPr lang="en-US" sz="1400" dirty="0" err="1">
                <a:latin typeface="Inter" panose="02000503000000020004" pitchFamily="2" charset="0"/>
                <a:ea typeface="Inter" panose="02000503000000020004" pitchFamily="2" charset="0"/>
                <a:cs typeface="Inter" panose="02000503000000020004" pitchFamily="2" charset="0"/>
              </a:rPr>
              <a:t>Memgraph</a:t>
            </a:r>
            <a:r>
              <a:rPr lang="en-US" sz="1400" dirty="0">
                <a:latin typeface="Inter" panose="02000503000000020004" pitchFamily="2" charset="0"/>
                <a:ea typeface="Inter" panose="02000503000000020004" pitchFamily="2" charset="0"/>
                <a:cs typeface="Inter" panose="02000503000000020004" pitchFamily="2" charset="0"/>
              </a:rPr>
              <a:t> adapters</a:t>
            </a:r>
            <a:br>
              <a:rPr lang="en-US" sz="1400" dirty="0">
                <a:latin typeface="Inter" panose="02000503000000020004" pitchFamily="2" charset="0"/>
                <a:ea typeface="Inter" panose="02000503000000020004" pitchFamily="2" charset="0"/>
                <a:cs typeface="Inter" panose="02000503000000020004" pitchFamily="2" charset="0"/>
              </a:rPr>
            </a:br>
            <a:endParaRPr lang="en-US" sz="1400" dirty="0">
              <a:latin typeface="Inter" panose="02000503000000020004" pitchFamily="2" charset="0"/>
              <a:ea typeface="Inter" panose="02000503000000020004" pitchFamily="2" charset="0"/>
              <a:cs typeface="Inter" panose="02000503000000020004" pitchFamily="2" charset="0"/>
            </a:endParaRPr>
          </a:p>
          <a:p>
            <a:pPr algn="l"/>
            <a:r>
              <a:rPr lang="en-US" sz="1400" b="1" dirty="0">
                <a:latin typeface="Inter" panose="02000503000000020004" pitchFamily="2" charset="0"/>
                <a:ea typeface="Inter" panose="02000503000000020004" pitchFamily="2" charset="0"/>
                <a:cs typeface="Inter" panose="02000503000000020004" pitchFamily="2" charset="0"/>
              </a:rPr>
              <a:t>Why This Matters</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Providers or backends can be changed without rewriting the orchestrator</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Example: switching from OpenAI to Azure only changes the adapter, not the rest of the code</a:t>
            </a:r>
          </a:p>
          <a:p>
            <a:pPr marL="285750" indent="-285750" algn="l">
              <a:buFontTx/>
              <a:buChar char="-"/>
            </a:pPr>
            <a:r>
              <a:rPr lang="en-US" sz="1400" dirty="0">
                <a:latin typeface="Inter" panose="02000503000000020004" pitchFamily="2" charset="0"/>
                <a:ea typeface="Inter" panose="02000503000000020004" pitchFamily="2" charset="0"/>
                <a:cs typeface="Inter" panose="02000503000000020004" pitchFamily="2" charset="0"/>
              </a:rPr>
              <a:t>The same idea applies to database access such as </a:t>
            </a:r>
            <a:r>
              <a:rPr lang="en-US" sz="1400" dirty="0" err="1">
                <a:latin typeface="Inter" panose="02000503000000020004" pitchFamily="2" charset="0"/>
                <a:ea typeface="Inter" panose="02000503000000020004" pitchFamily="2" charset="0"/>
                <a:cs typeface="Inter" panose="02000503000000020004" pitchFamily="2" charset="0"/>
              </a:rPr>
              <a:t>cache.get</a:t>
            </a:r>
            <a:r>
              <a:rPr lang="en-US" sz="1400" dirty="0">
                <a:latin typeface="Inter" panose="02000503000000020004" pitchFamily="2" charset="0"/>
                <a:ea typeface="Inter" panose="02000503000000020004" pitchFamily="2" charset="0"/>
                <a:cs typeface="Inter" panose="02000503000000020004" pitchFamily="2" charset="0"/>
              </a:rPr>
              <a:t>() or </a:t>
            </a:r>
            <a:r>
              <a:rPr lang="en-US" sz="1400" dirty="0" err="1">
                <a:latin typeface="Inter" panose="02000503000000020004" pitchFamily="2" charset="0"/>
                <a:ea typeface="Inter" panose="02000503000000020004" pitchFamily="2" charset="0"/>
                <a:cs typeface="Inter" panose="02000503000000020004" pitchFamily="2" charset="0"/>
              </a:rPr>
              <a:t>graph.query</a:t>
            </a:r>
            <a:r>
              <a:rPr lang="en-US" sz="1400" dirty="0">
                <a:latin typeface="Inter" panose="02000503000000020004" pitchFamily="2" charset="0"/>
                <a:ea typeface="Inter" panose="02000503000000020004" pitchFamily="2" charset="0"/>
                <a:cs typeface="Inter" panose="02000503000000020004" pitchFamily="2" charset="0"/>
              </a:rPr>
              <a:t>()</a:t>
            </a:r>
          </a:p>
        </p:txBody>
      </p:sp>
      <p:pic>
        <p:nvPicPr>
          <p:cNvPr id="8" name="Picture 7">
            <a:extLst>
              <a:ext uri="{FF2B5EF4-FFF2-40B4-BE49-F238E27FC236}">
                <a16:creationId xmlns:a16="http://schemas.microsoft.com/office/drawing/2014/main" id="{305EABB4-DC70-845C-C094-B22953262017}"/>
              </a:ext>
            </a:extLst>
          </p:cNvPr>
          <p:cNvPicPr>
            <a:picLocks noChangeAspect="1"/>
          </p:cNvPicPr>
          <p:nvPr/>
        </p:nvPicPr>
        <p:blipFill>
          <a:blip r:embed="rId3"/>
          <a:stretch>
            <a:fillRect/>
          </a:stretch>
        </p:blipFill>
        <p:spPr>
          <a:xfrm>
            <a:off x="8610600" y="1982450"/>
            <a:ext cx="3021233" cy="2893100"/>
          </a:xfrm>
          <a:prstGeom prst="rect">
            <a:avLst/>
          </a:prstGeom>
        </p:spPr>
      </p:pic>
    </p:spTree>
    <p:extLst>
      <p:ext uri="{BB962C8B-B14F-4D97-AF65-F5344CB8AC3E}">
        <p14:creationId xmlns:p14="http://schemas.microsoft.com/office/powerpoint/2010/main" val="133729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3A8728-E503-6C23-81A8-5E72E6DEBB0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CD8FD909-F859-1EB9-60A7-2E97F9FF5DD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C61A1927-8249-36C8-9AB7-94E8D8393C98}"/>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A7282E1F-2A5C-998B-5A17-F72CA3819CC1}"/>
              </a:ext>
            </a:extLst>
          </p:cNvPr>
          <p:cNvSpPr>
            <a:spLocks noGrp="1"/>
          </p:cNvSpPr>
          <p:nvPr>
            <p:ph type="sldNum" sz="quarter" idx="12"/>
          </p:nvPr>
        </p:nvSpPr>
        <p:spPr/>
        <p:txBody>
          <a:bodyPr/>
          <a:lstStyle/>
          <a:p>
            <a:fld id="{48F19E39-9933-F648-B2F3-3AC17C0DC986}" type="slidenum">
              <a:rPr lang="en-US" smtClean="0">
                <a:solidFill>
                  <a:schemeClr val="bg1"/>
                </a:solidFill>
              </a:rPr>
              <a:t>21</a:t>
            </a:fld>
            <a:endParaRPr lang="en-US" dirty="0">
              <a:solidFill>
                <a:schemeClr val="bg1"/>
              </a:solidFill>
            </a:endParaRPr>
          </a:p>
        </p:txBody>
      </p:sp>
      <p:sp>
        <p:nvSpPr>
          <p:cNvPr id="2" name="TextBox 1">
            <a:extLst>
              <a:ext uri="{FF2B5EF4-FFF2-40B4-BE49-F238E27FC236}">
                <a16:creationId xmlns:a16="http://schemas.microsoft.com/office/drawing/2014/main" id="{D2EF9D32-C437-B9B9-CA32-460E2899E23B}"/>
              </a:ext>
            </a:extLst>
          </p:cNvPr>
          <p:cNvSpPr txBox="1"/>
          <p:nvPr/>
        </p:nvSpPr>
        <p:spPr>
          <a:xfrm>
            <a:off x="596347" y="1161505"/>
            <a:ext cx="8014253" cy="4401205"/>
          </a:xfrm>
          <a:prstGeom prst="rect">
            <a:avLst/>
          </a:prstGeom>
          <a:noFill/>
        </p:spPr>
        <p:txBody>
          <a:bodyPr wrap="square" rtlCol="0">
            <a:spAutoFit/>
          </a:bodyPr>
          <a:lstStyle/>
          <a:p>
            <a:pPr rtl="0"/>
            <a:r>
              <a:rPr lang="en-US" sz="1400" b="1" dirty="0">
                <a:latin typeface="Inter" panose="02000503000000020004" pitchFamily="2" charset="0"/>
                <a:ea typeface="Inter" panose="02000503000000020004" pitchFamily="2" charset="0"/>
                <a:cs typeface="Inter" panose="02000503000000020004" pitchFamily="2" charset="0"/>
              </a:rPr>
              <a:t>Background Tasks</a:t>
            </a:r>
          </a:p>
          <a:p>
            <a:pPr marL="285750" indent="-285750" rtl="0">
              <a:buFontTx/>
              <a:buChar char="-"/>
            </a:pPr>
            <a:r>
              <a:rPr lang="en-US" sz="1400" dirty="0" err="1">
                <a:latin typeface="Inter" panose="02000503000000020004" pitchFamily="2" charset="0"/>
                <a:ea typeface="Inter" panose="02000503000000020004" pitchFamily="2" charset="0"/>
                <a:cs typeface="Inter" panose="02000503000000020004" pitchFamily="2" charset="0"/>
              </a:rPr>
              <a:t>APScheduler</a:t>
            </a:r>
            <a:r>
              <a:rPr lang="en-US" sz="1400" dirty="0">
                <a:latin typeface="Inter" panose="02000503000000020004" pitchFamily="2" charset="0"/>
                <a:ea typeface="Inter" panose="02000503000000020004" pitchFamily="2" charset="0"/>
                <a:cs typeface="Inter" panose="02000503000000020004" pitchFamily="2" charset="0"/>
              </a:rPr>
              <a:t> runs scheduled jobs automatically in the background.</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Health checks regularly verify PostgreSQL, Redis, </a:t>
            </a:r>
            <a:r>
              <a:rPr lang="en-US" sz="1400" dirty="0" err="1">
                <a:latin typeface="Inter" panose="02000503000000020004" pitchFamily="2" charset="0"/>
                <a:ea typeface="Inter" panose="02000503000000020004" pitchFamily="2" charset="0"/>
                <a:cs typeface="Inter" panose="02000503000000020004" pitchFamily="2" charset="0"/>
              </a:rPr>
              <a:t>Memgraph</a:t>
            </a:r>
            <a:r>
              <a:rPr lang="en-US" sz="1400" dirty="0">
                <a:latin typeface="Inter" panose="02000503000000020004" pitchFamily="2" charset="0"/>
                <a:ea typeface="Inter" panose="02000503000000020004" pitchFamily="2" charset="0"/>
                <a:cs typeface="Inter" panose="02000503000000020004" pitchFamily="2" charset="0"/>
              </a:rPr>
              <a:t>, and LLM providers.</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Cleanup jobs remove expired sessions, old cache entries, completed jobs, and orphaned runs.</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Daily backups protect PostgreSQL, Redis, </a:t>
            </a:r>
            <a:r>
              <a:rPr lang="en-US" sz="1400" dirty="0" err="1">
                <a:latin typeface="Inter" panose="02000503000000020004" pitchFamily="2" charset="0"/>
                <a:ea typeface="Inter" panose="02000503000000020004" pitchFamily="2" charset="0"/>
                <a:cs typeface="Inter" panose="02000503000000020004" pitchFamily="2" charset="0"/>
              </a:rPr>
              <a:t>Memgraph</a:t>
            </a:r>
            <a:r>
              <a:rPr lang="en-US" sz="1400" dirty="0">
                <a:latin typeface="Inter" panose="02000503000000020004" pitchFamily="2" charset="0"/>
                <a:ea typeface="Inter" panose="02000503000000020004" pitchFamily="2" charset="0"/>
                <a:cs typeface="Inter" panose="02000503000000020004" pitchFamily="2" charset="0"/>
              </a:rPr>
              <a:t>, and audit data.</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Provider monitoring updates health status, circuit breakers, and metrics.</a:t>
            </a:r>
          </a:p>
          <a:p>
            <a:pPr rtl="0"/>
            <a:endParaRPr lang="en-US" sz="1400" dirty="0">
              <a:latin typeface="Inter" panose="02000503000000020004" pitchFamily="2" charset="0"/>
              <a:ea typeface="Inter" panose="02000503000000020004" pitchFamily="2" charset="0"/>
              <a:cs typeface="Inter" panose="02000503000000020004" pitchFamily="2" charset="0"/>
            </a:endParaRPr>
          </a:p>
          <a:p>
            <a:pPr rtl="0"/>
            <a:r>
              <a:rPr lang="en-US" sz="1400" b="1" dirty="0">
                <a:latin typeface="Inter" panose="02000503000000020004" pitchFamily="2" charset="0"/>
                <a:ea typeface="Inter" panose="02000503000000020004" pitchFamily="2" charset="0"/>
                <a:cs typeface="Inter" panose="02000503000000020004" pitchFamily="2" charset="0"/>
              </a:rPr>
              <a:t>Observability</a:t>
            </a:r>
          </a:p>
          <a:p>
            <a:pPr marL="285750" indent="-285750" rtl="0">
              <a:buFontTx/>
              <a:buChar char="-"/>
            </a:pPr>
            <a:r>
              <a:rPr lang="en-US" sz="1400" dirty="0" err="1">
                <a:latin typeface="Inter" panose="02000503000000020004" pitchFamily="2" charset="0"/>
                <a:ea typeface="Inter" panose="02000503000000020004" pitchFamily="2" charset="0"/>
                <a:cs typeface="Inter" panose="02000503000000020004" pitchFamily="2" charset="0"/>
              </a:rPr>
              <a:t>OpenTelemetry</a:t>
            </a:r>
            <a:r>
              <a:rPr lang="en-US" sz="1400" dirty="0">
                <a:latin typeface="Inter" panose="02000503000000020004" pitchFamily="2" charset="0"/>
                <a:ea typeface="Inter" panose="02000503000000020004" pitchFamily="2" charset="0"/>
                <a:cs typeface="Inter" panose="02000503000000020004" pitchFamily="2" charset="0"/>
              </a:rPr>
              <a:t> traces each request from end to end, including LLM calls,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tool invocations, database queries, and job execution.</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Prometheus collects metrics from both the app and workers, including HTTP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traffic, runs, steps, tools, jobs, LLM usage, circuit breakers, and system health.</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Grafana dashboards turn these traces and metrics into views of performance,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failures, queue depth, provider health, costs, and overall system status.</a:t>
            </a:r>
          </a:p>
          <a:p>
            <a:pPr rtl="0"/>
            <a:endParaRPr lang="en-US" sz="1400" dirty="0">
              <a:latin typeface="Inter" panose="02000503000000020004" pitchFamily="2" charset="0"/>
              <a:ea typeface="Inter" panose="02000503000000020004" pitchFamily="2" charset="0"/>
              <a:cs typeface="Inter" panose="02000503000000020004" pitchFamily="2" charset="0"/>
            </a:endParaRPr>
          </a:p>
          <a:p>
            <a:pPr rtl="0"/>
            <a:r>
              <a:rPr lang="en-US" sz="1400" b="1" dirty="0">
                <a:latin typeface="Inter" panose="02000503000000020004" pitchFamily="2" charset="0"/>
                <a:ea typeface="Inter" panose="02000503000000020004" pitchFamily="2" charset="0"/>
                <a:cs typeface="Inter" panose="02000503000000020004" pitchFamily="2" charset="0"/>
              </a:rPr>
              <a:t>Why This Matters</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Scheduled background tasks help keep the platform healthy, clean, and recoverable.</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Traces and metrics make it easier to diagnose slow requests, failing tools, unhealthy </a:t>
            </a:r>
            <a:br>
              <a:rPr lang="en-US" sz="1400" dirty="0">
                <a:latin typeface="Inter" panose="02000503000000020004" pitchFamily="2" charset="0"/>
                <a:ea typeface="Inter" panose="02000503000000020004" pitchFamily="2" charset="0"/>
                <a:cs typeface="Inter" panose="02000503000000020004" pitchFamily="2" charset="0"/>
              </a:rPr>
            </a:br>
            <a:r>
              <a:rPr lang="en-US" sz="1400" dirty="0">
                <a:latin typeface="Inter" panose="02000503000000020004" pitchFamily="2" charset="0"/>
                <a:ea typeface="Inter" panose="02000503000000020004" pitchFamily="2" charset="0"/>
                <a:cs typeface="Inter" panose="02000503000000020004" pitchFamily="2" charset="0"/>
              </a:rPr>
              <a:t>providers, and system-wide issues.</a:t>
            </a:r>
          </a:p>
        </p:txBody>
      </p:sp>
      <p:sp>
        <p:nvSpPr>
          <p:cNvPr id="5" name="TextBox 4">
            <a:extLst>
              <a:ext uri="{FF2B5EF4-FFF2-40B4-BE49-F238E27FC236}">
                <a16:creationId xmlns:a16="http://schemas.microsoft.com/office/drawing/2014/main" id="{94DC69AD-7B7C-1AEE-FDFC-5B2B42BAC9DA}"/>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BACKGROUND TASKS + OBSERVABILITY</a:t>
            </a:r>
            <a:b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br>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platform runs scheduled maintenance tasks and collects traces &amp; metrics for visibility, reliability, &amp; recovery.</a:t>
            </a:r>
          </a:p>
        </p:txBody>
      </p:sp>
      <p:sp>
        <p:nvSpPr>
          <p:cNvPr id="28" name="Footer Placeholder 10">
            <a:extLst>
              <a:ext uri="{FF2B5EF4-FFF2-40B4-BE49-F238E27FC236}">
                <a16:creationId xmlns:a16="http://schemas.microsoft.com/office/drawing/2014/main" id="{BBE37891-76A8-51A8-F438-BAA4DB4E339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6" name="Picture 5">
            <a:extLst>
              <a:ext uri="{FF2B5EF4-FFF2-40B4-BE49-F238E27FC236}">
                <a16:creationId xmlns:a16="http://schemas.microsoft.com/office/drawing/2014/main" id="{D08F5BB5-705E-106A-FB39-529FC369C83B}"/>
              </a:ext>
            </a:extLst>
          </p:cNvPr>
          <p:cNvPicPr>
            <a:picLocks noChangeAspect="1"/>
          </p:cNvPicPr>
          <p:nvPr/>
        </p:nvPicPr>
        <p:blipFill>
          <a:blip r:embed="rId3"/>
          <a:stretch>
            <a:fillRect/>
          </a:stretch>
        </p:blipFill>
        <p:spPr>
          <a:xfrm>
            <a:off x="9255990" y="1371585"/>
            <a:ext cx="1769819" cy="4114830"/>
          </a:xfrm>
          <a:prstGeom prst="rect">
            <a:avLst/>
          </a:prstGeom>
        </p:spPr>
      </p:pic>
    </p:spTree>
    <p:extLst>
      <p:ext uri="{BB962C8B-B14F-4D97-AF65-F5344CB8AC3E}">
        <p14:creationId xmlns:p14="http://schemas.microsoft.com/office/powerpoint/2010/main" val="45755026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AEDBB9-7838-305D-FFC7-EF64D681B7FB}"/>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7FA6976E-6FBA-2E74-EACB-5FF046C63B8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BA5C0449-1450-3E9A-99E2-B7D5C17BC1DB}"/>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662776AF-9C02-7AD2-DB4D-2333F9B82FC5}"/>
              </a:ext>
            </a:extLst>
          </p:cNvPr>
          <p:cNvSpPr>
            <a:spLocks noGrp="1"/>
          </p:cNvSpPr>
          <p:nvPr>
            <p:ph type="sldNum" sz="quarter" idx="12"/>
          </p:nvPr>
        </p:nvSpPr>
        <p:spPr/>
        <p:txBody>
          <a:bodyPr/>
          <a:lstStyle/>
          <a:p>
            <a:fld id="{48F19E39-9933-F648-B2F3-3AC17C0DC986}" type="slidenum">
              <a:rPr lang="en-US" smtClean="0">
                <a:solidFill>
                  <a:schemeClr val="bg1"/>
                </a:solidFill>
              </a:rPr>
              <a:t>22</a:t>
            </a:fld>
            <a:endParaRPr lang="en-US" dirty="0">
              <a:solidFill>
                <a:schemeClr val="bg1"/>
              </a:solidFill>
            </a:endParaRPr>
          </a:p>
        </p:txBody>
      </p:sp>
      <p:sp>
        <p:nvSpPr>
          <p:cNvPr id="28" name="Footer Placeholder 10">
            <a:extLst>
              <a:ext uri="{FF2B5EF4-FFF2-40B4-BE49-F238E27FC236}">
                <a16:creationId xmlns:a16="http://schemas.microsoft.com/office/drawing/2014/main" id="{DB91B535-EAB5-205D-C93F-59A06A7F4F0C}"/>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
        <p:nvSpPr>
          <p:cNvPr id="3" name="TextBox 2">
            <a:extLst>
              <a:ext uri="{FF2B5EF4-FFF2-40B4-BE49-F238E27FC236}">
                <a16:creationId xmlns:a16="http://schemas.microsoft.com/office/drawing/2014/main" id="{D516E92C-8531-C122-E4ED-D6C833CD6EA2}"/>
              </a:ext>
            </a:extLst>
          </p:cNvPr>
          <p:cNvSpPr txBox="1"/>
          <p:nvPr/>
        </p:nvSpPr>
        <p:spPr>
          <a:xfrm>
            <a:off x="596348" y="374273"/>
            <a:ext cx="10920461"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COMPARISON WITH STATE OF THE ART</a:t>
            </a:r>
          </a:p>
          <a:p>
            <a:pPr algn="l"/>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Comparison of the CINECA Agentic Platform against Best SOTA platforms</a:t>
            </a:r>
            <a:endParaRPr lang="en-US" sz="1300" dirty="0">
              <a:solidFill>
                <a:srgbClr val="822334"/>
              </a:solidFill>
              <a:latin typeface="Inter" panose="02000503000000020004" pitchFamily="2" charset="0"/>
              <a:ea typeface="Inter" panose="02000503000000020004" pitchFamily="2" charset="0"/>
              <a:cs typeface="Inter" panose="02000503000000020004" pitchFamily="2" charset="0"/>
            </a:endParaRPr>
          </a:p>
        </p:txBody>
      </p:sp>
      <p:graphicFrame>
        <p:nvGraphicFramePr>
          <p:cNvPr id="13" name="Table 12">
            <a:extLst>
              <a:ext uri="{FF2B5EF4-FFF2-40B4-BE49-F238E27FC236}">
                <a16:creationId xmlns:a16="http://schemas.microsoft.com/office/drawing/2014/main" id="{6794C9F1-A19F-17ED-EADE-7700CC88A211}"/>
              </a:ext>
            </a:extLst>
          </p:cNvPr>
          <p:cNvGraphicFramePr>
            <a:graphicFrameLocks noGrp="1"/>
          </p:cNvGraphicFramePr>
          <p:nvPr>
            <p:extLst>
              <p:ext uri="{D42A27DB-BD31-4B8C-83A1-F6EECF244321}">
                <p14:modId xmlns:p14="http://schemas.microsoft.com/office/powerpoint/2010/main" val="160863942"/>
              </p:ext>
            </p:extLst>
          </p:nvPr>
        </p:nvGraphicFramePr>
        <p:xfrm>
          <a:off x="630623" y="1245809"/>
          <a:ext cx="10965028" cy="3569790"/>
        </p:xfrm>
        <a:graphic>
          <a:graphicData uri="http://schemas.openxmlformats.org/drawingml/2006/table">
            <a:tbl>
              <a:tblPr>
                <a:tableStyleId>{C4B1156A-380E-4F78-BDF5-A606A8083BF9}</a:tableStyleId>
              </a:tblPr>
              <a:tblGrid>
                <a:gridCol w="965664">
                  <a:extLst>
                    <a:ext uri="{9D8B030D-6E8A-4147-A177-3AD203B41FA5}">
                      <a16:colId xmlns:a16="http://schemas.microsoft.com/office/drawing/2014/main" val="23382135"/>
                    </a:ext>
                  </a:extLst>
                </a:gridCol>
                <a:gridCol w="895993">
                  <a:extLst>
                    <a:ext uri="{9D8B030D-6E8A-4147-A177-3AD203B41FA5}">
                      <a16:colId xmlns:a16="http://schemas.microsoft.com/office/drawing/2014/main" val="3688829090"/>
                    </a:ext>
                  </a:extLst>
                </a:gridCol>
                <a:gridCol w="891013">
                  <a:extLst>
                    <a:ext uri="{9D8B030D-6E8A-4147-A177-3AD203B41FA5}">
                      <a16:colId xmlns:a16="http://schemas.microsoft.com/office/drawing/2014/main" val="2951738407"/>
                    </a:ext>
                  </a:extLst>
                </a:gridCol>
                <a:gridCol w="434035">
                  <a:extLst>
                    <a:ext uri="{9D8B030D-6E8A-4147-A177-3AD203B41FA5}">
                      <a16:colId xmlns:a16="http://schemas.microsoft.com/office/drawing/2014/main" val="2258524906"/>
                    </a:ext>
                  </a:extLst>
                </a:gridCol>
                <a:gridCol w="868071">
                  <a:extLst>
                    <a:ext uri="{9D8B030D-6E8A-4147-A177-3AD203B41FA5}">
                      <a16:colId xmlns:a16="http://schemas.microsoft.com/office/drawing/2014/main" val="3580916739"/>
                    </a:ext>
                  </a:extLst>
                </a:gridCol>
                <a:gridCol w="497552">
                  <a:extLst>
                    <a:ext uri="{9D8B030D-6E8A-4147-A177-3AD203B41FA5}">
                      <a16:colId xmlns:a16="http://schemas.microsoft.com/office/drawing/2014/main" val="1627573919"/>
                    </a:ext>
                  </a:extLst>
                </a:gridCol>
                <a:gridCol w="783380">
                  <a:extLst>
                    <a:ext uri="{9D8B030D-6E8A-4147-A177-3AD203B41FA5}">
                      <a16:colId xmlns:a16="http://schemas.microsoft.com/office/drawing/2014/main" val="1028838537"/>
                    </a:ext>
                  </a:extLst>
                </a:gridCol>
                <a:gridCol w="518725">
                  <a:extLst>
                    <a:ext uri="{9D8B030D-6E8A-4147-A177-3AD203B41FA5}">
                      <a16:colId xmlns:a16="http://schemas.microsoft.com/office/drawing/2014/main" val="570954049"/>
                    </a:ext>
                  </a:extLst>
                </a:gridCol>
                <a:gridCol w="709277">
                  <a:extLst>
                    <a:ext uri="{9D8B030D-6E8A-4147-A177-3AD203B41FA5}">
                      <a16:colId xmlns:a16="http://schemas.microsoft.com/office/drawing/2014/main" val="1817952454"/>
                    </a:ext>
                  </a:extLst>
                </a:gridCol>
                <a:gridCol w="2403074">
                  <a:extLst>
                    <a:ext uri="{9D8B030D-6E8A-4147-A177-3AD203B41FA5}">
                      <a16:colId xmlns:a16="http://schemas.microsoft.com/office/drawing/2014/main" val="3808546389"/>
                    </a:ext>
                  </a:extLst>
                </a:gridCol>
                <a:gridCol w="1998244">
                  <a:extLst>
                    <a:ext uri="{9D8B030D-6E8A-4147-A177-3AD203B41FA5}">
                      <a16:colId xmlns:a16="http://schemas.microsoft.com/office/drawing/2014/main" val="3360675706"/>
                    </a:ext>
                  </a:extLst>
                </a:gridCol>
              </a:tblGrid>
              <a:tr h="270170">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Platform</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Platform type</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Orchestrator</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MCP Tools</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Governance</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Graph</a:t>
                      </a:r>
                    </a:p>
                  </a:txBody>
                  <a:tcPr marL="14174" marR="14174" marT="7087" marB="7087" anchor="ctr"/>
                </a:tc>
                <a:tc>
                  <a:txBody>
                    <a:bodyPr/>
                    <a:lstStyle/>
                    <a:p>
                      <a:pPr algn="l"/>
                      <a:r>
                        <a:rPr lang="en-US" sz="1000" b="1" dirty="0">
                          <a:latin typeface="Inter" panose="02000503000000020004" pitchFamily="2" charset="0"/>
                          <a:ea typeface="Inter" panose="02000503000000020004" pitchFamily="2" charset="0"/>
                          <a:cs typeface="Inter" panose="02000503000000020004" pitchFamily="2" charset="0"/>
                        </a:rPr>
                        <a:t>Monitoring</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Model choice</a:t>
                      </a:r>
                    </a:p>
                  </a:txBody>
                  <a:tcPr marL="14174" marR="14174" marT="7087" marB="7087" anchor="ctr"/>
                </a:tc>
                <a:tc>
                  <a:txBody>
                    <a:bodyPr/>
                    <a:lstStyle/>
                    <a:p>
                      <a:pPr algn="l"/>
                      <a:r>
                        <a:rPr lang="en-US" sz="1000" b="1" dirty="0">
                          <a:latin typeface="Inter" panose="02000503000000020004" pitchFamily="2" charset="0"/>
                          <a:ea typeface="Inter" panose="02000503000000020004" pitchFamily="2" charset="0"/>
                          <a:cs typeface="Inter" panose="02000503000000020004" pitchFamily="2" charset="0"/>
                        </a:rPr>
                        <a:t>Price</a:t>
                      </a:r>
                    </a:p>
                  </a:txBody>
                  <a:tcPr marL="14174" marR="14174" marT="7087" marB="7087" anchor="ctr"/>
                </a:tc>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Main value</a:t>
                      </a:r>
                    </a:p>
                  </a:txBody>
                  <a:tcPr marL="14174" marR="14174" marT="7087" marB="7087" anchor="ctr"/>
                </a:tc>
                <a:tc>
                  <a:txBody>
                    <a:bodyPr/>
                    <a:lstStyle/>
                    <a:p>
                      <a:pPr algn="l"/>
                      <a:r>
                        <a:rPr lang="en-US" sz="1000" b="1" dirty="0">
                          <a:latin typeface="Inter" panose="02000503000000020004" pitchFamily="2" charset="0"/>
                          <a:ea typeface="Inter" panose="02000503000000020004" pitchFamily="2" charset="0"/>
                          <a:cs typeface="Inter" panose="02000503000000020004" pitchFamily="2" charset="0"/>
                        </a:rPr>
                        <a:t>Why CAP is broader</a:t>
                      </a:r>
                    </a:p>
                  </a:txBody>
                  <a:tcPr marL="14174" marR="14174" marT="7087" marB="7087" anchor="ctr"/>
                </a:tc>
                <a:extLst>
                  <a:ext uri="{0D108BD9-81ED-4DB2-BD59-A6C34878D82A}">
                    <a16:rowId xmlns:a16="http://schemas.microsoft.com/office/drawing/2014/main" val="2437274018"/>
                  </a:ext>
                </a:extLst>
              </a:tr>
              <a:tr h="530260">
                <a:tc>
                  <a:txBody>
                    <a:bodyPr/>
                    <a:lstStyle/>
                    <a:p>
                      <a:pPr algn="l"/>
                      <a:r>
                        <a:rPr lang="en-US" sz="1000" b="1" dirty="0">
                          <a:latin typeface="Inter" panose="02000503000000020004" pitchFamily="2" charset="0"/>
                          <a:ea typeface="Inter" panose="02000503000000020004" pitchFamily="2" charset="0"/>
                          <a:cs typeface="Inter" panose="02000503000000020004" pitchFamily="2" charset="0"/>
                        </a:rPr>
                        <a:t>CINECA Agentic Platform</a:t>
                      </a:r>
                      <a:endParaRPr lang="en-US" sz="1000" dirty="0">
                        <a:latin typeface="Inter" panose="02000503000000020004" pitchFamily="2" charset="0"/>
                        <a:ea typeface="Inter" panose="02000503000000020004" pitchFamily="2" charset="0"/>
                        <a:cs typeface="Inter" panose="02000503000000020004" pitchFamily="2" charset="0"/>
                      </a:endParaRP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Full-stack agent platform</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l"/>
                      <a:r>
                        <a:rPr lang="en-US" sz="1000" b="0">
                          <a:latin typeface="Inter" panose="02000503000000020004" pitchFamily="2" charset="0"/>
                          <a:ea typeface="Inter" panose="02000503000000020004" pitchFamily="2" charset="0"/>
                          <a:cs typeface="Inter" panose="02000503000000020004" pitchFamily="2" charset="0"/>
                        </a:rPr>
                        <a:t>Free</a:t>
                      </a: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Secure enterprise orchestration for cases where users need one platform for agents, jobs, tools, and graph access</a:t>
                      </a: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CAP is the only one here that combines all major layers in one system</a:t>
                      </a:r>
                    </a:p>
                  </a:txBody>
                  <a:tcPr marL="14174" marR="14174" marT="7087" marB="7087" anchor="ctr"/>
                </a:tc>
                <a:extLst>
                  <a:ext uri="{0D108BD9-81ED-4DB2-BD59-A6C34878D82A}">
                    <a16:rowId xmlns:a16="http://schemas.microsoft.com/office/drawing/2014/main" val="1345940673"/>
                  </a:ext>
                </a:extLst>
              </a:tr>
              <a:tr h="530260">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Temporal</a:t>
                      </a:r>
                      <a:endParaRPr lang="en-US" sz="1000">
                        <a:latin typeface="Inter" panose="02000503000000020004" pitchFamily="2" charset="0"/>
                        <a:ea typeface="Inter" panose="02000503000000020004" pitchFamily="2" charset="0"/>
                        <a:cs typeface="Inter" panose="02000503000000020004" pitchFamily="2" charset="0"/>
                      </a:endParaRP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Workflow engine</a:t>
                      </a:r>
                    </a:p>
                  </a:txBody>
                  <a:tcPr marL="14174" marR="14174" marT="7087" marB="7087" anchor="ctr"/>
                </a:tc>
                <a:tc>
                  <a:txBody>
                    <a:bodyPr/>
                    <a:lstStyle/>
                    <a:p>
                      <a:pPr algn="ctr"/>
                      <a:r>
                        <a:rPr lang="en-US" sz="1000" dirty="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l"/>
                      <a:r>
                        <a:rPr lang="en-US" sz="1000" b="0" dirty="0">
                          <a:latin typeface="Inter" panose="02000503000000020004" pitchFamily="2" charset="0"/>
                          <a:ea typeface="Inter" panose="02000503000000020004" pitchFamily="2" charset="0"/>
                          <a:cs typeface="Inter" panose="02000503000000020004" pitchFamily="2" charset="0"/>
                        </a:rPr>
                        <a:t>Free</a:t>
                      </a: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Best for durable backend workflows when retries, recovery, and long-running execution matter most</a:t>
                      </a: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CAP adds agent planning, MCP-based tooling, and graph-native execution</a:t>
                      </a:r>
                    </a:p>
                  </a:txBody>
                  <a:tcPr marL="14174" marR="14174" marT="7087" marB="7087" anchor="ctr"/>
                </a:tc>
                <a:extLst>
                  <a:ext uri="{0D108BD9-81ED-4DB2-BD59-A6C34878D82A}">
                    <a16:rowId xmlns:a16="http://schemas.microsoft.com/office/drawing/2014/main" val="3651923816"/>
                  </a:ext>
                </a:extLst>
              </a:tr>
              <a:tr h="400215">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LangGraph</a:t>
                      </a:r>
                      <a:endParaRPr lang="en-US" sz="1000">
                        <a:latin typeface="Inter" panose="02000503000000020004" pitchFamily="2" charset="0"/>
                        <a:ea typeface="Inter" panose="02000503000000020004" pitchFamily="2" charset="0"/>
                        <a:cs typeface="Inter" panose="02000503000000020004" pitchFamily="2" charset="0"/>
                      </a:endParaRP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Agent framework</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l"/>
                      <a:r>
                        <a:rPr lang="en-US" sz="1000" b="0" dirty="0">
                          <a:latin typeface="Inter" panose="02000503000000020004" pitchFamily="2" charset="0"/>
                          <a:ea typeface="Inter" panose="02000503000000020004" pitchFamily="2" charset="0"/>
                          <a:cs typeface="Inter" panose="02000503000000020004" pitchFamily="2" charset="0"/>
                        </a:rPr>
                        <a:t>Free</a:t>
                      </a: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Best for building custom stateful agents when multi-step reasoning is the main goal</a:t>
                      </a: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CAP adds security, jobs, UI, and operational platform layers</a:t>
                      </a:r>
                    </a:p>
                  </a:txBody>
                  <a:tcPr marL="14174" marR="14174" marT="7087" marB="7087" anchor="ctr"/>
                </a:tc>
                <a:extLst>
                  <a:ext uri="{0D108BD9-81ED-4DB2-BD59-A6C34878D82A}">
                    <a16:rowId xmlns:a16="http://schemas.microsoft.com/office/drawing/2014/main" val="915259935"/>
                  </a:ext>
                </a:extLst>
              </a:tr>
              <a:tr h="400215">
                <a:tc>
                  <a:txBody>
                    <a:bodyPr/>
                    <a:lstStyle/>
                    <a:p>
                      <a:pPr algn="l"/>
                      <a:r>
                        <a:rPr lang="en-US" sz="1000" b="1">
                          <a:latin typeface="Inter" panose="02000503000000020004" pitchFamily="2" charset="0"/>
                          <a:ea typeface="Inter" panose="02000503000000020004" pitchFamily="2" charset="0"/>
                          <a:cs typeface="Inter" panose="02000503000000020004" pitchFamily="2" charset="0"/>
                        </a:rPr>
                        <a:t>OpenAI Agents SDK</a:t>
                      </a:r>
                      <a:endParaRPr lang="en-US" sz="1000">
                        <a:latin typeface="Inter" panose="02000503000000020004" pitchFamily="2" charset="0"/>
                        <a:ea typeface="Inter" panose="02000503000000020004" pitchFamily="2" charset="0"/>
                        <a:cs typeface="Inter" panose="02000503000000020004" pitchFamily="2" charset="0"/>
                      </a:endParaRP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Agent SDK</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l"/>
                      <a:r>
                        <a:rPr lang="en-US" sz="1000" b="0" dirty="0">
                          <a:latin typeface="Inter" panose="02000503000000020004" pitchFamily="2" charset="0"/>
                          <a:ea typeface="Inter" panose="02000503000000020004" pitchFamily="2" charset="0"/>
                          <a:cs typeface="Inter" panose="02000503000000020004" pitchFamily="2" charset="0"/>
                        </a:rPr>
                        <a:t>Expensive</a:t>
                      </a: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Best for quickly building tool-using agents when speed and simplicity matter most</a:t>
                      </a: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CAP adds durability, multi-tenant governance, and graph support</a:t>
                      </a:r>
                    </a:p>
                  </a:txBody>
                  <a:tcPr marL="14174" marR="14174" marT="7087" marB="7087" anchor="ctr"/>
                </a:tc>
                <a:extLst>
                  <a:ext uri="{0D108BD9-81ED-4DB2-BD59-A6C34878D82A}">
                    <a16:rowId xmlns:a16="http://schemas.microsoft.com/office/drawing/2014/main" val="1621738233"/>
                  </a:ext>
                </a:extLst>
              </a:tr>
              <a:tr h="530260">
                <a:tc>
                  <a:txBody>
                    <a:bodyPr/>
                    <a:lstStyle/>
                    <a:p>
                      <a:pPr algn="l"/>
                      <a:r>
                        <a:rPr lang="en-US" sz="1000" b="1" dirty="0">
                          <a:latin typeface="Inter" panose="02000503000000020004" pitchFamily="2" charset="0"/>
                          <a:ea typeface="Inter" panose="02000503000000020004" pitchFamily="2" charset="0"/>
                          <a:cs typeface="Inter" panose="02000503000000020004" pitchFamily="2" charset="0"/>
                        </a:rPr>
                        <a:t>Semantic Kernel</a:t>
                      </a:r>
                      <a:endParaRPr lang="en-US" sz="1000" dirty="0">
                        <a:latin typeface="Inter" panose="02000503000000020004" pitchFamily="2" charset="0"/>
                        <a:ea typeface="Inter" panose="02000503000000020004" pitchFamily="2" charset="0"/>
                        <a:cs typeface="Inter" panose="02000503000000020004" pitchFamily="2" charset="0"/>
                      </a:endParaRP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AI middleware</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l"/>
                      <a:r>
                        <a:rPr lang="en-US" sz="1000" b="0" dirty="0">
                          <a:latin typeface="Inter" panose="02000503000000020004" pitchFamily="2" charset="0"/>
                          <a:ea typeface="Inter" panose="02000503000000020004" pitchFamily="2" charset="0"/>
                          <a:cs typeface="Inter" panose="02000503000000020004" pitchFamily="2" charset="0"/>
                        </a:rPr>
                        <a:t>Free</a:t>
                      </a: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Best for embedding AI into existing enterprise systems when orchestration is only one part of a bigger application</a:t>
                      </a: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CAP includes the runtime and platform stack that SK leaves to the host app</a:t>
                      </a:r>
                    </a:p>
                  </a:txBody>
                  <a:tcPr marL="14174" marR="14174" marT="7087" marB="7087" anchor="ctr"/>
                </a:tc>
                <a:extLst>
                  <a:ext uri="{0D108BD9-81ED-4DB2-BD59-A6C34878D82A}">
                    <a16:rowId xmlns:a16="http://schemas.microsoft.com/office/drawing/2014/main" val="2571946654"/>
                  </a:ext>
                </a:extLst>
              </a:tr>
              <a:tr h="530260">
                <a:tc>
                  <a:txBody>
                    <a:bodyPr/>
                    <a:lstStyle/>
                    <a:p>
                      <a:pPr algn="l"/>
                      <a:r>
                        <a:rPr lang="en-US" sz="1000" b="1" dirty="0">
                          <a:latin typeface="Inter" panose="02000503000000020004" pitchFamily="2" charset="0"/>
                          <a:ea typeface="Inter" panose="02000503000000020004" pitchFamily="2" charset="0"/>
                          <a:cs typeface="Inter" panose="02000503000000020004" pitchFamily="2" charset="0"/>
                        </a:rPr>
                        <a:t>n8n</a:t>
                      </a:r>
                      <a:endParaRPr lang="en-US" sz="1000" dirty="0">
                        <a:latin typeface="Inter" panose="02000503000000020004" pitchFamily="2" charset="0"/>
                        <a:ea typeface="Inter" panose="02000503000000020004" pitchFamily="2" charset="0"/>
                        <a:cs typeface="Inter" panose="02000503000000020004" pitchFamily="2" charset="0"/>
                      </a:endParaRP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Workflow automation platform</a:t>
                      </a:r>
                    </a:p>
                  </a:txBody>
                  <a:tcPr marL="14174" marR="14174" marT="7087" marB="7087" anchor="ctr"/>
                </a:tc>
                <a:tc>
                  <a:txBody>
                    <a:bodyPr/>
                    <a:lstStyle/>
                    <a:p>
                      <a:pPr algn="ctr"/>
                      <a:r>
                        <a:rPr lang="en-US" sz="1000" dirty="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dirty="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dirty="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dirty="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ctr"/>
                      <a:r>
                        <a:rPr lang="en-US" sz="1000" dirty="0">
                          <a:latin typeface="Inter" panose="02000503000000020004" pitchFamily="2" charset="0"/>
                          <a:ea typeface="Inter" panose="02000503000000020004" pitchFamily="2" charset="0"/>
                          <a:cs typeface="Inter" panose="02000503000000020004" pitchFamily="2" charset="0"/>
                        </a:rPr>
                        <a:t>✔</a:t>
                      </a:r>
                    </a:p>
                  </a:txBody>
                  <a:tcPr marL="14174" marR="14174" marT="7087" marB="7087" anchor="ctr"/>
                </a:tc>
                <a:tc>
                  <a:txBody>
                    <a:bodyPr/>
                    <a:lstStyle/>
                    <a:p>
                      <a:pPr algn="l"/>
                      <a:r>
                        <a:rPr lang="en-US" sz="1000" b="0" dirty="0">
                          <a:latin typeface="Inter" panose="02000503000000020004" pitchFamily="2" charset="0"/>
                          <a:ea typeface="Inter" panose="02000503000000020004" pitchFamily="2" charset="0"/>
                          <a:cs typeface="Inter" panose="02000503000000020004" pitchFamily="2" charset="0"/>
                        </a:rPr>
                        <a:t>Cheap</a:t>
                      </a:r>
                    </a:p>
                  </a:txBody>
                  <a:tcPr marL="14174" marR="14174" marT="7087" marB="7087" anchor="ctr"/>
                </a:tc>
                <a:tc>
                  <a:txBody>
                    <a:bodyPr/>
                    <a:lstStyle/>
                    <a:p>
                      <a:pPr algn="l"/>
                      <a:r>
                        <a:rPr lang="en-US" sz="1000">
                          <a:latin typeface="Inter" panose="02000503000000020004" pitchFamily="2" charset="0"/>
                          <a:ea typeface="Inter" panose="02000503000000020004" pitchFamily="2" charset="0"/>
                          <a:cs typeface="Inter" panose="02000503000000020004" pitchFamily="2" charset="0"/>
                        </a:rPr>
                        <a:t>Best for visual automation and integrations when business workflows matter more than deep agent reasoning</a:t>
                      </a:r>
                    </a:p>
                  </a:txBody>
                  <a:tcPr marL="14174" marR="14174" marT="7087" marB="7087" anchor="ctr"/>
                </a:tc>
                <a:tc>
                  <a:txBody>
                    <a:bodyPr/>
                    <a:lstStyle/>
                    <a:p>
                      <a:pPr algn="l"/>
                      <a:r>
                        <a:rPr lang="en-US" sz="1000" dirty="0">
                          <a:latin typeface="Inter" panose="02000503000000020004" pitchFamily="2" charset="0"/>
                          <a:ea typeface="Inter" panose="02000503000000020004" pitchFamily="2" charset="0"/>
                          <a:cs typeface="Inter" panose="02000503000000020004" pitchFamily="2" charset="0"/>
                        </a:rPr>
                        <a:t>CAP adds true agent orchestration, stronger controls, and secure graph support</a:t>
                      </a:r>
                    </a:p>
                  </a:txBody>
                  <a:tcPr marL="14174" marR="14174" marT="7087" marB="7087" anchor="ctr"/>
                </a:tc>
                <a:extLst>
                  <a:ext uri="{0D108BD9-81ED-4DB2-BD59-A6C34878D82A}">
                    <a16:rowId xmlns:a16="http://schemas.microsoft.com/office/drawing/2014/main" val="3264457888"/>
                  </a:ext>
                </a:extLst>
              </a:tr>
            </a:tbl>
          </a:graphicData>
        </a:graphic>
      </p:graphicFrame>
    </p:spTree>
    <p:extLst>
      <p:ext uri="{BB962C8B-B14F-4D97-AF65-F5344CB8AC3E}">
        <p14:creationId xmlns:p14="http://schemas.microsoft.com/office/powerpoint/2010/main" val="2753967693"/>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77ABE-0928-379A-D23F-0985AF1C414D}"/>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06C534A4-D993-581E-0C0D-F95B7622790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7643C3B3-78DD-E7A0-7AA7-F9F52E238561}"/>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7AF87976-1E43-906B-4BDE-9C8622CE98E4}"/>
              </a:ext>
            </a:extLst>
          </p:cNvPr>
          <p:cNvSpPr>
            <a:spLocks noGrp="1"/>
          </p:cNvSpPr>
          <p:nvPr>
            <p:ph type="sldNum" sz="quarter" idx="12"/>
          </p:nvPr>
        </p:nvSpPr>
        <p:spPr/>
        <p:txBody>
          <a:bodyPr/>
          <a:lstStyle/>
          <a:p>
            <a:fld id="{48F19E39-9933-F648-B2F3-3AC17C0DC986}" type="slidenum">
              <a:rPr lang="en-US" smtClean="0">
                <a:solidFill>
                  <a:schemeClr val="bg1"/>
                </a:solidFill>
              </a:rPr>
              <a:t>23</a:t>
            </a:fld>
            <a:endParaRPr lang="en-US" dirty="0">
              <a:solidFill>
                <a:schemeClr val="bg1"/>
              </a:solidFill>
            </a:endParaRPr>
          </a:p>
        </p:txBody>
      </p:sp>
      <p:sp>
        <p:nvSpPr>
          <p:cNvPr id="2" name="TextBox 1">
            <a:extLst>
              <a:ext uri="{FF2B5EF4-FFF2-40B4-BE49-F238E27FC236}">
                <a16:creationId xmlns:a16="http://schemas.microsoft.com/office/drawing/2014/main" id="{63B9B3D4-90AB-176E-5594-3CCCE4F23DFE}"/>
              </a:ext>
            </a:extLst>
          </p:cNvPr>
          <p:cNvSpPr txBox="1"/>
          <p:nvPr/>
        </p:nvSpPr>
        <p:spPr>
          <a:xfrm>
            <a:off x="596347" y="1161505"/>
            <a:ext cx="10999304" cy="3754874"/>
          </a:xfrm>
          <a:prstGeom prst="rect">
            <a:avLst/>
          </a:prstGeom>
          <a:noFill/>
        </p:spPr>
        <p:txBody>
          <a:bodyPr wrap="square" rtlCol="0">
            <a:spAutoFit/>
          </a:bodyPr>
          <a:lstStyle/>
          <a:p>
            <a:pPr rtl="0"/>
            <a:r>
              <a:rPr lang="en-US" sz="1400" b="1" dirty="0">
                <a:latin typeface="Inter" panose="02000503000000020004" pitchFamily="2" charset="0"/>
                <a:ea typeface="Inter" panose="02000503000000020004" pitchFamily="2" charset="0"/>
                <a:cs typeface="Inter" panose="02000503000000020004" pitchFamily="2" charset="0"/>
              </a:rPr>
              <a:t>How CAP Differs:</a:t>
            </a:r>
          </a:p>
          <a:p>
            <a:pPr rtl="0"/>
            <a:r>
              <a:rPr lang="en-US" sz="1400" dirty="0">
                <a:latin typeface="Inter" panose="02000503000000020004" pitchFamily="2" charset="0"/>
                <a:ea typeface="Inter" panose="02000503000000020004" pitchFamily="2" charset="0"/>
                <a:cs typeface="Inter" panose="02000503000000020004" pitchFamily="2" charset="0"/>
              </a:rPr>
              <a:t>- It provides a full stack, including UI, APIs, jobs, and orchestration</a:t>
            </a:r>
          </a:p>
          <a:p>
            <a:pPr rtl="0"/>
            <a:r>
              <a:rPr lang="en-US" sz="1400" dirty="0">
                <a:latin typeface="Inter" panose="02000503000000020004" pitchFamily="2" charset="0"/>
                <a:ea typeface="Inter" panose="02000503000000020004" pitchFamily="2" charset="0"/>
                <a:cs typeface="Inter" panose="02000503000000020004" pitchFamily="2" charset="0"/>
              </a:rPr>
              <a:t>- It includes durable execution with retries, checkpoints, and background processing</a:t>
            </a:r>
          </a:p>
          <a:p>
            <a:pPr rtl="0"/>
            <a:r>
              <a:rPr lang="en-US" sz="1400" dirty="0">
                <a:latin typeface="Inter" panose="02000503000000020004" pitchFamily="2" charset="0"/>
                <a:ea typeface="Inter" panose="02000503000000020004" pitchFamily="2" charset="0"/>
                <a:cs typeface="Inter" panose="02000503000000020004" pitchFamily="2" charset="0"/>
              </a:rPr>
              <a:t>- It supports an agent planning loop with MCP-based tool execution</a:t>
            </a:r>
          </a:p>
          <a:p>
            <a:pPr rtl="0"/>
            <a:r>
              <a:rPr lang="en-US" sz="1400" dirty="0">
                <a:latin typeface="Inter" panose="02000503000000020004" pitchFamily="2" charset="0"/>
                <a:ea typeface="Inter" panose="02000503000000020004" pitchFamily="2" charset="0"/>
                <a:cs typeface="Inter" panose="02000503000000020004" pitchFamily="2" charset="0"/>
              </a:rPr>
              <a:t>- It adds strong security and governance through JWT, RBAC, tenancy, and output/input guards</a:t>
            </a:r>
          </a:p>
          <a:p>
            <a:pPr rtl="0"/>
            <a:r>
              <a:rPr lang="en-US" sz="1400" dirty="0">
                <a:latin typeface="Inter" panose="02000503000000020004" pitchFamily="2" charset="0"/>
                <a:ea typeface="Inter" panose="02000503000000020004" pitchFamily="2" charset="0"/>
                <a:cs typeface="Inter" panose="02000503000000020004" pitchFamily="2" charset="0"/>
              </a:rPr>
              <a:t>- It includes built-in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support with validation and tenant isolation</a:t>
            </a:r>
          </a:p>
          <a:p>
            <a:pPr rtl="0"/>
            <a:r>
              <a:rPr lang="en-US" sz="1400" dirty="0">
                <a:latin typeface="Inter" panose="02000503000000020004" pitchFamily="2" charset="0"/>
                <a:ea typeface="Inter" panose="02000503000000020004" pitchFamily="2" charset="0"/>
                <a:cs typeface="Inter" panose="02000503000000020004" pitchFamily="2" charset="0"/>
              </a:rPr>
              <a:t>- It also includes observability, LLM-provider flexibility, and production controls</a:t>
            </a:r>
          </a:p>
          <a:p>
            <a:pPr rtl="0"/>
            <a:endParaRPr lang="en-US" sz="1400" dirty="0">
              <a:latin typeface="Inter" panose="02000503000000020004" pitchFamily="2" charset="0"/>
              <a:ea typeface="Inter" panose="02000503000000020004" pitchFamily="2" charset="0"/>
              <a:cs typeface="Inter" panose="02000503000000020004" pitchFamily="2" charset="0"/>
            </a:endParaRPr>
          </a:p>
          <a:p>
            <a:pPr rtl="0"/>
            <a:r>
              <a:rPr lang="en-US" sz="1400" b="1" dirty="0">
                <a:latin typeface="Inter" panose="02000503000000020004" pitchFamily="2" charset="0"/>
                <a:ea typeface="Inter" panose="02000503000000020004" pitchFamily="2" charset="0"/>
                <a:cs typeface="Inter" panose="02000503000000020004" pitchFamily="2" charset="0"/>
              </a:rPr>
              <a:t>How Other Platforms Compare:</a:t>
            </a:r>
          </a:p>
          <a:p>
            <a:pPr rtl="0"/>
            <a:r>
              <a:rPr lang="en-US" sz="1400" dirty="0">
                <a:latin typeface="Inter" panose="02000503000000020004" pitchFamily="2" charset="0"/>
                <a:ea typeface="Inter" panose="02000503000000020004" pitchFamily="2" charset="0"/>
                <a:cs typeface="Inter" panose="02000503000000020004" pitchFamily="2" charset="0"/>
              </a:rPr>
              <a:t>- Temporal and Argo are strong for workflow durability, but they are not agent platforms</a:t>
            </a:r>
          </a:p>
          <a:p>
            <a:pPr rtl="0"/>
            <a:r>
              <a:rPr lang="en-US" sz="1400" dirty="0">
                <a:latin typeface="Inter" panose="02000503000000020004" pitchFamily="2" charset="0"/>
                <a:ea typeface="Inter" panose="02000503000000020004" pitchFamily="2" charset="0"/>
                <a:cs typeface="Inter" panose="02000503000000020004" pitchFamily="2" charset="0"/>
              </a:rPr>
              <a:t>- </a:t>
            </a:r>
            <a:r>
              <a:rPr lang="en-US" sz="1400" dirty="0" err="1">
                <a:latin typeface="Inter" panose="02000503000000020004" pitchFamily="2" charset="0"/>
                <a:ea typeface="Inter" panose="02000503000000020004" pitchFamily="2" charset="0"/>
                <a:cs typeface="Inter" panose="02000503000000020004" pitchFamily="2" charset="0"/>
              </a:rPr>
              <a:t>LangGraph</a:t>
            </a:r>
            <a:r>
              <a:rPr lang="en-US" sz="1400" dirty="0">
                <a:latin typeface="Inter" panose="02000503000000020004" pitchFamily="2" charset="0"/>
                <a:ea typeface="Inter" panose="02000503000000020004" pitchFamily="2" charset="0"/>
                <a:cs typeface="Inter" panose="02000503000000020004" pitchFamily="2" charset="0"/>
              </a:rPr>
              <a:t>, OpenAI Agents SDK, Semantic Kernel, </a:t>
            </a:r>
            <a:r>
              <a:rPr lang="en-US" sz="1400" dirty="0" err="1">
                <a:latin typeface="Inter" panose="02000503000000020004" pitchFamily="2" charset="0"/>
                <a:ea typeface="Inter" panose="02000503000000020004" pitchFamily="2" charset="0"/>
                <a:cs typeface="Inter" panose="02000503000000020004" pitchFamily="2" charset="0"/>
              </a:rPr>
              <a:t>LlamaIndex</a:t>
            </a:r>
            <a:r>
              <a:rPr lang="en-US" sz="1400" dirty="0">
                <a:latin typeface="Inter" panose="02000503000000020004" pitchFamily="2" charset="0"/>
                <a:ea typeface="Inter" panose="02000503000000020004" pitchFamily="2" charset="0"/>
                <a:cs typeface="Inter" panose="02000503000000020004" pitchFamily="2" charset="0"/>
              </a:rPr>
              <a:t>, and Haystack support agent logic, but usually require extra work for security, durability, and platform operations</a:t>
            </a:r>
          </a:p>
          <a:p>
            <a:pPr rtl="0"/>
            <a:r>
              <a:rPr lang="en-US" sz="1400" dirty="0">
                <a:latin typeface="Inter" panose="02000503000000020004" pitchFamily="2" charset="0"/>
                <a:ea typeface="Inter" panose="02000503000000020004" pitchFamily="2" charset="0"/>
                <a:cs typeface="Inter" panose="02000503000000020004" pitchFamily="2" charset="0"/>
              </a:rPr>
              <a:t>- n8n and Windmill provide useful workflow UIs, but they are not designed as secure agent orchestration platforms</a:t>
            </a:r>
          </a:p>
          <a:p>
            <a:pPr rtl="0"/>
            <a:endParaRPr lang="en-US" sz="1400" dirty="0">
              <a:latin typeface="Inter" panose="02000503000000020004" pitchFamily="2" charset="0"/>
              <a:ea typeface="Inter" panose="02000503000000020004" pitchFamily="2" charset="0"/>
              <a:cs typeface="Inter" panose="02000503000000020004" pitchFamily="2" charset="0"/>
            </a:endParaRPr>
          </a:p>
          <a:p>
            <a:pPr rtl="0"/>
            <a:r>
              <a:rPr lang="en-US" sz="1400" b="1" dirty="0">
                <a:latin typeface="Inter" panose="02000503000000020004" pitchFamily="2" charset="0"/>
                <a:ea typeface="Inter" panose="02000503000000020004" pitchFamily="2" charset="0"/>
                <a:cs typeface="Inter" panose="02000503000000020004" pitchFamily="2" charset="0"/>
              </a:rPr>
              <a:t>Main Takeaway</a:t>
            </a:r>
          </a:p>
          <a:p>
            <a:pPr rtl="0"/>
            <a:r>
              <a:rPr lang="en-US" sz="1400" dirty="0">
                <a:latin typeface="Inter" panose="02000503000000020004" pitchFamily="2" charset="0"/>
                <a:ea typeface="Inter" panose="02000503000000020004" pitchFamily="2" charset="0"/>
                <a:cs typeface="Inter" panose="02000503000000020004" pitchFamily="2" charset="0"/>
              </a:rPr>
              <a:t>CAP stands out because it combines full-stack delivery, durable orchestration, governed tool execution, secure graph querying, and observability in one platform, while most alternatives are strong only in some of these areas</a:t>
            </a:r>
          </a:p>
        </p:txBody>
      </p:sp>
      <p:sp>
        <p:nvSpPr>
          <p:cNvPr id="5" name="TextBox 4">
            <a:extLst>
              <a:ext uri="{FF2B5EF4-FFF2-40B4-BE49-F238E27FC236}">
                <a16:creationId xmlns:a16="http://schemas.microsoft.com/office/drawing/2014/main" id="{0C0D6FE3-D384-D746-77CC-168526B81457}"/>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COMPARISON WITH STATE OF THE ART</a:t>
            </a:r>
          </a:p>
          <a:p>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The CINECA Agentic Platform is more complete than typical libraries. </a:t>
            </a:r>
          </a:p>
        </p:txBody>
      </p:sp>
      <p:sp>
        <p:nvSpPr>
          <p:cNvPr id="28" name="Footer Placeholder 10">
            <a:extLst>
              <a:ext uri="{FF2B5EF4-FFF2-40B4-BE49-F238E27FC236}">
                <a16:creationId xmlns:a16="http://schemas.microsoft.com/office/drawing/2014/main" id="{6B8ED0EB-112F-7F86-55D4-1215A0787457}"/>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90327408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C39995-9008-CFFA-E408-B78389C90995}"/>
            </a:ext>
          </a:extLst>
        </p:cNvPr>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10AD2FE3-5AAD-6980-5C21-B040B62A1C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FD747460-6705-8B90-31FB-172E68061B59}"/>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F29A7A22-4422-92CE-0FFD-B38D81A3E4AF}"/>
              </a:ext>
            </a:extLst>
          </p:cNvPr>
          <p:cNvSpPr>
            <a:spLocks noGrp="1"/>
          </p:cNvSpPr>
          <p:nvPr>
            <p:ph type="sldNum" sz="quarter" idx="12"/>
          </p:nvPr>
        </p:nvSpPr>
        <p:spPr/>
        <p:txBody>
          <a:bodyPr/>
          <a:lstStyle/>
          <a:p>
            <a:fld id="{48F19E39-9933-F648-B2F3-3AC17C0DC986}" type="slidenum">
              <a:rPr lang="en-US" smtClean="0">
                <a:solidFill>
                  <a:schemeClr val="bg1"/>
                </a:solidFill>
              </a:rPr>
              <a:t>24</a:t>
            </a:fld>
            <a:endParaRPr lang="en-US" dirty="0">
              <a:solidFill>
                <a:schemeClr val="bg1"/>
              </a:solidFill>
            </a:endParaRPr>
          </a:p>
        </p:txBody>
      </p:sp>
      <p:sp>
        <p:nvSpPr>
          <p:cNvPr id="2" name="TextBox 1">
            <a:extLst>
              <a:ext uri="{FF2B5EF4-FFF2-40B4-BE49-F238E27FC236}">
                <a16:creationId xmlns:a16="http://schemas.microsoft.com/office/drawing/2014/main" id="{9D8C0D73-4DBD-9591-284B-70CF003C79FC}"/>
              </a:ext>
            </a:extLst>
          </p:cNvPr>
          <p:cNvSpPr txBox="1"/>
          <p:nvPr/>
        </p:nvSpPr>
        <p:spPr>
          <a:xfrm>
            <a:off x="596347" y="2544013"/>
            <a:ext cx="7166114" cy="2893100"/>
          </a:xfrm>
          <a:prstGeom prst="rect">
            <a:avLst/>
          </a:prstGeom>
          <a:noFill/>
        </p:spPr>
        <p:txBody>
          <a:bodyPr wrap="square" rtlCol="0">
            <a:spAutoFit/>
          </a:bodyPr>
          <a:lstStyle/>
          <a:p>
            <a:pPr rtl="0"/>
            <a:r>
              <a:rPr lang="en-US" sz="1400" b="1" dirty="0">
                <a:latin typeface="Inter" panose="02000503000000020004" pitchFamily="2" charset="0"/>
                <a:ea typeface="Inter" panose="02000503000000020004" pitchFamily="2" charset="0"/>
                <a:cs typeface="Inter" panose="02000503000000020004" pitchFamily="2" charset="0"/>
              </a:rPr>
              <a:t>Key Contribution</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A secure and extensible NL-to-action platform ready to grow across tools, models, and tenants</a:t>
            </a:r>
          </a:p>
          <a:p>
            <a:pPr rtl="0"/>
            <a:endParaRPr lang="en-US" sz="1400" b="1" dirty="0">
              <a:latin typeface="Inter" panose="02000503000000020004" pitchFamily="2" charset="0"/>
              <a:ea typeface="Inter" panose="02000503000000020004" pitchFamily="2" charset="0"/>
              <a:cs typeface="Inter" panose="02000503000000020004" pitchFamily="2" charset="0"/>
            </a:endParaRPr>
          </a:p>
          <a:p>
            <a:pPr rtl="0"/>
            <a:r>
              <a:rPr lang="en-US" sz="1400" b="1" dirty="0">
                <a:latin typeface="Inter" panose="02000503000000020004" pitchFamily="2" charset="0"/>
                <a:ea typeface="Inter" panose="02000503000000020004" pitchFamily="2" charset="0"/>
                <a:cs typeface="Inter" panose="02000503000000020004" pitchFamily="2" charset="0"/>
              </a:rPr>
              <a:t>Future Work</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Add an “Ask Mode” for lightweight question answering without full agent planning</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Make the orchestrator handle more prompt types more reliably, from simple to ambiguous or multi-step requests</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Improve recovery and reproducibility through stronger checkpointing and deterministic re-runs</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Add smarter scheduling with priorities, quotas, and backpressure under heavy load</a:t>
            </a:r>
          </a:p>
        </p:txBody>
      </p:sp>
      <p:sp>
        <p:nvSpPr>
          <p:cNvPr id="5" name="TextBox 4">
            <a:extLst>
              <a:ext uri="{FF2B5EF4-FFF2-40B4-BE49-F238E27FC236}">
                <a16:creationId xmlns:a16="http://schemas.microsoft.com/office/drawing/2014/main" id="{BE943AC3-450E-5923-DB14-D5DFF1625D98}"/>
              </a:ext>
            </a:extLst>
          </p:cNvPr>
          <p:cNvSpPr txBox="1"/>
          <p:nvPr/>
        </p:nvSpPr>
        <p:spPr>
          <a:xfrm>
            <a:off x="596348" y="374273"/>
            <a:ext cx="11127823" cy="646331"/>
          </a:xfrm>
          <a:prstGeom prst="rect">
            <a:avLst/>
          </a:prstGeom>
          <a:noFill/>
        </p:spPr>
        <p:txBody>
          <a:bodyPr wrap="square" rtlCol="0">
            <a:spAutoFit/>
          </a:bodyPr>
          <a:lstStyle/>
          <a:p>
            <a:r>
              <a:rPr lang="en-US" sz="2000" b="1" dirty="0">
                <a:solidFill>
                  <a:srgbClr val="822334"/>
                </a:solidFill>
                <a:latin typeface="Inter" panose="02000503000000020004" pitchFamily="2" charset="0"/>
                <a:ea typeface="Inter" panose="02000503000000020004" pitchFamily="2" charset="0"/>
                <a:cs typeface="Inter" panose="02000503000000020004" pitchFamily="2" charset="0"/>
              </a:rPr>
              <a:t>CONCLUSION + FUTURE WORK</a:t>
            </a:r>
          </a:p>
          <a:p>
            <a:r>
              <a:rPr lang="en-US" sz="1600" dirty="0">
                <a:solidFill>
                  <a:srgbClr val="822334"/>
                </a:solidFill>
                <a:latin typeface="Inter" panose="02000503000000020004" pitchFamily="2" charset="0"/>
                <a:ea typeface="Inter" panose="02000503000000020004" pitchFamily="2" charset="0"/>
                <a:cs typeface="Inter" panose="02000503000000020004" pitchFamily="2" charset="0"/>
              </a:rPr>
              <a:t>Closed the production gap. </a:t>
            </a:r>
          </a:p>
        </p:txBody>
      </p:sp>
      <p:sp>
        <p:nvSpPr>
          <p:cNvPr id="28" name="Footer Placeholder 10">
            <a:extLst>
              <a:ext uri="{FF2B5EF4-FFF2-40B4-BE49-F238E27FC236}">
                <a16:creationId xmlns:a16="http://schemas.microsoft.com/office/drawing/2014/main" id="{3BB25065-EAAF-5131-57F9-13A59CDD9D54}"/>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pic>
        <p:nvPicPr>
          <p:cNvPr id="3" name="Picture 2">
            <a:extLst>
              <a:ext uri="{FF2B5EF4-FFF2-40B4-BE49-F238E27FC236}">
                <a16:creationId xmlns:a16="http://schemas.microsoft.com/office/drawing/2014/main" id="{30783107-447A-58FA-4862-A92852EE3124}"/>
              </a:ext>
            </a:extLst>
          </p:cNvPr>
          <p:cNvPicPr>
            <a:picLocks noChangeAspect="1"/>
          </p:cNvPicPr>
          <p:nvPr/>
        </p:nvPicPr>
        <p:blipFill>
          <a:blip r:embed="rId3"/>
          <a:stretch>
            <a:fillRect/>
          </a:stretch>
        </p:blipFill>
        <p:spPr>
          <a:xfrm>
            <a:off x="8074952" y="2682427"/>
            <a:ext cx="3278848" cy="2893101"/>
          </a:xfrm>
          <a:prstGeom prst="rect">
            <a:avLst/>
          </a:prstGeom>
        </p:spPr>
      </p:pic>
      <p:sp>
        <p:nvSpPr>
          <p:cNvPr id="6" name="TextBox 5">
            <a:extLst>
              <a:ext uri="{FF2B5EF4-FFF2-40B4-BE49-F238E27FC236}">
                <a16:creationId xmlns:a16="http://schemas.microsoft.com/office/drawing/2014/main" id="{83B52CBA-5FE4-2524-B8E6-A064BE0B7A56}"/>
              </a:ext>
            </a:extLst>
          </p:cNvPr>
          <p:cNvSpPr txBox="1"/>
          <p:nvPr/>
        </p:nvSpPr>
        <p:spPr>
          <a:xfrm>
            <a:off x="596347" y="1159018"/>
            <a:ext cx="10999304" cy="1384995"/>
          </a:xfrm>
          <a:prstGeom prst="rect">
            <a:avLst/>
          </a:prstGeom>
          <a:noFill/>
        </p:spPr>
        <p:txBody>
          <a:bodyPr wrap="square" rtlCol="0">
            <a:spAutoFit/>
          </a:bodyPr>
          <a:lstStyle/>
          <a:p>
            <a:pPr rtl="0"/>
            <a:r>
              <a:rPr lang="en-US" sz="1400" b="1" dirty="0">
                <a:latin typeface="Inter" panose="02000503000000020004" pitchFamily="2" charset="0"/>
                <a:ea typeface="Inter" panose="02000503000000020004" pitchFamily="2" charset="0"/>
                <a:cs typeface="Inter" panose="02000503000000020004" pitchFamily="2" charset="0"/>
              </a:rPr>
              <a:t>What Was Achieved</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The platform closes the production gap by turning natural language into safe, traceable graph actions</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It delivers a full enterprise stack with secure UIs, APIs, orchestration, workers, and a multi-database backend</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Agent runs are controlled, not just conversational, with MCP tools, RBAC, tenant isolation, and safe </a:t>
            </a:r>
            <a:r>
              <a:rPr lang="en-US" sz="1400" dirty="0" err="1">
                <a:latin typeface="Inter" panose="02000503000000020004" pitchFamily="2" charset="0"/>
                <a:ea typeface="Inter" panose="02000503000000020004" pitchFamily="2" charset="0"/>
                <a:cs typeface="Inter" panose="02000503000000020004" pitchFamily="2" charset="0"/>
              </a:rPr>
              <a:t>NL→Cypher</a:t>
            </a:r>
            <a:r>
              <a:rPr lang="en-US" sz="1400" dirty="0">
                <a:latin typeface="Inter" panose="02000503000000020004" pitchFamily="2" charset="0"/>
                <a:ea typeface="Inter" panose="02000503000000020004" pitchFamily="2" charset="0"/>
                <a:cs typeface="Inter" panose="02000503000000020004" pitchFamily="2" charset="0"/>
              </a:rPr>
              <a:t> execution</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It is production-ready, with large API coverage, governed tools, resilience mechanisms, and built-in observability</a:t>
            </a:r>
          </a:p>
          <a:p>
            <a:pPr marL="285750" indent="-285750" rtl="0">
              <a:buFontTx/>
              <a:buChar char="-"/>
            </a:pPr>
            <a:r>
              <a:rPr lang="en-US" sz="1400" dirty="0">
                <a:latin typeface="Inter" panose="02000503000000020004" pitchFamily="2" charset="0"/>
                <a:ea typeface="Inter" panose="02000503000000020004" pitchFamily="2" charset="0"/>
                <a:cs typeface="Inter" panose="02000503000000020004" pitchFamily="2" charset="0"/>
              </a:rPr>
              <a:t>It remains flexible across providers such as OpenAI, Azure, and </a:t>
            </a:r>
            <a:r>
              <a:rPr lang="en-US" sz="1400" dirty="0" err="1">
                <a:latin typeface="Inter" panose="02000503000000020004" pitchFamily="2" charset="0"/>
                <a:ea typeface="Inter" panose="02000503000000020004" pitchFamily="2" charset="0"/>
                <a:cs typeface="Inter" panose="02000503000000020004" pitchFamily="2" charset="0"/>
              </a:rPr>
              <a:t>Ollama</a:t>
            </a:r>
            <a:endParaRPr lang="en-US" sz="1400" dirty="0">
              <a:latin typeface="Inter" panose="02000503000000020004" pitchFamily="2" charset="0"/>
              <a:ea typeface="Inter" panose="02000503000000020004" pitchFamily="2" charset="0"/>
              <a:cs typeface="Inter" panose="02000503000000020004" pitchFamily="2" charset="0"/>
            </a:endParaRPr>
          </a:p>
        </p:txBody>
      </p:sp>
    </p:spTree>
    <p:extLst>
      <p:ext uri="{BB962C8B-B14F-4D97-AF65-F5344CB8AC3E}">
        <p14:creationId xmlns:p14="http://schemas.microsoft.com/office/powerpoint/2010/main" val="89802936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15" descr="Fondino">
            <a:extLst>
              <a:ext uri="{FF2B5EF4-FFF2-40B4-BE49-F238E27FC236}">
                <a16:creationId xmlns:a16="http://schemas.microsoft.com/office/drawing/2014/main" id="{DBD821E8-3354-7535-EC13-817D28E082F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6215449"/>
            <a:ext cx="12192000" cy="6457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 name="Footer Placeholder 10">
            <a:extLst>
              <a:ext uri="{FF2B5EF4-FFF2-40B4-BE49-F238E27FC236}">
                <a16:creationId xmlns:a16="http://schemas.microsoft.com/office/drawing/2014/main" id="{EEB8FA11-B90D-462B-2C75-69B11774F454}"/>
              </a:ext>
            </a:extLst>
          </p:cNvPr>
          <p:cNvSpPr>
            <a:spLocks noGrp="1"/>
          </p:cNvSpPr>
          <p:nvPr>
            <p:ph type="ftr" sz="quarter" idx="11"/>
          </p:nvPr>
        </p:nvSpPr>
        <p:spPr/>
        <p:txBody>
          <a:bodyPr/>
          <a:lstStyle/>
          <a:p>
            <a:r>
              <a:rPr lang="en-US" dirty="0">
                <a:solidFill>
                  <a:schemeClr val="bg1"/>
                </a:solidFill>
              </a:rPr>
              <a:t>Sapienza University of Rome</a:t>
            </a:r>
          </a:p>
        </p:txBody>
      </p:sp>
      <p:sp>
        <p:nvSpPr>
          <p:cNvPr id="12" name="Slide Number Placeholder 11">
            <a:extLst>
              <a:ext uri="{FF2B5EF4-FFF2-40B4-BE49-F238E27FC236}">
                <a16:creationId xmlns:a16="http://schemas.microsoft.com/office/drawing/2014/main" id="{93EE6864-9854-8F88-F097-07FDF4A8AF9D}"/>
              </a:ext>
            </a:extLst>
          </p:cNvPr>
          <p:cNvSpPr>
            <a:spLocks noGrp="1"/>
          </p:cNvSpPr>
          <p:nvPr>
            <p:ph type="sldNum" sz="quarter" idx="12"/>
          </p:nvPr>
        </p:nvSpPr>
        <p:spPr/>
        <p:txBody>
          <a:bodyPr/>
          <a:lstStyle/>
          <a:p>
            <a:fld id="{48F19E39-9933-F648-B2F3-3AC17C0DC986}" type="slidenum">
              <a:rPr lang="en-US" smtClean="0">
                <a:solidFill>
                  <a:schemeClr val="bg1"/>
                </a:solidFill>
              </a:rPr>
              <a:t>25</a:t>
            </a:fld>
            <a:endParaRPr lang="en-US" dirty="0">
              <a:solidFill>
                <a:schemeClr val="bg1"/>
              </a:solidFill>
            </a:endParaRPr>
          </a:p>
        </p:txBody>
      </p:sp>
      <p:sp>
        <p:nvSpPr>
          <p:cNvPr id="8" name="TextBox 7">
            <a:extLst>
              <a:ext uri="{FF2B5EF4-FFF2-40B4-BE49-F238E27FC236}">
                <a16:creationId xmlns:a16="http://schemas.microsoft.com/office/drawing/2014/main" id="{A35675E4-D55C-3F6B-0DEB-5576B0D311F5}"/>
              </a:ext>
            </a:extLst>
          </p:cNvPr>
          <p:cNvSpPr txBox="1"/>
          <p:nvPr/>
        </p:nvSpPr>
        <p:spPr>
          <a:xfrm>
            <a:off x="3015354" y="2782669"/>
            <a:ext cx="6161291" cy="954107"/>
          </a:xfrm>
          <a:prstGeom prst="rect">
            <a:avLst/>
          </a:prstGeom>
          <a:noFill/>
        </p:spPr>
        <p:txBody>
          <a:bodyPr wrap="square" rtlCol="0">
            <a:spAutoFit/>
          </a:bodyPr>
          <a:lstStyle/>
          <a:p>
            <a:pPr algn="ctr"/>
            <a:r>
              <a:rPr lang="en-US" sz="3600" b="1" dirty="0">
                <a:solidFill>
                  <a:srgbClr val="822334"/>
                </a:solidFill>
                <a:latin typeface="Inter" panose="02000503000000020004" pitchFamily="2" charset="0"/>
                <a:ea typeface="Inter" panose="02000503000000020004" pitchFamily="2" charset="0"/>
                <a:cs typeface="Inter" panose="02000503000000020004" pitchFamily="2" charset="0"/>
              </a:rPr>
              <a:t>Thanks For Your Attention</a:t>
            </a:r>
          </a:p>
          <a:p>
            <a:pPr algn="ctr"/>
            <a:r>
              <a:rPr lang="en-US" sz="2000" dirty="0">
                <a:solidFill>
                  <a:srgbClr val="822334"/>
                </a:solidFill>
                <a:latin typeface="Inter" panose="02000503000000020004" pitchFamily="2" charset="0"/>
                <a:ea typeface="Inter" panose="02000503000000020004" pitchFamily="2" charset="0"/>
                <a:cs typeface="Inter" panose="02000503000000020004" pitchFamily="2" charset="0"/>
              </a:rPr>
              <a:t>Feel free to ask any question</a:t>
            </a:r>
          </a:p>
        </p:txBody>
      </p:sp>
      <p:sp>
        <p:nvSpPr>
          <p:cNvPr id="9" name="Footer Placeholder 10">
            <a:extLst>
              <a:ext uri="{FF2B5EF4-FFF2-40B4-BE49-F238E27FC236}">
                <a16:creationId xmlns:a16="http://schemas.microsoft.com/office/drawing/2014/main" id="{7618E793-AC74-1A5F-6374-9011F2565FC9}"/>
              </a:ext>
            </a:extLst>
          </p:cNvPr>
          <p:cNvSpPr txBox="1">
            <a:spLocks/>
          </p:cNvSpPr>
          <p:nvPr/>
        </p:nvSpPr>
        <p:spPr>
          <a:xfrm>
            <a:off x="596349" y="6355749"/>
            <a:ext cx="1502228"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en-US" dirty="0">
                <a:solidFill>
                  <a:schemeClr val="bg1"/>
                </a:solidFill>
              </a:rPr>
              <a:t>Arman Feili</a:t>
            </a:r>
          </a:p>
        </p:txBody>
      </p:sp>
    </p:spTree>
    <p:extLst>
      <p:ext uri="{BB962C8B-B14F-4D97-AF65-F5344CB8AC3E}">
        <p14:creationId xmlns:p14="http://schemas.microsoft.com/office/powerpoint/2010/main" val="291162907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17083</TotalTime>
  <Words>4184</Words>
  <Application>Microsoft Macintosh PowerPoint</Application>
  <PresentationFormat>Widescreen</PresentationFormat>
  <Paragraphs>568</Paragraphs>
  <Slides>25</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25</vt:i4>
      </vt:variant>
    </vt:vector>
  </HeadingPairs>
  <TitlesOfParts>
    <vt:vector size="32" baseType="lpstr">
      <vt:lpstr>Arial</vt:lpstr>
      <vt:lpstr>Calibri</vt:lpstr>
      <vt:lpstr>Calibri Light</vt:lpstr>
      <vt:lpstr>Courier New</vt:lpstr>
      <vt:lpstr>Inter</vt:lpstr>
      <vt:lpstr>Menlo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arman feili</dc:creator>
  <cp:lastModifiedBy>arman feili</cp:lastModifiedBy>
  <cp:revision>214</cp:revision>
  <dcterms:created xsi:type="dcterms:W3CDTF">2024-03-13T12:10:15Z</dcterms:created>
  <dcterms:modified xsi:type="dcterms:W3CDTF">2026-04-05T10:38:23Z</dcterms:modified>
</cp:coreProperties>
</file>