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29"/>
  </p:notesMasterIdLst>
  <p:sldIdLst>
    <p:sldId id="330" r:id="rId2"/>
    <p:sldId id="273" r:id="rId3"/>
    <p:sldId id="329" r:id="rId4"/>
    <p:sldId id="327" r:id="rId5"/>
    <p:sldId id="266" r:id="rId6"/>
    <p:sldId id="328" r:id="rId7"/>
    <p:sldId id="272" r:id="rId8"/>
    <p:sldId id="313" r:id="rId9"/>
    <p:sldId id="281" r:id="rId10"/>
    <p:sldId id="315" r:id="rId11"/>
    <p:sldId id="284" r:id="rId12"/>
    <p:sldId id="317" r:id="rId13"/>
    <p:sldId id="318" r:id="rId14"/>
    <p:sldId id="331" r:id="rId15"/>
    <p:sldId id="324" r:id="rId16"/>
    <p:sldId id="325" r:id="rId17"/>
    <p:sldId id="258" r:id="rId18"/>
    <p:sldId id="332" r:id="rId19"/>
    <p:sldId id="312" r:id="rId20"/>
    <p:sldId id="333" r:id="rId21"/>
    <p:sldId id="288" r:id="rId22"/>
    <p:sldId id="319" r:id="rId23"/>
    <p:sldId id="334" r:id="rId24"/>
    <p:sldId id="321" r:id="rId25"/>
    <p:sldId id="323" r:id="rId26"/>
    <p:sldId id="322" r:id="rId27"/>
    <p:sldId id="278"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22334"/>
    <a:srgbClr val="008001"/>
    <a:srgbClr val="CD3131"/>
    <a:srgbClr val="F0EBF5"/>
    <a:srgbClr val="FFF1E6"/>
    <a:srgbClr val="FFEAEA"/>
    <a:srgbClr val="D7E4D7"/>
    <a:srgbClr val="EAF7E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99"/>
    <p:restoredTop sz="78912"/>
  </p:normalViewPr>
  <p:slideViewPr>
    <p:cSldViewPr snapToGrid="0">
      <p:cViewPr>
        <p:scale>
          <a:sx n="100" d="100"/>
          <a:sy n="100" d="100"/>
        </p:scale>
        <p:origin x="176" y="16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p:cViewPr>
        <p:scale>
          <a:sx n="97" d="100"/>
          <a:sy n="97" d="100"/>
        </p:scale>
        <p:origin x="4328" y="20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924955-8B34-A04F-9FB2-E0067282C414}" type="datetimeFigureOut">
              <a:rPr lang="en-US" smtClean="0"/>
              <a:t>7/8/26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52EBC6-F9AA-0C43-A9D5-630614822BE9}" type="slidenum">
              <a:rPr lang="en-US" smtClean="0"/>
              <a:t>‹#›</a:t>
            </a:fld>
            <a:endParaRPr lang="en-US"/>
          </a:p>
        </p:txBody>
      </p:sp>
    </p:spTree>
    <p:extLst>
      <p:ext uri="{BB962C8B-B14F-4D97-AF65-F5344CB8AC3E}">
        <p14:creationId xmlns:p14="http://schemas.microsoft.com/office/powerpoint/2010/main" val="32977507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good morning, I’m Arman Feili, and today I want to talk about the thesis project that I did in </a:t>
            </a:r>
            <a:r>
              <a:rPr lang="en-US" dirty="0" err="1"/>
              <a:t>Cineca</a:t>
            </a:r>
            <a:r>
              <a:rPr lang="en-US" dirty="0"/>
              <a:t>, which was </a:t>
            </a:r>
            <a:r>
              <a:rPr lang="en-US" dirty="0" err="1"/>
              <a:t>Cineca</a:t>
            </a:r>
            <a:r>
              <a:rPr lang="en-US" dirty="0"/>
              <a:t> Agentic Platform: An </a:t>
            </a:r>
            <a:r>
              <a:rPr lang="en-US" dirty="0" err="1"/>
              <a:t>entriprise</a:t>
            </a:r>
            <a:r>
              <a:rPr lang="en-US" dirty="0"/>
              <a:t>-grade Multi-Tenant AI Orchestrator with MCP tools and Secure Graph Querying.</a:t>
            </a:r>
          </a:p>
        </p:txBody>
      </p:sp>
      <p:sp>
        <p:nvSpPr>
          <p:cNvPr id="4" name="Slide Number Placeholder 3"/>
          <p:cNvSpPr>
            <a:spLocks noGrp="1"/>
          </p:cNvSpPr>
          <p:nvPr>
            <p:ph type="sldNum" sz="quarter" idx="5"/>
          </p:nvPr>
        </p:nvSpPr>
        <p:spPr/>
        <p:txBody>
          <a:bodyPr/>
          <a:lstStyle/>
          <a:p>
            <a:fld id="{9552EBC6-F9AA-0C43-A9D5-630614822BE9}" type="slidenum">
              <a:rPr lang="en-US" smtClean="0"/>
              <a:t>1</a:t>
            </a:fld>
            <a:endParaRPr lang="en-US"/>
          </a:p>
        </p:txBody>
      </p:sp>
    </p:spTree>
    <p:extLst>
      <p:ext uri="{BB962C8B-B14F-4D97-AF65-F5344CB8AC3E}">
        <p14:creationId xmlns:p14="http://schemas.microsoft.com/office/powerpoint/2010/main" val="501880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step by step categories and titles that I’m </a:t>
            </a:r>
            <a:r>
              <a:rPr lang="en-US" dirty="0" err="1"/>
              <a:t>gonna</a:t>
            </a:r>
            <a:r>
              <a:rPr lang="en-US" dirty="0"/>
              <a:t> talk about in this presentation.</a:t>
            </a:r>
          </a:p>
        </p:txBody>
      </p:sp>
      <p:sp>
        <p:nvSpPr>
          <p:cNvPr id="4" name="Slide Number Placeholder 3"/>
          <p:cNvSpPr>
            <a:spLocks noGrp="1"/>
          </p:cNvSpPr>
          <p:nvPr>
            <p:ph type="sldNum" sz="quarter" idx="5"/>
          </p:nvPr>
        </p:nvSpPr>
        <p:spPr/>
        <p:txBody>
          <a:bodyPr/>
          <a:lstStyle/>
          <a:p>
            <a:fld id="{9552EBC6-F9AA-0C43-A9D5-630614822BE9}" type="slidenum">
              <a:rPr lang="en-US" smtClean="0"/>
              <a:t>2</a:t>
            </a:fld>
            <a:endParaRPr lang="en-US"/>
          </a:p>
        </p:txBody>
      </p:sp>
    </p:spTree>
    <p:extLst>
      <p:ext uri="{BB962C8B-B14F-4D97-AF65-F5344CB8AC3E}">
        <p14:creationId xmlns:p14="http://schemas.microsoft.com/office/powerpoint/2010/main" val="13989945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the Production Gap</a:t>
            </a:r>
          </a:p>
          <a:p>
            <a:r>
              <a:rPr lang="en-US" dirty="0"/>
              <a:t>The problem that I had to fix in this project was that, </a:t>
            </a:r>
          </a:p>
          <a:p>
            <a:r>
              <a:rPr lang="en-US" dirty="0"/>
              <a:t>Users might want to have access to the Graph Data bases, but they cannot write Cypher commands</a:t>
            </a:r>
          </a:p>
          <a:p>
            <a:r>
              <a:rPr lang="en-US" dirty="0"/>
              <a:t>So they are depended on developers that it causes delay.</a:t>
            </a:r>
          </a:p>
          <a:p>
            <a:r>
              <a:rPr lang="en-US" dirty="0"/>
              <a:t>Also current tools are too technical or not quite secured.</a:t>
            </a:r>
          </a:p>
          <a:p>
            <a:endParaRPr lang="en-US" dirty="0"/>
          </a:p>
          <a:p>
            <a:r>
              <a:rPr lang="en-US" dirty="0"/>
              <a:t>The solution to this gap is an </a:t>
            </a:r>
            <a:r>
              <a:rPr lang="en-US" dirty="0" err="1"/>
              <a:t>Agnetic</a:t>
            </a:r>
            <a:r>
              <a:rPr lang="en-US" dirty="0"/>
              <a:t> system that can converts Natural language to Cypher command, in a secure, traceable, and reproducible way, </a:t>
            </a:r>
          </a:p>
          <a:p>
            <a:r>
              <a:rPr lang="en-US" dirty="0"/>
              <a:t>Which is scalable and flexible with different LLM providers.</a:t>
            </a:r>
          </a:p>
          <a:p>
            <a:endParaRPr lang="en-US" dirty="0"/>
          </a:p>
          <a:p>
            <a:r>
              <a:rPr lang="en-US" dirty="0"/>
              <a:t>But Why Agentic?</a:t>
            </a:r>
          </a:p>
          <a:p>
            <a:r>
              <a:rPr lang="en-US" dirty="0"/>
              <a:t>Because the simple chatbots, doesn’t have Multi-step execution, or RBAC and Tenant isolation</a:t>
            </a:r>
            <a:endParaRPr lang="fa-IR" dirty="0"/>
          </a:p>
        </p:txBody>
      </p:sp>
      <p:sp>
        <p:nvSpPr>
          <p:cNvPr id="4" name="Slide Number Placeholder 3"/>
          <p:cNvSpPr>
            <a:spLocks noGrp="1"/>
          </p:cNvSpPr>
          <p:nvPr>
            <p:ph type="sldNum" sz="quarter" idx="5"/>
          </p:nvPr>
        </p:nvSpPr>
        <p:spPr/>
        <p:txBody>
          <a:bodyPr/>
          <a:lstStyle/>
          <a:p>
            <a:fld id="{9552EBC6-F9AA-0C43-A9D5-630614822BE9}" type="slidenum">
              <a:rPr lang="en-US" smtClean="0"/>
              <a:t>3</a:t>
            </a:fld>
            <a:endParaRPr lang="en-US"/>
          </a:p>
        </p:txBody>
      </p:sp>
    </p:spTree>
    <p:extLst>
      <p:ext uri="{BB962C8B-B14F-4D97-AF65-F5344CB8AC3E}">
        <p14:creationId xmlns:p14="http://schemas.microsoft.com/office/powerpoint/2010/main" val="31753414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Agentic platform I delivered:</a:t>
            </a:r>
          </a:p>
          <a:p>
            <a:endParaRPr lang="en-US" dirty="0"/>
          </a:p>
          <a:p>
            <a:r>
              <a:rPr lang="en-US" dirty="0"/>
              <a:t>a full stack platform,</a:t>
            </a:r>
          </a:p>
          <a:p>
            <a:r>
              <a:rPr lang="en-US" dirty="0"/>
              <a:t>a 4 step orchestrator,</a:t>
            </a:r>
          </a:p>
          <a:p>
            <a:r>
              <a:rPr lang="en-US" dirty="0"/>
              <a:t>A secured NL to Cypher pipeline</a:t>
            </a:r>
          </a:p>
          <a:p>
            <a:r>
              <a:rPr lang="en-US" dirty="0"/>
              <a:t>Multi Tenant isolation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Inter" panose="02000503000000020004" pitchFamily="2" charset="0"/>
                <a:ea typeface="Inter" panose="02000503000000020004" pitchFamily="2" charset="0"/>
                <a:cs typeface="Inter" panose="02000503000000020004" pitchFamily="2" charset="0"/>
              </a:rPr>
              <a:t>Multi LLM model support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Inter" panose="02000503000000020004" pitchFamily="2" charset="0"/>
                <a:ea typeface="Inter" panose="02000503000000020004" pitchFamily="2" charset="0"/>
                <a:cs typeface="Inter" panose="02000503000000020004" pitchFamily="2" charset="0"/>
              </a:rPr>
              <a:t>Async jobs and workers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latin typeface="Inter" panose="02000503000000020004" pitchFamily="2" charset="0"/>
              <a:ea typeface="Inter" panose="02000503000000020004" pitchFamily="2" charset="0"/>
              <a:cs typeface="Inter" panose="02000503000000020004"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Inter" panose="02000503000000020004" pitchFamily="2" charset="0"/>
                <a:ea typeface="Inter" panose="02000503000000020004" pitchFamily="2" charset="0"/>
                <a:cs typeface="Inter" panose="02000503000000020004" pitchFamily="2" charset="0"/>
              </a:rPr>
              <a:t>It has 16 docker components, 76 API endpoints, 34 MCP tools in 12 categories, more than 1000 unit tests, and around 4 hundred thousands lines of code.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latin typeface="Inter" panose="02000503000000020004" pitchFamily="2" charset="0"/>
              <a:ea typeface="Inter" panose="02000503000000020004" pitchFamily="2" charset="0"/>
              <a:cs typeface="Inter" panose="02000503000000020004" pitchFamily="2" charset="0"/>
            </a:endParaRP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9552EBC6-F9AA-0C43-A9D5-630614822BE9}" type="slidenum">
              <a:rPr lang="en-US" smtClean="0"/>
              <a:t>4</a:t>
            </a:fld>
            <a:endParaRPr lang="en-US"/>
          </a:p>
        </p:txBody>
      </p:sp>
    </p:spTree>
    <p:extLst>
      <p:ext uri="{BB962C8B-B14F-4D97-AF65-F5344CB8AC3E}">
        <p14:creationId xmlns:p14="http://schemas.microsoft.com/office/powerpoint/2010/main" val="34760757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have a full system workflow from the beginning to the end of the process.</a:t>
            </a:r>
          </a:p>
          <a:p>
            <a:r>
              <a:rPr lang="en-US" dirty="0"/>
              <a:t>First we have the UI, where the user sends the prompt, </a:t>
            </a:r>
          </a:p>
          <a:p>
            <a:r>
              <a:rPr lang="en-US" dirty="0"/>
              <a:t>and then we have an 8 layer security layer, that I’m </a:t>
            </a:r>
            <a:r>
              <a:rPr lang="en-US" dirty="0" err="1"/>
              <a:t>gonna</a:t>
            </a:r>
            <a:r>
              <a:rPr lang="en-US" dirty="0"/>
              <a:t> discuss about it later,</a:t>
            </a:r>
          </a:p>
          <a:p>
            <a:r>
              <a:rPr lang="en-US" dirty="0"/>
              <a:t>Then we have API layer. That is responsible sending the prompt via request and receiving the responses, </a:t>
            </a:r>
          </a:p>
          <a:p>
            <a:r>
              <a:rPr lang="en-US" dirty="0"/>
              <a:t>Then we have the Job Creation, that is added to a queue, and then</a:t>
            </a:r>
          </a:p>
          <a:p>
            <a:r>
              <a:rPr lang="en-US" dirty="0"/>
              <a:t>Each worker will try to run each job sequentially,</a:t>
            </a:r>
          </a:p>
          <a:p>
            <a:r>
              <a:rPr lang="en-US" dirty="0"/>
              <a:t>Then we have the orchestrator, as the main process of the app</a:t>
            </a:r>
          </a:p>
          <a:p>
            <a:r>
              <a:rPr lang="en-US" dirty="0"/>
              <a:t>In the orchestrator, we first detect the intention of the prompt, </a:t>
            </a:r>
          </a:p>
          <a:p>
            <a:r>
              <a:rPr lang="en-US" dirty="0"/>
              <a:t>Then based on that intention, we create a multi-step planning as TODOs, </a:t>
            </a:r>
          </a:p>
          <a:p>
            <a:r>
              <a:rPr lang="en-US" dirty="0"/>
              <a:t>For each </a:t>
            </a:r>
            <a:r>
              <a:rPr lang="en-US" dirty="0" err="1"/>
              <a:t>todo</a:t>
            </a:r>
            <a:r>
              <a:rPr lang="en-US" dirty="0"/>
              <a:t>, we have a loop of calling LLM, invoking related MCP tools with RBAC </a:t>
            </a:r>
            <a:r>
              <a:rPr lang="en-US" dirty="0" err="1"/>
              <a:t>chech</a:t>
            </a:r>
            <a:r>
              <a:rPr lang="en-US" dirty="0"/>
              <a:t>, </a:t>
            </a:r>
          </a:p>
          <a:p>
            <a:r>
              <a:rPr lang="en-US" dirty="0"/>
              <a:t>and then if the intention was generating the cypher, it will convert NL to Cypher</a:t>
            </a:r>
          </a:p>
          <a:p>
            <a:r>
              <a:rPr lang="en-US" dirty="0"/>
              <a:t>And then store the steps and results, </a:t>
            </a:r>
          </a:p>
          <a:p>
            <a:r>
              <a:rPr lang="en-US" dirty="0"/>
              <a:t>And eventually generates the final response.</a:t>
            </a:r>
          </a:p>
          <a:p>
            <a:r>
              <a:rPr lang="en-US" dirty="0"/>
              <a:t>We’re </a:t>
            </a:r>
            <a:r>
              <a:rPr lang="en-US" dirty="0" err="1"/>
              <a:t>gonna</a:t>
            </a:r>
            <a:r>
              <a:rPr lang="en-US" dirty="0"/>
              <a:t> talk more about these steps in details in next steps.</a:t>
            </a:r>
          </a:p>
          <a:p>
            <a:endParaRPr lang="en-US" dirty="0"/>
          </a:p>
        </p:txBody>
      </p:sp>
      <p:sp>
        <p:nvSpPr>
          <p:cNvPr id="4" name="Slide Number Placeholder 3"/>
          <p:cNvSpPr>
            <a:spLocks noGrp="1"/>
          </p:cNvSpPr>
          <p:nvPr>
            <p:ph type="sldNum" sz="quarter" idx="5"/>
          </p:nvPr>
        </p:nvSpPr>
        <p:spPr/>
        <p:txBody>
          <a:bodyPr/>
          <a:lstStyle/>
          <a:p>
            <a:fld id="{9552EBC6-F9AA-0C43-A9D5-630614822BE9}" type="slidenum">
              <a:rPr lang="en-US" smtClean="0"/>
              <a:t>5</a:t>
            </a:fld>
            <a:endParaRPr lang="en-US"/>
          </a:p>
        </p:txBody>
      </p:sp>
    </p:spTree>
    <p:extLst>
      <p:ext uri="{BB962C8B-B14F-4D97-AF65-F5344CB8AC3E}">
        <p14:creationId xmlns:p14="http://schemas.microsoft.com/office/powerpoint/2010/main" val="2183677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 let’s dive in to the first step</a:t>
            </a:r>
          </a:p>
          <a:p>
            <a:r>
              <a:rPr lang="en-US" dirty="0"/>
              <a:t>First, we have the UI, here is where the user sends the prompt as a request.</a:t>
            </a:r>
          </a:p>
          <a:p>
            <a:r>
              <a:rPr lang="en-US" dirty="0"/>
              <a:t>The system will receive the Json Web Token (JWT), and do the Authorization and Authentication</a:t>
            </a:r>
          </a:p>
          <a:p>
            <a:endParaRPr lang="en-US" dirty="0"/>
          </a:p>
          <a:p>
            <a:r>
              <a:rPr lang="en-US" dirty="0"/>
              <a:t>It is built in </a:t>
            </a:r>
            <a:r>
              <a:rPr lang="en-US" dirty="0" err="1"/>
              <a:t>NextJs</a:t>
            </a:r>
            <a:endParaRPr lang="en-US" dirty="0"/>
          </a:p>
          <a:p>
            <a:r>
              <a:rPr lang="en-US" dirty="0"/>
              <a:t>Have a chat box for Natural language interaction</a:t>
            </a:r>
          </a:p>
          <a:p>
            <a:r>
              <a:rPr lang="en-US" dirty="0"/>
              <a:t>Shows live. Progress and execution steps</a:t>
            </a:r>
          </a:p>
          <a:p>
            <a:r>
              <a:rPr lang="en-US" dirty="0"/>
              <a:t>Gives the final result and the selected model.</a:t>
            </a:r>
          </a:p>
          <a:p>
            <a:endParaRPr lang="en-US" dirty="0"/>
          </a:p>
          <a:p>
            <a:pPr marL="0" indent="0">
              <a:buFont typeface="Arial" panose="020B0604020202020204" pitchFamily="34" charset="0"/>
              <a:buNone/>
            </a:pPr>
            <a:r>
              <a:rPr lang="en-US" dirty="0"/>
              <a:t>It uses </a:t>
            </a:r>
            <a:r>
              <a:rPr lang="en-US" sz="1200" b="1" dirty="0">
                <a:latin typeface="Inter" panose="02000503000000020004" pitchFamily="2" charset="0"/>
                <a:ea typeface="Inter" panose="02000503000000020004" pitchFamily="2" charset="0"/>
                <a:cs typeface="Inter" panose="02000503000000020004" pitchFamily="2" charset="0"/>
              </a:rPr>
              <a:t>OAuth 2.0</a:t>
            </a:r>
            <a:r>
              <a:rPr lang="en-US" sz="1200" dirty="0">
                <a:latin typeface="Inter" panose="02000503000000020004" pitchFamily="2" charset="0"/>
                <a:ea typeface="Inter" panose="02000503000000020004" pitchFamily="2" charset="0"/>
                <a:cs typeface="Inter" panose="02000503000000020004" pitchFamily="2" charset="0"/>
              </a:rPr>
              <a:t> as a 3</a:t>
            </a:r>
            <a:r>
              <a:rPr lang="en-US" sz="1200" baseline="30000" dirty="0">
                <a:latin typeface="Inter" panose="02000503000000020004" pitchFamily="2" charset="0"/>
                <a:ea typeface="Inter" panose="02000503000000020004" pitchFamily="2" charset="0"/>
                <a:cs typeface="Inter" panose="02000503000000020004" pitchFamily="2" charset="0"/>
              </a:rPr>
              <a:t>rd</a:t>
            </a:r>
            <a:r>
              <a:rPr lang="en-US" sz="1200" dirty="0">
                <a:latin typeface="Inter" panose="02000503000000020004" pitchFamily="2" charset="0"/>
                <a:ea typeface="Inter" panose="02000503000000020004" pitchFamily="2" charset="0"/>
                <a:cs typeface="Inter" panose="02000503000000020004" pitchFamily="2" charset="0"/>
              </a:rPr>
              <a:t> party service for defining roles and scopes</a:t>
            </a:r>
          </a:p>
          <a:p>
            <a:pPr marL="0" indent="0">
              <a:buFont typeface="Arial" panose="020B0604020202020204" pitchFamily="34" charset="0"/>
              <a:buNone/>
            </a:pPr>
            <a:r>
              <a:rPr lang="en-US" sz="1200" dirty="0">
                <a:latin typeface="Inter" panose="02000503000000020004" pitchFamily="2" charset="0"/>
                <a:ea typeface="Inter" panose="02000503000000020004" pitchFamily="2" charset="0"/>
                <a:cs typeface="Inter" panose="02000503000000020004" pitchFamily="2" charset="0"/>
              </a:rPr>
              <a:t>It does JWT </a:t>
            </a:r>
            <a:r>
              <a:rPr lang="en-US" sz="1200" dirty="0" err="1">
                <a:latin typeface="Inter" panose="02000503000000020004" pitchFamily="2" charset="0"/>
                <a:ea typeface="Inter" panose="02000503000000020004" pitchFamily="2" charset="0"/>
                <a:cs typeface="Inter" panose="02000503000000020004" pitchFamily="2" charset="0"/>
              </a:rPr>
              <a:t>Aithentication</a:t>
            </a:r>
            <a:r>
              <a:rPr lang="en-US" sz="1200" dirty="0">
                <a:latin typeface="Inter" panose="02000503000000020004" pitchFamily="2" charset="0"/>
                <a:ea typeface="Inter" panose="02000503000000020004" pitchFamily="2" charset="0"/>
                <a:cs typeface="Inter" panose="02000503000000020004" pitchFamily="2" charset="0"/>
              </a:rPr>
              <a:t> and Authorization</a:t>
            </a:r>
          </a:p>
          <a:p>
            <a:pPr marL="0" indent="0">
              <a:buFont typeface="Arial" panose="020B0604020202020204" pitchFamily="34" charset="0"/>
              <a:buNone/>
            </a:pPr>
            <a:r>
              <a:rPr lang="en-US" sz="1200" dirty="0">
                <a:latin typeface="Inter" panose="02000503000000020004" pitchFamily="2" charset="0"/>
                <a:ea typeface="Inter" panose="02000503000000020004" pitchFamily="2" charset="0"/>
                <a:cs typeface="Inter" panose="02000503000000020004" pitchFamily="2" charset="0"/>
              </a:rPr>
              <a:t>And it defines Tenant, role, and permissions</a:t>
            </a:r>
          </a:p>
        </p:txBody>
      </p:sp>
      <p:sp>
        <p:nvSpPr>
          <p:cNvPr id="4" name="Slide Number Placeholder 3"/>
          <p:cNvSpPr>
            <a:spLocks noGrp="1"/>
          </p:cNvSpPr>
          <p:nvPr>
            <p:ph type="sldNum" sz="quarter" idx="5"/>
          </p:nvPr>
        </p:nvSpPr>
        <p:spPr/>
        <p:txBody>
          <a:bodyPr/>
          <a:lstStyle/>
          <a:p>
            <a:fld id="{9552EBC6-F9AA-0C43-A9D5-630614822BE9}" type="slidenum">
              <a:rPr lang="en-US" smtClean="0"/>
              <a:t>6</a:t>
            </a:fld>
            <a:endParaRPr lang="en-US"/>
          </a:p>
        </p:txBody>
      </p:sp>
    </p:spTree>
    <p:extLst>
      <p:ext uri="{BB962C8B-B14F-4D97-AF65-F5344CB8AC3E}">
        <p14:creationId xmlns:p14="http://schemas.microsoft.com/office/powerpoint/2010/main" val="5536839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we have an 8. layer security level</a:t>
            </a:r>
          </a:p>
          <a:p>
            <a:pPr marL="228600" indent="-228600">
              <a:buAutoNum type="arabicPeriod"/>
            </a:pPr>
            <a:r>
              <a:rPr lang="en-US" dirty="0"/>
              <a:t>CORS, is for checking the only trusted origins and </a:t>
            </a:r>
            <a:r>
              <a:rPr lang="en-US" dirty="0" err="1"/>
              <a:t>urls</a:t>
            </a:r>
            <a:endParaRPr lang="en-US" dirty="0"/>
          </a:p>
          <a:p>
            <a:pPr marL="228600" indent="-228600">
              <a:buAutoNum type="arabicPeriod"/>
            </a:pPr>
            <a:r>
              <a:rPr lang="en-US" dirty="0"/>
              <a:t>We also add a trace id for tracking each request since the start to the end of the pipeline</a:t>
            </a:r>
          </a:p>
          <a:p>
            <a:pPr marL="228600" indent="-228600">
              <a:buAutoNum type="arabicPeriod"/>
            </a:pPr>
            <a:r>
              <a:rPr lang="en-US" dirty="0"/>
              <a:t>JWT for Role based Access Control (RBAC)</a:t>
            </a:r>
          </a:p>
          <a:p>
            <a:pPr marL="228600" indent="-228600">
              <a:buAutoNum type="arabicPeriod"/>
            </a:pPr>
            <a:r>
              <a:rPr lang="en-US" dirty="0"/>
              <a:t>Rate Limiting for not too much requests</a:t>
            </a:r>
          </a:p>
          <a:p>
            <a:pPr marL="228600" indent="-228600">
              <a:buAutoNum type="arabicPeriod"/>
            </a:pPr>
            <a:r>
              <a:rPr lang="en-US" dirty="0"/>
              <a:t>We have Tenant isolation, to isolate database access for the model and the users</a:t>
            </a:r>
          </a:p>
          <a:p>
            <a:pPr marL="228600" indent="-228600">
              <a:buAutoNum type="arabicPeriod"/>
            </a:pPr>
            <a:r>
              <a:rPr lang="en-US" dirty="0"/>
              <a:t>We have Input validation to avoid Database Injection and dangerous prompts and requests</a:t>
            </a:r>
          </a:p>
          <a:p>
            <a:pPr marL="228600" indent="-228600">
              <a:buAutoNum type="arabicPeriod"/>
            </a:pPr>
            <a:r>
              <a:rPr lang="en-US" dirty="0"/>
              <a:t>We have Output check for sensitive data control and removal</a:t>
            </a:r>
          </a:p>
          <a:p>
            <a:pPr marL="228600" indent="-228600">
              <a:buAutoNum type="arabicPeriod"/>
            </a:pPr>
            <a:r>
              <a:rPr lang="en-US" dirty="0"/>
              <a:t>We have a standard Error handling structure for the errors and logging system</a:t>
            </a:r>
          </a:p>
        </p:txBody>
      </p:sp>
      <p:sp>
        <p:nvSpPr>
          <p:cNvPr id="4" name="Slide Number Placeholder 3"/>
          <p:cNvSpPr>
            <a:spLocks noGrp="1"/>
          </p:cNvSpPr>
          <p:nvPr>
            <p:ph type="sldNum" sz="quarter" idx="5"/>
          </p:nvPr>
        </p:nvSpPr>
        <p:spPr/>
        <p:txBody>
          <a:bodyPr/>
          <a:lstStyle/>
          <a:p>
            <a:fld id="{9552EBC6-F9AA-0C43-A9D5-630614822BE9}" type="slidenum">
              <a:rPr lang="en-US" smtClean="0"/>
              <a:t>7</a:t>
            </a:fld>
            <a:endParaRPr lang="en-US"/>
          </a:p>
        </p:txBody>
      </p:sp>
    </p:spTree>
    <p:extLst>
      <p:ext uri="{BB962C8B-B14F-4D97-AF65-F5344CB8AC3E}">
        <p14:creationId xmlns:p14="http://schemas.microsoft.com/office/powerpoint/2010/main" val="29093922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API layer, we have around 76 API endpoints in different categories</a:t>
            </a:r>
          </a:p>
          <a:p>
            <a:r>
              <a:rPr lang="en-US" dirty="0"/>
              <a:t>We have endpoints for…</a:t>
            </a:r>
          </a:p>
        </p:txBody>
      </p:sp>
      <p:sp>
        <p:nvSpPr>
          <p:cNvPr id="4" name="Slide Number Placeholder 3"/>
          <p:cNvSpPr>
            <a:spLocks noGrp="1"/>
          </p:cNvSpPr>
          <p:nvPr>
            <p:ph type="sldNum" sz="quarter" idx="5"/>
          </p:nvPr>
        </p:nvSpPr>
        <p:spPr/>
        <p:txBody>
          <a:bodyPr/>
          <a:lstStyle/>
          <a:p>
            <a:fld id="{9552EBC6-F9AA-0C43-A9D5-630614822BE9}" type="slidenum">
              <a:rPr lang="en-US" smtClean="0"/>
              <a:t>8</a:t>
            </a:fld>
            <a:endParaRPr lang="en-US"/>
          </a:p>
        </p:txBody>
      </p:sp>
    </p:spTree>
    <p:extLst>
      <p:ext uri="{BB962C8B-B14F-4D97-AF65-F5344CB8AC3E}">
        <p14:creationId xmlns:p14="http://schemas.microsoft.com/office/powerpoint/2010/main" val="41349203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552EBC6-F9AA-0C43-A9D5-630614822BE9}" type="slidenum">
              <a:rPr lang="en-US" smtClean="0"/>
              <a:t>11</a:t>
            </a:fld>
            <a:endParaRPr lang="en-US"/>
          </a:p>
        </p:txBody>
      </p:sp>
    </p:spTree>
    <p:extLst>
      <p:ext uri="{BB962C8B-B14F-4D97-AF65-F5344CB8AC3E}">
        <p14:creationId xmlns:p14="http://schemas.microsoft.com/office/powerpoint/2010/main" val="26175895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552EBC6-F9AA-0C43-A9D5-630614822BE9}" type="slidenum">
              <a:rPr lang="en-US" smtClean="0"/>
              <a:t>12</a:t>
            </a:fld>
            <a:endParaRPr lang="en-US"/>
          </a:p>
        </p:txBody>
      </p:sp>
    </p:spTree>
    <p:extLst>
      <p:ext uri="{BB962C8B-B14F-4D97-AF65-F5344CB8AC3E}">
        <p14:creationId xmlns:p14="http://schemas.microsoft.com/office/powerpoint/2010/main" val="34151507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552EBC6-F9AA-0C43-A9D5-630614822BE9}" type="slidenum">
              <a:rPr lang="en-US" smtClean="0"/>
              <a:t>19</a:t>
            </a:fld>
            <a:endParaRPr lang="en-US"/>
          </a:p>
        </p:txBody>
      </p:sp>
    </p:spTree>
    <p:extLst>
      <p:ext uri="{BB962C8B-B14F-4D97-AF65-F5344CB8AC3E}">
        <p14:creationId xmlns:p14="http://schemas.microsoft.com/office/powerpoint/2010/main" val="379518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552EBC6-F9AA-0C43-A9D5-630614822BE9}" type="slidenum">
              <a:rPr lang="en-US" smtClean="0"/>
              <a:t>23</a:t>
            </a:fld>
            <a:endParaRPr lang="en-US"/>
          </a:p>
        </p:txBody>
      </p:sp>
    </p:spTree>
    <p:extLst>
      <p:ext uri="{BB962C8B-B14F-4D97-AF65-F5344CB8AC3E}">
        <p14:creationId xmlns:p14="http://schemas.microsoft.com/office/powerpoint/2010/main" val="10837639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552EBC6-F9AA-0C43-A9D5-630614822BE9}" type="slidenum">
              <a:rPr lang="en-US" smtClean="0"/>
              <a:t>26</a:t>
            </a:fld>
            <a:endParaRPr lang="en-US"/>
          </a:p>
        </p:txBody>
      </p:sp>
    </p:spTree>
    <p:extLst>
      <p:ext uri="{BB962C8B-B14F-4D97-AF65-F5344CB8AC3E}">
        <p14:creationId xmlns:p14="http://schemas.microsoft.com/office/powerpoint/2010/main" val="17991480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2C7EE-05C5-6ED5-7B79-573E62AAD68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3C82534-CC9F-2F84-7FB8-53311B9783B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3E9B9B4-89EE-DC92-DD3C-50AEEFE3F014}"/>
              </a:ext>
            </a:extLst>
          </p:cNvPr>
          <p:cNvSpPr>
            <a:spLocks noGrp="1"/>
          </p:cNvSpPr>
          <p:nvPr>
            <p:ph type="dt" sz="half" idx="10"/>
          </p:nvPr>
        </p:nvSpPr>
        <p:spPr/>
        <p:txBody>
          <a:bodyPr/>
          <a:lstStyle/>
          <a:p>
            <a:fld id="{1213D8A6-EA0A-084D-8DA9-8594A0AEFD45}" type="datetime1">
              <a:rPr lang="en-US" smtClean="0"/>
              <a:t>7/8/26</a:t>
            </a:fld>
            <a:endParaRPr lang="en-US"/>
          </a:p>
        </p:txBody>
      </p:sp>
      <p:sp>
        <p:nvSpPr>
          <p:cNvPr id="5" name="Footer Placeholder 4">
            <a:extLst>
              <a:ext uri="{FF2B5EF4-FFF2-40B4-BE49-F238E27FC236}">
                <a16:creationId xmlns:a16="http://schemas.microsoft.com/office/drawing/2014/main" id="{FDEEEEB6-93DB-7DC9-5677-209D3C224EB9}"/>
              </a:ext>
            </a:extLst>
          </p:cNvPr>
          <p:cNvSpPr>
            <a:spLocks noGrp="1"/>
          </p:cNvSpPr>
          <p:nvPr>
            <p:ph type="ftr" sz="quarter" idx="11"/>
          </p:nvPr>
        </p:nvSpPr>
        <p:spPr/>
        <p:txBody>
          <a:bodyPr/>
          <a:lstStyle/>
          <a:p>
            <a:r>
              <a:rPr lang="en-US"/>
              <a:t>Sapienza University of Rome</a:t>
            </a:r>
          </a:p>
        </p:txBody>
      </p:sp>
      <p:sp>
        <p:nvSpPr>
          <p:cNvPr id="6" name="Slide Number Placeholder 5">
            <a:extLst>
              <a:ext uri="{FF2B5EF4-FFF2-40B4-BE49-F238E27FC236}">
                <a16:creationId xmlns:a16="http://schemas.microsoft.com/office/drawing/2014/main" id="{1C26F21C-5E60-E9F6-108B-615BF7324409}"/>
              </a:ext>
            </a:extLst>
          </p:cNvPr>
          <p:cNvSpPr>
            <a:spLocks noGrp="1"/>
          </p:cNvSpPr>
          <p:nvPr>
            <p:ph type="sldNum" sz="quarter" idx="12"/>
          </p:nvPr>
        </p:nvSpPr>
        <p:spPr/>
        <p:txBody>
          <a:bodyPr/>
          <a:lstStyle/>
          <a:p>
            <a:fld id="{48F19E39-9933-F648-B2F3-3AC17C0DC986}" type="slidenum">
              <a:rPr lang="en-US" smtClean="0"/>
              <a:t>‹#›</a:t>
            </a:fld>
            <a:endParaRPr lang="en-US"/>
          </a:p>
        </p:txBody>
      </p:sp>
    </p:spTree>
    <p:extLst>
      <p:ext uri="{BB962C8B-B14F-4D97-AF65-F5344CB8AC3E}">
        <p14:creationId xmlns:p14="http://schemas.microsoft.com/office/powerpoint/2010/main" val="11151200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1D08D0-CF38-4DB2-3D35-564D22D8ECC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BA19E71-6189-DF70-BAC9-1B4169F629A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D9D928-B0D8-EB43-04E1-87E493BFBF8A}"/>
              </a:ext>
            </a:extLst>
          </p:cNvPr>
          <p:cNvSpPr>
            <a:spLocks noGrp="1"/>
          </p:cNvSpPr>
          <p:nvPr>
            <p:ph type="dt" sz="half" idx="10"/>
          </p:nvPr>
        </p:nvSpPr>
        <p:spPr/>
        <p:txBody>
          <a:bodyPr/>
          <a:lstStyle/>
          <a:p>
            <a:fld id="{45C60FBC-0A6B-934E-946F-80179CBF291D}" type="datetime1">
              <a:rPr lang="en-US" smtClean="0"/>
              <a:t>7/8/26</a:t>
            </a:fld>
            <a:endParaRPr lang="en-US"/>
          </a:p>
        </p:txBody>
      </p:sp>
      <p:sp>
        <p:nvSpPr>
          <p:cNvPr id="5" name="Footer Placeholder 4">
            <a:extLst>
              <a:ext uri="{FF2B5EF4-FFF2-40B4-BE49-F238E27FC236}">
                <a16:creationId xmlns:a16="http://schemas.microsoft.com/office/drawing/2014/main" id="{00D1214F-C646-0BC1-9D09-935E79D0DB01}"/>
              </a:ext>
            </a:extLst>
          </p:cNvPr>
          <p:cNvSpPr>
            <a:spLocks noGrp="1"/>
          </p:cNvSpPr>
          <p:nvPr>
            <p:ph type="ftr" sz="quarter" idx="11"/>
          </p:nvPr>
        </p:nvSpPr>
        <p:spPr/>
        <p:txBody>
          <a:bodyPr/>
          <a:lstStyle/>
          <a:p>
            <a:r>
              <a:rPr lang="en-US"/>
              <a:t>Sapienza University of Rome</a:t>
            </a:r>
          </a:p>
        </p:txBody>
      </p:sp>
      <p:sp>
        <p:nvSpPr>
          <p:cNvPr id="6" name="Slide Number Placeholder 5">
            <a:extLst>
              <a:ext uri="{FF2B5EF4-FFF2-40B4-BE49-F238E27FC236}">
                <a16:creationId xmlns:a16="http://schemas.microsoft.com/office/drawing/2014/main" id="{7CE9C569-E1A7-8178-B827-543644285846}"/>
              </a:ext>
            </a:extLst>
          </p:cNvPr>
          <p:cNvSpPr>
            <a:spLocks noGrp="1"/>
          </p:cNvSpPr>
          <p:nvPr>
            <p:ph type="sldNum" sz="quarter" idx="12"/>
          </p:nvPr>
        </p:nvSpPr>
        <p:spPr/>
        <p:txBody>
          <a:bodyPr/>
          <a:lstStyle/>
          <a:p>
            <a:fld id="{48F19E39-9933-F648-B2F3-3AC17C0DC986}" type="slidenum">
              <a:rPr lang="en-US" smtClean="0"/>
              <a:t>‹#›</a:t>
            </a:fld>
            <a:endParaRPr lang="en-US"/>
          </a:p>
        </p:txBody>
      </p:sp>
    </p:spTree>
    <p:extLst>
      <p:ext uri="{BB962C8B-B14F-4D97-AF65-F5344CB8AC3E}">
        <p14:creationId xmlns:p14="http://schemas.microsoft.com/office/powerpoint/2010/main" val="40686841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28589-55A8-4B2D-537D-2EA6A6B17EE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C8D8C3A-9276-9ABF-6996-961FC5FD6DB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1FD18D4-1B31-A6B0-D518-15E1B5D5CC79}"/>
              </a:ext>
            </a:extLst>
          </p:cNvPr>
          <p:cNvSpPr>
            <a:spLocks noGrp="1"/>
          </p:cNvSpPr>
          <p:nvPr>
            <p:ph type="dt" sz="half" idx="10"/>
          </p:nvPr>
        </p:nvSpPr>
        <p:spPr/>
        <p:txBody>
          <a:bodyPr/>
          <a:lstStyle/>
          <a:p>
            <a:fld id="{C9B4B6B2-7D13-4746-97B3-7239DAEC0C59}" type="datetime1">
              <a:rPr lang="en-US" smtClean="0"/>
              <a:t>7/8/26</a:t>
            </a:fld>
            <a:endParaRPr lang="en-US"/>
          </a:p>
        </p:txBody>
      </p:sp>
      <p:sp>
        <p:nvSpPr>
          <p:cNvPr id="5" name="Footer Placeholder 4">
            <a:extLst>
              <a:ext uri="{FF2B5EF4-FFF2-40B4-BE49-F238E27FC236}">
                <a16:creationId xmlns:a16="http://schemas.microsoft.com/office/drawing/2014/main" id="{94E13EC7-CB12-69C5-890C-A9B9DBAC4B70}"/>
              </a:ext>
            </a:extLst>
          </p:cNvPr>
          <p:cNvSpPr>
            <a:spLocks noGrp="1"/>
          </p:cNvSpPr>
          <p:nvPr>
            <p:ph type="ftr" sz="quarter" idx="11"/>
          </p:nvPr>
        </p:nvSpPr>
        <p:spPr/>
        <p:txBody>
          <a:bodyPr/>
          <a:lstStyle/>
          <a:p>
            <a:r>
              <a:rPr lang="en-US"/>
              <a:t>Sapienza University of Rome</a:t>
            </a:r>
          </a:p>
        </p:txBody>
      </p:sp>
      <p:sp>
        <p:nvSpPr>
          <p:cNvPr id="6" name="Slide Number Placeholder 5">
            <a:extLst>
              <a:ext uri="{FF2B5EF4-FFF2-40B4-BE49-F238E27FC236}">
                <a16:creationId xmlns:a16="http://schemas.microsoft.com/office/drawing/2014/main" id="{202B0C25-A597-EDEA-B562-4B6EB3360491}"/>
              </a:ext>
            </a:extLst>
          </p:cNvPr>
          <p:cNvSpPr>
            <a:spLocks noGrp="1"/>
          </p:cNvSpPr>
          <p:nvPr>
            <p:ph type="sldNum" sz="quarter" idx="12"/>
          </p:nvPr>
        </p:nvSpPr>
        <p:spPr/>
        <p:txBody>
          <a:bodyPr/>
          <a:lstStyle/>
          <a:p>
            <a:fld id="{48F19E39-9933-F648-B2F3-3AC17C0DC986}" type="slidenum">
              <a:rPr lang="en-US" smtClean="0"/>
              <a:t>‹#›</a:t>
            </a:fld>
            <a:endParaRPr lang="en-US"/>
          </a:p>
        </p:txBody>
      </p:sp>
    </p:spTree>
    <p:extLst>
      <p:ext uri="{BB962C8B-B14F-4D97-AF65-F5344CB8AC3E}">
        <p14:creationId xmlns:p14="http://schemas.microsoft.com/office/powerpoint/2010/main" val="26221634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16FE8-4D22-6768-605E-719011CBC77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27DC3C0-D65E-81BA-5F4A-E41CFFE882B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6C41ADB-1B73-7713-91A3-38DDC077E1F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E2AE9D0-E821-A243-92CF-7BA2DD02102B}"/>
              </a:ext>
            </a:extLst>
          </p:cNvPr>
          <p:cNvSpPr>
            <a:spLocks noGrp="1"/>
          </p:cNvSpPr>
          <p:nvPr>
            <p:ph type="dt" sz="half" idx="10"/>
          </p:nvPr>
        </p:nvSpPr>
        <p:spPr/>
        <p:txBody>
          <a:bodyPr/>
          <a:lstStyle/>
          <a:p>
            <a:fld id="{0BB48F2C-DA62-AB40-B5CB-43F3501FA683}" type="datetime1">
              <a:rPr lang="en-US" smtClean="0"/>
              <a:t>7/8/26</a:t>
            </a:fld>
            <a:endParaRPr lang="en-US"/>
          </a:p>
        </p:txBody>
      </p:sp>
      <p:sp>
        <p:nvSpPr>
          <p:cNvPr id="6" name="Footer Placeholder 5">
            <a:extLst>
              <a:ext uri="{FF2B5EF4-FFF2-40B4-BE49-F238E27FC236}">
                <a16:creationId xmlns:a16="http://schemas.microsoft.com/office/drawing/2014/main" id="{E4EE1C03-B9E8-FA43-1D26-4EEE16FE3C98}"/>
              </a:ext>
            </a:extLst>
          </p:cNvPr>
          <p:cNvSpPr>
            <a:spLocks noGrp="1"/>
          </p:cNvSpPr>
          <p:nvPr>
            <p:ph type="ftr" sz="quarter" idx="11"/>
          </p:nvPr>
        </p:nvSpPr>
        <p:spPr/>
        <p:txBody>
          <a:bodyPr/>
          <a:lstStyle/>
          <a:p>
            <a:r>
              <a:rPr lang="en-US"/>
              <a:t>Sapienza University of Rome</a:t>
            </a:r>
          </a:p>
        </p:txBody>
      </p:sp>
      <p:sp>
        <p:nvSpPr>
          <p:cNvPr id="7" name="Slide Number Placeholder 6">
            <a:extLst>
              <a:ext uri="{FF2B5EF4-FFF2-40B4-BE49-F238E27FC236}">
                <a16:creationId xmlns:a16="http://schemas.microsoft.com/office/drawing/2014/main" id="{111C47D1-873B-8229-66D1-8AE195EAE6CE}"/>
              </a:ext>
            </a:extLst>
          </p:cNvPr>
          <p:cNvSpPr>
            <a:spLocks noGrp="1"/>
          </p:cNvSpPr>
          <p:nvPr>
            <p:ph type="sldNum" sz="quarter" idx="12"/>
          </p:nvPr>
        </p:nvSpPr>
        <p:spPr/>
        <p:txBody>
          <a:bodyPr/>
          <a:lstStyle/>
          <a:p>
            <a:fld id="{48F19E39-9933-F648-B2F3-3AC17C0DC986}" type="slidenum">
              <a:rPr lang="en-US" smtClean="0"/>
              <a:t>‹#›</a:t>
            </a:fld>
            <a:endParaRPr lang="en-US"/>
          </a:p>
        </p:txBody>
      </p:sp>
    </p:spTree>
    <p:extLst>
      <p:ext uri="{BB962C8B-B14F-4D97-AF65-F5344CB8AC3E}">
        <p14:creationId xmlns:p14="http://schemas.microsoft.com/office/powerpoint/2010/main" val="28740213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8A01B-6CF2-2CE9-8859-6BC5C6137FF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F3628FA-E687-FEAC-5200-EC1283FF3EB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E093ECC-1D4F-C58A-8461-FDB86C366DD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C6E81B4-E614-5AD7-1EE1-2EFB6D18F16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644A966-7DE4-582F-AE48-DF1A1CEAB90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EEB33C7-9053-600F-7458-B39589E9DE0D}"/>
              </a:ext>
            </a:extLst>
          </p:cNvPr>
          <p:cNvSpPr>
            <a:spLocks noGrp="1"/>
          </p:cNvSpPr>
          <p:nvPr>
            <p:ph type="dt" sz="half" idx="10"/>
          </p:nvPr>
        </p:nvSpPr>
        <p:spPr/>
        <p:txBody>
          <a:bodyPr/>
          <a:lstStyle/>
          <a:p>
            <a:fld id="{E9D5FA40-FE31-A749-A407-5160762ED597}" type="datetime1">
              <a:rPr lang="en-US" smtClean="0"/>
              <a:t>7/8/26</a:t>
            </a:fld>
            <a:endParaRPr lang="en-US"/>
          </a:p>
        </p:txBody>
      </p:sp>
      <p:sp>
        <p:nvSpPr>
          <p:cNvPr id="8" name="Footer Placeholder 7">
            <a:extLst>
              <a:ext uri="{FF2B5EF4-FFF2-40B4-BE49-F238E27FC236}">
                <a16:creationId xmlns:a16="http://schemas.microsoft.com/office/drawing/2014/main" id="{BD924CAA-DD4D-DD7F-B9D0-EDB9C4456331}"/>
              </a:ext>
            </a:extLst>
          </p:cNvPr>
          <p:cNvSpPr>
            <a:spLocks noGrp="1"/>
          </p:cNvSpPr>
          <p:nvPr>
            <p:ph type="ftr" sz="quarter" idx="11"/>
          </p:nvPr>
        </p:nvSpPr>
        <p:spPr/>
        <p:txBody>
          <a:bodyPr/>
          <a:lstStyle/>
          <a:p>
            <a:r>
              <a:rPr lang="en-US"/>
              <a:t>Sapienza University of Rome</a:t>
            </a:r>
          </a:p>
        </p:txBody>
      </p:sp>
      <p:sp>
        <p:nvSpPr>
          <p:cNvPr id="9" name="Slide Number Placeholder 8">
            <a:extLst>
              <a:ext uri="{FF2B5EF4-FFF2-40B4-BE49-F238E27FC236}">
                <a16:creationId xmlns:a16="http://schemas.microsoft.com/office/drawing/2014/main" id="{778435DE-8D3F-F113-93C2-67B5E3717E8B}"/>
              </a:ext>
            </a:extLst>
          </p:cNvPr>
          <p:cNvSpPr>
            <a:spLocks noGrp="1"/>
          </p:cNvSpPr>
          <p:nvPr>
            <p:ph type="sldNum" sz="quarter" idx="12"/>
          </p:nvPr>
        </p:nvSpPr>
        <p:spPr/>
        <p:txBody>
          <a:bodyPr/>
          <a:lstStyle/>
          <a:p>
            <a:fld id="{48F19E39-9933-F648-B2F3-3AC17C0DC986}" type="slidenum">
              <a:rPr lang="en-US" smtClean="0"/>
              <a:t>‹#›</a:t>
            </a:fld>
            <a:endParaRPr lang="en-US"/>
          </a:p>
        </p:txBody>
      </p:sp>
    </p:spTree>
    <p:extLst>
      <p:ext uri="{BB962C8B-B14F-4D97-AF65-F5344CB8AC3E}">
        <p14:creationId xmlns:p14="http://schemas.microsoft.com/office/powerpoint/2010/main" val="30316383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91BF0-5B82-1665-F951-384202291E8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0D6866-CB71-C42D-B274-BBEBAB15EB37}"/>
              </a:ext>
            </a:extLst>
          </p:cNvPr>
          <p:cNvSpPr>
            <a:spLocks noGrp="1"/>
          </p:cNvSpPr>
          <p:nvPr>
            <p:ph type="dt" sz="half" idx="10"/>
          </p:nvPr>
        </p:nvSpPr>
        <p:spPr/>
        <p:txBody>
          <a:bodyPr/>
          <a:lstStyle/>
          <a:p>
            <a:fld id="{72C7143F-B2B1-FD4E-A03F-2D48B4C4756E}" type="datetime1">
              <a:rPr lang="en-US" smtClean="0"/>
              <a:t>7/8/26</a:t>
            </a:fld>
            <a:endParaRPr lang="en-US"/>
          </a:p>
        </p:txBody>
      </p:sp>
      <p:sp>
        <p:nvSpPr>
          <p:cNvPr id="4" name="Footer Placeholder 3">
            <a:extLst>
              <a:ext uri="{FF2B5EF4-FFF2-40B4-BE49-F238E27FC236}">
                <a16:creationId xmlns:a16="http://schemas.microsoft.com/office/drawing/2014/main" id="{E41F4385-19B3-18BF-14FC-DC423F456870}"/>
              </a:ext>
            </a:extLst>
          </p:cNvPr>
          <p:cNvSpPr>
            <a:spLocks noGrp="1"/>
          </p:cNvSpPr>
          <p:nvPr>
            <p:ph type="ftr" sz="quarter" idx="11"/>
          </p:nvPr>
        </p:nvSpPr>
        <p:spPr/>
        <p:txBody>
          <a:bodyPr/>
          <a:lstStyle/>
          <a:p>
            <a:r>
              <a:rPr lang="en-US"/>
              <a:t>Sapienza University of Rome</a:t>
            </a:r>
          </a:p>
        </p:txBody>
      </p:sp>
      <p:sp>
        <p:nvSpPr>
          <p:cNvPr id="5" name="Slide Number Placeholder 4">
            <a:extLst>
              <a:ext uri="{FF2B5EF4-FFF2-40B4-BE49-F238E27FC236}">
                <a16:creationId xmlns:a16="http://schemas.microsoft.com/office/drawing/2014/main" id="{CF64C7DB-BEB2-D1FD-A36F-D0D6EDC3BF94}"/>
              </a:ext>
            </a:extLst>
          </p:cNvPr>
          <p:cNvSpPr>
            <a:spLocks noGrp="1"/>
          </p:cNvSpPr>
          <p:nvPr>
            <p:ph type="sldNum" sz="quarter" idx="12"/>
          </p:nvPr>
        </p:nvSpPr>
        <p:spPr/>
        <p:txBody>
          <a:bodyPr/>
          <a:lstStyle/>
          <a:p>
            <a:fld id="{48F19E39-9933-F648-B2F3-3AC17C0DC986}" type="slidenum">
              <a:rPr lang="en-US" smtClean="0"/>
              <a:t>‹#›</a:t>
            </a:fld>
            <a:endParaRPr lang="en-US"/>
          </a:p>
        </p:txBody>
      </p:sp>
    </p:spTree>
    <p:extLst>
      <p:ext uri="{BB962C8B-B14F-4D97-AF65-F5344CB8AC3E}">
        <p14:creationId xmlns:p14="http://schemas.microsoft.com/office/powerpoint/2010/main" val="34703549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1D84C01-DF2D-3EEA-5595-767CCCD3E1F3}"/>
              </a:ext>
            </a:extLst>
          </p:cNvPr>
          <p:cNvSpPr>
            <a:spLocks noGrp="1"/>
          </p:cNvSpPr>
          <p:nvPr>
            <p:ph type="dt" sz="half" idx="10"/>
          </p:nvPr>
        </p:nvSpPr>
        <p:spPr/>
        <p:txBody>
          <a:bodyPr/>
          <a:lstStyle/>
          <a:p>
            <a:fld id="{D6D38C82-3D04-8649-87B1-E37B3CC6F257}" type="datetime1">
              <a:rPr lang="en-US" smtClean="0"/>
              <a:t>7/8/26</a:t>
            </a:fld>
            <a:endParaRPr lang="en-US"/>
          </a:p>
        </p:txBody>
      </p:sp>
      <p:sp>
        <p:nvSpPr>
          <p:cNvPr id="3" name="Footer Placeholder 2">
            <a:extLst>
              <a:ext uri="{FF2B5EF4-FFF2-40B4-BE49-F238E27FC236}">
                <a16:creationId xmlns:a16="http://schemas.microsoft.com/office/drawing/2014/main" id="{6783BB7A-86B1-1EB3-1622-B26475CCDC6B}"/>
              </a:ext>
            </a:extLst>
          </p:cNvPr>
          <p:cNvSpPr>
            <a:spLocks noGrp="1"/>
          </p:cNvSpPr>
          <p:nvPr>
            <p:ph type="ftr" sz="quarter" idx="11"/>
          </p:nvPr>
        </p:nvSpPr>
        <p:spPr/>
        <p:txBody>
          <a:bodyPr/>
          <a:lstStyle/>
          <a:p>
            <a:r>
              <a:rPr lang="en-US"/>
              <a:t>Sapienza University of Rome</a:t>
            </a:r>
          </a:p>
        </p:txBody>
      </p:sp>
      <p:sp>
        <p:nvSpPr>
          <p:cNvPr id="4" name="Slide Number Placeholder 3">
            <a:extLst>
              <a:ext uri="{FF2B5EF4-FFF2-40B4-BE49-F238E27FC236}">
                <a16:creationId xmlns:a16="http://schemas.microsoft.com/office/drawing/2014/main" id="{87EA820C-ECA5-EEF7-8673-A46C3D4CB9AF}"/>
              </a:ext>
            </a:extLst>
          </p:cNvPr>
          <p:cNvSpPr>
            <a:spLocks noGrp="1"/>
          </p:cNvSpPr>
          <p:nvPr>
            <p:ph type="sldNum" sz="quarter" idx="12"/>
          </p:nvPr>
        </p:nvSpPr>
        <p:spPr/>
        <p:txBody>
          <a:bodyPr/>
          <a:lstStyle/>
          <a:p>
            <a:fld id="{48F19E39-9933-F648-B2F3-3AC17C0DC986}" type="slidenum">
              <a:rPr lang="en-US" smtClean="0"/>
              <a:t>‹#›</a:t>
            </a:fld>
            <a:endParaRPr lang="en-US"/>
          </a:p>
        </p:txBody>
      </p:sp>
    </p:spTree>
    <p:extLst>
      <p:ext uri="{BB962C8B-B14F-4D97-AF65-F5344CB8AC3E}">
        <p14:creationId xmlns:p14="http://schemas.microsoft.com/office/powerpoint/2010/main" val="18823111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173DA-2A54-FCA0-C360-8554CF703E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AD2AFF9-8CA5-CD7D-DEEE-195EFD05A21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73B1DF3-AF68-D52B-182A-D9ABF9A6A9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C026D9-3021-FAAF-C413-30A5A52C79BD}"/>
              </a:ext>
            </a:extLst>
          </p:cNvPr>
          <p:cNvSpPr>
            <a:spLocks noGrp="1"/>
          </p:cNvSpPr>
          <p:nvPr>
            <p:ph type="dt" sz="half" idx="10"/>
          </p:nvPr>
        </p:nvSpPr>
        <p:spPr/>
        <p:txBody>
          <a:bodyPr/>
          <a:lstStyle/>
          <a:p>
            <a:fld id="{B5A2484E-3F4D-204D-93DF-E49FAFB9DF97}" type="datetime1">
              <a:rPr lang="en-US" smtClean="0"/>
              <a:t>7/8/26</a:t>
            </a:fld>
            <a:endParaRPr lang="en-US"/>
          </a:p>
        </p:txBody>
      </p:sp>
      <p:sp>
        <p:nvSpPr>
          <p:cNvPr id="6" name="Footer Placeholder 5">
            <a:extLst>
              <a:ext uri="{FF2B5EF4-FFF2-40B4-BE49-F238E27FC236}">
                <a16:creationId xmlns:a16="http://schemas.microsoft.com/office/drawing/2014/main" id="{C88B5962-833D-57DF-2059-51B30BCAD60D}"/>
              </a:ext>
            </a:extLst>
          </p:cNvPr>
          <p:cNvSpPr>
            <a:spLocks noGrp="1"/>
          </p:cNvSpPr>
          <p:nvPr>
            <p:ph type="ftr" sz="quarter" idx="11"/>
          </p:nvPr>
        </p:nvSpPr>
        <p:spPr/>
        <p:txBody>
          <a:bodyPr/>
          <a:lstStyle/>
          <a:p>
            <a:r>
              <a:rPr lang="en-US"/>
              <a:t>Sapienza University of Rome</a:t>
            </a:r>
          </a:p>
        </p:txBody>
      </p:sp>
      <p:sp>
        <p:nvSpPr>
          <p:cNvPr id="7" name="Slide Number Placeholder 6">
            <a:extLst>
              <a:ext uri="{FF2B5EF4-FFF2-40B4-BE49-F238E27FC236}">
                <a16:creationId xmlns:a16="http://schemas.microsoft.com/office/drawing/2014/main" id="{90EA2546-9567-4CBF-9E26-EDEA3851B317}"/>
              </a:ext>
            </a:extLst>
          </p:cNvPr>
          <p:cNvSpPr>
            <a:spLocks noGrp="1"/>
          </p:cNvSpPr>
          <p:nvPr>
            <p:ph type="sldNum" sz="quarter" idx="12"/>
          </p:nvPr>
        </p:nvSpPr>
        <p:spPr/>
        <p:txBody>
          <a:bodyPr/>
          <a:lstStyle/>
          <a:p>
            <a:fld id="{48F19E39-9933-F648-B2F3-3AC17C0DC986}" type="slidenum">
              <a:rPr lang="en-US" smtClean="0"/>
              <a:t>‹#›</a:t>
            </a:fld>
            <a:endParaRPr lang="en-US"/>
          </a:p>
        </p:txBody>
      </p:sp>
    </p:spTree>
    <p:extLst>
      <p:ext uri="{BB962C8B-B14F-4D97-AF65-F5344CB8AC3E}">
        <p14:creationId xmlns:p14="http://schemas.microsoft.com/office/powerpoint/2010/main" val="40577605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24F1B2-480F-9C52-FD1A-CAF938BCA5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C852BC0-7818-613C-5BCB-E7B4F33B306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D1C3A47-8405-1622-FAEB-23C5478B90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D22C07F-B333-BE61-1D86-53CBC15D1C0F}"/>
              </a:ext>
            </a:extLst>
          </p:cNvPr>
          <p:cNvSpPr>
            <a:spLocks noGrp="1"/>
          </p:cNvSpPr>
          <p:nvPr>
            <p:ph type="dt" sz="half" idx="10"/>
          </p:nvPr>
        </p:nvSpPr>
        <p:spPr/>
        <p:txBody>
          <a:bodyPr/>
          <a:lstStyle/>
          <a:p>
            <a:fld id="{AD472E14-530C-BB46-8E59-461E234CEAFE}" type="datetime1">
              <a:rPr lang="en-US" smtClean="0"/>
              <a:t>7/8/26</a:t>
            </a:fld>
            <a:endParaRPr lang="en-US"/>
          </a:p>
        </p:txBody>
      </p:sp>
      <p:sp>
        <p:nvSpPr>
          <p:cNvPr id="6" name="Footer Placeholder 5">
            <a:extLst>
              <a:ext uri="{FF2B5EF4-FFF2-40B4-BE49-F238E27FC236}">
                <a16:creationId xmlns:a16="http://schemas.microsoft.com/office/drawing/2014/main" id="{1C522695-CC4C-B1E9-01A6-5DF84153BA1E}"/>
              </a:ext>
            </a:extLst>
          </p:cNvPr>
          <p:cNvSpPr>
            <a:spLocks noGrp="1"/>
          </p:cNvSpPr>
          <p:nvPr>
            <p:ph type="ftr" sz="quarter" idx="11"/>
          </p:nvPr>
        </p:nvSpPr>
        <p:spPr/>
        <p:txBody>
          <a:bodyPr/>
          <a:lstStyle/>
          <a:p>
            <a:r>
              <a:rPr lang="en-US"/>
              <a:t>Sapienza University of Rome</a:t>
            </a:r>
          </a:p>
        </p:txBody>
      </p:sp>
      <p:sp>
        <p:nvSpPr>
          <p:cNvPr id="7" name="Slide Number Placeholder 6">
            <a:extLst>
              <a:ext uri="{FF2B5EF4-FFF2-40B4-BE49-F238E27FC236}">
                <a16:creationId xmlns:a16="http://schemas.microsoft.com/office/drawing/2014/main" id="{1A4CDD63-E81C-A76C-CCB4-F3A1B81D07EC}"/>
              </a:ext>
            </a:extLst>
          </p:cNvPr>
          <p:cNvSpPr>
            <a:spLocks noGrp="1"/>
          </p:cNvSpPr>
          <p:nvPr>
            <p:ph type="sldNum" sz="quarter" idx="12"/>
          </p:nvPr>
        </p:nvSpPr>
        <p:spPr/>
        <p:txBody>
          <a:bodyPr/>
          <a:lstStyle/>
          <a:p>
            <a:fld id="{48F19E39-9933-F648-B2F3-3AC17C0DC986}" type="slidenum">
              <a:rPr lang="en-US" smtClean="0"/>
              <a:t>‹#›</a:t>
            </a:fld>
            <a:endParaRPr lang="en-US"/>
          </a:p>
        </p:txBody>
      </p:sp>
    </p:spTree>
    <p:extLst>
      <p:ext uri="{BB962C8B-B14F-4D97-AF65-F5344CB8AC3E}">
        <p14:creationId xmlns:p14="http://schemas.microsoft.com/office/powerpoint/2010/main" val="28171082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FF8ABC-9AB7-5DB7-A86C-66A6BAB89A2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DD59D7A-56ED-A78B-A34A-051E288772B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CE3C8D-D31D-0ACC-FC8F-AD641C6AEF7D}"/>
              </a:ext>
            </a:extLst>
          </p:cNvPr>
          <p:cNvSpPr>
            <a:spLocks noGrp="1"/>
          </p:cNvSpPr>
          <p:nvPr>
            <p:ph type="dt" sz="half" idx="10"/>
          </p:nvPr>
        </p:nvSpPr>
        <p:spPr/>
        <p:txBody>
          <a:bodyPr/>
          <a:lstStyle/>
          <a:p>
            <a:fld id="{E30EFC2B-6928-3945-94D4-8A6718977E52}" type="datetime1">
              <a:rPr lang="en-US" smtClean="0"/>
              <a:t>7/8/26</a:t>
            </a:fld>
            <a:endParaRPr lang="en-US"/>
          </a:p>
        </p:txBody>
      </p:sp>
      <p:sp>
        <p:nvSpPr>
          <p:cNvPr id="5" name="Footer Placeholder 4">
            <a:extLst>
              <a:ext uri="{FF2B5EF4-FFF2-40B4-BE49-F238E27FC236}">
                <a16:creationId xmlns:a16="http://schemas.microsoft.com/office/drawing/2014/main" id="{26E797D8-ABD3-BD50-0F4B-93E857CD3EAC}"/>
              </a:ext>
            </a:extLst>
          </p:cNvPr>
          <p:cNvSpPr>
            <a:spLocks noGrp="1"/>
          </p:cNvSpPr>
          <p:nvPr>
            <p:ph type="ftr" sz="quarter" idx="11"/>
          </p:nvPr>
        </p:nvSpPr>
        <p:spPr/>
        <p:txBody>
          <a:bodyPr/>
          <a:lstStyle/>
          <a:p>
            <a:r>
              <a:rPr lang="en-US"/>
              <a:t>Sapienza University of Rome</a:t>
            </a:r>
          </a:p>
        </p:txBody>
      </p:sp>
      <p:sp>
        <p:nvSpPr>
          <p:cNvPr id="6" name="Slide Number Placeholder 5">
            <a:extLst>
              <a:ext uri="{FF2B5EF4-FFF2-40B4-BE49-F238E27FC236}">
                <a16:creationId xmlns:a16="http://schemas.microsoft.com/office/drawing/2014/main" id="{0D26C04E-D5D5-B445-53EA-21D28A1A9C28}"/>
              </a:ext>
            </a:extLst>
          </p:cNvPr>
          <p:cNvSpPr>
            <a:spLocks noGrp="1"/>
          </p:cNvSpPr>
          <p:nvPr>
            <p:ph type="sldNum" sz="quarter" idx="12"/>
          </p:nvPr>
        </p:nvSpPr>
        <p:spPr/>
        <p:txBody>
          <a:bodyPr/>
          <a:lstStyle/>
          <a:p>
            <a:fld id="{48F19E39-9933-F648-B2F3-3AC17C0DC986}" type="slidenum">
              <a:rPr lang="en-US" smtClean="0"/>
              <a:t>‹#›</a:t>
            </a:fld>
            <a:endParaRPr lang="en-US"/>
          </a:p>
        </p:txBody>
      </p:sp>
    </p:spTree>
    <p:extLst>
      <p:ext uri="{BB962C8B-B14F-4D97-AF65-F5344CB8AC3E}">
        <p14:creationId xmlns:p14="http://schemas.microsoft.com/office/powerpoint/2010/main" val="30754442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5BAC7F4-937D-BCD4-A638-EAED628EFBB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4CCD961-7227-B3C5-342E-D0777F4E91F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6551EF-BA91-9DC2-B373-C35CD03B6DA2}"/>
              </a:ext>
            </a:extLst>
          </p:cNvPr>
          <p:cNvSpPr>
            <a:spLocks noGrp="1"/>
          </p:cNvSpPr>
          <p:nvPr>
            <p:ph type="dt" sz="half" idx="10"/>
          </p:nvPr>
        </p:nvSpPr>
        <p:spPr/>
        <p:txBody>
          <a:bodyPr/>
          <a:lstStyle/>
          <a:p>
            <a:fld id="{497B982F-F446-394C-BCD8-D0F6884AB04A}" type="datetime1">
              <a:rPr lang="en-US" smtClean="0"/>
              <a:t>7/8/26</a:t>
            </a:fld>
            <a:endParaRPr lang="en-US"/>
          </a:p>
        </p:txBody>
      </p:sp>
      <p:sp>
        <p:nvSpPr>
          <p:cNvPr id="5" name="Footer Placeholder 4">
            <a:extLst>
              <a:ext uri="{FF2B5EF4-FFF2-40B4-BE49-F238E27FC236}">
                <a16:creationId xmlns:a16="http://schemas.microsoft.com/office/drawing/2014/main" id="{CE8C42EA-F6DC-2048-71B6-A55883311EDE}"/>
              </a:ext>
            </a:extLst>
          </p:cNvPr>
          <p:cNvSpPr>
            <a:spLocks noGrp="1"/>
          </p:cNvSpPr>
          <p:nvPr>
            <p:ph type="ftr" sz="quarter" idx="11"/>
          </p:nvPr>
        </p:nvSpPr>
        <p:spPr/>
        <p:txBody>
          <a:bodyPr/>
          <a:lstStyle/>
          <a:p>
            <a:r>
              <a:rPr lang="en-US"/>
              <a:t>Sapienza University of Rome</a:t>
            </a:r>
          </a:p>
        </p:txBody>
      </p:sp>
      <p:sp>
        <p:nvSpPr>
          <p:cNvPr id="6" name="Slide Number Placeholder 5">
            <a:extLst>
              <a:ext uri="{FF2B5EF4-FFF2-40B4-BE49-F238E27FC236}">
                <a16:creationId xmlns:a16="http://schemas.microsoft.com/office/drawing/2014/main" id="{D79E56BC-50D5-636D-477A-9B86D0E922AB}"/>
              </a:ext>
            </a:extLst>
          </p:cNvPr>
          <p:cNvSpPr>
            <a:spLocks noGrp="1"/>
          </p:cNvSpPr>
          <p:nvPr>
            <p:ph type="sldNum" sz="quarter" idx="12"/>
          </p:nvPr>
        </p:nvSpPr>
        <p:spPr/>
        <p:txBody>
          <a:bodyPr/>
          <a:lstStyle/>
          <a:p>
            <a:fld id="{48F19E39-9933-F648-B2F3-3AC17C0DC986}" type="slidenum">
              <a:rPr lang="en-US" smtClean="0"/>
              <a:t>‹#›</a:t>
            </a:fld>
            <a:endParaRPr lang="en-US"/>
          </a:p>
        </p:txBody>
      </p:sp>
    </p:spTree>
    <p:extLst>
      <p:ext uri="{BB962C8B-B14F-4D97-AF65-F5344CB8AC3E}">
        <p14:creationId xmlns:p14="http://schemas.microsoft.com/office/powerpoint/2010/main" val="30164724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DC26D7D-CED8-F7E2-6C98-BEFB8A43634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20271B9-5CFD-DB35-B320-9D25AC83DCB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4C3B05-8623-04ED-9CDC-21C9B0B47A9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BEFF2B-B0F7-AA47-9437-9D2D75C12C3B}" type="datetime1">
              <a:rPr lang="en-US" smtClean="0"/>
              <a:t>7/8/26</a:t>
            </a:fld>
            <a:endParaRPr lang="en-US"/>
          </a:p>
        </p:txBody>
      </p:sp>
      <p:sp>
        <p:nvSpPr>
          <p:cNvPr id="5" name="Footer Placeholder 4">
            <a:extLst>
              <a:ext uri="{FF2B5EF4-FFF2-40B4-BE49-F238E27FC236}">
                <a16:creationId xmlns:a16="http://schemas.microsoft.com/office/drawing/2014/main" id="{3C54498D-CC66-7554-D838-3FD45332DDB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Sapienza University of Rome</a:t>
            </a:r>
          </a:p>
        </p:txBody>
      </p:sp>
      <p:sp>
        <p:nvSpPr>
          <p:cNvPr id="6" name="Slide Number Placeholder 5">
            <a:extLst>
              <a:ext uri="{FF2B5EF4-FFF2-40B4-BE49-F238E27FC236}">
                <a16:creationId xmlns:a16="http://schemas.microsoft.com/office/drawing/2014/main" id="{441A3BC8-96CB-4936-5AAB-65888F04521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19E39-9933-F648-B2F3-3AC17C0DC986}" type="slidenum">
              <a:rPr lang="en-US" smtClean="0"/>
              <a:t>‹#›</a:t>
            </a:fld>
            <a:endParaRPr lang="en-US"/>
          </a:p>
        </p:txBody>
      </p:sp>
    </p:spTree>
    <p:extLst>
      <p:ext uri="{BB962C8B-B14F-4D97-AF65-F5344CB8AC3E}">
        <p14:creationId xmlns:p14="http://schemas.microsoft.com/office/powerpoint/2010/main" val="8041937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jpe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4.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4.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31.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4.pn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4.png"/></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4.png"/></Relationships>
</file>

<file path=ppt/slides/_rels/slide2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4.pn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15" descr="Fondino">
            <a:extLst>
              <a:ext uri="{FF2B5EF4-FFF2-40B4-BE49-F238E27FC236}">
                <a16:creationId xmlns:a16="http://schemas.microsoft.com/office/drawing/2014/main" id="{B609E531-63FD-6702-EB99-A8B360E7BA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5122718"/>
            <a:ext cx="12192000" cy="1738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13" descr="logo +marchio">
            <a:extLst>
              <a:ext uri="{FF2B5EF4-FFF2-40B4-BE49-F238E27FC236}">
                <a16:creationId xmlns:a16="http://schemas.microsoft.com/office/drawing/2014/main" id="{93857B77-7E9D-09F1-8D44-8DABE74E888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5392" t="19500" r="55731" b="8712"/>
          <a:stretch/>
        </p:blipFill>
        <p:spPr bwMode="auto">
          <a:xfrm>
            <a:off x="1497204" y="5589722"/>
            <a:ext cx="1726443" cy="8227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E8822AD0-7E03-F7CA-5FCE-05C7A5AD190C}"/>
              </a:ext>
            </a:extLst>
          </p:cNvPr>
          <p:cNvSpPr txBox="1"/>
          <p:nvPr/>
        </p:nvSpPr>
        <p:spPr>
          <a:xfrm>
            <a:off x="596348" y="926308"/>
            <a:ext cx="10883348" cy="707886"/>
          </a:xfrm>
          <a:prstGeom prst="rect">
            <a:avLst/>
          </a:prstGeom>
          <a:noFill/>
        </p:spPr>
        <p:txBody>
          <a:bodyPr wrap="square" rtlCol="0">
            <a:spAutoFit/>
          </a:bodyPr>
          <a:lstStyle/>
          <a:p>
            <a:r>
              <a:rPr lang="en-US" sz="4000" b="1" dirty="0">
                <a:solidFill>
                  <a:srgbClr val="822334"/>
                </a:solidFill>
                <a:latin typeface="Inter" panose="02000503000000020004" pitchFamily="2" charset="0"/>
                <a:ea typeface="Inter" panose="02000503000000020004" pitchFamily="2" charset="0"/>
                <a:cs typeface="Inter" panose="02000503000000020004" pitchFamily="2" charset="0"/>
              </a:rPr>
              <a:t>CINECA AGENTIC PLATFORM</a:t>
            </a:r>
            <a:endParaRPr lang="en-US" sz="4000" dirty="0">
              <a:solidFill>
                <a:srgbClr val="822334"/>
              </a:solidFill>
              <a:latin typeface="Inter" panose="02000503000000020004" pitchFamily="2" charset="0"/>
              <a:ea typeface="Inter" panose="02000503000000020004" pitchFamily="2" charset="0"/>
              <a:cs typeface="Inter" panose="02000503000000020004" pitchFamily="2" charset="0"/>
            </a:endParaRPr>
          </a:p>
        </p:txBody>
      </p:sp>
      <p:sp>
        <p:nvSpPr>
          <p:cNvPr id="8" name="TextBox 7">
            <a:extLst>
              <a:ext uri="{FF2B5EF4-FFF2-40B4-BE49-F238E27FC236}">
                <a16:creationId xmlns:a16="http://schemas.microsoft.com/office/drawing/2014/main" id="{D332E4FC-2896-9B56-6749-272BA4E11690}"/>
              </a:ext>
            </a:extLst>
          </p:cNvPr>
          <p:cNvSpPr txBox="1"/>
          <p:nvPr/>
        </p:nvSpPr>
        <p:spPr>
          <a:xfrm>
            <a:off x="596348" y="2326237"/>
            <a:ext cx="3260036" cy="2062103"/>
          </a:xfrm>
          <a:prstGeom prst="rect">
            <a:avLst/>
          </a:prstGeom>
          <a:noFill/>
        </p:spPr>
        <p:txBody>
          <a:bodyPr wrap="square" rtlCol="0">
            <a:spAutoFit/>
          </a:bodyPr>
          <a:lstStyle/>
          <a:p>
            <a:r>
              <a:rPr lang="en-US" sz="1600" b="1" dirty="0">
                <a:latin typeface="Inter" panose="02000503000000020004" pitchFamily="2" charset="0"/>
                <a:ea typeface="Inter" panose="02000503000000020004" pitchFamily="2" charset="0"/>
                <a:cs typeface="Inter" panose="02000503000000020004" pitchFamily="2" charset="0"/>
              </a:rPr>
              <a:t>University: </a:t>
            </a:r>
          </a:p>
          <a:p>
            <a:r>
              <a:rPr lang="en-US" sz="1600" dirty="0">
                <a:latin typeface="Inter" panose="02000503000000020004" pitchFamily="2" charset="0"/>
                <a:ea typeface="Inter" panose="02000503000000020004" pitchFamily="2" charset="0"/>
                <a:cs typeface="Inter" panose="02000503000000020004" pitchFamily="2" charset="0"/>
              </a:rPr>
              <a:t>Sapienza University of Rome</a:t>
            </a:r>
          </a:p>
          <a:p>
            <a:endParaRPr lang="en-US" sz="1600" dirty="0">
              <a:latin typeface="Inter" panose="02000503000000020004" pitchFamily="2" charset="0"/>
              <a:ea typeface="Inter" panose="02000503000000020004" pitchFamily="2" charset="0"/>
              <a:cs typeface="Inter" panose="02000503000000020004" pitchFamily="2" charset="0"/>
            </a:endParaRPr>
          </a:p>
          <a:p>
            <a:r>
              <a:rPr lang="en-US" sz="1600" b="1" dirty="0">
                <a:latin typeface="Inter" panose="02000503000000020004" pitchFamily="2" charset="0"/>
                <a:ea typeface="Inter" panose="02000503000000020004" pitchFamily="2" charset="0"/>
                <a:cs typeface="Inter" panose="02000503000000020004" pitchFamily="2" charset="0"/>
              </a:rPr>
              <a:t>Academic Year: </a:t>
            </a:r>
          </a:p>
          <a:p>
            <a:r>
              <a:rPr lang="en-US" sz="1600" dirty="0">
                <a:latin typeface="Inter" panose="02000503000000020004" pitchFamily="2" charset="0"/>
                <a:ea typeface="Inter" panose="02000503000000020004" pitchFamily="2" charset="0"/>
                <a:cs typeface="Inter" panose="02000503000000020004" pitchFamily="2" charset="0"/>
              </a:rPr>
              <a:t>2025/2026</a:t>
            </a:r>
          </a:p>
          <a:p>
            <a:endParaRPr lang="en-US" sz="1600" dirty="0">
              <a:latin typeface="Inter" panose="02000503000000020004" pitchFamily="2" charset="0"/>
              <a:ea typeface="Inter" panose="02000503000000020004" pitchFamily="2" charset="0"/>
              <a:cs typeface="Inter" panose="02000503000000020004" pitchFamily="2" charset="0"/>
            </a:endParaRPr>
          </a:p>
          <a:p>
            <a:r>
              <a:rPr lang="en-US" sz="1600" b="1" dirty="0">
                <a:latin typeface="Inter" panose="02000503000000020004" pitchFamily="2" charset="0"/>
                <a:ea typeface="Inter" panose="02000503000000020004" pitchFamily="2" charset="0"/>
                <a:cs typeface="Inter" panose="02000503000000020004" pitchFamily="2" charset="0"/>
              </a:rPr>
              <a:t>Author: </a:t>
            </a:r>
          </a:p>
          <a:p>
            <a:r>
              <a:rPr lang="en-US" sz="1600" dirty="0">
                <a:latin typeface="Inter" panose="02000503000000020004" pitchFamily="2" charset="0"/>
                <a:ea typeface="Inter" panose="02000503000000020004" pitchFamily="2" charset="0"/>
                <a:cs typeface="Inter" panose="02000503000000020004" pitchFamily="2" charset="0"/>
              </a:rPr>
              <a:t>Arman Feili</a:t>
            </a:r>
          </a:p>
        </p:txBody>
      </p:sp>
      <p:sp>
        <p:nvSpPr>
          <p:cNvPr id="9" name="CasellaDiTesto 1">
            <a:extLst>
              <a:ext uri="{FF2B5EF4-FFF2-40B4-BE49-F238E27FC236}">
                <a16:creationId xmlns:a16="http://schemas.microsoft.com/office/drawing/2014/main" id="{E9CB3607-E574-4BB8-80A3-1648106621F9}"/>
              </a:ext>
            </a:extLst>
          </p:cNvPr>
          <p:cNvSpPr txBox="1">
            <a:spLocks noChangeArrowheads="1"/>
          </p:cNvSpPr>
          <p:nvPr/>
        </p:nvSpPr>
        <p:spPr bwMode="auto">
          <a:xfrm>
            <a:off x="3568464" y="5607660"/>
            <a:ext cx="4821383"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822433"/>
              </a:buClr>
              <a:buChar char="•"/>
              <a:defRPr sz="24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har char="–"/>
              <a:defRPr sz="20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har char="•"/>
              <a:defRPr sz="16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har char="–"/>
              <a:defRPr sz="14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9pPr>
          </a:lstStyle>
          <a:p>
            <a:pPr algn="just">
              <a:spcBef>
                <a:spcPct val="0"/>
              </a:spcBef>
              <a:buClrTx/>
              <a:buFontTx/>
              <a:buNone/>
            </a:pPr>
            <a:r>
              <a:rPr lang="en-US" sz="1000" dirty="0">
                <a:solidFill>
                  <a:schemeClr val="bg1"/>
                </a:solidFill>
              </a:rPr>
              <a:t>All rights relating to this teaching material and its contents are reserved by Sapienza and its authors (or teachers who produced it). Personal use of the same by the student for study purposes is permitted. Its dissemination, duplication, assignment, transmission, distribution to third parties or to the public is absolutely prohibited under penalty of the sanctions applicable by law.</a:t>
            </a:r>
            <a:endParaRPr lang="it-IT" altLang="it-IT" sz="1000" dirty="0">
              <a:solidFill>
                <a:schemeClr val="bg1"/>
              </a:solidFill>
            </a:endParaRPr>
          </a:p>
        </p:txBody>
      </p:sp>
      <p:sp>
        <p:nvSpPr>
          <p:cNvPr id="3" name="TextBox 2">
            <a:extLst>
              <a:ext uri="{FF2B5EF4-FFF2-40B4-BE49-F238E27FC236}">
                <a16:creationId xmlns:a16="http://schemas.microsoft.com/office/drawing/2014/main" id="{4BB9E0F2-E6EC-CB8E-AAA6-E687219EE315}"/>
              </a:ext>
            </a:extLst>
          </p:cNvPr>
          <p:cNvSpPr txBox="1"/>
          <p:nvPr/>
        </p:nvSpPr>
        <p:spPr>
          <a:xfrm>
            <a:off x="4002006" y="2321835"/>
            <a:ext cx="6260493" cy="2308324"/>
          </a:xfrm>
          <a:prstGeom prst="rect">
            <a:avLst/>
          </a:prstGeom>
          <a:noFill/>
        </p:spPr>
        <p:txBody>
          <a:bodyPr wrap="square" rtlCol="0">
            <a:spAutoFit/>
          </a:bodyPr>
          <a:lstStyle/>
          <a:p>
            <a:r>
              <a:rPr lang="en-US" sz="1600" b="1" dirty="0">
                <a:latin typeface="Inter" panose="02000503000000020004" pitchFamily="2" charset="0"/>
                <a:ea typeface="Inter" panose="02000503000000020004" pitchFamily="2" charset="0"/>
                <a:cs typeface="Inter" panose="02000503000000020004" pitchFamily="2" charset="0"/>
              </a:rPr>
              <a:t>Department:</a:t>
            </a:r>
          </a:p>
          <a:p>
            <a:r>
              <a:rPr lang="en-US" sz="1600" dirty="0">
                <a:latin typeface="Inter" panose="02000503000000020004" pitchFamily="2" charset="0"/>
                <a:ea typeface="Inter" panose="02000503000000020004" pitchFamily="2" charset="0"/>
                <a:cs typeface="Inter" panose="02000503000000020004" pitchFamily="2" charset="0"/>
              </a:rPr>
              <a:t>Information Engineering, Electronics and Telecommunications</a:t>
            </a:r>
          </a:p>
          <a:p>
            <a:endParaRPr lang="en-US" sz="1600" dirty="0">
              <a:latin typeface="Inter" panose="02000503000000020004" pitchFamily="2" charset="0"/>
              <a:ea typeface="Inter" panose="02000503000000020004" pitchFamily="2" charset="0"/>
              <a:cs typeface="Inter" panose="02000503000000020004" pitchFamily="2" charset="0"/>
            </a:endParaRPr>
          </a:p>
          <a:p>
            <a:r>
              <a:rPr lang="en-US" sz="1600" b="1" dirty="0">
                <a:latin typeface="Inter" panose="02000503000000020004" pitchFamily="2" charset="0"/>
                <a:ea typeface="Inter" panose="02000503000000020004" pitchFamily="2" charset="0"/>
                <a:cs typeface="Inter" panose="02000503000000020004" pitchFamily="2" charset="0"/>
              </a:rPr>
              <a:t>University Advisor: </a:t>
            </a:r>
          </a:p>
          <a:p>
            <a:r>
              <a:rPr lang="en-US" sz="1600" dirty="0">
                <a:latin typeface="Inter" panose="02000503000000020004" pitchFamily="2" charset="0"/>
                <a:ea typeface="Inter" panose="02000503000000020004" pitchFamily="2" charset="0"/>
                <a:cs typeface="Inter" panose="02000503000000020004" pitchFamily="2" charset="0"/>
              </a:rPr>
              <a:t>Prof. Maria De Marsico </a:t>
            </a:r>
          </a:p>
          <a:p>
            <a:endParaRPr lang="en-US" sz="1600" dirty="0">
              <a:latin typeface="Inter" panose="02000503000000020004" pitchFamily="2" charset="0"/>
              <a:ea typeface="Inter" panose="02000503000000020004" pitchFamily="2" charset="0"/>
              <a:cs typeface="Inter" panose="02000503000000020004" pitchFamily="2" charset="0"/>
            </a:endParaRPr>
          </a:p>
          <a:p>
            <a:r>
              <a:rPr lang="en-US" sz="1600" b="1" dirty="0">
                <a:latin typeface="Inter" panose="02000503000000020004" pitchFamily="2" charset="0"/>
                <a:ea typeface="Inter" panose="02000503000000020004" pitchFamily="2" charset="0"/>
                <a:cs typeface="Inter" panose="02000503000000020004" pitchFamily="2" charset="0"/>
              </a:rPr>
              <a:t>University Co-Advisors: </a:t>
            </a:r>
            <a:br>
              <a:rPr lang="en-US" sz="1600" b="1" dirty="0">
                <a:latin typeface="Inter" panose="02000503000000020004" pitchFamily="2" charset="0"/>
                <a:ea typeface="Inter" panose="02000503000000020004" pitchFamily="2" charset="0"/>
                <a:cs typeface="Inter" panose="02000503000000020004" pitchFamily="2" charset="0"/>
              </a:rPr>
            </a:br>
            <a:r>
              <a:rPr lang="en-US" sz="1600" dirty="0">
                <a:latin typeface="Inter" panose="02000503000000020004" pitchFamily="2" charset="0"/>
                <a:ea typeface="Inter" panose="02000503000000020004" pitchFamily="2" charset="0"/>
                <a:cs typeface="Inter" panose="02000503000000020004" pitchFamily="2" charset="0"/>
              </a:rPr>
              <a:t>Prof. Marco Raoul Marini</a:t>
            </a:r>
            <a:endParaRPr lang="en-US" sz="1600" b="1" dirty="0">
              <a:latin typeface="Inter" panose="02000503000000020004" pitchFamily="2" charset="0"/>
              <a:ea typeface="Inter" panose="02000503000000020004" pitchFamily="2" charset="0"/>
              <a:cs typeface="Inter" panose="02000503000000020004" pitchFamily="2" charset="0"/>
            </a:endParaRPr>
          </a:p>
          <a:p>
            <a:r>
              <a:rPr lang="en-US" sz="1600" dirty="0">
                <a:latin typeface="Inter" panose="02000503000000020004" pitchFamily="2" charset="0"/>
                <a:ea typeface="Inter" panose="02000503000000020004" pitchFamily="2" charset="0"/>
                <a:cs typeface="Inter" panose="02000503000000020004" pitchFamily="2" charset="0"/>
              </a:rPr>
              <a:t>Dr. Valerio </a:t>
            </a:r>
            <a:r>
              <a:rPr lang="en-US" sz="1600" dirty="0" err="1">
                <a:latin typeface="Inter" panose="02000503000000020004" pitchFamily="2" charset="0"/>
                <a:ea typeface="Inter" panose="02000503000000020004" pitchFamily="2" charset="0"/>
                <a:cs typeface="Inter" panose="02000503000000020004" pitchFamily="2" charset="0"/>
              </a:rPr>
              <a:t>Venanzi</a:t>
            </a:r>
            <a:r>
              <a:rPr lang="en-US" sz="1600" dirty="0">
                <a:latin typeface="Inter" panose="02000503000000020004" pitchFamily="2" charset="0"/>
                <a:ea typeface="Inter" panose="02000503000000020004" pitchFamily="2" charset="0"/>
                <a:cs typeface="Inter" panose="02000503000000020004" pitchFamily="2" charset="0"/>
              </a:rPr>
              <a:t> </a:t>
            </a:r>
          </a:p>
        </p:txBody>
      </p:sp>
      <p:sp>
        <p:nvSpPr>
          <p:cNvPr id="2" name="TextBox 1">
            <a:extLst>
              <a:ext uri="{FF2B5EF4-FFF2-40B4-BE49-F238E27FC236}">
                <a16:creationId xmlns:a16="http://schemas.microsoft.com/office/drawing/2014/main" id="{366A3898-4044-35BC-81E5-B9E84385A1D5}"/>
              </a:ext>
            </a:extLst>
          </p:cNvPr>
          <p:cNvSpPr txBox="1"/>
          <p:nvPr/>
        </p:nvSpPr>
        <p:spPr>
          <a:xfrm>
            <a:off x="7764310" y="2321835"/>
            <a:ext cx="2643811" cy="2308324"/>
          </a:xfrm>
          <a:prstGeom prst="rect">
            <a:avLst/>
          </a:prstGeom>
          <a:noFill/>
        </p:spPr>
        <p:txBody>
          <a:bodyPr wrap="square" rtlCol="0">
            <a:spAutoFit/>
          </a:bodyPr>
          <a:lstStyle/>
          <a:p>
            <a:endParaRPr lang="en-US" sz="1600" b="1" dirty="0">
              <a:latin typeface="Inter" panose="02000503000000020004" pitchFamily="2" charset="0"/>
              <a:ea typeface="Inter" panose="02000503000000020004" pitchFamily="2" charset="0"/>
              <a:cs typeface="Inter" panose="02000503000000020004" pitchFamily="2" charset="0"/>
            </a:endParaRPr>
          </a:p>
          <a:p>
            <a:endParaRPr lang="en-US" sz="1600" b="1" dirty="0">
              <a:latin typeface="Inter" panose="02000503000000020004" pitchFamily="2" charset="0"/>
              <a:ea typeface="Inter" panose="02000503000000020004" pitchFamily="2" charset="0"/>
              <a:cs typeface="Inter" panose="02000503000000020004" pitchFamily="2" charset="0"/>
            </a:endParaRPr>
          </a:p>
          <a:p>
            <a:endParaRPr lang="en-US" sz="1600" b="1" dirty="0">
              <a:latin typeface="Inter" panose="02000503000000020004" pitchFamily="2" charset="0"/>
              <a:ea typeface="Inter" panose="02000503000000020004" pitchFamily="2" charset="0"/>
              <a:cs typeface="Inter" panose="02000503000000020004" pitchFamily="2" charset="0"/>
            </a:endParaRPr>
          </a:p>
          <a:p>
            <a:r>
              <a:rPr lang="en-US" sz="1600" b="1" dirty="0">
                <a:latin typeface="Inter" panose="02000503000000020004" pitchFamily="2" charset="0"/>
                <a:ea typeface="Inter" panose="02000503000000020004" pitchFamily="2" charset="0"/>
                <a:cs typeface="Inter" panose="02000503000000020004" pitchFamily="2" charset="0"/>
              </a:rPr>
              <a:t>Company: </a:t>
            </a:r>
          </a:p>
          <a:p>
            <a:r>
              <a:rPr lang="en-US" sz="1600" dirty="0">
                <a:latin typeface="Inter" panose="02000503000000020004" pitchFamily="2" charset="0"/>
                <a:ea typeface="Inter" panose="02000503000000020004" pitchFamily="2" charset="0"/>
                <a:cs typeface="Inter" panose="02000503000000020004" pitchFamily="2" charset="0"/>
              </a:rPr>
              <a:t>CINECA</a:t>
            </a:r>
          </a:p>
          <a:p>
            <a:endParaRPr lang="en-US" sz="1600" dirty="0">
              <a:latin typeface="Inter" panose="02000503000000020004" pitchFamily="2" charset="0"/>
              <a:ea typeface="Inter" panose="02000503000000020004" pitchFamily="2" charset="0"/>
              <a:cs typeface="Inter" panose="02000503000000020004" pitchFamily="2" charset="0"/>
            </a:endParaRPr>
          </a:p>
          <a:p>
            <a:r>
              <a:rPr lang="en-US" sz="1600" b="1" dirty="0">
                <a:latin typeface="Inter" panose="02000503000000020004" pitchFamily="2" charset="0"/>
                <a:ea typeface="Inter" panose="02000503000000020004" pitchFamily="2" charset="0"/>
                <a:cs typeface="Inter" panose="02000503000000020004" pitchFamily="2" charset="0"/>
              </a:rPr>
              <a:t>CINECA Advisors: </a:t>
            </a:r>
            <a:br>
              <a:rPr lang="en-US" sz="1600" b="1" dirty="0">
                <a:latin typeface="Inter" panose="02000503000000020004" pitchFamily="2" charset="0"/>
                <a:ea typeface="Inter" panose="02000503000000020004" pitchFamily="2" charset="0"/>
                <a:cs typeface="Inter" panose="02000503000000020004" pitchFamily="2" charset="0"/>
              </a:rPr>
            </a:br>
            <a:r>
              <a:rPr lang="en-US" sz="1600" dirty="0">
                <a:latin typeface="Inter" panose="02000503000000020004" pitchFamily="2" charset="0"/>
                <a:ea typeface="Inter" panose="02000503000000020004" pitchFamily="2" charset="0"/>
                <a:cs typeface="Inter" panose="02000503000000020004" pitchFamily="2" charset="0"/>
              </a:rPr>
              <a:t>Dr. Giuseppe </a:t>
            </a:r>
            <a:r>
              <a:rPr lang="en-US" sz="1600" dirty="0" err="1">
                <a:latin typeface="Inter" panose="02000503000000020004" pitchFamily="2" charset="0"/>
                <a:ea typeface="Inter" panose="02000503000000020004" pitchFamily="2" charset="0"/>
                <a:cs typeface="Inter" panose="02000503000000020004" pitchFamily="2" charset="0"/>
              </a:rPr>
              <a:t>Melfi</a:t>
            </a:r>
            <a:endParaRPr lang="en-US" sz="1600" dirty="0">
              <a:latin typeface="Inter" panose="02000503000000020004" pitchFamily="2" charset="0"/>
              <a:ea typeface="Inter" panose="02000503000000020004" pitchFamily="2" charset="0"/>
              <a:cs typeface="Inter" panose="02000503000000020004" pitchFamily="2" charset="0"/>
            </a:endParaRPr>
          </a:p>
          <a:p>
            <a:r>
              <a:rPr lang="en-US" sz="1600" dirty="0">
                <a:latin typeface="Inter" panose="02000503000000020004" pitchFamily="2" charset="0"/>
                <a:ea typeface="Inter" panose="02000503000000020004" pitchFamily="2" charset="0"/>
                <a:cs typeface="Inter" panose="02000503000000020004" pitchFamily="2" charset="0"/>
              </a:rPr>
              <a:t>Dr. Marco Puccini</a:t>
            </a:r>
          </a:p>
        </p:txBody>
      </p:sp>
      <p:sp>
        <p:nvSpPr>
          <p:cNvPr id="10" name="TextBox 9">
            <a:extLst>
              <a:ext uri="{FF2B5EF4-FFF2-40B4-BE49-F238E27FC236}">
                <a16:creationId xmlns:a16="http://schemas.microsoft.com/office/drawing/2014/main" id="{F5A24252-5B62-93A6-97DD-B2CE31FA8F53}"/>
              </a:ext>
            </a:extLst>
          </p:cNvPr>
          <p:cNvSpPr txBox="1"/>
          <p:nvPr/>
        </p:nvSpPr>
        <p:spPr>
          <a:xfrm>
            <a:off x="596348" y="1634194"/>
            <a:ext cx="10765616" cy="369332"/>
          </a:xfrm>
          <a:prstGeom prst="rect">
            <a:avLst/>
          </a:prstGeom>
          <a:noFill/>
        </p:spPr>
        <p:txBody>
          <a:bodyPr wrap="square">
            <a:spAutoFit/>
          </a:bodyPr>
          <a:lstStyle/>
          <a:p>
            <a:r>
              <a:rPr lang="en-US" dirty="0">
                <a:solidFill>
                  <a:srgbClr val="822334"/>
                </a:solidFill>
                <a:latin typeface="Inter" panose="02000503000000020004" pitchFamily="2" charset="0"/>
                <a:ea typeface="Inter" panose="02000503000000020004" pitchFamily="2" charset="0"/>
                <a:cs typeface="Inter" panose="02000503000000020004" pitchFamily="2" charset="0"/>
              </a:rPr>
              <a:t>An Enterprise-Grade Multi-Tenant AI Orchestrator with MCP Tools and Secure Graph Querying</a:t>
            </a:r>
          </a:p>
        </p:txBody>
      </p:sp>
      <p:pic>
        <p:nvPicPr>
          <p:cNvPr id="14" name="Picture 13">
            <a:extLst>
              <a:ext uri="{FF2B5EF4-FFF2-40B4-BE49-F238E27FC236}">
                <a16:creationId xmlns:a16="http://schemas.microsoft.com/office/drawing/2014/main" id="{8E89698A-B8A6-648D-BE67-C13813ED9851}"/>
              </a:ext>
            </a:extLst>
          </p:cNvPr>
          <p:cNvPicPr>
            <a:picLocks noChangeAspect="1"/>
          </p:cNvPicPr>
          <p:nvPr/>
        </p:nvPicPr>
        <p:blipFill>
          <a:blip r:embed="rId5"/>
          <a:stretch>
            <a:fillRect/>
          </a:stretch>
        </p:blipFill>
        <p:spPr>
          <a:xfrm>
            <a:off x="449473" y="5522473"/>
            <a:ext cx="957296" cy="957296"/>
          </a:xfrm>
          <a:prstGeom prst="rect">
            <a:avLst/>
          </a:prstGeom>
        </p:spPr>
      </p:pic>
      <p:pic>
        <p:nvPicPr>
          <p:cNvPr id="16" name="Picture 15">
            <a:extLst>
              <a:ext uri="{FF2B5EF4-FFF2-40B4-BE49-F238E27FC236}">
                <a16:creationId xmlns:a16="http://schemas.microsoft.com/office/drawing/2014/main" id="{691FA9D1-4FD4-335B-976D-049E173A089C}"/>
              </a:ext>
            </a:extLst>
          </p:cNvPr>
          <p:cNvPicPr>
            <a:picLocks noChangeAspect="1"/>
          </p:cNvPicPr>
          <p:nvPr/>
        </p:nvPicPr>
        <p:blipFill>
          <a:blip r:embed="rId6"/>
          <a:stretch>
            <a:fillRect/>
          </a:stretch>
        </p:blipFill>
        <p:spPr>
          <a:xfrm>
            <a:off x="8734664" y="5589722"/>
            <a:ext cx="2866291" cy="957296"/>
          </a:xfrm>
          <a:prstGeom prst="rect">
            <a:avLst/>
          </a:prstGeom>
        </p:spPr>
      </p:pic>
    </p:spTree>
    <p:extLst>
      <p:ext uri="{BB962C8B-B14F-4D97-AF65-F5344CB8AC3E}">
        <p14:creationId xmlns:p14="http://schemas.microsoft.com/office/powerpoint/2010/main" val="26475925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D3F30-9C46-9CE1-0C1E-6F165BC509E1}"/>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4398078A-B5EC-733A-610D-8C3ACF9927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278377C2-5E41-0371-262D-703F529390ED}"/>
              </a:ext>
            </a:extLst>
          </p:cNvPr>
          <p:cNvSpPr>
            <a:spLocks noGrp="1"/>
          </p:cNvSpPr>
          <p:nvPr>
            <p:ph type="ftr" sz="quarter" idx="11"/>
          </p:nvPr>
        </p:nvSpPr>
        <p:spPr>
          <a:xfrm>
            <a:off x="4566534" y="6356350"/>
            <a:ext cx="3058931" cy="365125"/>
          </a:xfrm>
        </p:spPr>
        <p:txBody>
          <a:bodyPr/>
          <a:lstStyle/>
          <a:p>
            <a:r>
              <a:rPr lang="en-US" dirty="0" err="1">
                <a:solidFill>
                  <a:schemeClr val="bg1"/>
                </a:solidFill>
                <a:latin typeface="Inter" panose="02000503000000020004" pitchFamily="2" charset="0"/>
                <a:ea typeface="Inter" panose="02000503000000020004" pitchFamily="2" charset="0"/>
                <a:cs typeface="Inter" panose="02000503000000020004" pitchFamily="2" charset="0"/>
              </a:rPr>
              <a:t>Cineca</a:t>
            </a:r>
            <a:r>
              <a:rPr lang="en-US" dirty="0">
                <a:solidFill>
                  <a:schemeClr val="bg1"/>
                </a:solidFill>
                <a:latin typeface="Inter" panose="02000503000000020004" pitchFamily="2" charset="0"/>
                <a:ea typeface="Inter" panose="02000503000000020004" pitchFamily="2" charset="0"/>
                <a:cs typeface="Inter" panose="02000503000000020004" pitchFamily="2" charset="0"/>
              </a:rPr>
              <a:t> Agentic Platform – Arman Feili</a:t>
            </a:r>
          </a:p>
        </p:txBody>
      </p:sp>
      <p:sp>
        <p:nvSpPr>
          <p:cNvPr id="12" name="Slide Number Placeholder 11">
            <a:extLst>
              <a:ext uri="{FF2B5EF4-FFF2-40B4-BE49-F238E27FC236}">
                <a16:creationId xmlns:a16="http://schemas.microsoft.com/office/drawing/2014/main" id="{8CD98C48-56F7-4963-6223-1E96C366D127}"/>
              </a:ext>
            </a:extLst>
          </p:cNvPr>
          <p:cNvSpPr>
            <a:spLocks noGrp="1"/>
          </p:cNvSpPr>
          <p:nvPr>
            <p:ph type="sldNum" sz="quarter" idx="12"/>
          </p:nvPr>
        </p:nvSpPr>
        <p:spPr/>
        <p:txBody>
          <a:bodyPr/>
          <a:lstStyle/>
          <a:p>
            <a:fld id="{48F19E39-9933-F648-B2F3-3AC17C0DC986}" type="slidenum">
              <a:rPr lang="en-US" smtClean="0">
                <a:solidFill>
                  <a:schemeClr val="bg1"/>
                </a:solidFill>
              </a:rPr>
              <a:t>2</a:t>
            </a:fld>
            <a:r>
              <a:rPr lang="en-US" dirty="0">
                <a:solidFill>
                  <a:schemeClr val="bg1"/>
                </a:solidFill>
              </a:rPr>
              <a:t> / 17</a:t>
            </a:r>
          </a:p>
        </p:txBody>
      </p:sp>
      <p:sp>
        <p:nvSpPr>
          <p:cNvPr id="15" name="TextBox 14">
            <a:extLst>
              <a:ext uri="{FF2B5EF4-FFF2-40B4-BE49-F238E27FC236}">
                <a16:creationId xmlns:a16="http://schemas.microsoft.com/office/drawing/2014/main" id="{C18F3D6D-AA54-1F40-9C7B-0796FD4552B9}"/>
              </a:ext>
            </a:extLst>
          </p:cNvPr>
          <p:cNvSpPr txBox="1"/>
          <p:nvPr/>
        </p:nvSpPr>
        <p:spPr>
          <a:xfrm>
            <a:off x="596349" y="374273"/>
            <a:ext cx="10953226" cy="830997"/>
          </a:xfrm>
          <a:prstGeom prst="rect">
            <a:avLst/>
          </a:prstGeom>
          <a:noFill/>
        </p:spPr>
        <p:txBody>
          <a:bodyPr wrap="square" rtlCol="0">
            <a:spAutoFit/>
          </a:bodyPr>
          <a:lstStyle/>
          <a:p>
            <a:pPr algn="just"/>
            <a:r>
              <a:rPr lang="en-US" sz="2800" b="1" dirty="0">
                <a:solidFill>
                  <a:srgbClr val="822334"/>
                </a:solidFill>
                <a:latin typeface="Inter" panose="02000503000000020004" pitchFamily="2" charset="0"/>
                <a:ea typeface="Inter" panose="02000503000000020004" pitchFamily="2" charset="0"/>
                <a:cs typeface="Inter" panose="02000503000000020004" pitchFamily="2" charset="0"/>
              </a:rPr>
              <a:t>TABLE OF CONTENTS </a:t>
            </a:r>
          </a:p>
          <a:p>
            <a:pPr algn="just"/>
            <a:r>
              <a:rPr lang="en-US" sz="2000" dirty="0">
                <a:solidFill>
                  <a:schemeClr val="bg2">
                    <a:lumMod val="50000"/>
                  </a:schemeClr>
                </a:solidFill>
                <a:latin typeface="Inter" panose="02000503000000020004" pitchFamily="2" charset="0"/>
                <a:ea typeface="Inter" panose="02000503000000020004" pitchFamily="2" charset="0"/>
                <a:cs typeface="Inter" panose="02000503000000020004" pitchFamily="2" charset="0"/>
              </a:rPr>
              <a:t>Presentation structure</a:t>
            </a:r>
          </a:p>
        </p:txBody>
      </p:sp>
      <p:pic>
        <p:nvPicPr>
          <p:cNvPr id="3" name="Picture 2">
            <a:extLst>
              <a:ext uri="{FF2B5EF4-FFF2-40B4-BE49-F238E27FC236}">
                <a16:creationId xmlns:a16="http://schemas.microsoft.com/office/drawing/2014/main" id="{4B56BDB4-7F52-9199-E747-F0CD56615536}"/>
              </a:ext>
            </a:extLst>
          </p:cNvPr>
          <p:cNvPicPr>
            <a:picLocks noChangeAspect="1"/>
          </p:cNvPicPr>
          <p:nvPr/>
        </p:nvPicPr>
        <p:blipFill>
          <a:blip r:embed="rId4"/>
          <a:stretch>
            <a:fillRect/>
          </a:stretch>
        </p:blipFill>
        <p:spPr>
          <a:xfrm>
            <a:off x="321777" y="6315552"/>
            <a:ext cx="435345" cy="435345"/>
          </a:xfrm>
          <a:prstGeom prst="rect">
            <a:avLst/>
          </a:prstGeom>
        </p:spPr>
      </p:pic>
      <p:pic>
        <p:nvPicPr>
          <p:cNvPr id="7" name="Picture 6">
            <a:extLst>
              <a:ext uri="{FF2B5EF4-FFF2-40B4-BE49-F238E27FC236}">
                <a16:creationId xmlns:a16="http://schemas.microsoft.com/office/drawing/2014/main" id="{6E49A478-0C2E-BB59-A2D6-0D30D37E8771}"/>
              </a:ext>
            </a:extLst>
          </p:cNvPr>
          <p:cNvPicPr>
            <a:picLocks noChangeAspect="1"/>
          </p:cNvPicPr>
          <p:nvPr/>
        </p:nvPicPr>
        <p:blipFill>
          <a:blip r:embed="rId5"/>
          <a:stretch>
            <a:fillRect/>
          </a:stretch>
        </p:blipFill>
        <p:spPr>
          <a:xfrm>
            <a:off x="866134" y="6362629"/>
            <a:ext cx="1093241" cy="365125"/>
          </a:xfrm>
          <a:prstGeom prst="rect">
            <a:avLst/>
          </a:prstGeom>
        </p:spPr>
      </p:pic>
      <p:sp>
        <p:nvSpPr>
          <p:cNvPr id="8" name="TextBox 7">
            <a:extLst>
              <a:ext uri="{FF2B5EF4-FFF2-40B4-BE49-F238E27FC236}">
                <a16:creationId xmlns:a16="http://schemas.microsoft.com/office/drawing/2014/main" id="{C3D78B14-6B62-6898-3219-86290A741AC8}"/>
              </a:ext>
            </a:extLst>
          </p:cNvPr>
          <p:cNvSpPr txBox="1"/>
          <p:nvPr/>
        </p:nvSpPr>
        <p:spPr>
          <a:xfrm>
            <a:off x="596349" y="1571312"/>
            <a:ext cx="6142382" cy="3003707"/>
          </a:xfrm>
          <a:prstGeom prst="rect">
            <a:avLst/>
          </a:prstGeom>
          <a:noFill/>
        </p:spPr>
        <p:txBody>
          <a:bodyPr wrap="square" rtlCol="0">
            <a:spAutoFit/>
          </a:bodyPr>
          <a:lstStyle/>
          <a:p>
            <a:pPr marL="342900" indent="-342900">
              <a:lnSpc>
                <a:spcPct val="150000"/>
              </a:lnSpc>
              <a:buFont typeface="+mj-lt"/>
              <a:buAutoNum type="arabicPeriod"/>
            </a:pPr>
            <a:r>
              <a:rPr lang="en-US" sz="1600" dirty="0">
                <a:latin typeface="Inter" panose="02000503000000020004" pitchFamily="2" charset="0"/>
                <a:ea typeface="Inter" panose="02000503000000020004" pitchFamily="2" charset="0"/>
                <a:cs typeface="Inter" panose="02000503000000020004" pitchFamily="2" charset="0"/>
              </a:rPr>
              <a:t>Production Gap</a:t>
            </a:r>
          </a:p>
          <a:p>
            <a:pPr marL="342900" indent="-342900">
              <a:lnSpc>
                <a:spcPct val="150000"/>
              </a:lnSpc>
              <a:buFont typeface="+mj-lt"/>
              <a:buAutoNum type="arabicPeriod"/>
            </a:pPr>
            <a:r>
              <a:rPr lang="en-US" sz="1600" dirty="0">
                <a:latin typeface="Inter" panose="02000503000000020004" pitchFamily="2" charset="0"/>
                <a:ea typeface="Inter" panose="02000503000000020004" pitchFamily="2" charset="0"/>
                <a:cs typeface="Inter" panose="02000503000000020004" pitchFamily="2" charset="0"/>
              </a:rPr>
              <a:t>What Was Delivered</a:t>
            </a:r>
          </a:p>
          <a:p>
            <a:pPr marL="342900" indent="-342900">
              <a:lnSpc>
                <a:spcPct val="150000"/>
              </a:lnSpc>
              <a:buFont typeface="+mj-lt"/>
              <a:buAutoNum type="arabicPeriod"/>
            </a:pPr>
            <a:r>
              <a:rPr lang="en-US" sz="1600" dirty="0">
                <a:latin typeface="Inter" panose="02000503000000020004" pitchFamily="2" charset="0"/>
                <a:ea typeface="Inter" panose="02000503000000020004" pitchFamily="2" charset="0"/>
                <a:cs typeface="Inter" panose="02000503000000020004" pitchFamily="2" charset="0"/>
              </a:rPr>
              <a:t>System Workflow &amp; Platform Architecture</a:t>
            </a:r>
          </a:p>
          <a:p>
            <a:pPr marL="342900" indent="-342900">
              <a:lnSpc>
                <a:spcPct val="150000"/>
              </a:lnSpc>
              <a:buFont typeface="+mj-lt"/>
              <a:buAutoNum type="arabicPeriod"/>
            </a:pPr>
            <a:r>
              <a:rPr lang="en-US" sz="1600" dirty="0">
                <a:latin typeface="Inter" panose="02000503000000020004" pitchFamily="2" charset="0"/>
                <a:ea typeface="Inter" panose="02000503000000020004" pitchFamily="2" charset="0"/>
                <a:cs typeface="Inter" panose="02000503000000020004" pitchFamily="2" charset="0"/>
              </a:rPr>
              <a:t>UI, Security &amp; API Layer</a:t>
            </a:r>
          </a:p>
          <a:p>
            <a:pPr marL="342900" indent="-342900">
              <a:lnSpc>
                <a:spcPct val="150000"/>
              </a:lnSpc>
              <a:buFont typeface="+mj-lt"/>
              <a:buAutoNum type="arabicPeriod"/>
            </a:pPr>
            <a:r>
              <a:rPr lang="en-US" sz="1600" dirty="0">
                <a:latin typeface="Inter" panose="02000503000000020004" pitchFamily="2" charset="0"/>
                <a:ea typeface="Inter" panose="02000503000000020004" pitchFamily="2" charset="0"/>
                <a:cs typeface="Inter" panose="02000503000000020004" pitchFamily="2" charset="0"/>
              </a:rPr>
              <a:t>Job Execution &amp; Orchestrator</a:t>
            </a:r>
          </a:p>
          <a:p>
            <a:pPr marL="342900" indent="-342900">
              <a:lnSpc>
                <a:spcPct val="150000"/>
              </a:lnSpc>
              <a:buFont typeface="+mj-lt"/>
              <a:buAutoNum type="arabicPeriod"/>
            </a:pPr>
            <a:r>
              <a:rPr lang="en-US" sz="1600" dirty="0">
                <a:latin typeface="Inter" panose="02000503000000020004" pitchFamily="2" charset="0"/>
                <a:ea typeface="Inter" panose="02000503000000020004" pitchFamily="2" charset="0"/>
                <a:cs typeface="Inter" panose="02000503000000020004" pitchFamily="2" charset="0"/>
              </a:rPr>
              <a:t>Validation, Results &amp; Comparison</a:t>
            </a:r>
          </a:p>
          <a:p>
            <a:pPr marL="342900" indent="-342900">
              <a:lnSpc>
                <a:spcPct val="150000"/>
              </a:lnSpc>
              <a:buFont typeface="+mj-lt"/>
              <a:buAutoNum type="arabicPeriod"/>
            </a:pPr>
            <a:r>
              <a:rPr lang="en-US" sz="1600" dirty="0">
                <a:latin typeface="Inter" panose="02000503000000020004" pitchFamily="2" charset="0"/>
                <a:ea typeface="Inter" panose="02000503000000020004" pitchFamily="2" charset="0"/>
                <a:cs typeface="Inter" panose="02000503000000020004" pitchFamily="2" charset="0"/>
              </a:rPr>
              <a:t>Conclusion &amp; Future Work</a:t>
            </a:r>
          </a:p>
          <a:p>
            <a:pPr marL="342900" indent="-342900">
              <a:lnSpc>
                <a:spcPct val="150000"/>
              </a:lnSpc>
              <a:buFont typeface="+mj-lt"/>
              <a:buAutoNum type="arabicPeriod"/>
            </a:pPr>
            <a:r>
              <a:rPr lang="en-US" sz="1600" dirty="0">
                <a:latin typeface="Inter" panose="02000503000000020004" pitchFamily="2" charset="0"/>
                <a:ea typeface="Inter" panose="02000503000000020004" pitchFamily="2" charset="0"/>
                <a:cs typeface="Inter" panose="02000503000000020004" pitchFamily="2" charset="0"/>
              </a:rPr>
              <a:t>Q&amp;A</a:t>
            </a:r>
          </a:p>
        </p:txBody>
      </p:sp>
      <p:pic>
        <p:nvPicPr>
          <p:cNvPr id="10" name="Picture 9">
            <a:extLst>
              <a:ext uri="{FF2B5EF4-FFF2-40B4-BE49-F238E27FC236}">
                <a16:creationId xmlns:a16="http://schemas.microsoft.com/office/drawing/2014/main" id="{21B29C62-B034-B4BE-E13F-BBB54DD6BB26}"/>
              </a:ext>
            </a:extLst>
          </p:cNvPr>
          <p:cNvPicPr>
            <a:picLocks noChangeAspect="1"/>
          </p:cNvPicPr>
          <p:nvPr/>
        </p:nvPicPr>
        <p:blipFill>
          <a:blip r:embed="rId6"/>
          <a:stretch>
            <a:fillRect/>
          </a:stretch>
        </p:blipFill>
        <p:spPr>
          <a:xfrm>
            <a:off x="6504971" y="1571312"/>
            <a:ext cx="5090680" cy="4111703"/>
          </a:xfrm>
          <a:prstGeom prst="rect">
            <a:avLst/>
          </a:prstGeom>
        </p:spPr>
      </p:pic>
    </p:spTree>
    <p:extLst>
      <p:ext uri="{BB962C8B-B14F-4D97-AF65-F5344CB8AC3E}">
        <p14:creationId xmlns:p14="http://schemas.microsoft.com/office/powerpoint/2010/main" val="39588671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7FA35D-2EA2-3155-C083-B8B1502D52A5}"/>
            </a:ext>
          </a:extLst>
        </p:cNvPr>
        <p:cNvGrpSpPr/>
        <p:nvPr/>
      </p:nvGrpSpPr>
      <p:grpSpPr>
        <a:xfrm>
          <a:off x="0" y="0"/>
          <a:ext cx="0" cy="0"/>
          <a:chOff x="0" y="0"/>
          <a:chExt cx="0" cy="0"/>
        </a:xfrm>
      </p:grpSpPr>
      <p:sp>
        <p:nvSpPr>
          <p:cNvPr id="22" name="TextBox 21">
            <a:extLst>
              <a:ext uri="{FF2B5EF4-FFF2-40B4-BE49-F238E27FC236}">
                <a16:creationId xmlns:a16="http://schemas.microsoft.com/office/drawing/2014/main" id="{DC60A1B7-8C17-906E-19A4-B3F4D498EB86}"/>
              </a:ext>
            </a:extLst>
          </p:cNvPr>
          <p:cNvSpPr txBox="1"/>
          <p:nvPr/>
        </p:nvSpPr>
        <p:spPr>
          <a:xfrm>
            <a:off x="596349" y="1571313"/>
            <a:ext cx="11198254" cy="4124206"/>
          </a:xfrm>
          <a:prstGeom prst="rect">
            <a:avLst/>
          </a:prstGeom>
          <a:noFill/>
        </p:spPr>
        <p:txBody>
          <a:bodyPr wrap="square" rtlCol="0">
            <a:spAutoFit/>
          </a:bodyPr>
          <a:lstStyle/>
          <a:p>
            <a:pPr algn="just"/>
            <a:r>
              <a:rPr lang="en-US" b="1" dirty="0">
                <a:latin typeface="Inter" panose="02000503000000020004" pitchFamily="2" charset="0"/>
                <a:ea typeface="Inter" panose="02000503000000020004" pitchFamily="2" charset="0"/>
                <a:cs typeface="Inter" panose="02000503000000020004" pitchFamily="2" charset="0"/>
              </a:rPr>
              <a:t>The problem</a:t>
            </a:r>
          </a:p>
          <a:p>
            <a:pPr marL="285750" indent="-285750" algn="just">
              <a:buFont typeface="Arial" panose="020B0604020202020204" pitchFamily="34" charset="0"/>
              <a:buChar char="•"/>
            </a:pPr>
            <a:r>
              <a:rPr lang="en-US" sz="1600" i="0" dirty="0">
                <a:effectLst/>
                <a:latin typeface="Inter" panose="02000503000000020004" pitchFamily="2" charset="0"/>
                <a:ea typeface="Inter" panose="02000503000000020004" pitchFamily="2" charset="0"/>
                <a:cs typeface="Inter" panose="02000503000000020004" pitchFamily="2" charset="0"/>
              </a:rPr>
              <a:t>Users need to </a:t>
            </a:r>
            <a:r>
              <a:rPr lang="en-US" sz="1600" b="1" i="0" dirty="0">
                <a:effectLst/>
                <a:latin typeface="Inter" panose="02000503000000020004" pitchFamily="2" charset="0"/>
                <a:ea typeface="Inter" panose="02000503000000020004" pitchFamily="2" charset="0"/>
                <a:cs typeface="Inter" panose="02000503000000020004" pitchFamily="2" charset="0"/>
              </a:rPr>
              <a:t>access</a:t>
            </a:r>
            <a:r>
              <a:rPr lang="en-US" sz="1600" i="0" dirty="0">
                <a:effectLst/>
                <a:latin typeface="Inter" panose="02000503000000020004" pitchFamily="2" charset="0"/>
                <a:ea typeface="Inter" panose="02000503000000020004" pitchFamily="2" charset="0"/>
                <a:cs typeface="Inter" panose="02000503000000020004" pitchFamily="2" charset="0"/>
              </a:rPr>
              <a:t> the Bioinformatic </a:t>
            </a:r>
            <a:r>
              <a:rPr lang="en-US" sz="1600" b="1" i="0" dirty="0">
                <a:effectLst/>
                <a:latin typeface="Inter" panose="02000503000000020004" pitchFamily="2" charset="0"/>
                <a:ea typeface="Inter" panose="02000503000000020004" pitchFamily="2" charset="0"/>
                <a:cs typeface="Inter" panose="02000503000000020004" pitchFamily="2" charset="0"/>
              </a:rPr>
              <a:t>graph data</a:t>
            </a:r>
            <a:r>
              <a:rPr lang="en-US" sz="1600" i="0" dirty="0">
                <a:effectLst/>
                <a:latin typeface="Inter" panose="02000503000000020004" pitchFamily="2" charset="0"/>
                <a:ea typeface="Inter" panose="02000503000000020004" pitchFamily="2" charset="0"/>
                <a:cs typeface="Inter" panose="02000503000000020004" pitchFamily="2" charset="0"/>
              </a:rPr>
              <a:t>, but they might not </a:t>
            </a:r>
            <a:r>
              <a:rPr lang="en-US" sz="1600" dirty="0">
                <a:latin typeface="Inter" panose="02000503000000020004" pitchFamily="2" charset="0"/>
                <a:ea typeface="Inter" panose="02000503000000020004" pitchFamily="2" charset="0"/>
                <a:cs typeface="Inter" panose="02000503000000020004" pitchFamily="2" charset="0"/>
              </a:rPr>
              <a:t>know how to write </a:t>
            </a:r>
            <a:r>
              <a:rPr lang="en-US" sz="1600" b="1" dirty="0">
                <a:latin typeface="Inter" panose="02000503000000020004" pitchFamily="2" charset="0"/>
                <a:ea typeface="Inter" panose="02000503000000020004" pitchFamily="2" charset="0"/>
                <a:cs typeface="Inter" panose="02000503000000020004" pitchFamily="2" charset="0"/>
              </a:rPr>
              <a:t>Cypher</a:t>
            </a:r>
            <a:r>
              <a:rPr lang="en-US" sz="1600" dirty="0">
                <a:latin typeface="Inter" panose="02000503000000020004" pitchFamily="2" charset="0"/>
                <a:ea typeface="Inter" panose="02000503000000020004" pitchFamily="2" charset="0"/>
                <a:cs typeface="Inter" panose="02000503000000020004" pitchFamily="2" charset="0"/>
              </a:rPr>
              <a:t> commands.</a:t>
            </a:r>
          </a:p>
          <a:p>
            <a:pPr marL="285750" indent="-285750" algn="just">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They might </a:t>
            </a:r>
            <a:r>
              <a:rPr lang="en-US" sz="1600" b="1" dirty="0">
                <a:latin typeface="Inter" panose="02000503000000020004" pitchFamily="2" charset="0"/>
                <a:ea typeface="Inter" panose="02000503000000020004" pitchFamily="2" charset="0"/>
                <a:cs typeface="Inter" panose="02000503000000020004" pitchFamily="2" charset="0"/>
              </a:rPr>
              <a:t>depend on developers</a:t>
            </a:r>
            <a:r>
              <a:rPr lang="en-US" sz="1600" dirty="0">
                <a:latin typeface="Inter" panose="02000503000000020004" pitchFamily="2" charset="0"/>
                <a:ea typeface="Inter" panose="02000503000000020004" pitchFamily="2" charset="0"/>
                <a:cs typeface="Inter" panose="02000503000000020004" pitchFamily="2" charset="0"/>
              </a:rPr>
              <a:t> to access it.</a:t>
            </a:r>
          </a:p>
          <a:p>
            <a:pPr marL="285750" indent="-285750" algn="just">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This creates </a:t>
            </a:r>
            <a:r>
              <a:rPr lang="en-US" sz="1600" b="1" dirty="0">
                <a:latin typeface="Inter" panose="02000503000000020004" pitchFamily="2" charset="0"/>
                <a:ea typeface="Inter" panose="02000503000000020004" pitchFamily="2" charset="0"/>
                <a:cs typeface="Inter" panose="02000503000000020004" pitchFamily="2" charset="0"/>
              </a:rPr>
              <a:t>delays</a:t>
            </a:r>
            <a:r>
              <a:rPr lang="en-US" sz="1600" dirty="0">
                <a:latin typeface="Inter" panose="02000503000000020004" pitchFamily="2" charset="0"/>
                <a:ea typeface="Inter" panose="02000503000000020004" pitchFamily="2" charset="0"/>
                <a:cs typeface="Inter" panose="02000503000000020004" pitchFamily="2" charset="0"/>
              </a:rPr>
              <a:t> and keeps data locked.</a:t>
            </a:r>
          </a:p>
          <a:p>
            <a:pPr marL="285750" indent="-285750" algn="just">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There is a need for a </a:t>
            </a:r>
            <a:r>
              <a:rPr lang="en-US" sz="1600" b="1" dirty="0">
                <a:latin typeface="Inter" panose="02000503000000020004" pitchFamily="2" charset="0"/>
                <a:ea typeface="Inter" panose="02000503000000020004" pitchFamily="2" charset="0"/>
                <a:cs typeface="Inter" panose="02000503000000020004" pitchFamily="2" charset="0"/>
              </a:rPr>
              <a:t>secured</a:t>
            </a:r>
            <a:r>
              <a:rPr lang="en-US" sz="1600" dirty="0">
                <a:latin typeface="Inter" panose="02000503000000020004" pitchFamily="2" charset="0"/>
                <a:ea typeface="Inter" panose="02000503000000020004" pitchFamily="2" charset="0"/>
                <a:cs typeface="Inter" panose="02000503000000020004" pitchFamily="2" charset="0"/>
              </a:rPr>
              <a:t> and not too technical </a:t>
            </a:r>
            <a:r>
              <a:rPr lang="en-US" sz="1600" i="0" dirty="0">
                <a:effectLst/>
                <a:latin typeface="Inter" panose="02000503000000020004" pitchFamily="2" charset="0"/>
                <a:ea typeface="Inter" panose="02000503000000020004" pitchFamily="2" charset="0"/>
                <a:cs typeface="Inter" panose="02000503000000020004" pitchFamily="2" charset="0"/>
              </a:rPr>
              <a:t>tool.</a:t>
            </a:r>
            <a:endParaRPr lang="en-US" sz="1600" dirty="0">
              <a:latin typeface="Inter" panose="02000503000000020004" pitchFamily="2" charset="0"/>
              <a:ea typeface="Inter" panose="02000503000000020004" pitchFamily="2" charset="0"/>
              <a:cs typeface="Inter" panose="02000503000000020004" pitchFamily="2" charset="0"/>
            </a:endParaRPr>
          </a:p>
          <a:p>
            <a:pPr algn="just"/>
            <a:endParaRPr lang="en-US" sz="1600" b="1" dirty="0">
              <a:latin typeface="Inter" panose="02000503000000020004" pitchFamily="2" charset="0"/>
              <a:ea typeface="Inter" panose="02000503000000020004" pitchFamily="2" charset="0"/>
              <a:cs typeface="Inter" panose="02000503000000020004" pitchFamily="2" charset="0"/>
            </a:endParaRPr>
          </a:p>
          <a:p>
            <a:pPr algn="just"/>
            <a:r>
              <a:rPr lang="en-US" b="1" dirty="0">
                <a:latin typeface="Inter" panose="02000503000000020004" pitchFamily="2" charset="0"/>
                <a:ea typeface="Inter" panose="02000503000000020004" pitchFamily="2" charset="0"/>
                <a:cs typeface="Inter" panose="02000503000000020004" pitchFamily="2" charset="0"/>
              </a:rPr>
              <a:t>Solution</a:t>
            </a:r>
          </a:p>
          <a:p>
            <a:pPr algn="just"/>
            <a:r>
              <a:rPr lang="en-US" sz="1600" dirty="0">
                <a:latin typeface="Inter" panose="02000503000000020004" pitchFamily="2" charset="0"/>
                <a:ea typeface="Inter" panose="02000503000000020004" pitchFamily="2" charset="0"/>
                <a:cs typeface="Inter" panose="02000503000000020004" pitchFamily="2" charset="0"/>
              </a:rPr>
              <a:t>CINECA needs an </a:t>
            </a:r>
            <a:r>
              <a:rPr lang="en-US" sz="1600" b="1" dirty="0">
                <a:latin typeface="Inter" panose="02000503000000020004" pitchFamily="2" charset="0"/>
                <a:ea typeface="Inter" panose="02000503000000020004" pitchFamily="2" charset="0"/>
                <a:cs typeface="Inter" panose="02000503000000020004" pitchFamily="2" charset="0"/>
              </a:rPr>
              <a:t>agentic</a:t>
            </a:r>
            <a:r>
              <a:rPr lang="en-US" sz="1600" dirty="0">
                <a:latin typeface="Inter" panose="02000503000000020004" pitchFamily="2" charset="0"/>
                <a:ea typeface="Inter" panose="02000503000000020004" pitchFamily="2" charset="0"/>
                <a:cs typeface="Inter" panose="02000503000000020004" pitchFamily="2" charset="0"/>
              </a:rPr>
              <a:t> platform that turns natural-language requests into </a:t>
            </a:r>
            <a:r>
              <a:rPr lang="en-US" sz="1600" b="1" dirty="0">
                <a:latin typeface="Inter" panose="02000503000000020004" pitchFamily="2" charset="0"/>
                <a:ea typeface="Inter" panose="02000503000000020004" pitchFamily="2" charset="0"/>
                <a:cs typeface="Inter" panose="02000503000000020004" pitchFamily="2" charset="0"/>
              </a:rPr>
              <a:t>secure, traceable, </a:t>
            </a:r>
            <a:r>
              <a:rPr lang="en-US" sz="1600" dirty="0">
                <a:latin typeface="Inter" panose="02000503000000020004" pitchFamily="2" charset="0"/>
                <a:ea typeface="Inter" panose="02000503000000020004" pitchFamily="2" charset="0"/>
                <a:cs typeface="Inter" panose="02000503000000020004" pitchFamily="2" charset="0"/>
              </a:rPr>
              <a:t>and</a:t>
            </a:r>
            <a:r>
              <a:rPr lang="en-US" sz="1600" b="1" dirty="0">
                <a:latin typeface="Inter" panose="02000503000000020004" pitchFamily="2" charset="0"/>
                <a:ea typeface="Inter" panose="02000503000000020004" pitchFamily="2" charset="0"/>
                <a:cs typeface="Inter" panose="02000503000000020004" pitchFamily="2" charset="0"/>
              </a:rPr>
              <a:t> reproducible </a:t>
            </a:r>
            <a:r>
              <a:rPr lang="en-US" sz="1600" dirty="0">
                <a:latin typeface="Inter" panose="02000503000000020004" pitchFamily="2" charset="0"/>
                <a:ea typeface="Inter" panose="02000503000000020004" pitchFamily="2" charset="0"/>
                <a:cs typeface="Inter" panose="02000503000000020004" pitchFamily="2" charset="0"/>
              </a:rPr>
              <a:t>graph commands, while staying </a:t>
            </a:r>
            <a:r>
              <a:rPr lang="en-US" sz="1600" b="1" dirty="0">
                <a:latin typeface="Inter" panose="02000503000000020004" pitchFamily="2" charset="0"/>
                <a:ea typeface="Inter" panose="02000503000000020004" pitchFamily="2" charset="0"/>
                <a:cs typeface="Inter" panose="02000503000000020004" pitchFamily="2" charset="0"/>
              </a:rPr>
              <a:t>scalable</a:t>
            </a:r>
            <a:r>
              <a:rPr lang="en-US" sz="1600" dirty="0">
                <a:latin typeface="Inter" panose="02000503000000020004" pitchFamily="2" charset="0"/>
                <a:ea typeface="Inter" panose="02000503000000020004" pitchFamily="2" charset="0"/>
                <a:cs typeface="Inter" panose="02000503000000020004" pitchFamily="2" charset="0"/>
              </a:rPr>
              <a:t> and </a:t>
            </a:r>
            <a:r>
              <a:rPr lang="en-US" sz="1600" b="1" dirty="0">
                <a:latin typeface="Inter" panose="02000503000000020004" pitchFamily="2" charset="0"/>
                <a:ea typeface="Inter" panose="02000503000000020004" pitchFamily="2" charset="0"/>
                <a:cs typeface="Inter" panose="02000503000000020004" pitchFamily="2" charset="0"/>
              </a:rPr>
              <a:t>flexible</a:t>
            </a:r>
            <a:r>
              <a:rPr lang="en-US" sz="1600" dirty="0">
                <a:latin typeface="Inter" panose="02000503000000020004" pitchFamily="2" charset="0"/>
                <a:ea typeface="Inter" panose="02000503000000020004" pitchFamily="2" charset="0"/>
                <a:cs typeface="Inter" panose="02000503000000020004" pitchFamily="2" charset="0"/>
              </a:rPr>
              <a:t> across LLM providers.</a:t>
            </a:r>
          </a:p>
          <a:p>
            <a:pPr algn="just"/>
            <a:endParaRPr lang="en-US" sz="1600" dirty="0">
              <a:latin typeface="Inter" panose="02000503000000020004" pitchFamily="2" charset="0"/>
              <a:ea typeface="Inter" panose="02000503000000020004" pitchFamily="2" charset="0"/>
              <a:cs typeface="Inter" panose="02000503000000020004" pitchFamily="2" charset="0"/>
            </a:endParaRPr>
          </a:p>
          <a:p>
            <a:pPr algn="just"/>
            <a:endParaRPr lang="en-US" sz="1600" dirty="0">
              <a:latin typeface="Inter" panose="02000503000000020004" pitchFamily="2" charset="0"/>
              <a:ea typeface="Inter" panose="02000503000000020004" pitchFamily="2" charset="0"/>
              <a:cs typeface="Inter" panose="02000503000000020004" pitchFamily="2" charset="0"/>
            </a:endParaRPr>
          </a:p>
          <a:p>
            <a:pPr algn="just"/>
            <a:r>
              <a:rPr lang="en-US" b="1" dirty="0">
                <a:latin typeface="Inter" panose="02000503000000020004" pitchFamily="2" charset="0"/>
                <a:ea typeface="Inter" panose="02000503000000020004" pitchFamily="2" charset="0"/>
                <a:cs typeface="Inter" panose="02000503000000020004" pitchFamily="2" charset="0"/>
              </a:rPr>
              <a:t>Why an Agentic Platform? </a:t>
            </a:r>
          </a:p>
          <a:p>
            <a:pPr algn="just"/>
            <a:r>
              <a:rPr lang="en-US" sz="1600" dirty="0">
                <a:latin typeface="Inter" panose="02000503000000020004" pitchFamily="2" charset="0"/>
                <a:ea typeface="Inter" panose="02000503000000020004" pitchFamily="2" charset="0"/>
                <a:cs typeface="Inter" panose="02000503000000020004" pitchFamily="2" charset="0"/>
              </a:rPr>
              <a:t>Because simple chatbots lack:</a:t>
            </a:r>
          </a:p>
          <a:p>
            <a:pPr marL="285750" indent="-285750" algn="just">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Multi-step</a:t>
            </a:r>
            <a:r>
              <a:rPr lang="en-US" sz="1600" dirty="0">
                <a:latin typeface="Inter" panose="02000503000000020004" pitchFamily="2" charset="0"/>
                <a:ea typeface="Inter" panose="02000503000000020004" pitchFamily="2" charset="0"/>
                <a:cs typeface="Inter" panose="02000503000000020004" pitchFamily="2" charset="0"/>
              </a:rPr>
              <a:t> execution</a:t>
            </a:r>
          </a:p>
          <a:p>
            <a:pPr marL="285750" indent="-285750" algn="just">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Secure database and </a:t>
            </a:r>
            <a:r>
              <a:rPr lang="en-US" sz="1600" b="1" dirty="0">
                <a:latin typeface="Inter" panose="02000503000000020004" pitchFamily="2" charset="0"/>
                <a:ea typeface="Inter" panose="02000503000000020004" pitchFamily="2" charset="0"/>
                <a:cs typeface="Inter" panose="02000503000000020004" pitchFamily="2" charset="0"/>
              </a:rPr>
              <a:t>tool</a:t>
            </a:r>
            <a:r>
              <a:rPr lang="en-US" sz="1600" dirty="0">
                <a:latin typeface="Inter" panose="02000503000000020004" pitchFamily="2" charset="0"/>
                <a:ea typeface="Inter" panose="02000503000000020004" pitchFamily="2" charset="0"/>
                <a:cs typeface="Inter" panose="02000503000000020004" pitchFamily="2" charset="0"/>
              </a:rPr>
              <a:t> </a:t>
            </a:r>
            <a:r>
              <a:rPr lang="en-US" sz="1600" b="1" dirty="0">
                <a:latin typeface="Inter" panose="02000503000000020004" pitchFamily="2" charset="0"/>
                <a:ea typeface="Inter" panose="02000503000000020004" pitchFamily="2" charset="0"/>
                <a:cs typeface="Inter" panose="02000503000000020004" pitchFamily="2" charset="0"/>
              </a:rPr>
              <a:t>access</a:t>
            </a:r>
          </a:p>
          <a:p>
            <a:pPr marL="285750" indent="-285750" algn="just">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RBAC</a:t>
            </a:r>
            <a:r>
              <a:rPr lang="en-US" sz="1600" dirty="0">
                <a:latin typeface="Inter" panose="02000503000000020004" pitchFamily="2" charset="0"/>
                <a:ea typeface="Inter" panose="02000503000000020004" pitchFamily="2" charset="0"/>
                <a:cs typeface="Inter" panose="02000503000000020004" pitchFamily="2" charset="0"/>
              </a:rPr>
              <a:t> and </a:t>
            </a:r>
            <a:r>
              <a:rPr lang="en-US" sz="1600" b="1" dirty="0">
                <a:latin typeface="Inter" panose="02000503000000020004" pitchFamily="2" charset="0"/>
                <a:ea typeface="Inter" panose="02000503000000020004" pitchFamily="2" charset="0"/>
                <a:cs typeface="Inter" panose="02000503000000020004" pitchFamily="2" charset="0"/>
              </a:rPr>
              <a:t>tenant</a:t>
            </a:r>
            <a:r>
              <a:rPr lang="en-US" sz="1600" dirty="0">
                <a:latin typeface="Inter" panose="02000503000000020004" pitchFamily="2" charset="0"/>
                <a:ea typeface="Inter" panose="02000503000000020004" pitchFamily="2" charset="0"/>
                <a:cs typeface="Inter" panose="02000503000000020004" pitchFamily="2" charset="0"/>
              </a:rPr>
              <a:t> isolation</a:t>
            </a:r>
          </a:p>
        </p:txBody>
      </p:sp>
      <p:pic>
        <p:nvPicPr>
          <p:cNvPr id="4" name="Picture 15" descr="Fondino">
            <a:extLst>
              <a:ext uri="{FF2B5EF4-FFF2-40B4-BE49-F238E27FC236}">
                <a16:creationId xmlns:a16="http://schemas.microsoft.com/office/drawing/2014/main" id="{8A98BC7C-0058-E485-B23B-90819FB4BC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Slide Number Placeholder 11">
            <a:extLst>
              <a:ext uri="{FF2B5EF4-FFF2-40B4-BE49-F238E27FC236}">
                <a16:creationId xmlns:a16="http://schemas.microsoft.com/office/drawing/2014/main" id="{7F22908C-4C61-1F4E-BE95-319914978B71}"/>
              </a:ext>
            </a:extLst>
          </p:cNvPr>
          <p:cNvSpPr>
            <a:spLocks noGrp="1"/>
          </p:cNvSpPr>
          <p:nvPr>
            <p:ph type="sldNum" sz="quarter" idx="12"/>
          </p:nvPr>
        </p:nvSpPr>
        <p:spPr/>
        <p:txBody>
          <a:bodyPr/>
          <a:lstStyle/>
          <a:p>
            <a:fld id="{48F19E39-9933-F648-B2F3-3AC17C0DC986}" type="slidenum">
              <a:rPr lang="en-US" smtClean="0">
                <a:solidFill>
                  <a:schemeClr val="bg1"/>
                </a:solidFill>
              </a:rPr>
              <a:t>3</a:t>
            </a:fld>
            <a:r>
              <a:rPr lang="en-US" dirty="0">
                <a:solidFill>
                  <a:schemeClr val="bg1"/>
                </a:solidFill>
              </a:rPr>
              <a:t> / 17</a:t>
            </a:r>
          </a:p>
        </p:txBody>
      </p:sp>
      <p:sp>
        <p:nvSpPr>
          <p:cNvPr id="15" name="TextBox 14">
            <a:extLst>
              <a:ext uri="{FF2B5EF4-FFF2-40B4-BE49-F238E27FC236}">
                <a16:creationId xmlns:a16="http://schemas.microsoft.com/office/drawing/2014/main" id="{48E3E19D-1CCA-3D35-A993-D4243C8942BA}"/>
              </a:ext>
            </a:extLst>
          </p:cNvPr>
          <p:cNvSpPr txBox="1"/>
          <p:nvPr/>
        </p:nvSpPr>
        <p:spPr>
          <a:xfrm>
            <a:off x="596349" y="374273"/>
            <a:ext cx="10953226" cy="830997"/>
          </a:xfrm>
          <a:prstGeom prst="rect">
            <a:avLst/>
          </a:prstGeom>
          <a:noFill/>
        </p:spPr>
        <p:txBody>
          <a:bodyPr wrap="square" rtlCol="0">
            <a:spAutoFit/>
          </a:bodyPr>
          <a:lstStyle/>
          <a:p>
            <a:pPr algn="just"/>
            <a:r>
              <a:rPr lang="en-US" sz="2800" b="1" dirty="0">
                <a:solidFill>
                  <a:srgbClr val="822334"/>
                </a:solidFill>
                <a:latin typeface="Inter" panose="02000503000000020004" pitchFamily="2" charset="0"/>
                <a:ea typeface="Inter" panose="02000503000000020004" pitchFamily="2" charset="0"/>
                <a:cs typeface="Inter" panose="02000503000000020004" pitchFamily="2" charset="0"/>
              </a:rPr>
              <a:t>PROBLEM &amp; MOTIVATION</a:t>
            </a:r>
          </a:p>
          <a:p>
            <a:pPr algn="l"/>
            <a:r>
              <a:rPr lang="en-US" sz="2000" dirty="0">
                <a:solidFill>
                  <a:schemeClr val="bg2">
                    <a:lumMod val="50000"/>
                  </a:schemeClr>
                </a:solidFill>
                <a:latin typeface="Inter" panose="02000503000000020004" pitchFamily="2" charset="0"/>
                <a:ea typeface="Inter" panose="02000503000000020004" pitchFamily="2" charset="0"/>
                <a:cs typeface="Inter" panose="02000503000000020004" pitchFamily="2" charset="0"/>
              </a:rPr>
              <a:t>Production gap</a:t>
            </a:r>
            <a:endParaRPr lang="en-US" sz="2000" i="0" dirty="0">
              <a:solidFill>
                <a:schemeClr val="bg2">
                  <a:lumMod val="50000"/>
                </a:schemeClr>
              </a:solidFill>
              <a:effectLst/>
              <a:latin typeface="Inter" panose="02000503000000020004" pitchFamily="2" charset="0"/>
              <a:ea typeface="Inter" panose="02000503000000020004" pitchFamily="2" charset="0"/>
              <a:cs typeface="Inter" panose="02000503000000020004" pitchFamily="2" charset="0"/>
            </a:endParaRPr>
          </a:p>
        </p:txBody>
      </p:sp>
      <p:sp>
        <p:nvSpPr>
          <p:cNvPr id="8" name="Footer Placeholder 10">
            <a:extLst>
              <a:ext uri="{FF2B5EF4-FFF2-40B4-BE49-F238E27FC236}">
                <a16:creationId xmlns:a16="http://schemas.microsoft.com/office/drawing/2014/main" id="{8F19D6C9-D24B-C2D5-B6AA-DB75AB30AF69}"/>
              </a:ext>
            </a:extLst>
          </p:cNvPr>
          <p:cNvSpPr>
            <a:spLocks noGrp="1"/>
          </p:cNvSpPr>
          <p:nvPr>
            <p:ph type="ftr" sz="quarter" idx="11"/>
          </p:nvPr>
        </p:nvSpPr>
        <p:spPr>
          <a:xfrm>
            <a:off x="4566534" y="6356350"/>
            <a:ext cx="3058931" cy="365125"/>
          </a:xfrm>
        </p:spPr>
        <p:txBody>
          <a:bodyPr/>
          <a:lstStyle/>
          <a:p>
            <a:r>
              <a:rPr lang="en-US" dirty="0" err="1">
                <a:solidFill>
                  <a:schemeClr val="bg1"/>
                </a:solidFill>
                <a:latin typeface="Inter" panose="02000503000000020004" pitchFamily="2" charset="0"/>
                <a:ea typeface="Inter" panose="02000503000000020004" pitchFamily="2" charset="0"/>
                <a:cs typeface="Inter" panose="02000503000000020004" pitchFamily="2" charset="0"/>
              </a:rPr>
              <a:t>Cineca</a:t>
            </a:r>
            <a:r>
              <a:rPr lang="en-US" dirty="0">
                <a:solidFill>
                  <a:schemeClr val="bg1"/>
                </a:solidFill>
                <a:latin typeface="Inter" panose="02000503000000020004" pitchFamily="2" charset="0"/>
                <a:ea typeface="Inter" panose="02000503000000020004" pitchFamily="2" charset="0"/>
                <a:cs typeface="Inter" panose="02000503000000020004" pitchFamily="2" charset="0"/>
              </a:rPr>
              <a:t> Agentic Platform – Arman Feili</a:t>
            </a:r>
          </a:p>
        </p:txBody>
      </p:sp>
      <p:pic>
        <p:nvPicPr>
          <p:cNvPr id="9" name="Picture 8">
            <a:extLst>
              <a:ext uri="{FF2B5EF4-FFF2-40B4-BE49-F238E27FC236}">
                <a16:creationId xmlns:a16="http://schemas.microsoft.com/office/drawing/2014/main" id="{24C0B707-862D-A61B-C394-7554C87FABB2}"/>
              </a:ext>
            </a:extLst>
          </p:cNvPr>
          <p:cNvPicPr>
            <a:picLocks noChangeAspect="1"/>
          </p:cNvPicPr>
          <p:nvPr/>
        </p:nvPicPr>
        <p:blipFill>
          <a:blip r:embed="rId4"/>
          <a:stretch>
            <a:fillRect/>
          </a:stretch>
        </p:blipFill>
        <p:spPr>
          <a:xfrm>
            <a:off x="321777" y="6315552"/>
            <a:ext cx="435345" cy="435345"/>
          </a:xfrm>
          <a:prstGeom prst="rect">
            <a:avLst/>
          </a:prstGeom>
        </p:spPr>
      </p:pic>
      <p:pic>
        <p:nvPicPr>
          <p:cNvPr id="13" name="Picture 12">
            <a:extLst>
              <a:ext uri="{FF2B5EF4-FFF2-40B4-BE49-F238E27FC236}">
                <a16:creationId xmlns:a16="http://schemas.microsoft.com/office/drawing/2014/main" id="{ACC899B8-6D8F-5653-1863-8AB9D5023434}"/>
              </a:ext>
            </a:extLst>
          </p:cNvPr>
          <p:cNvPicPr>
            <a:picLocks noChangeAspect="1"/>
          </p:cNvPicPr>
          <p:nvPr/>
        </p:nvPicPr>
        <p:blipFill>
          <a:blip r:embed="rId5"/>
          <a:stretch>
            <a:fillRect/>
          </a:stretch>
        </p:blipFill>
        <p:spPr>
          <a:xfrm>
            <a:off x="866134" y="6362629"/>
            <a:ext cx="1093241" cy="365125"/>
          </a:xfrm>
          <a:prstGeom prst="rect">
            <a:avLst/>
          </a:prstGeom>
        </p:spPr>
      </p:pic>
      <p:pic>
        <p:nvPicPr>
          <p:cNvPr id="19" name="Picture 18">
            <a:extLst>
              <a:ext uri="{FF2B5EF4-FFF2-40B4-BE49-F238E27FC236}">
                <a16:creationId xmlns:a16="http://schemas.microsoft.com/office/drawing/2014/main" id="{B9B65959-E80D-9F15-FDF3-3584F3797EB2}"/>
              </a:ext>
            </a:extLst>
          </p:cNvPr>
          <p:cNvPicPr>
            <a:picLocks noChangeAspect="1"/>
          </p:cNvPicPr>
          <p:nvPr/>
        </p:nvPicPr>
        <p:blipFill>
          <a:blip r:embed="rId6"/>
          <a:srcRect l="3331" t="22835" r="2294" b="28343"/>
          <a:stretch/>
        </p:blipFill>
        <p:spPr>
          <a:xfrm>
            <a:off x="6206987" y="4170509"/>
            <a:ext cx="4525563" cy="1754811"/>
          </a:xfrm>
          <a:prstGeom prst="rect">
            <a:avLst/>
          </a:prstGeom>
        </p:spPr>
      </p:pic>
    </p:spTree>
    <p:extLst>
      <p:ext uri="{BB962C8B-B14F-4D97-AF65-F5344CB8AC3E}">
        <p14:creationId xmlns:p14="http://schemas.microsoft.com/office/powerpoint/2010/main" val="31116517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F79F2C-13A6-DA3F-981D-D1617CB0F7BB}"/>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73C84BF9-0925-EBEC-B180-3431DA1893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Slide Number Placeholder 11">
            <a:extLst>
              <a:ext uri="{FF2B5EF4-FFF2-40B4-BE49-F238E27FC236}">
                <a16:creationId xmlns:a16="http://schemas.microsoft.com/office/drawing/2014/main" id="{2EE020B3-E6EF-8C3D-6561-9145603A5D80}"/>
              </a:ext>
            </a:extLst>
          </p:cNvPr>
          <p:cNvSpPr>
            <a:spLocks noGrp="1"/>
          </p:cNvSpPr>
          <p:nvPr>
            <p:ph type="sldNum" sz="quarter" idx="12"/>
          </p:nvPr>
        </p:nvSpPr>
        <p:spPr/>
        <p:txBody>
          <a:bodyPr/>
          <a:lstStyle/>
          <a:p>
            <a:fld id="{48F19E39-9933-F648-B2F3-3AC17C0DC986}" type="slidenum">
              <a:rPr lang="en-US" smtClean="0">
                <a:solidFill>
                  <a:schemeClr val="bg1"/>
                </a:solidFill>
              </a:rPr>
              <a:t>4</a:t>
            </a:fld>
            <a:r>
              <a:rPr lang="en-US" dirty="0">
                <a:solidFill>
                  <a:schemeClr val="bg1"/>
                </a:solidFill>
              </a:rPr>
              <a:t> / 17</a:t>
            </a:r>
          </a:p>
        </p:txBody>
      </p:sp>
      <p:sp>
        <p:nvSpPr>
          <p:cNvPr id="15" name="TextBox 14">
            <a:extLst>
              <a:ext uri="{FF2B5EF4-FFF2-40B4-BE49-F238E27FC236}">
                <a16:creationId xmlns:a16="http://schemas.microsoft.com/office/drawing/2014/main" id="{8EDAE21E-077C-16A9-51C9-EF38FBE4247F}"/>
              </a:ext>
            </a:extLst>
          </p:cNvPr>
          <p:cNvSpPr txBox="1"/>
          <p:nvPr/>
        </p:nvSpPr>
        <p:spPr>
          <a:xfrm>
            <a:off x="596349" y="374273"/>
            <a:ext cx="10953226" cy="830997"/>
          </a:xfrm>
          <a:prstGeom prst="rect">
            <a:avLst/>
          </a:prstGeom>
          <a:noFill/>
        </p:spPr>
        <p:txBody>
          <a:bodyPr wrap="square" rtlCol="0">
            <a:spAutoFit/>
          </a:bodyPr>
          <a:lstStyle/>
          <a:p>
            <a:pPr algn="just"/>
            <a:r>
              <a:rPr lang="en-US" sz="2800" b="1" dirty="0">
                <a:solidFill>
                  <a:srgbClr val="822334"/>
                </a:solidFill>
                <a:latin typeface="Inter" panose="02000503000000020004" pitchFamily="2" charset="0"/>
                <a:ea typeface="Inter" panose="02000503000000020004" pitchFamily="2" charset="0"/>
                <a:cs typeface="Inter" panose="02000503000000020004" pitchFamily="2" charset="0"/>
              </a:rPr>
              <a:t>WHAT WAS DELIVERED</a:t>
            </a:r>
          </a:p>
          <a:p>
            <a:pPr algn="just"/>
            <a:r>
              <a:rPr lang="en-US" sz="2000" dirty="0">
                <a:solidFill>
                  <a:schemeClr val="bg2">
                    <a:lumMod val="50000"/>
                  </a:schemeClr>
                </a:solidFill>
                <a:latin typeface="Inter" panose="02000503000000020004" pitchFamily="2" charset="0"/>
                <a:ea typeface="Inter" panose="02000503000000020004" pitchFamily="2" charset="0"/>
                <a:cs typeface="Inter" panose="02000503000000020004" pitchFamily="2" charset="0"/>
              </a:rPr>
              <a:t>A production-ready agentic platform for secure natural-language access to graph data.</a:t>
            </a:r>
          </a:p>
        </p:txBody>
      </p:sp>
      <p:sp>
        <p:nvSpPr>
          <p:cNvPr id="2" name="Footer Placeholder 10">
            <a:extLst>
              <a:ext uri="{FF2B5EF4-FFF2-40B4-BE49-F238E27FC236}">
                <a16:creationId xmlns:a16="http://schemas.microsoft.com/office/drawing/2014/main" id="{68135B46-E0F3-B6D0-C423-7CBF07FCF9D9}"/>
              </a:ext>
            </a:extLst>
          </p:cNvPr>
          <p:cNvSpPr>
            <a:spLocks noGrp="1"/>
          </p:cNvSpPr>
          <p:nvPr>
            <p:ph type="ftr" sz="quarter" idx="11"/>
          </p:nvPr>
        </p:nvSpPr>
        <p:spPr>
          <a:xfrm>
            <a:off x="4566534" y="6356350"/>
            <a:ext cx="3058931" cy="365125"/>
          </a:xfrm>
        </p:spPr>
        <p:txBody>
          <a:bodyPr/>
          <a:lstStyle/>
          <a:p>
            <a:r>
              <a:rPr lang="en-US" dirty="0" err="1">
                <a:solidFill>
                  <a:schemeClr val="bg1"/>
                </a:solidFill>
                <a:latin typeface="Inter" panose="02000503000000020004" pitchFamily="2" charset="0"/>
                <a:ea typeface="Inter" panose="02000503000000020004" pitchFamily="2" charset="0"/>
                <a:cs typeface="Inter" panose="02000503000000020004" pitchFamily="2" charset="0"/>
              </a:rPr>
              <a:t>Cineca</a:t>
            </a:r>
            <a:r>
              <a:rPr lang="en-US" dirty="0">
                <a:solidFill>
                  <a:schemeClr val="bg1"/>
                </a:solidFill>
                <a:latin typeface="Inter" panose="02000503000000020004" pitchFamily="2" charset="0"/>
                <a:ea typeface="Inter" panose="02000503000000020004" pitchFamily="2" charset="0"/>
                <a:cs typeface="Inter" panose="02000503000000020004" pitchFamily="2" charset="0"/>
              </a:rPr>
              <a:t> Agentic Platform – Arman Feili</a:t>
            </a:r>
          </a:p>
        </p:txBody>
      </p:sp>
      <p:pic>
        <p:nvPicPr>
          <p:cNvPr id="3" name="Picture 2">
            <a:extLst>
              <a:ext uri="{FF2B5EF4-FFF2-40B4-BE49-F238E27FC236}">
                <a16:creationId xmlns:a16="http://schemas.microsoft.com/office/drawing/2014/main" id="{F3BF56AF-83A4-76AF-1586-EAC985603048}"/>
              </a:ext>
            </a:extLst>
          </p:cNvPr>
          <p:cNvPicPr>
            <a:picLocks noChangeAspect="1"/>
          </p:cNvPicPr>
          <p:nvPr/>
        </p:nvPicPr>
        <p:blipFill>
          <a:blip r:embed="rId4"/>
          <a:stretch>
            <a:fillRect/>
          </a:stretch>
        </p:blipFill>
        <p:spPr>
          <a:xfrm>
            <a:off x="321777" y="6315552"/>
            <a:ext cx="435345" cy="435345"/>
          </a:xfrm>
          <a:prstGeom prst="rect">
            <a:avLst/>
          </a:prstGeom>
        </p:spPr>
      </p:pic>
      <p:pic>
        <p:nvPicPr>
          <p:cNvPr id="5" name="Picture 4">
            <a:extLst>
              <a:ext uri="{FF2B5EF4-FFF2-40B4-BE49-F238E27FC236}">
                <a16:creationId xmlns:a16="http://schemas.microsoft.com/office/drawing/2014/main" id="{6A6F4535-4161-4B3A-8709-B39FA9464B0F}"/>
              </a:ext>
            </a:extLst>
          </p:cNvPr>
          <p:cNvPicPr>
            <a:picLocks noChangeAspect="1"/>
          </p:cNvPicPr>
          <p:nvPr/>
        </p:nvPicPr>
        <p:blipFill>
          <a:blip r:embed="rId5"/>
          <a:stretch>
            <a:fillRect/>
          </a:stretch>
        </p:blipFill>
        <p:spPr>
          <a:xfrm>
            <a:off x="866134" y="6362629"/>
            <a:ext cx="1093241" cy="365125"/>
          </a:xfrm>
          <a:prstGeom prst="rect">
            <a:avLst/>
          </a:prstGeom>
        </p:spPr>
      </p:pic>
      <p:pic>
        <p:nvPicPr>
          <p:cNvPr id="24" name="Picture 23">
            <a:extLst>
              <a:ext uri="{FF2B5EF4-FFF2-40B4-BE49-F238E27FC236}">
                <a16:creationId xmlns:a16="http://schemas.microsoft.com/office/drawing/2014/main" id="{86F60582-E53E-8D31-7A2B-83BFF2ED01E4}"/>
              </a:ext>
            </a:extLst>
          </p:cNvPr>
          <p:cNvPicPr>
            <a:picLocks noChangeAspect="1"/>
          </p:cNvPicPr>
          <p:nvPr/>
        </p:nvPicPr>
        <p:blipFill>
          <a:blip r:embed="rId6"/>
          <a:srcRect l="3832" r="3695" b="3195"/>
          <a:stretch/>
        </p:blipFill>
        <p:spPr>
          <a:xfrm>
            <a:off x="3938007" y="1864817"/>
            <a:ext cx="3934986" cy="4119333"/>
          </a:xfrm>
          <a:prstGeom prst="rect">
            <a:avLst/>
          </a:prstGeom>
        </p:spPr>
      </p:pic>
      <p:sp>
        <p:nvSpPr>
          <p:cNvPr id="25" name="TextBox 24">
            <a:extLst>
              <a:ext uri="{FF2B5EF4-FFF2-40B4-BE49-F238E27FC236}">
                <a16:creationId xmlns:a16="http://schemas.microsoft.com/office/drawing/2014/main" id="{37C6B726-0E69-635A-877B-9276371D6E6B}"/>
              </a:ext>
            </a:extLst>
          </p:cNvPr>
          <p:cNvSpPr txBox="1"/>
          <p:nvPr/>
        </p:nvSpPr>
        <p:spPr>
          <a:xfrm>
            <a:off x="2038943" y="2237688"/>
            <a:ext cx="2136280" cy="338554"/>
          </a:xfrm>
          <a:prstGeom prst="rect">
            <a:avLst/>
          </a:prstGeom>
          <a:noFill/>
        </p:spPr>
        <p:txBody>
          <a:bodyPr wrap="square" rtlCol="0">
            <a:spAutoFit/>
          </a:bodyPr>
          <a:lstStyle/>
          <a:p>
            <a:r>
              <a:rPr lang="en-US" sz="1600" dirty="0">
                <a:latin typeface="Inter" panose="02000503000000020004" pitchFamily="2" charset="0"/>
                <a:ea typeface="Inter" panose="02000503000000020004" pitchFamily="2" charset="0"/>
                <a:cs typeface="Inter" panose="02000503000000020004" pitchFamily="2" charset="0"/>
              </a:rPr>
              <a:t>Full-stack platform </a:t>
            </a:r>
          </a:p>
        </p:txBody>
      </p:sp>
      <p:sp>
        <p:nvSpPr>
          <p:cNvPr id="26" name="TextBox 25">
            <a:extLst>
              <a:ext uri="{FF2B5EF4-FFF2-40B4-BE49-F238E27FC236}">
                <a16:creationId xmlns:a16="http://schemas.microsoft.com/office/drawing/2014/main" id="{90C1D283-EAAC-3A7A-7656-D36B7A19AA42}"/>
              </a:ext>
            </a:extLst>
          </p:cNvPr>
          <p:cNvSpPr txBox="1"/>
          <p:nvPr/>
        </p:nvSpPr>
        <p:spPr>
          <a:xfrm>
            <a:off x="4729566" y="1552669"/>
            <a:ext cx="2336882" cy="338554"/>
          </a:xfrm>
          <a:prstGeom prst="rect">
            <a:avLst/>
          </a:prstGeom>
          <a:noFill/>
        </p:spPr>
        <p:txBody>
          <a:bodyPr wrap="square" rtlCol="0">
            <a:spAutoFit/>
          </a:bodyPr>
          <a:lstStyle/>
          <a:p>
            <a:r>
              <a:rPr lang="en-US" sz="1600" dirty="0">
                <a:latin typeface="Inter" panose="02000503000000020004" pitchFamily="2" charset="0"/>
                <a:ea typeface="Inter" panose="02000503000000020004" pitchFamily="2" charset="0"/>
                <a:cs typeface="Inter" panose="02000503000000020004" pitchFamily="2" charset="0"/>
              </a:rPr>
              <a:t>4-phase orchestration </a:t>
            </a:r>
          </a:p>
        </p:txBody>
      </p:sp>
      <p:sp>
        <p:nvSpPr>
          <p:cNvPr id="27" name="TextBox 26">
            <a:extLst>
              <a:ext uri="{FF2B5EF4-FFF2-40B4-BE49-F238E27FC236}">
                <a16:creationId xmlns:a16="http://schemas.microsoft.com/office/drawing/2014/main" id="{1D4DC594-968F-7705-BB5A-BC98720931B1}"/>
              </a:ext>
            </a:extLst>
          </p:cNvPr>
          <p:cNvSpPr txBox="1"/>
          <p:nvPr/>
        </p:nvSpPr>
        <p:spPr>
          <a:xfrm>
            <a:off x="7757687" y="2315698"/>
            <a:ext cx="3164918" cy="338554"/>
          </a:xfrm>
          <a:prstGeom prst="rect">
            <a:avLst/>
          </a:prstGeom>
          <a:noFill/>
        </p:spPr>
        <p:txBody>
          <a:bodyPr wrap="square" rtlCol="0">
            <a:spAutoFit/>
          </a:bodyPr>
          <a:lstStyle/>
          <a:p>
            <a:r>
              <a:rPr lang="en-US" sz="1600" dirty="0">
                <a:latin typeface="Inter" panose="02000503000000020004" pitchFamily="2" charset="0"/>
                <a:ea typeface="Inter" panose="02000503000000020004" pitchFamily="2" charset="0"/>
                <a:cs typeface="Inter" panose="02000503000000020004" pitchFamily="2" charset="0"/>
              </a:rPr>
              <a:t>Secure </a:t>
            </a:r>
            <a:r>
              <a:rPr lang="en-US" sz="1600" dirty="0" err="1">
                <a:latin typeface="Inter" panose="02000503000000020004" pitchFamily="2" charset="0"/>
                <a:ea typeface="Inter" panose="02000503000000020004" pitchFamily="2" charset="0"/>
                <a:cs typeface="Inter" panose="02000503000000020004" pitchFamily="2" charset="0"/>
              </a:rPr>
              <a:t>NL→Cypher</a:t>
            </a:r>
            <a:r>
              <a:rPr lang="en-US" sz="1600" dirty="0">
                <a:latin typeface="Inter" panose="02000503000000020004" pitchFamily="2" charset="0"/>
                <a:ea typeface="Inter" panose="02000503000000020004" pitchFamily="2" charset="0"/>
                <a:cs typeface="Inter" panose="02000503000000020004" pitchFamily="2" charset="0"/>
              </a:rPr>
              <a:t> pipeline</a:t>
            </a:r>
          </a:p>
        </p:txBody>
      </p:sp>
      <p:sp>
        <p:nvSpPr>
          <p:cNvPr id="28" name="TextBox 27">
            <a:extLst>
              <a:ext uri="{FF2B5EF4-FFF2-40B4-BE49-F238E27FC236}">
                <a16:creationId xmlns:a16="http://schemas.microsoft.com/office/drawing/2014/main" id="{21797004-42F4-1C68-0AED-48CA1FB09FDE}"/>
              </a:ext>
            </a:extLst>
          </p:cNvPr>
          <p:cNvSpPr txBox="1"/>
          <p:nvPr/>
        </p:nvSpPr>
        <p:spPr>
          <a:xfrm>
            <a:off x="2038943" y="3815384"/>
            <a:ext cx="2136280" cy="338554"/>
          </a:xfrm>
          <a:prstGeom prst="rect">
            <a:avLst/>
          </a:prstGeom>
          <a:noFill/>
        </p:spPr>
        <p:txBody>
          <a:bodyPr wrap="square" rtlCol="0">
            <a:spAutoFit/>
          </a:bodyPr>
          <a:lstStyle/>
          <a:p>
            <a:r>
              <a:rPr lang="en-US" sz="1600" dirty="0">
                <a:latin typeface="Inter" panose="02000503000000020004" pitchFamily="2" charset="0"/>
                <a:ea typeface="Inter" panose="02000503000000020004" pitchFamily="2" charset="0"/>
                <a:cs typeface="Inter" panose="02000503000000020004" pitchFamily="2" charset="0"/>
              </a:rPr>
              <a:t>Monitoring System</a:t>
            </a:r>
          </a:p>
        </p:txBody>
      </p:sp>
      <p:sp>
        <p:nvSpPr>
          <p:cNvPr id="29" name="TextBox 28">
            <a:extLst>
              <a:ext uri="{FF2B5EF4-FFF2-40B4-BE49-F238E27FC236}">
                <a16:creationId xmlns:a16="http://schemas.microsoft.com/office/drawing/2014/main" id="{3C431779-84E9-5944-7D9D-7213120FF9D1}"/>
              </a:ext>
            </a:extLst>
          </p:cNvPr>
          <p:cNvSpPr txBox="1"/>
          <p:nvPr/>
        </p:nvSpPr>
        <p:spPr>
          <a:xfrm>
            <a:off x="7926000" y="3273151"/>
            <a:ext cx="3237299" cy="338554"/>
          </a:xfrm>
          <a:prstGeom prst="rect">
            <a:avLst/>
          </a:prstGeom>
          <a:noFill/>
        </p:spPr>
        <p:txBody>
          <a:bodyPr wrap="square" rtlCol="0">
            <a:spAutoFit/>
          </a:bodyPr>
          <a:lstStyle/>
          <a:p>
            <a:r>
              <a:rPr lang="en-US" sz="1600" dirty="0">
                <a:latin typeface="Inter" panose="02000503000000020004" pitchFamily="2" charset="0"/>
                <a:ea typeface="Inter" panose="02000503000000020004" pitchFamily="2" charset="0"/>
                <a:cs typeface="Inter" panose="02000503000000020004" pitchFamily="2" charset="0"/>
              </a:rPr>
              <a:t>Multi-tenant isolation support</a:t>
            </a:r>
          </a:p>
        </p:txBody>
      </p:sp>
      <p:sp>
        <p:nvSpPr>
          <p:cNvPr id="30" name="TextBox 29">
            <a:extLst>
              <a:ext uri="{FF2B5EF4-FFF2-40B4-BE49-F238E27FC236}">
                <a16:creationId xmlns:a16="http://schemas.microsoft.com/office/drawing/2014/main" id="{9E1907A8-3BB2-1272-E818-B21850D1B7F4}"/>
              </a:ext>
            </a:extLst>
          </p:cNvPr>
          <p:cNvSpPr txBox="1"/>
          <p:nvPr/>
        </p:nvSpPr>
        <p:spPr>
          <a:xfrm>
            <a:off x="7757687" y="4054612"/>
            <a:ext cx="2996604" cy="338554"/>
          </a:xfrm>
          <a:prstGeom prst="rect">
            <a:avLst/>
          </a:prstGeom>
          <a:noFill/>
        </p:spPr>
        <p:txBody>
          <a:bodyPr wrap="square" rtlCol="0">
            <a:spAutoFit/>
          </a:bodyPr>
          <a:lstStyle/>
          <a:p>
            <a:r>
              <a:rPr lang="en-US" sz="1600" dirty="0">
                <a:latin typeface="Inter" panose="02000503000000020004" pitchFamily="2" charset="0"/>
                <a:ea typeface="Inter" panose="02000503000000020004" pitchFamily="2" charset="0"/>
                <a:cs typeface="Inter" panose="02000503000000020004" pitchFamily="2" charset="0"/>
              </a:rPr>
              <a:t>Multi-model support for LLM</a:t>
            </a:r>
          </a:p>
        </p:txBody>
      </p:sp>
      <p:sp>
        <p:nvSpPr>
          <p:cNvPr id="31" name="TextBox 30">
            <a:extLst>
              <a:ext uri="{FF2B5EF4-FFF2-40B4-BE49-F238E27FC236}">
                <a16:creationId xmlns:a16="http://schemas.microsoft.com/office/drawing/2014/main" id="{7FEE8977-63FB-4B4F-CA38-0DF1700205F3}"/>
              </a:ext>
            </a:extLst>
          </p:cNvPr>
          <p:cNvSpPr txBox="1"/>
          <p:nvPr/>
        </p:nvSpPr>
        <p:spPr>
          <a:xfrm>
            <a:off x="7757687" y="4393166"/>
            <a:ext cx="2556798" cy="338554"/>
          </a:xfrm>
          <a:prstGeom prst="rect">
            <a:avLst/>
          </a:prstGeom>
          <a:noFill/>
        </p:spPr>
        <p:txBody>
          <a:bodyPr wrap="square" rtlCol="0">
            <a:spAutoFit/>
          </a:bodyPr>
          <a:lstStyle/>
          <a:p>
            <a:r>
              <a:rPr lang="en-US" sz="1600" dirty="0">
                <a:latin typeface="Inter" panose="02000503000000020004" pitchFamily="2" charset="0"/>
                <a:ea typeface="Inter" panose="02000503000000020004" pitchFamily="2" charset="0"/>
                <a:cs typeface="Inter" panose="02000503000000020004" pitchFamily="2" charset="0"/>
              </a:rPr>
              <a:t>Async jobs and workers</a:t>
            </a:r>
          </a:p>
        </p:txBody>
      </p:sp>
      <p:sp>
        <p:nvSpPr>
          <p:cNvPr id="35" name="TextBox 34">
            <a:extLst>
              <a:ext uri="{FF2B5EF4-FFF2-40B4-BE49-F238E27FC236}">
                <a16:creationId xmlns:a16="http://schemas.microsoft.com/office/drawing/2014/main" id="{CEE62AE9-D068-E6CA-3089-28DC1429E101}"/>
              </a:ext>
            </a:extLst>
          </p:cNvPr>
          <p:cNvSpPr txBox="1"/>
          <p:nvPr/>
        </p:nvSpPr>
        <p:spPr>
          <a:xfrm>
            <a:off x="596349" y="1529016"/>
            <a:ext cx="3626331" cy="369332"/>
          </a:xfrm>
          <a:prstGeom prst="rect">
            <a:avLst/>
          </a:prstGeom>
          <a:noFill/>
        </p:spPr>
        <p:txBody>
          <a:bodyPr wrap="square" rtlCol="0">
            <a:spAutoFit/>
          </a:bodyPr>
          <a:lstStyle/>
          <a:p>
            <a:r>
              <a:rPr lang="en-US" b="1" dirty="0">
                <a:latin typeface="Inter" panose="02000503000000020004" pitchFamily="2" charset="0"/>
                <a:ea typeface="Inter" panose="02000503000000020004" pitchFamily="2" charset="0"/>
                <a:cs typeface="Inter" panose="02000503000000020004" pitchFamily="2" charset="0"/>
              </a:rPr>
              <a:t>Core Delivery</a:t>
            </a:r>
          </a:p>
        </p:txBody>
      </p:sp>
      <p:sp>
        <p:nvSpPr>
          <p:cNvPr id="7" name="TextBox 6">
            <a:extLst>
              <a:ext uri="{FF2B5EF4-FFF2-40B4-BE49-F238E27FC236}">
                <a16:creationId xmlns:a16="http://schemas.microsoft.com/office/drawing/2014/main" id="{2840B9D3-F03D-BA78-6BDB-5A68F742BB61}"/>
              </a:ext>
            </a:extLst>
          </p:cNvPr>
          <p:cNvSpPr txBox="1"/>
          <p:nvPr/>
        </p:nvSpPr>
        <p:spPr>
          <a:xfrm>
            <a:off x="3035301" y="5941635"/>
            <a:ext cx="5270500" cy="276999"/>
          </a:xfrm>
          <a:prstGeom prst="rect">
            <a:avLst/>
          </a:prstGeom>
          <a:noFill/>
        </p:spPr>
        <p:txBody>
          <a:bodyPr wrap="square">
            <a:spAutoFit/>
          </a:bodyPr>
          <a:lstStyle/>
          <a:p>
            <a:r>
              <a:rPr lang="en-US" sz="1200" dirty="0">
                <a:latin typeface="Inter" panose="02000503000000020004" pitchFamily="2" charset="0"/>
                <a:ea typeface="Inter" panose="02000503000000020004" pitchFamily="2" charset="0"/>
                <a:cs typeface="Inter" panose="02000503000000020004" pitchFamily="2" charset="0"/>
              </a:rPr>
              <a:t>Docker Components   Endpoints    MCP tools     Tests     Lines of Code</a:t>
            </a:r>
            <a:endParaRPr lang="en-US" sz="1200" dirty="0"/>
          </a:p>
        </p:txBody>
      </p:sp>
    </p:spTree>
    <p:extLst>
      <p:ext uri="{BB962C8B-B14F-4D97-AF65-F5344CB8AC3E}">
        <p14:creationId xmlns:p14="http://schemas.microsoft.com/office/powerpoint/2010/main" val="10467508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F93B4-7EFF-6877-4A92-7FD6C5B4ECB2}"/>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BADCE589-CEC0-7F75-6C75-5210D1899D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Slide Number Placeholder 11">
            <a:extLst>
              <a:ext uri="{FF2B5EF4-FFF2-40B4-BE49-F238E27FC236}">
                <a16:creationId xmlns:a16="http://schemas.microsoft.com/office/drawing/2014/main" id="{17F384E7-5592-3B39-2800-8891C760FCE7}"/>
              </a:ext>
            </a:extLst>
          </p:cNvPr>
          <p:cNvSpPr>
            <a:spLocks noGrp="1"/>
          </p:cNvSpPr>
          <p:nvPr>
            <p:ph type="sldNum" sz="quarter" idx="12"/>
          </p:nvPr>
        </p:nvSpPr>
        <p:spPr/>
        <p:txBody>
          <a:bodyPr/>
          <a:lstStyle/>
          <a:p>
            <a:fld id="{48F19E39-9933-F648-B2F3-3AC17C0DC986}" type="slidenum">
              <a:rPr lang="en-US" smtClean="0">
                <a:solidFill>
                  <a:schemeClr val="bg1"/>
                </a:solidFill>
              </a:rPr>
              <a:t>5</a:t>
            </a:fld>
            <a:r>
              <a:rPr lang="en-US" dirty="0">
                <a:solidFill>
                  <a:schemeClr val="bg1"/>
                </a:solidFill>
              </a:rPr>
              <a:t> / 17</a:t>
            </a:r>
          </a:p>
        </p:txBody>
      </p:sp>
      <p:sp>
        <p:nvSpPr>
          <p:cNvPr id="2" name="TextBox 1">
            <a:extLst>
              <a:ext uri="{FF2B5EF4-FFF2-40B4-BE49-F238E27FC236}">
                <a16:creationId xmlns:a16="http://schemas.microsoft.com/office/drawing/2014/main" id="{885F3E51-9D2C-E0AD-1F09-D1FA984FB33A}"/>
              </a:ext>
            </a:extLst>
          </p:cNvPr>
          <p:cNvSpPr txBox="1"/>
          <p:nvPr/>
        </p:nvSpPr>
        <p:spPr>
          <a:xfrm>
            <a:off x="596348" y="374273"/>
            <a:ext cx="11038604" cy="830997"/>
          </a:xfrm>
          <a:prstGeom prst="rect">
            <a:avLst/>
          </a:prstGeom>
          <a:noFill/>
        </p:spPr>
        <p:txBody>
          <a:bodyPr wrap="square" rtlCol="0">
            <a:spAutoFit/>
          </a:bodyPr>
          <a:lstStyle/>
          <a:p>
            <a:pPr algn="just"/>
            <a:r>
              <a:rPr lang="en-US" sz="2800" b="1" dirty="0">
                <a:solidFill>
                  <a:srgbClr val="822334"/>
                </a:solidFill>
                <a:latin typeface="Inter" panose="02000503000000020004" pitchFamily="2" charset="0"/>
                <a:ea typeface="Inter" panose="02000503000000020004" pitchFamily="2" charset="0"/>
                <a:cs typeface="Inter" panose="02000503000000020004" pitchFamily="2" charset="0"/>
              </a:rPr>
              <a:t>SYSTEM WORKFLOW</a:t>
            </a:r>
          </a:p>
          <a:p>
            <a:pPr algn="just"/>
            <a:r>
              <a:rPr lang="en-US" sz="2000" dirty="0">
                <a:solidFill>
                  <a:schemeClr val="bg2">
                    <a:lumMod val="50000"/>
                  </a:schemeClr>
                </a:solidFill>
                <a:latin typeface="Inter" panose="02000503000000020004" pitchFamily="2" charset="0"/>
                <a:ea typeface="Inter" panose="02000503000000020004" pitchFamily="2" charset="0"/>
                <a:cs typeface="Inter" panose="02000503000000020004" pitchFamily="2" charset="0"/>
              </a:rPr>
              <a:t>Platform Architecture</a:t>
            </a:r>
          </a:p>
        </p:txBody>
      </p:sp>
      <p:sp>
        <p:nvSpPr>
          <p:cNvPr id="14" name="Footer Placeholder 10">
            <a:extLst>
              <a:ext uri="{FF2B5EF4-FFF2-40B4-BE49-F238E27FC236}">
                <a16:creationId xmlns:a16="http://schemas.microsoft.com/office/drawing/2014/main" id="{D544D7FD-8E19-60AC-F1F5-CA4F904BEA22}"/>
              </a:ext>
            </a:extLst>
          </p:cNvPr>
          <p:cNvSpPr>
            <a:spLocks noGrp="1"/>
          </p:cNvSpPr>
          <p:nvPr>
            <p:ph type="ftr" sz="quarter" idx="11"/>
          </p:nvPr>
        </p:nvSpPr>
        <p:spPr>
          <a:xfrm>
            <a:off x="4566534" y="6356350"/>
            <a:ext cx="3058931" cy="365125"/>
          </a:xfrm>
        </p:spPr>
        <p:txBody>
          <a:bodyPr/>
          <a:lstStyle/>
          <a:p>
            <a:r>
              <a:rPr lang="en-US" dirty="0" err="1">
                <a:solidFill>
                  <a:schemeClr val="bg1"/>
                </a:solidFill>
                <a:latin typeface="Inter" panose="02000503000000020004" pitchFamily="2" charset="0"/>
                <a:ea typeface="Inter" panose="02000503000000020004" pitchFamily="2" charset="0"/>
                <a:cs typeface="Inter" panose="02000503000000020004" pitchFamily="2" charset="0"/>
              </a:rPr>
              <a:t>Cineca</a:t>
            </a:r>
            <a:r>
              <a:rPr lang="en-US" dirty="0">
                <a:solidFill>
                  <a:schemeClr val="bg1"/>
                </a:solidFill>
                <a:latin typeface="Inter" panose="02000503000000020004" pitchFamily="2" charset="0"/>
                <a:ea typeface="Inter" panose="02000503000000020004" pitchFamily="2" charset="0"/>
                <a:cs typeface="Inter" panose="02000503000000020004" pitchFamily="2" charset="0"/>
              </a:rPr>
              <a:t> Agentic Platform – Arman Feili</a:t>
            </a:r>
          </a:p>
        </p:txBody>
      </p:sp>
      <p:pic>
        <p:nvPicPr>
          <p:cNvPr id="15" name="Picture 14">
            <a:extLst>
              <a:ext uri="{FF2B5EF4-FFF2-40B4-BE49-F238E27FC236}">
                <a16:creationId xmlns:a16="http://schemas.microsoft.com/office/drawing/2014/main" id="{E7AB31E3-4AF7-0EDC-F3A8-1B20E82EEBA3}"/>
              </a:ext>
            </a:extLst>
          </p:cNvPr>
          <p:cNvPicPr>
            <a:picLocks noChangeAspect="1"/>
          </p:cNvPicPr>
          <p:nvPr/>
        </p:nvPicPr>
        <p:blipFill>
          <a:blip r:embed="rId4"/>
          <a:stretch>
            <a:fillRect/>
          </a:stretch>
        </p:blipFill>
        <p:spPr>
          <a:xfrm>
            <a:off x="321777" y="6315552"/>
            <a:ext cx="435345" cy="435345"/>
          </a:xfrm>
          <a:prstGeom prst="rect">
            <a:avLst/>
          </a:prstGeom>
        </p:spPr>
      </p:pic>
      <p:pic>
        <p:nvPicPr>
          <p:cNvPr id="16" name="Picture 15">
            <a:extLst>
              <a:ext uri="{FF2B5EF4-FFF2-40B4-BE49-F238E27FC236}">
                <a16:creationId xmlns:a16="http://schemas.microsoft.com/office/drawing/2014/main" id="{03A6B193-CFEF-D05D-2C79-32C0F84E54B3}"/>
              </a:ext>
            </a:extLst>
          </p:cNvPr>
          <p:cNvPicPr>
            <a:picLocks noChangeAspect="1"/>
          </p:cNvPicPr>
          <p:nvPr/>
        </p:nvPicPr>
        <p:blipFill>
          <a:blip r:embed="rId5"/>
          <a:stretch>
            <a:fillRect/>
          </a:stretch>
        </p:blipFill>
        <p:spPr>
          <a:xfrm>
            <a:off x="866134" y="6362629"/>
            <a:ext cx="1093241" cy="365125"/>
          </a:xfrm>
          <a:prstGeom prst="rect">
            <a:avLst/>
          </a:prstGeom>
        </p:spPr>
      </p:pic>
      <p:pic>
        <p:nvPicPr>
          <p:cNvPr id="22" name="Picture 21">
            <a:extLst>
              <a:ext uri="{FF2B5EF4-FFF2-40B4-BE49-F238E27FC236}">
                <a16:creationId xmlns:a16="http://schemas.microsoft.com/office/drawing/2014/main" id="{713EF9A7-712A-546F-E6C5-3403219EE175}"/>
              </a:ext>
            </a:extLst>
          </p:cNvPr>
          <p:cNvPicPr>
            <a:picLocks noChangeAspect="1"/>
          </p:cNvPicPr>
          <p:nvPr/>
        </p:nvPicPr>
        <p:blipFill>
          <a:blip r:embed="rId6"/>
          <a:stretch>
            <a:fillRect/>
          </a:stretch>
        </p:blipFill>
        <p:spPr>
          <a:xfrm>
            <a:off x="596348" y="1658562"/>
            <a:ext cx="11005431" cy="3540876"/>
          </a:xfrm>
          <a:prstGeom prst="rect">
            <a:avLst/>
          </a:prstGeom>
        </p:spPr>
      </p:pic>
    </p:spTree>
    <p:extLst>
      <p:ext uri="{BB962C8B-B14F-4D97-AF65-F5344CB8AC3E}">
        <p14:creationId xmlns:p14="http://schemas.microsoft.com/office/powerpoint/2010/main" val="4009916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65288-3215-C5AA-B682-DDC22EB9FE9F}"/>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12695705-FAE5-FCCB-07A6-04628299CC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Slide Number Placeholder 11">
            <a:extLst>
              <a:ext uri="{FF2B5EF4-FFF2-40B4-BE49-F238E27FC236}">
                <a16:creationId xmlns:a16="http://schemas.microsoft.com/office/drawing/2014/main" id="{58A0B9F0-364D-7066-320D-0F084EB8974A}"/>
              </a:ext>
            </a:extLst>
          </p:cNvPr>
          <p:cNvSpPr>
            <a:spLocks noGrp="1"/>
          </p:cNvSpPr>
          <p:nvPr>
            <p:ph type="sldNum" sz="quarter" idx="12"/>
          </p:nvPr>
        </p:nvSpPr>
        <p:spPr/>
        <p:txBody>
          <a:bodyPr/>
          <a:lstStyle/>
          <a:p>
            <a:fld id="{48F19E39-9933-F648-B2F3-3AC17C0DC986}" type="slidenum">
              <a:rPr lang="en-US" smtClean="0">
                <a:solidFill>
                  <a:schemeClr val="bg1"/>
                </a:solidFill>
              </a:rPr>
              <a:t>6</a:t>
            </a:fld>
            <a:r>
              <a:rPr lang="en-US" dirty="0">
                <a:solidFill>
                  <a:schemeClr val="bg1"/>
                </a:solidFill>
              </a:rPr>
              <a:t> / 17</a:t>
            </a:r>
          </a:p>
        </p:txBody>
      </p:sp>
      <p:sp>
        <p:nvSpPr>
          <p:cNvPr id="15" name="TextBox 14">
            <a:extLst>
              <a:ext uri="{FF2B5EF4-FFF2-40B4-BE49-F238E27FC236}">
                <a16:creationId xmlns:a16="http://schemas.microsoft.com/office/drawing/2014/main" id="{69BBD39C-E47B-FC1E-81F0-A55582D4D824}"/>
              </a:ext>
            </a:extLst>
          </p:cNvPr>
          <p:cNvSpPr txBox="1"/>
          <p:nvPr/>
        </p:nvSpPr>
        <p:spPr>
          <a:xfrm>
            <a:off x="596349" y="374273"/>
            <a:ext cx="10953226" cy="830997"/>
          </a:xfrm>
          <a:prstGeom prst="rect">
            <a:avLst/>
          </a:prstGeom>
          <a:noFill/>
        </p:spPr>
        <p:txBody>
          <a:bodyPr wrap="square" rtlCol="0">
            <a:spAutoFit/>
          </a:bodyPr>
          <a:lstStyle/>
          <a:p>
            <a:pPr algn="just"/>
            <a:r>
              <a:rPr lang="en-US" sz="2800" b="1" dirty="0">
                <a:solidFill>
                  <a:srgbClr val="822334"/>
                </a:solidFill>
                <a:latin typeface="Inter" panose="02000503000000020004" pitchFamily="2" charset="0"/>
                <a:ea typeface="Inter" panose="02000503000000020004" pitchFamily="2" charset="0"/>
                <a:cs typeface="Inter" panose="02000503000000020004" pitchFamily="2" charset="0"/>
              </a:rPr>
              <a:t>UI</a:t>
            </a:r>
          </a:p>
          <a:p>
            <a:pPr algn="just"/>
            <a:r>
              <a:rPr lang="en-US" sz="2000" dirty="0">
                <a:solidFill>
                  <a:schemeClr val="bg2">
                    <a:lumMod val="50000"/>
                  </a:schemeClr>
                </a:solidFill>
                <a:latin typeface="Inter" panose="02000503000000020004" pitchFamily="2" charset="0"/>
                <a:ea typeface="Inter" panose="02000503000000020004" pitchFamily="2" charset="0"/>
                <a:cs typeface="Inter" panose="02000503000000020004" pitchFamily="2" charset="0"/>
              </a:rPr>
              <a:t>Admin &amp; User chatbot UI</a:t>
            </a:r>
            <a:endParaRPr lang="en-US" sz="2000" b="1" dirty="0">
              <a:solidFill>
                <a:schemeClr val="bg2">
                  <a:lumMod val="50000"/>
                </a:schemeClr>
              </a:solidFill>
              <a:latin typeface="Inter" panose="02000503000000020004" pitchFamily="2" charset="0"/>
              <a:ea typeface="Inter" panose="02000503000000020004" pitchFamily="2" charset="0"/>
              <a:cs typeface="Inter" panose="02000503000000020004" pitchFamily="2" charset="0"/>
            </a:endParaRPr>
          </a:p>
        </p:txBody>
      </p:sp>
      <p:pic>
        <p:nvPicPr>
          <p:cNvPr id="5" name="Picture 4">
            <a:extLst>
              <a:ext uri="{FF2B5EF4-FFF2-40B4-BE49-F238E27FC236}">
                <a16:creationId xmlns:a16="http://schemas.microsoft.com/office/drawing/2014/main" id="{164C1954-8B01-AC26-DCDB-C72D2C2FEED1}"/>
              </a:ext>
            </a:extLst>
          </p:cNvPr>
          <p:cNvPicPr>
            <a:picLocks noChangeAspect="1"/>
          </p:cNvPicPr>
          <p:nvPr/>
        </p:nvPicPr>
        <p:blipFill>
          <a:blip r:embed="rId4"/>
          <a:stretch>
            <a:fillRect/>
          </a:stretch>
        </p:blipFill>
        <p:spPr>
          <a:xfrm>
            <a:off x="9247354" y="1430478"/>
            <a:ext cx="2106446" cy="455976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Footer Placeholder 10">
            <a:extLst>
              <a:ext uri="{FF2B5EF4-FFF2-40B4-BE49-F238E27FC236}">
                <a16:creationId xmlns:a16="http://schemas.microsoft.com/office/drawing/2014/main" id="{E55BDCC8-4E08-3737-B787-4AED91CC69F2}"/>
              </a:ext>
            </a:extLst>
          </p:cNvPr>
          <p:cNvSpPr>
            <a:spLocks noGrp="1"/>
          </p:cNvSpPr>
          <p:nvPr>
            <p:ph type="ftr" sz="quarter" idx="11"/>
          </p:nvPr>
        </p:nvSpPr>
        <p:spPr>
          <a:xfrm>
            <a:off x="4566534" y="6356350"/>
            <a:ext cx="3058931" cy="365125"/>
          </a:xfrm>
        </p:spPr>
        <p:txBody>
          <a:bodyPr/>
          <a:lstStyle/>
          <a:p>
            <a:r>
              <a:rPr lang="en-US" dirty="0" err="1">
                <a:solidFill>
                  <a:schemeClr val="bg1"/>
                </a:solidFill>
                <a:latin typeface="Inter" panose="02000503000000020004" pitchFamily="2" charset="0"/>
                <a:ea typeface="Inter" panose="02000503000000020004" pitchFamily="2" charset="0"/>
                <a:cs typeface="Inter" panose="02000503000000020004" pitchFamily="2" charset="0"/>
              </a:rPr>
              <a:t>Cineca</a:t>
            </a:r>
            <a:r>
              <a:rPr lang="en-US" dirty="0">
                <a:solidFill>
                  <a:schemeClr val="bg1"/>
                </a:solidFill>
                <a:latin typeface="Inter" panose="02000503000000020004" pitchFamily="2" charset="0"/>
                <a:ea typeface="Inter" panose="02000503000000020004" pitchFamily="2" charset="0"/>
                <a:cs typeface="Inter" panose="02000503000000020004" pitchFamily="2" charset="0"/>
              </a:rPr>
              <a:t> Agentic Platform – Arman Feili</a:t>
            </a:r>
          </a:p>
        </p:txBody>
      </p:sp>
      <p:pic>
        <p:nvPicPr>
          <p:cNvPr id="8" name="Picture 7">
            <a:extLst>
              <a:ext uri="{FF2B5EF4-FFF2-40B4-BE49-F238E27FC236}">
                <a16:creationId xmlns:a16="http://schemas.microsoft.com/office/drawing/2014/main" id="{88E17EF4-1D3D-B23E-841D-C3139B8B1A2B}"/>
              </a:ext>
            </a:extLst>
          </p:cNvPr>
          <p:cNvPicPr>
            <a:picLocks noChangeAspect="1"/>
          </p:cNvPicPr>
          <p:nvPr/>
        </p:nvPicPr>
        <p:blipFill>
          <a:blip r:embed="rId5"/>
          <a:stretch>
            <a:fillRect/>
          </a:stretch>
        </p:blipFill>
        <p:spPr>
          <a:xfrm>
            <a:off x="321777" y="6315552"/>
            <a:ext cx="435345" cy="435345"/>
          </a:xfrm>
          <a:prstGeom prst="rect">
            <a:avLst/>
          </a:prstGeom>
        </p:spPr>
      </p:pic>
      <p:pic>
        <p:nvPicPr>
          <p:cNvPr id="9" name="Picture 8">
            <a:extLst>
              <a:ext uri="{FF2B5EF4-FFF2-40B4-BE49-F238E27FC236}">
                <a16:creationId xmlns:a16="http://schemas.microsoft.com/office/drawing/2014/main" id="{CFCD187E-A96E-F79D-E2C2-854654FEAAFD}"/>
              </a:ext>
            </a:extLst>
          </p:cNvPr>
          <p:cNvPicPr>
            <a:picLocks noChangeAspect="1"/>
          </p:cNvPicPr>
          <p:nvPr/>
        </p:nvPicPr>
        <p:blipFill>
          <a:blip r:embed="rId6"/>
          <a:stretch>
            <a:fillRect/>
          </a:stretch>
        </p:blipFill>
        <p:spPr>
          <a:xfrm>
            <a:off x="866134" y="6362629"/>
            <a:ext cx="1093241" cy="365125"/>
          </a:xfrm>
          <a:prstGeom prst="rect">
            <a:avLst/>
          </a:prstGeom>
        </p:spPr>
      </p:pic>
      <p:graphicFrame>
        <p:nvGraphicFramePr>
          <p:cNvPr id="27" name="Table 26">
            <a:extLst>
              <a:ext uri="{FF2B5EF4-FFF2-40B4-BE49-F238E27FC236}">
                <a16:creationId xmlns:a16="http://schemas.microsoft.com/office/drawing/2014/main" id="{A72729E9-8FED-1C53-162B-264ABBD27183}"/>
              </a:ext>
            </a:extLst>
          </p:cNvPr>
          <p:cNvGraphicFramePr>
            <a:graphicFrameLocks noGrp="1"/>
          </p:cNvGraphicFramePr>
          <p:nvPr>
            <p:extLst>
              <p:ext uri="{D42A27DB-BD31-4B8C-83A1-F6EECF244321}">
                <p14:modId xmlns:p14="http://schemas.microsoft.com/office/powerpoint/2010/main" val="4256924005"/>
              </p:ext>
            </p:extLst>
          </p:nvPr>
        </p:nvGraphicFramePr>
        <p:xfrm>
          <a:off x="983211" y="5000850"/>
          <a:ext cx="5945216" cy="868680"/>
        </p:xfrm>
        <a:graphic>
          <a:graphicData uri="http://schemas.openxmlformats.org/drawingml/2006/table">
            <a:tbl>
              <a:tblPr>
                <a:tableStyleId>{21E4AEA4-8DFA-4A89-87EB-49C32662AFE0}</a:tableStyleId>
              </a:tblPr>
              <a:tblGrid>
                <a:gridCol w="832745">
                  <a:extLst>
                    <a:ext uri="{9D8B030D-6E8A-4147-A177-3AD203B41FA5}">
                      <a16:colId xmlns:a16="http://schemas.microsoft.com/office/drawing/2014/main" val="2901218323"/>
                    </a:ext>
                  </a:extLst>
                </a:gridCol>
                <a:gridCol w="1258587">
                  <a:extLst>
                    <a:ext uri="{9D8B030D-6E8A-4147-A177-3AD203B41FA5}">
                      <a16:colId xmlns:a16="http://schemas.microsoft.com/office/drawing/2014/main" val="377770775"/>
                    </a:ext>
                  </a:extLst>
                </a:gridCol>
                <a:gridCol w="773348">
                  <a:extLst>
                    <a:ext uri="{9D8B030D-6E8A-4147-A177-3AD203B41FA5}">
                      <a16:colId xmlns:a16="http://schemas.microsoft.com/office/drawing/2014/main" val="4033670224"/>
                    </a:ext>
                  </a:extLst>
                </a:gridCol>
                <a:gridCol w="784562">
                  <a:extLst>
                    <a:ext uri="{9D8B030D-6E8A-4147-A177-3AD203B41FA5}">
                      <a16:colId xmlns:a16="http://schemas.microsoft.com/office/drawing/2014/main" val="1996386480"/>
                    </a:ext>
                  </a:extLst>
                </a:gridCol>
                <a:gridCol w="837287">
                  <a:extLst>
                    <a:ext uri="{9D8B030D-6E8A-4147-A177-3AD203B41FA5}">
                      <a16:colId xmlns:a16="http://schemas.microsoft.com/office/drawing/2014/main" val="1490375004"/>
                    </a:ext>
                  </a:extLst>
                </a:gridCol>
                <a:gridCol w="1458687">
                  <a:extLst>
                    <a:ext uri="{9D8B030D-6E8A-4147-A177-3AD203B41FA5}">
                      <a16:colId xmlns:a16="http://schemas.microsoft.com/office/drawing/2014/main" val="1430761344"/>
                    </a:ext>
                  </a:extLst>
                </a:gridCol>
              </a:tblGrid>
              <a:tr h="0">
                <a:tc>
                  <a:txBody>
                    <a:bodyPr/>
                    <a:lstStyle/>
                    <a:p>
                      <a:r>
                        <a:rPr lang="en-US" sz="1400" b="1" dirty="0">
                          <a:effectLst/>
                          <a:latin typeface="Inter" panose="02000503000000020004" pitchFamily="2" charset="0"/>
                          <a:ea typeface="Inter" panose="02000503000000020004" pitchFamily="2" charset="0"/>
                          <a:cs typeface="Inter" panose="02000503000000020004" pitchFamily="2" charset="0"/>
                        </a:rPr>
                        <a:t>Role</a:t>
                      </a:r>
                    </a:p>
                  </a:txBody>
                  <a:tcPr marL="57150" marR="57150" marT="38100" marB="38100" anchor="ctr"/>
                </a:tc>
                <a:tc>
                  <a:txBody>
                    <a:bodyPr/>
                    <a:lstStyle/>
                    <a:p>
                      <a:r>
                        <a:rPr lang="en-US" sz="1400" b="1" dirty="0">
                          <a:effectLst/>
                          <a:latin typeface="Inter" panose="02000503000000020004" pitchFamily="2" charset="0"/>
                          <a:ea typeface="Inter" panose="02000503000000020004" pitchFamily="2" charset="0"/>
                          <a:cs typeface="Inter" panose="02000503000000020004" pitchFamily="2" charset="0"/>
                        </a:rPr>
                        <a:t>agent-runs</a:t>
                      </a:r>
                    </a:p>
                  </a:txBody>
                  <a:tcPr marL="57150" marR="57150" marT="38100" marB="38100" anchor="ctr"/>
                </a:tc>
                <a:tc>
                  <a:txBody>
                    <a:bodyPr/>
                    <a:lstStyle/>
                    <a:p>
                      <a:r>
                        <a:rPr lang="en-US" sz="1400" b="1" dirty="0">
                          <a:effectLst/>
                          <a:latin typeface="Inter" panose="02000503000000020004" pitchFamily="2" charset="0"/>
                          <a:ea typeface="Inter" panose="02000503000000020004" pitchFamily="2" charset="0"/>
                          <a:cs typeface="Inter" panose="02000503000000020004" pitchFamily="2" charset="0"/>
                        </a:rPr>
                        <a:t>jobs</a:t>
                      </a:r>
                    </a:p>
                  </a:txBody>
                  <a:tcPr marL="57150" marR="57150" marT="38100" marB="38100" anchor="ctr"/>
                </a:tc>
                <a:tc>
                  <a:txBody>
                    <a:bodyPr/>
                    <a:lstStyle/>
                    <a:p>
                      <a:r>
                        <a:rPr lang="en-US" sz="1400" b="1">
                          <a:effectLst/>
                          <a:latin typeface="Inter" panose="02000503000000020004" pitchFamily="2" charset="0"/>
                          <a:ea typeface="Inter" panose="02000503000000020004" pitchFamily="2" charset="0"/>
                          <a:cs typeface="Inter" panose="02000503000000020004" pitchFamily="2" charset="0"/>
                        </a:rPr>
                        <a:t>tools</a:t>
                      </a:r>
                    </a:p>
                  </a:txBody>
                  <a:tcPr marL="57150" marR="57150" marT="38100" marB="38100" anchor="ctr"/>
                </a:tc>
                <a:tc>
                  <a:txBody>
                    <a:bodyPr/>
                    <a:lstStyle/>
                    <a:p>
                      <a:r>
                        <a:rPr lang="en-US" sz="1400" b="1" dirty="0">
                          <a:effectLst/>
                          <a:latin typeface="Inter" panose="02000503000000020004" pitchFamily="2" charset="0"/>
                          <a:ea typeface="Inter" panose="02000503000000020004" pitchFamily="2" charset="0"/>
                          <a:cs typeface="Inter" panose="02000503000000020004" pitchFamily="2" charset="0"/>
                        </a:rPr>
                        <a:t>tenants</a:t>
                      </a:r>
                    </a:p>
                  </a:txBody>
                  <a:tcPr marL="57150" marR="57150" marT="38100" marB="38100" anchor="ctr"/>
                </a:tc>
                <a:tc>
                  <a:txBody>
                    <a:bodyPr/>
                    <a:lstStyle/>
                    <a:p>
                      <a:r>
                        <a:rPr lang="en-US" sz="1400" b="1" dirty="0">
                          <a:effectLst/>
                          <a:latin typeface="Inter" panose="02000503000000020004" pitchFamily="2" charset="0"/>
                          <a:ea typeface="Inter" panose="02000503000000020004" pitchFamily="2" charset="0"/>
                          <a:cs typeface="Inter" panose="02000503000000020004" pitchFamily="2" charset="0"/>
                        </a:rPr>
                        <a:t>Graph (write)</a:t>
                      </a:r>
                    </a:p>
                  </a:txBody>
                  <a:tcPr marL="57150" marR="57150" marT="38100" marB="38100" anchor="ctr"/>
                </a:tc>
                <a:extLst>
                  <a:ext uri="{0D108BD9-81ED-4DB2-BD59-A6C34878D82A}">
                    <a16:rowId xmlns:a16="http://schemas.microsoft.com/office/drawing/2014/main" val="3423743289"/>
                  </a:ext>
                </a:extLst>
              </a:tr>
              <a:tr h="0">
                <a:tc>
                  <a:txBody>
                    <a:bodyPr/>
                    <a:lstStyle/>
                    <a:p>
                      <a:r>
                        <a:rPr lang="en-US" sz="1400" dirty="0">
                          <a:effectLst/>
                          <a:latin typeface="Inter" panose="02000503000000020004" pitchFamily="2" charset="0"/>
                          <a:ea typeface="Inter" panose="02000503000000020004" pitchFamily="2" charset="0"/>
                          <a:cs typeface="Inter" panose="02000503000000020004" pitchFamily="2" charset="0"/>
                        </a:rPr>
                        <a:t>admin</a:t>
                      </a:r>
                    </a:p>
                  </a:txBody>
                  <a:tcPr marL="57150" marR="57150" marT="38100" marB="38100" anchor="ctr"/>
                </a:tc>
                <a:tc>
                  <a:txBody>
                    <a:bodyPr/>
                    <a:lstStyle/>
                    <a:p>
                      <a:r>
                        <a:rPr lang="en-US" sz="1400" dirty="0">
                          <a:effectLst/>
                          <a:latin typeface="Inter" panose="02000503000000020004" pitchFamily="2" charset="0"/>
                          <a:ea typeface="Inter" panose="02000503000000020004" pitchFamily="2" charset="0"/>
                          <a:cs typeface="Inter" panose="02000503000000020004" pitchFamily="2" charset="0"/>
                        </a:rPr>
                        <a:t>CRUD</a:t>
                      </a:r>
                    </a:p>
                  </a:txBody>
                  <a:tcPr marL="57150" marR="57150" marT="38100" marB="38100" anchor="ctr"/>
                </a:tc>
                <a:tc>
                  <a:txBody>
                    <a:bodyPr/>
                    <a:lstStyle/>
                    <a:p>
                      <a:r>
                        <a:rPr lang="en-US" sz="1400" dirty="0">
                          <a:effectLst/>
                          <a:latin typeface="Inter" panose="02000503000000020004" pitchFamily="2" charset="0"/>
                          <a:ea typeface="Inter" panose="02000503000000020004" pitchFamily="2" charset="0"/>
                          <a:cs typeface="Inter" panose="02000503000000020004" pitchFamily="2" charset="0"/>
                        </a:rPr>
                        <a:t>CRUD</a:t>
                      </a:r>
                    </a:p>
                  </a:txBody>
                  <a:tcPr marL="57150" marR="57150" marT="38100" marB="38100" anchor="ctr"/>
                </a:tc>
                <a:tc>
                  <a:txBody>
                    <a:bodyPr/>
                    <a:lstStyle/>
                    <a:p>
                      <a:r>
                        <a:rPr lang="en-US" sz="1400">
                          <a:effectLst/>
                          <a:latin typeface="Inter" panose="02000503000000020004" pitchFamily="2" charset="0"/>
                          <a:ea typeface="Inter" panose="02000503000000020004" pitchFamily="2" charset="0"/>
                          <a:cs typeface="Inter" panose="02000503000000020004" pitchFamily="2" charset="0"/>
                        </a:rPr>
                        <a:t>CRUD</a:t>
                      </a:r>
                    </a:p>
                  </a:txBody>
                  <a:tcPr marL="57150" marR="57150" marT="38100" marB="38100" anchor="ctr"/>
                </a:tc>
                <a:tc>
                  <a:txBody>
                    <a:bodyPr/>
                    <a:lstStyle/>
                    <a:p>
                      <a:r>
                        <a:rPr lang="en-US" sz="1400">
                          <a:effectLst/>
                          <a:latin typeface="Inter" panose="02000503000000020004" pitchFamily="2" charset="0"/>
                          <a:ea typeface="Inter" panose="02000503000000020004" pitchFamily="2" charset="0"/>
                          <a:cs typeface="Inter" panose="02000503000000020004" pitchFamily="2" charset="0"/>
                        </a:rPr>
                        <a:t>CRUD</a:t>
                      </a:r>
                    </a:p>
                  </a:txBody>
                  <a:tcPr marL="57150" marR="57150" marT="38100" marB="38100" anchor="ctr"/>
                </a:tc>
                <a:tc>
                  <a:txBody>
                    <a:bodyPr/>
                    <a:lstStyle/>
                    <a:p>
                      <a:r>
                        <a:rPr lang="en-US" sz="1400">
                          <a:effectLst/>
                          <a:latin typeface="Inter" panose="02000503000000020004" pitchFamily="2" charset="0"/>
                          <a:ea typeface="Inter" panose="02000503000000020004" pitchFamily="2" charset="0"/>
                          <a:cs typeface="Inter" panose="02000503000000020004" pitchFamily="2" charset="0"/>
                        </a:rPr>
                        <a:t>✓</a:t>
                      </a:r>
                    </a:p>
                  </a:txBody>
                  <a:tcPr marL="57150" marR="57150" marT="38100" marB="38100" anchor="ctr"/>
                </a:tc>
                <a:extLst>
                  <a:ext uri="{0D108BD9-81ED-4DB2-BD59-A6C34878D82A}">
                    <a16:rowId xmlns:a16="http://schemas.microsoft.com/office/drawing/2014/main" val="1509805184"/>
                  </a:ext>
                </a:extLst>
              </a:tr>
              <a:tr h="0">
                <a:tc>
                  <a:txBody>
                    <a:bodyPr/>
                    <a:lstStyle/>
                    <a:p>
                      <a:r>
                        <a:rPr lang="en-US" sz="1400">
                          <a:effectLst/>
                          <a:latin typeface="Inter" panose="02000503000000020004" pitchFamily="2" charset="0"/>
                          <a:ea typeface="Inter" panose="02000503000000020004" pitchFamily="2" charset="0"/>
                          <a:cs typeface="Inter" panose="02000503000000020004" pitchFamily="2" charset="0"/>
                        </a:rPr>
                        <a:t>user</a:t>
                      </a:r>
                    </a:p>
                  </a:txBody>
                  <a:tcPr marL="57150" marR="57150" marT="38100" marB="38100" anchor="ctr"/>
                </a:tc>
                <a:tc>
                  <a:txBody>
                    <a:bodyPr/>
                    <a:lstStyle/>
                    <a:p>
                      <a:r>
                        <a:rPr lang="en-US" sz="1400" dirty="0">
                          <a:effectLst/>
                          <a:latin typeface="Inter" panose="02000503000000020004" pitchFamily="2" charset="0"/>
                          <a:ea typeface="Inter" panose="02000503000000020004" pitchFamily="2" charset="0"/>
                          <a:cs typeface="Inter" panose="02000503000000020004" pitchFamily="2" charset="0"/>
                        </a:rPr>
                        <a:t>CR</a:t>
                      </a:r>
                    </a:p>
                  </a:txBody>
                  <a:tcPr marL="57150" marR="57150" marT="38100" marB="38100" anchor="ctr"/>
                </a:tc>
                <a:tc>
                  <a:txBody>
                    <a:bodyPr/>
                    <a:lstStyle/>
                    <a:p>
                      <a:r>
                        <a:rPr lang="en-US" sz="1400">
                          <a:effectLst/>
                          <a:latin typeface="Inter" panose="02000503000000020004" pitchFamily="2" charset="0"/>
                          <a:ea typeface="Inter" panose="02000503000000020004" pitchFamily="2" charset="0"/>
                          <a:cs typeface="Inter" panose="02000503000000020004" pitchFamily="2" charset="0"/>
                        </a:rPr>
                        <a:t>CRD</a:t>
                      </a:r>
                    </a:p>
                  </a:txBody>
                  <a:tcPr marL="57150" marR="57150" marT="38100" marB="38100" anchor="ctr"/>
                </a:tc>
                <a:tc>
                  <a:txBody>
                    <a:bodyPr/>
                    <a:lstStyle/>
                    <a:p>
                      <a:r>
                        <a:rPr lang="en-US" sz="1400" dirty="0">
                          <a:effectLst/>
                          <a:latin typeface="Inter" panose="02000503000000020004" pitchFamily="2" charset="0"/>
                          <a:ea typeface="Inter" panose="02000503000000020004" pitchFamily="2" charset="0"/>
                          <a:cs typeface="Inter" panose="02000503000000020004" pitchFamily="2" charset="0"/>
                        </a:rPr>
                        <a:t>R</a:t>
                      </a:r>
                    </a:p>
                  </a:txBody>
                  <a:tcPr marL="57150" marR="57150" marT="38100" marB="38100" anchor="ctr"/>
                </a:tc>
                <a:tc>
                  <a:txBody>
                    <a:bodyPr/>
                    <a:lstStyle/>
                    <a:p>
                      <a:r>
                        <a:rPr lang="en-US" sz="1400">
                          <a:effectLst/>
                          <a:latin typeface="Inter" panose="02000503000000020004" pitchFamily="2" charset="0"/>
                          <a:ea typeface="Inter" panose="02000503000000020004" pitchFamily="2" charset="0"/>
                          <a:cs typeface="Inter" panose="02000503000000020004" pitchFamily="2" charset="0"/>
                        </a:rPr>
                        <a:t>✗</a:t>
                      </a:r>
                    </a:p>
                  </a:txBody>
                  <a:tcPr marL="57150" marR="57150" marT="38100" marB="38100" anchor="ctr"/>
                </a:tc>
                <a:tc>
                  <a:txBody>
                    <a:bodyPr/>
                    <a:lstStyle/>
                    <a:p>
                      <a:r>
                        <a:rPr lang="en-US" sz="1400" dirty="0">
                          <a:effectLst/>
                          <a:latin typeface="Inter" panose="02000503000000020004" pitchFamily="2" charset="0"/>
                          <a:ea typeface="Inter" panose="02000503000000020004" pitchFamily="2" charset="0"/>
                          <a:cs typeface="Inter" panose="02000503000000020004" pitchFamily="2" charset="0"/>
                        </a:rPr>
                        <a:t>✗</a:t>
                      </a:r>
                    </a:p>
                  </a:txBody>
                  <a:tcPr marL="57150" marR="57150" marT="38100" marB="38100" anchor="ctr"/>
                </a:tc>
                <a:extLst>
                  <a:ext uri="{0D108BD9-81ED-4DB2-BD59-A6C34878D82A}">
                    <a16:rowId xmlns:a16="http://schemas.microsoft.com/office/drawing/2014/main" val="3055337032"/>
                  </a:ext>
                </a:extLst>
              </a:tr>
            </a:tbl>
          </a:graphicData>
        </a:graphic>
      </p:graphicFrame>
      <p:sp>
        <p:nvSpPr>
          <p:cNvPr id="28" name="TextBox 27">
            <a:extLst>
              <a:ext uri="{FF2B5EF4-FFF2-40B4-BE49-F238E27FC236}">
                <a16:creationId xmlns:a16="http://schemas.microsoft.com/office/drawing/2014/main" id="{2AE05C3E-E6C8-647F-7E07-E044A2B43212}"/>
              </a:ext>
            </a:extLst>
          </p:cNvPr>
          <p:cNvSpPr txBox="1"/>
          <p:nvPr/>
        </p:nvSpPr>
        <p:spPr>
          <a:xfrm>
            <a:off x="596349" y="1507504"/>
            <a:ext cx="8716616" cy="3416320"/>
          </a:xfrm>
          <a:prstGeom prst="rect">
            <a:avLst/>
          </a:prstGeom>
          <a:noFill/>
        </p:spPr>
        <p:txBody>
          <a:bodyPr wrap="square" rtlCol="0">
            <a:spAutoFit/>
          </a:bodyPr>
          <a:lstStyle/>
          <a:p>
            <a:r>
              <a:rPr lang="en-US" b="1" dirty="0">
                <a:latin typeface="Inter" panose="02000503000000020004" pitchFamily="2" charset="0"/>
                <a:ea typeface="Inter" panose="02000503000000020004" pitchFamily="2" charset="0"/>
                <a:cs typeface="Inter" panose="02000503000000020004" pitchFamily="2" charset="0"/>
              </a:rPr>
              <a:t>Main Flow</a:t>
            </a:r>
            <a:br>
              <a:rPr lang="en-US" dirty="0">
                <a:latin typeface="Inter" panose="02000503000000020004" pitchFamily="2" charset="0"/>
                <a:ea typeface="Inter" panose="02000503000000020004" pitchFamily="2" charset="0"/>
                <a:cs typeface="Inter" panose="02000503000000020004" pitchFamily="2" charset="0"/>
              </a:rPr>
            </a:br>
            <a:r>
              <a:rPr lang="en-US" sz="1600" dirty="0">
                <a:latin typeface="Inter" panose="02000503000000020004" pitchFamily="2" charset="0"/>
                <a:ea typeface="Inter" panose="02000503000000020004" pitchFamily="2" charset="0"/>
                <a:cs typeface="Inter" panose="02000503000000020004" pitchFamily="2" charset="0"/>
              </a:rPr>
              <a:t>Users log in, choose model, send the prompt, see the live progress and the result.</a:t>
            </a:r>
          </a:p>
          <a:p>
            <a:endParaRPr lang="en-US" b="1" dirty="0">
              <a:latin typeface="Inter" panose="02000503000000020004" pitchFamily="2" charset="0"/>
              <a:ea typeface="Inter" panose="02000503000000020004" pitchFamily="2" charset="0"/>
              <a:cs typeface="Inter" panose="02000503000000020004" pitchFamily="2" charset="0"/>
            </a:endParaRPr>
          </a:p>
          <a:p>
            <a:r>
              <a:rPr lang="en-US" b="1" dirty="0">
                <a:latin typeface="Inter" panose="02000503000000020004" pitchFamily="2" charset="0"/>
                <a:ea typeface="Inter" panose="02000503000000020004" pitchFamily="2" charset="0"/>
                <a:cs typeface="Inter" panose="02000503000000020004" pitchFamily="2" charset="0"/>
              </a:rPr>
              <a:t>Agent Chat UI</a:t>
            </a:r>
            <a:endParaRPr lang="en-US" dirty="0">
              <a:latin typeface="Inter" panose="02000503000000020004" pitchFamily="2" charset="0"/>
              <a:ea typeface="Inter" panose="02000503000000020004" pitchFamily="2" charset="0"/>
              <a:cs typeface="Inter" panose="02000503000000020004" pitchFamily="2" charset="0"/>
            </a:endParaRP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Built with </a:t>
            </a:r>
            <a:r>
              <a:rPr lang="en-US" sz="1600" b="1" dirty="0" err="1">
                <a:latin typeface="Inter" panose="02000503000000020004" pitchFamily="2" charset="0"/>
                <a:ea typeface="Inter" panose="02000503000000020004" pitchFamily="2" charset="0"/>
                <a:cs typeface="Inter" panose="02000503000000020004" pitchFamily="2" charset="0"/>
              </a:rPr>
              <a:t>Next.js</a:t>
            </a:r>
            <a:endParaRPr lang="en-US" sz="1600" dirty="0">
              <a:latin typeface="Inter" panose="02000503000000020004" pitchFamily="2" charset="0"/>
              <a:ea typeface="Inter" panose="02000503000000020004" pitchFamily="2" charset="0"/>
              <a:cs typeface="Inter" panose="02000503000000020004" pitchFamily="2" charset="0"/>
            </a:endParaRP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Have a </a:t>
            </a:r>
            <a:r>
              <a:rPr lang="en-US" sz="1600" b="1" dirty="0">
                <a:latin typeface="Inter" panose="02000503000000020004" pitchFamily="2" charset="0"/>
                <a:ea typeface="Inter" panose="02000503000000020004" pitchFamily="2" charset="0"/>
                <a:cs typeface="Inter" panose="02000503000000020004" pitchFamily="2" charset="0"/>
              </a:rPr>
              <a:t>text box</a:t>
            </a:r>
            <a:r>
              <a:rPr lang="en-US" sz="1600" dirty="0">
                <a:latin typeface="Inter" panose="02000503000000020004" pitchFamily="2" charset="0"/>
                <a:ea typeface="Inter" panose="02000503000000020004" pitchFamily="2" charset="0"/>
                <a:cs typeface="Inter" panose="02000503000000020004" pitchFamily="2" charset="0"/>
              </a:rPr>
              <a:t> and </a:t>
            </a:r>
            <a:r>
              <a:rPr lang="en-US" sz="1600" b="1" dirty="0">
                <a:latin typeface="Inter" panose="02000503000000020004" pitchFamily="2" charset="0"/>
                <a:ea typeface="Inter" panose="02000503000000020004" pitchFamily="2" charset="0"/>
                <a:cs typeface="Inter" panose="02000503000000020004" pitchFamily="2" charset="0"/>
              </a:rPr>
              <a:t>selected model</a:t>
            </a: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Shows </a:t>
            </a:r>
            <a:r>
              <a:rPr lang="en-US" sz="1600" b="1" dirty="0">
                <a:latin typeface="Inter" panose="02000503000000020004" pitchFamily="2" charset="0"/>
                <a:ea typeface="Inter" panose="02000503000000020004" pitchFamily="2" charset="0"/>
                <a:cs typeface="Inter" panose="02000503000000020004" pitchFamily="2" charset="0"/>
              </a:rPr>
              <a:t>live progress</a:t>
            </a:r>
            <a:r>
              <a:rPr lang="en-US" sz="1600" dirty="0">
                <a:latin typeface="Inter" panose="02000503000000020004" pitchFamily="2" charset="0"/>
                <a:ea typeface="Inter" panose="02000503000000020004" pitchFamily="2" charset="0"/>
                <a:cs typeface="Inter" panose="02000503000000020004" pitchFamily="2" charset="0"/>
              </a:rPr>
              <a:t> and </a:t>
            </a:r>
            <a:r>
              <a:rPr lang="en-US" sz="1600" b="1" dirty="0">
                <a:latin typeface="Inter" panose="02000503000000020004" pitchFamily="2" charset="0"/>
                <a:ea typeface="Inter" panose="02000503000000020004" pitchFamily="2" charset="0"/>
                <a:cs typeface="Inter" panose="02000503000000020004" pitchFamily="2" charset="0"/>
              </a:rPr>
              <a:t>execution steps</a:t>
            </a: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Give </a:t>
            </a:r>
            <a:r>
              <a:rPr lang="en-US" sz="1600" b="1" dirty="0">
                <a:latin typeface="Inter" panose="02000503000000020004" pitchFamily="2" charset="0"/>
                <a:ea typeface="Inter" panose="02000503000000020004" pitchFamily="2" charset="0"/>
                <a:cs typeface="Inter" panose="02000503000000020004" pitchFamily="2" charset="0"/>
              </a:rPr>
              <a:t>final result</a:t>
            </a:r>
          </a:p>
          <a:p>
            <a:pPr marL="285750" indent="-285750">
              <a:buFont typeface="Arial" panose="020B0604020202020204" pitchFamily="34" charset="0"/>
              <a:buChar char="•"/>
            </a:pPr>
            <a:endParaRPr lang="en-US" sz="1600" dirty="0">
              <a:latin typeface="Inter" panose="02000503000000020004" pitchFamily="2" charset="0"/>
              <a:ea typeface="Inter" panose="02000503000000020004" pitchFamily="2" charset="0"/>
              <a:cs typeface="Inter" panose="02000503000000020004" pitchFamily="2" charset="0"/>
            </a:endParaRPr>
          </a:p>
          <a:p>
            <a:r>
              <a:rPr lang="en-US" b="1" dirty="0">
                <a:latin typeface="Inter" panose="02000503000000020004" pitchFamily="2" charset="0"/>
                <a:ea typeface="Inter" panose="02000503000000020004" pitchFamily="2" charset="0"/>
                <a:cs typeface="Inter" panose="02000503000000020004" pitchFamily="2" charset="0"/>
              </a:rPr>
              <a:t>Identity &amp; Access</a:t>
            </a:r>
            <a:endParaRPr lang="en-US" dirty="0">
              <a:latin typeface="Inter" panose="02000503000000020004" pitchFamily="2" charset="0"/>
              <a:ea typeface="Inter" panose="02000503000000020004" pitchFamily="2" charset="0"/>
              <a:cs typeface="Inter" panose="02000503000000020004" pitchFamily="2" charset="0"/>
            </a:endParaRP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Uses </a:t>
            </a:r>
            <a:r>
              <a:rPr lang="en-US" sz="1600" b="1" dirty="0">
                <a:latin typeface="Inter" panose="02000503000000020004" pitchFamily="2" charset="0"/>
                <a:ea typeface="Inter" panose="02000503000000020004" pitchFamily="2" charset="0"/>
                <a:cs typeface="Inter" panose="02000503000000020004" pitchFamily="2" charset="0"/>
              </a:rPr>
              <a:t>OAuth 2.0</a:t>
            </a:r>
            <a:r>
              <a:rPr lang="en-US" sz="1600" dirty="0">
                <a:latin typeface="Inter" panose="02000503000000020004" pitchFamily="2" charset="0"/>
                <a:ea typeface="Inter" panose="02000503000000020004" pitchFamily="2" charset="0"/>
                <a:cs typeface="Inter" panose="02000503000000020004" pitchFamily="2" charset="0"/>
              </a:rPr>
              <a:t> as a 3</a:t>
            </a:r>
            <a:r>
              <a:rPr lang="en-US" sz="1600" baseline="30000" dirty="0">
                <a:latin typeface="Inter" panose="02000503000000020004" pitchFamily="2" charset="0"/>
                <a:ea typeface="Inter" panose="02000503000000020004" pitchFamily="2" charset="0"/>
                <a:cs typeface="Inter" panose="02000503000000020004" pitchFamily="2" charset="0"/>
              </a:rPr>
              <a:t>rd</a:t>
            </a:r>
            <a:r>
              <a:rPr lang="en-US" sz="1600" dirty="0">
                <a:latin typeface="Inter" panose="02000503000000020004" pitchFamily="2" charset="0"/>
                <a:ea typeface="Inter" panose="02000503000000020004" pitchFamily="2" charset="0"/>
                <a:cs typeface="Inter" panose="02000503000000020004" pitchFamily="2" charset="0"/>
              </a:rPr>
              <a:t> party service for defining roles and scopes</a:t>
            </a: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Does </a:t>
            </a:r>
            <a:r>
              <a:rPr lang="en-US" sz="1600" b="1" dirty="0">
                <a:latin typeface="Inter" panose="02000503000000020004" pitchFamily="2" charset="0"/>
                <a:ea typeface="Inter" panose="02000503000000020004" pitchFamily="2" charset="0"/>
                <a:cs typeface="Inter" panose="02000503000000020004" pitchFamily="2" charset="0"/>
              </a:rPr>
              <a:t>JWT-based Authentication and Authorization </a:t>
            </a: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Control </a:t>
            </a:r>
            <a:r>
              <a:rPr lang="en-US" sz="1600" b="1" dirty="0">
                <a:latin typeface="Inter" panose="02000503000000020004" pitchFamily="2" charset="0"/>
                <a:ea typeface="Inter" panose="02000503000000020004" pitchFamily="2" charset="0"/>
                <a:cs typeface="Inter" panose="02000503000000020004" pitchFamily="2" charset="0"/>
              </a:rPr>
              <a:t>Tenant</a:t>
            </a:r>
            <a:r>
              <a:rPr lang="en-US" sz="1600" dirty="0">
                <a:latin typeface="Inter" panose="02000503000000020004" pitchFamily="2" charset="0"/>
                <a:ea typeface="Inter" panose="02000503000000020004" pitchFamily="2" charset="0"/>
                <a:cs typeface="Inter" panose="02000503000000020004" pitchFamily="2" charset="0"/>
              </a:rPr>
              <a:t>, </a:t>
            </a:r>
            <a:r>
              <a:rPr lang="en-US" sz="1600" b="1" dirty="0">
                <a:latin typeface="Inter" panose="02000503000000020004" pitchFamily="2" charset="0"/>
                <a:ea typeface="Inter" panose="02000503000000020004" pitchFamily="2" charset="0"/>
                <a:cs typeface="Inter" panose="02000503000000020004" pitchFamily="2" charset="0"/>
              </a:rPr>
              <a:t>role</a:t>
            </a:r>
            <a:r>
              <a:rPr lang="en-US" sz="1600" dirty="0">
                <a:latin typeface="Inter" panose="02000503000000020004" pitchFamily="2" charset="0"/>
                <a:ea typeface="Inter" panose="02000503000000020004" pitchFamily="2" charset="0"/>
                <a:cs typeface="Inter" panose="02000503000000020004" pitchFamily="2" charset="0"/>
              </a:rPr>
              <a:t>, and </a:t>
            </a:r>
            <a:r>
              <a:rPr lang="en-US" sz="1600" b="1" dirty="0">
                <a:latin typeface="Inter" panose="02000503000000020004" pitchFamily="2" charset="0"/>
                <a:ea typeface="Inter" panose="02000503000000020004" pitchFamily="2" charset="0"/>
                <a:cs typeface="Inter" panose="02000503000000020004" pitchFamily="2" charset="0"/>
              </a:rPr>
              <a:t>permissions </a:t>
            </a:r>
            <a:r>
              <a:rPr lang="en-US" sz="1600" dirty="0">
                <a:latin typeface="Inter" panose="02000503000000020004" pitchFamily="2" charset="0"/>
                <a:ea typeface="Inter" panose="02000503000000020004" pitchFamily="2" charset="0"/>
                <a:cs typeface="Inter" panose="02000503000000020004" pitchFamily="2" charset="0"/>
              </a:rPr>
              <a:t>through </a:t>
            </a:r>
            <a:r>
              <a:rPr lang="en-US" sz="1600" b="1" dirty="0">
                <a:latin typeface="Inter" panose="02000503000000020004" pitchFamily="2" charset="0"/>
                <a:ea typeface="Inter" panose="02000503000000020004" pitchFamily="2" charset="0"/>
                <a:cs typeface="Inter" panose="02000503000000020004" pitchFamily="2" charset="0"/>
              </a:rPr>
              <a:t>RBAC</a:t>
            </a:r>
            <a:endParaRPr lang="en-US" sz="1600" dirty="0">
              <a:latin typeface="Inter" panose="02000503000000020004" pitchFamily="2" charset="0"/>
              <a:ea typeface="Inter" panose="02000503000000020004" pitchFamily="2" charset="0"/>
              <a:cs typeface="Inter" panose="02000503000000020004" pitchFamily="2" charset="0"/>
            </a:endParaRPr>
          </a:p>
        </p:txBody>
      </p:sp>
      <p:pic>
        <p:nvPicPr>
          <p:cNvPr id="37" name="Picture 36">
            <a:extLst>
              <a:ext uri="{FF2B5EF4-FFF2-40B4-BE49-F238E27FC236}">
                <a16:creationId xmlns:a16="http://schemas.microsoft.com/office/drawing/2014/main" id="{0774041B-61EB-7F7A-1C40-85791E1F0D3F}"/>
              </a:ext>
            </a:extLst>
          </p:cNvPr>
          <p:cNvPicPr>
            <a:picLocks noChangeAspect="1"/>
          </p:cNvPicPr>
          <p:nvPr/>
        </p:nvPicPr>
        <p:blipFill>
          <a:blip r:embed="rId7"/>
          <a:stretch>
            <a:fillRect/>
          </a:stretch>
        </p:blipFill>
        <p:spPr>
          <a:xfrm>
            <a:off x="5822070" y="467406"/>
            <a:ext cx="5931544" cy="644732"/>
          </a:xfrm>
          <a:prstGeom prst="rect">
            <a:avLst/>
          </a:prstGeom>
        </p:spPr>
      </p:pic>
    </p:spTree>
    <p:extLst>
      <p:ext uri="{BB962C8B-B14F-4D97-AF65-F5344CB8AC3E}">
        <p14:creationId xmlns:p14="http://schemas.microsoft.com/office/powerpoint/2010/main" val="13105519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98BA11-4F2B-BA85-253C-79735EC98171}"/>
            </a:ext>
          </a:extLst>
        </p:cNvPr>
        <p:cNvGrpSpPr/>
        <p:nvPr/>
      </p:nvGrpSpPr>
      <p:grpSpPr>
        <a:xfrm>
          <a:off x="0" y="0"/>
          <a:ext cx="0" cy="0"/>
          <a:chOff x="0" y="0"/>
          <a:chExt cx="0" cy="0"/>
        </a:xfrm>
      </p:grpSpPr>
      <p:pic>
        <p:nvPicPr>
          <p:cNvPr id="33" name="Picture 32">
            <a:extLst>
              <a:ext uri="{FF2B5EF4-FFF2-40B4-BE49-F238E27FC236}">
                <a16:creationId xmlns:a16="http://schemas.microsoft.com/office/drawing/2014/main" id="{6039D34E-1ACC-7549-96D5-2084D3B0E854}"/>
              </a:ext>
            </a:extLst>
          </p:cNvPr>
          <p:cNvPicPr>
            <a:picLocks noChangeAspect="1"/>
          </p:cNvPicPr>
          <p:nvPr/>
        </p:nvPicPr>
        <p:blipFill>
          <a:blip r:embed="rId3"/>
          <a:srcRect t="10835" b="19910"/>
          <a:stretch/>
        </p:blipFill>
        <p:spPr>
          <a:xfrm>
            <a:off x="4018404" y="1765719"/>
            <a:ext cx="3429065" cy="4276462"/>
          </a:xfrm>
          <a:prstGeom prst="rect">
            <a:avLst/>
          </a:prstGeom>
        </p:spPr>
      </p:pic>
      <p:pic>
        <p:nvPicPr>
          <p:cNvPr id="4" name="Picture 15" descr="Fondino">
            <a:extLst>
              <a:ext uri="{FF2B5EF4-FFF2-40B4-BE49-F238E27FC236}">
                <a16:creationId xmlns:a16="http://schemas.microsoft.com/office/drawing/2014/main" id="{9B42AAFC-D967-DBE5-8FC1-19A34DC684C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Slide Number Placeholder 11">
            <a:extLst>
              <a:ext uri="{FF2B5EF4-FFF2-40B4-BE49-F238E27FC236}">
                <a16:creationId xmlns:a16="http://schemas.microsoft.com/office/drawing/2014/main" id="{E90ED0DA-BA7F-7112-C336-89DD4BC82710}"/>
              </a:ext>
            </a:extLst>
          </p:cNvPr>
          <p:cNvSpPr>
            <a:spLocks noGrp="1"/>
          </p:cNvSpPr>
          <p:nvPr>
            <p:ph type="sldNum" sz="quarter" idx="12"/>
          </p:nvPr>
        </p:nvSpPr>
        <p:spPr/>
        <p:txBody>
          <a:bodyPr/>
          <a:lstStyle/>
          <a:p>
            <a:fld id="{48F19E39-9933-F648-B2F3-3AC17C0DC986}" type="slidenum">
              <a:rPr lang="en-US" smtClean="0">
                <a:solidFill>
                  <a:schemeClr val="bg1"/>
                </a:solidFill>
              </a:rPr>
              <a:t>7</a:t>
            </a:fld>
            <a:r>
              <a:rPr lang="en-US" dirty="0">
                <a:solidFill>
                  <a:schemeClr val="bg1"/>
                </a:solidFill>
              </a:rPr>
              <a:t> / 17</a:t>
            </a:r>
          </a:p>
        </p:txBody>
      </p:sp>
      <p:sp>
        <p:nvSpPr>
          <p:cNvPr id="16" name="TextBox 15">
            <a:extLst>
              <a:ext uri="{FF2B5EF4-FFF2-40B4-BE49-F238E27FC236}">
                <a16:creationId xmlns:a16="http://schemas.microsoft.com/office/drawing/2014/main" id="{E53A3490-A33B-2B62-1423-8EC3C96A8DE6}"/>
              </a:ext>
            </a:extLst>
          </p:cNvPr>
          <p:cNvSpPr txBox="1"/>
          <p:nvPr/>
        </p:nvSpPr>
        <p:spPr>
          <a:xfrm>
            <a:off x="596349" y="374273"/>
            <a:ext cx="10953226" cy="830997"/>
          </a:xfrm>
          <a:prstGeom prst="rect">
            <a:avLst/>
          </a:prstGeom>
          <a:noFill/>
        </p:spPr>
        <p:txBody>
          <a:bodyPr wrap="square" rtlCol="0">
            <a:spAutoFit/>
          </a:bodyPr>
          <a:lstStyle/>
          <a:p>
            <a:pPr algn="just"/>
            <a:r>
              <a:rPr lang="en-US" sz="2800" b="1" dirty="0">
                <a:solidFill>
                  <a:srgbClr val="822334"/>
                </a:solidFill>
                <a:latin typeface="Inter" panose="02000503000000020004" pitchFamily="2" charset="0"/>
                <a:ea typeface="Inter" panose="02000503000000020004" pitchFamily="2" charset="0"/>
                <a:cs typeface="Inter" panose="02000503000000020004" pitchFamily="2" charset="0"/>
              </a:rPr>
              <a:t>SECURITY LAYER</a:t>
            </a:r>
          </a:p>
          <a:p>
            <a:pPr algn="just"/>
            <a:r>
              <a:rPr lang="en-US" sz="2000" dirty="0">
                <a:solidFill>
                  <a:schemeClr val="bg2">
                    <a:lumMod val="50000"/>
                  </a:schemeClr>
                </a:solidFill>
                <a:latin typeface="Inter" panose="02000503000000020004" pitchFamily="2" charset="0"/>
                <a:ea typeface="Inter" panose="02000503000000020004" pitchFamily="2" charset="0"/>
                <a:cs typeface="Inter" panose="02000503000000020004" pitchFamily="2" charset="0"/>
              </a:rPr>
              <a:t>8 safeguards before business logic</a:t>
            </a:r>
          </a:p>
        </p:txBody>
      </p:sp>
      <p:sp>
        <p:nvSpPr>
          <p:cNvPr id="8" name="Footer Placeholder 10">
            <a:extLst>
              <a:ext uri="{FF2B5EF4-FFF2-40B4-BE49-F238E27FC236}">
                <a16:creationId xmlns:a16="http://schemas.microsoft.com/office/drawing/2014/main" id="{A021106B-1956-AED4-35FE-8A0FB00565FD}"/>
              </a:ext>
            </a:extLst>
          </p:cNvPr>
          <p:cNvSpPr>
            <a:spLocks noGrp="1"/>
          </p:cNvSpPr>
          <p:nvPr>
            <p:ph type="ftr" sz="quarter" idx="11"/>
          </p:nvPr>
        </p:nvSpPr>
        <p:spPr>
          <a:xfrm>
            <a:off x="4566534" y="6356350"/>
            <a:ext cx="3058931" cy="365125"/>
          </a:xfrm>
        </p:spPr>
        <p:txBody>
          <a:bodyPr/>
          <a:lstStyle/>
          <a:p>
            <a:r>
              <a:rPr lang="en-US" dirty="0" err="1">
                <a:solidFill>
                  <a:schemeClr val="bg1"/>
                </a:solidFill>
                <a:latin typeface="Inter" panose="02000503000000020004" pitchFamily="2" charset="0"/>
                <a:ea typeface="Inter" panose="02000503000000020004" pitchFamily="2" charset="0"/>
                <a:cs typeface="Inter" panose="02000503000000020004" pitchFamily="2" charset="0"/>
              </a:rPr>
              <a:t>Cineca</a:t>
            </a:r>
            <a:r>
              <a:rPr lang="en-US" dirty="0">
                <a:solidFill>
                  <a:schemeClr val="bg1"/>
                </a:solidFill>
                <a:latin typeface="Inter" panose="02000503000000020004" pitchFamily="2" charset="0"/>
                <a:ea typeface="Inter" panose="02000503000000020004" pitchFamily="2" charset="0"/>
                <a:cs typeface="Inter" panose="02000503000000020004" pitchFamily="2" charset="0"/>
              </a:rPr>
              <a:t> Agentic Platform – Arman Feili</a:t>
            </a:r>
          </a:p>
        </p:txBody>
      </p:sp>
      <p:pic>
        <p:nvPicPr>
          <p:cNvPr id="9" name="Picture 8">
            <a:extLst>
              <a:ext uri="{FF2B5EF4-FFF2-40B4-BE49-F238E27FC236}">
                <a16:creationId xmlns:a16="http://schemas.microsoft.com/office/drawing/2014/main" id="{F8F2E9E1-D924-638C-A1AC-CCF8C9B869BD}"/>
              </a:ext>
            </a:extLst>
          </p:cNvPr>
          <p:cNvPicPr>
            <a:picLocks noChangeAspect="1"/>
          </p:cNvPicPr>
          <p:nvPr/>
        </p:nvPicPr>
        <p:blipFill>
          <a:blip r:embed="rId5"/>
          <a:stretch>
            <a:fillRect/>
          </a:stretch>
        </p:blipFill>
        <p:spPr>
          <a:xfrm>
            <a:off x="321777" y="6315552"/>
            <a:ext cx="435345" cy="435345"/>
          </a:xfrm>
          <a:prstGeom prst="rect">
            <a:avLst/>
          </a:prstGeom>
        </p:spPr>
      </p:pic>
      <p:pic>
        <p:nvPicPr>
          <p:cNvPr id="10" name="Picture 9">
            <a:extLst>
              <a:ext uri="{FF2B5EF4-FFF2-40B4-BE49-F238E27FC236}">
                <a16:creationId xmlns:a16="http://schemas.microsoft.com/office/drawing/2014/main" id="{C94343FF-7EE3-BDED-F149-D64B7E3211C3}"/>
              </a:ext>
            </a:extLst>
          </p:cNvPr>
          <p:cNvPicPr>
            <a:picLocks noChangeAspect="1"/>
          </p:cNvPicPr>
          <p:nvPr/>
        </p:nvPicPr>
        <p:blipFill>
          <a:blip r:embed="rId6"/>
          <a:stretch>
            <a:fillRect/>
          </a:stretch>
        </p:blipFill>
        <p:spPr>
          <a:xfrm>
            <a:off x="866134" y="6362629"/>
            <a:ext cx="1093241" cy="365125"/>
          </a:xfrm>
          <a:prstGeom prst="rect">
            <a:avLst/>
          </a:prstGeom>
        </p:spPr>
      </p:pic>
      <p:pic>
        <p:nvPicPr>
          <p:cNvPr id="21" name="Picture 20">
            <a:extLst>
              <a:ext uri="{FF2B5EF4-FFF2-40B4-BE49-F238E27FC236}">
                <a16:creationId xmlns:a16="http://schemas.microsoft.com/office/drawing/2014/main" id="{1EE67B0B-EE69-526E-A423-745CE76492AA}"/>
              </a:ext>
            </a:extLst>
          </p:cNvPr>
          <p:cNvPicPr>
            <a:picLocks noChangeAspect="1"/>
          </p:cNvPicPr>
          <p:nvPr/>
        </p:nvPicPr>
        <p:blipFill>
          <a:blip r:embed="rId7"/>
          <a:stretch>
            <a:fillRect/>
          </a:stretch>
        </p:blipFill>
        <p:spPr>
          <a:xfrm>
            <a:off x="5835717" y="467405"/>
            <a:ext cx="5931545" cy="644733"/>
          </a:xfrm>
          <a:prstGeom prst="rect">
            <a:avLst/>
          </a:prstGeom>
        </p:spPr>
      </p:pic>
      <p:sp>
        <p:nvSpPr>
          <p:cNvPr id="32" name="TextBox 31">
            <a:extLst>
              <a:ext uri="{FF2B5EF4-FFF2-40B4-BE49-F238E27FC236}">
                <a16:creationId xmlns:a16="http://schemas.microsoft.com/office/drawing/2014/main" id="{CD937663-02CF-CA64-6DFC-F3F6954B9F46}"/>
              </a:ext>
            </a:extLst>
          </p:cNvPr>
          <p:cNvSpPr txBox="1"/>
          <p:nvPr/>
        </p:nvSpPr>
        <p:spPr>
          <a:xfrm>
            <a:off x="7899877" y="3267882"/>
            <a:ext cx="4243099" cy="2800767"/>
          </a:xfrm>
          <a:prstGeom prst="rect">
            <a:avLst/>
          </a:prstGeom>
          <a:noFill/>
        </p:spPr>
        <p:txBody>
          <a:bodyPr wrap="square" rtlCol="0">
            <a:spAutoFit/>
          </a:bodyPr>
          <a:lstStyle/>
          <a:p>
            <a:r>
              <a:rPr lang="en-US" sz="1600" b="1" dirty="0">
                <a:latin typeface="Inter" panose="02000503000000020004" pitchFamily="2" charset="0"/>
                <a:ea typeface="Inter" panose="02000503000000020004" pitchFamily="2" charset="0"/>
                <a:cs typeface="Inter" panose="02000503000000020004" pitchFamily="2" charset="0"/>
              </a:rPr>
              <a:t>5. Tenant Resolution</a:t>
            </a:r>
          </a:p>
          <a:p>
            <a:r>
              <a:rPr lang="en-US" sz="1600" dirty="0" err="1">
                <a:latin typeface="Inter" panose="02000503000000020004" pitchFamily="2" charset="0"/>
                <a:ea typeface="Inter" panose="02000503000000020004" pitchFamily="2" charset="0"/>
                <a:cs typeface="Inter" panose="02000503000000020004" pitchFamily="2" charset="0"/>
              </a:rPr>
              <a:t>Organisation</a:t>
            </a:r>
            <a:r>
              <a:rPr lang="en-US" sz="1600" dirty="0">
                <a:latin typeface="Inter" panose="02000503000000020004" pitchFamily="2" charset="0"/>
                <a:ea typeface="Inter" panose="02000503000000020004" pitchFamily="2" charset="0"/>
                <a:cs typeface="Inter" panose="02000503000000020004" pitchFamily="2" charset="0"/>
              </a:rPr>
              <a:t>-level data isolation</a:t>
            </a:r>
          </a:p>
          <a:p>
            <a:endParaRPr lang="en-US" sz="1600" dirty="0">
              <a:latin typeface="Inter" panose="02000503000000020004" pitchFamily="2" charset="0"/>
              <a:ea typeface="Inter" panose="02000503000000020004" pitchFamily="2" charset="0"/>
              <a:cs typeface="Inter" panose="02000503000000020004" pitchFamily="2" charset="0"/>
            </a:endParaRPr>
          </a:p>
          <a:p>
            <a:r>
              <a:rPr lang="en-US" sz="1600" b="1" dirty="0">
                <a:latin typeface="Inter" panose="02000503000000020004" pitchFamily="2" charset="0"/>
                <a:ea typeface="Inter" panose="02000503000000020004" pitchFamily="2" charset="0"/>
                <a:cs typeface="Inter" panose="02000503000000020004" pitchFamily="2" charset="0"/>
              </a:rPr>
              <a:t>6. Input Validation</a:t>
            </a:r>
          </a:p>
          <a:p>
            <a:r>
              <a:rPr lang="en-US" sz="1600" dirty="0">
                <a:latin typeface="Inter" panose="02000503000000020004" pitchFamily="2" charset="0"/>
                <a:ea typeface="Inter" panose="02000503000000020004" pitchFamily="2" charset="0"/>
                <a:cs typeface="Inter" panose="02000503000000020004" pitchFamily="2" charset="0"/>
              </a:rPr>
              <a:t>Blocks unsafe requests and DB injection</a:t>
            </a:r>
          </a:p>
          <a:p>
            <a:endParaRPr lang="en-US" sz="1600" b="1" dirty="0">
              <a:latin typeface="Inter" panose="02000503000000020004" pitchFamily="2" charset="0"/>
              <a:ea typeface="Inter" panose="02000503000000020004" pitchFamily="2" charset="0"/>
              <a:cs typeface="Inter" panose="02000503000000020004" pitchFamily="2" charset="0"/>
            </a:endParaRPr>
          </a:p>
          <a:p>
            <a:r>
              <a:rPr lang="en-US" sz="1600" b="1" dirty="0">
                <a:latin typeface="Inter" panose="02000503000000020004" pitchFamily="2" charset="0"/>
                <a:ea typeface="Inter" panose="02000503000000020004" pitchFamily="2" charset="0"/>
                <a:cs typeface="Inter" panose="02000503000000020004" pitchFamily="2" charset="0"/>
              </a:rPr>
              <a:t>7. Output Protection</a:t>
            </a:r>
          </a:p>
          <a:p>
            <a:r>
              <a:rPr lang="en-US" sz="1600" dirty="0">
                <a:latin typeface="Inter" panose="02000503000000020004" pitchFamily="2" charset="0"/>
                <a:ea typeface="Inter" panose="02000503000000020004" pitchFamily="2" charset="0"/>
                <a:cs typeface="Inter" panose="02000503000000020004" pitchFamily="2" charset="0"/>
              </a:rPr>
              <a:t>Sensitive data removal</a:t>
            </a:r>
          </a:p>
          <a:p>
            <a:endParaRPr lang="en-US" sz="1600" b="1" dirty="0">
              <a:latin typeface="Inter" panose="02000503000000020004" pitchFamily="2" charset="0"/>
              <a:ea typeface="Inter" panose="02000503000000020004" pitchFamily="2" charset="0"/>
              <a:cs typeface="Inter" panose="02000503000000020004" pitchFamily="2" charset="0"/>
            </a:endParaRPr>
          </a:p>
          <a:p>
            <a:r>
              <a:rPr lang="en-US" sz="1600" b="1" dirty="0">
                <a:latin typeface="Inter" panose="02000503000000020004" pitchFamily="2" charset="0"/>
                <a:ea typeface="Inter" panose="02000503000000020004" pitchFamily="2" charset="0"/>
                <a:cs typeface="Inter" panose="02000503000000020004" pitchFamily="2" charset="0"/>
              </a:rPr>
              <a:t>8. Standard Error Handling</a:t>
            </a:r>
          </a:p>
          <a:p>
            <a:r>
              <a:rPr lang="en-US" sz="1600" dirty="0">
                <a:latin typeface="Inter" panose="02000503000000020004" pitchFamily="2" charset="0"/>
                <a:ea typeface="Inter" panose="02000503000000020004" pitchFamily="2" charset="0"/>
                <a:cs typeface="Inter" panose="02000503000000020004" pitchFamily="2" charset="0"/>
              </a:rPr>
              <a:t>Standardized safe error responses</a:t>
            </a:r>
          </a:p>
        </p:txBody>
      </p:sp>
      <p:sp>
        <p:nvSpPr>
          <p:cNvPr id="34" name="TextBox 33">
            <a:extLst>
              <a:ext uri="{FF2B5EF4-FFF2-40B4-BE49-F238E27FC236}">
                <a16:creationId xmlns:a16="http://schemas.microsoft.com/office/drawing/2014/main" id="{2C25A8F8-DFAE-BEBA-ABF5-3F86D79611C5}"/>
              </a:ext>
            </a:extLst>
          </p:cNvPr>
          <p:cNvSpPr txBox="1"/>
          <p:nvPr/>
        </p:nvSpPr>
        <p:spPr>
          <a:xfrm>
            <a:off x="596348" y="2363244"/>
            <a:ext cx="3448198" cy="2800767"/>
          </a:xfrm>
          <a:prstGeom prst="rect">
            <a:avLst/>
          </a:prstGeom>
          <a:noFill/>
        </p:spPr>
        <p:txBody>
          <a:bodyPr wrap="square" rtlCol="0">
            <a:spAutoFit/>
          </a:bodyPr>
          <a:lstStyle/>
          <a:p>
            <a:r>
              <a:rPr lang="en-US" sz="1600" b="1" dirty="0">
                <a:latin typeface="Inter" panose="02000503000000020004" pitchFamily="2" charset="0"/>
                <a:ea typeface="Inter" panose="02000503000000020004" pitchFamily="2" charset="0"/>
                <a:cs typeface="Inter" panose="02000503000000020004" pitchFamily="2" charset="0"/>
              </a:rPr>
              <a:t>1. CORS Policy</a:t>
            </a:r>
          </a:p>
          <a:p>
            <a:r>
              <a:rPr lang="en-US" sz="1600" dirty="0">
                <a:latin typeface="Inter" panose="02000503000000020004" pitchFamily="2" charset="0"/>
                <a:ea typeface="Inter" panose="02000503000000020004" pitchFamily="2" charset="0"/>
                <a:cs typeface="Inter" panose="02000503000000020004" pitchFamily="2" charset="0"/>
              </a:rPr>
              <a:t>Trusted origin URLs only</a:t>
            </a:r>
          </a:p>
          <a:p>
            <a:endParaRPr lang="en-US" sz="1600" dirty="0">
              <a:latin typeface="Inter" panose="02000503000000020004" pitchFamily="2" charset="0"/>
              <a:ea typeface="Inter" panose="02000503000000020004" pitchFamily="2" charset="0"/>
              <a:cs typeface="Inter" panose="02000503000000020004" pitchFamily="2" charset="0"/>
            </a:endParaRPr>
          </a:p>
          <a:p>
            <a:r>
              <a:rPr lang="en-US" sz="1600" b="1" dirty="0">
                <a:latin typeface="Inter" panose="02000503000000020004" pitchFamily="2" charset="0"/>
                <a:ea typeface="Inter" panose="02000503000000020004" pitchFamily="2" charset="0"/>
                <a:cs typeface="Inter" panose="02000503000000020004" pitchFamily="2" charset="0"/>
              </a:rPr>
              <a:t>2. Trace Context</a:t>
            </a:r>
          </a:p>
          <a:p>
            <a:r>
              <a:rPr lang="en-US" sz="1600" dirty="0">
                <a:latin typeface="Inter" panose="02000503000000020004" pitchFamily="2" charset="0"/>
                <a:ea typeface="Inter" panose="02000503000000020004" pitchFamily="2" charset="0"/>
                <a:cs typeface="Inter" panose="02000503000000020004" pitchFamily="2" charset="0"/>
              </a:rPr>
              <a:t>Adds trace ID for tracking</a:t>
            </a:r>
          </a:p>
          <a:p>
            <a:endParaRPr lang="en-US" sz="1600" dirty="0">
              <a:latin typeface="Inter" panose="02000503000000020004" pitchFamily="2" charset="0"/>
              <a:ea typeface="Inter" panose="02000503000000020004" pitchFamily="2" charset="0"/>
              <a:cs typeface="Inter" panose="02000503000000020004" pitchFamily="2" charset="0"/>
            </a:endParaRPr>
          </a:p>
          <a:p>
            <a:r>
              <a:rPr lang="en-US" sz="1600" b="1" dirty="0">
                <a:latin typeface="Inter" panose="02000503000000020004" pitchFamily="2" charset="0"/>
                <a:ea typeface="Inter" panose="02000503000000020004" pitchFamily="2" charset="0"/>
                <a:cs typeface="Inter" panose="02000503000000020004" pitchFamily="2" charset="0"/>
              </a:rPr>
              <a:t>3. JWT + RBAC</a:t>
            </a:r>
          </a:p>
          <a:p>
            <a:r>
              <a:rPr lang="en-US" sz="1600" dirty="0">
                <a:latin typeface="Inter" panose="02000503000000020004" pitchFamily="2" charset="0"/>
                <a:ea typeface="Inter" panose="02000503000000020004" pitchFamily="2" charset="0"/>
                <a:cs typeface="Inter" panose="02000503000000020004" pitchFamily="2" charset="0"/>
              </a:rPr>
              <a:t>Access control for Admin/User</a:t>
            </a:r>
          </a:p>
          <a:p>
            <a:endParaRPr lang="en-US" sz="1600" dirty="0">
              <a:latin typeface="Inter" panose="02000503000000020004" pitchFamily="2" charset="0"/>
              <a:ea typeface="Inter" panose="02000503000000020004" pitchFamily="2" charset="0"/>
              <a:cs typeface="Inter" panose="02000503000000020004" pitchFamily="2" charset="0"/>
            </a:endParaRPr>
          </a:p>
          <a:p>
            <a:r>
              <a:rPr lang="en-US" sz="1600" b="1" dirty="0">
                <a:latin typeface="Inter" panose="02000503000000020004" pitchFamily="2" charset="0"/>
                <a:ea typeface="Inter" panose="02000503000000020004" pitchFamily="2" charset="0"/>
                <a:cs typeface="Inter" panose="02000503000000020004" pitchFamily="2" charset="0"/>
              </a:rPr>
              <a:t>4. Rate Limiting</a:t>
            </a:r>
          </a:p>
          <a:p>
            <a:r>
              <a:rPr lang="en-US" sz="1600" dirty="0">
                <a:latin typeface="Inter" panose="02000503000000020004" pitchFamily="2" charset="0"/>
                <a:ea typeface="Inter" panose="02000503000000020004" pitchFamily="2" charset="0"/>
                <a:cs typeface="Inter" panose="02000503000000020004" pitchFamily="2" charset="0"/>
              </a:rPr>
              <a:t>Requests-per-minute control</a:t>
            </a:r>
          </a:p>
        </p:txBody>
      </p:sp>
      <p:sp>
        <p:nvSpPr>
          <p:cNvPr id="35" name="TextBox 34">
            <a:extLst>
              <a:ext uri="{FF2B5EF4-FFF2-40B4-BE49-F238E27FC236}">
                <a16:creationId xmlns:a16="http://schemas.microsoft.com/office/drawing/2014/main" id="{592FE674-72A7-E1D0-A721-16BF6570FD21}"/>
              </a:ext>
            </a:extLst>
          </p:cNvPr>
          <p:cNvSpPr txBox="1"/>
          <p:nvPr/>
        </p:nvSpPr>
        <p:spPr>
          <a:xfrm>
            <a:off x="596348" y="1527785"/>
            <a:ext cx="3602275" cy="369332"/>
          </a:xfrm>
          <a:prstGeom prst="rect">
            <a:avLst/>
          </a:prstGeom>
          <a:noFill/>
        </p:spPr>
        <p:txBody>
          <a:bodyPr wrap="square" rtlCol="0">
            <a:spAutoFit/>
          </a:bodyPr>
          <a:lstStyle/>
          <a:p>
            <a:r>
              <a:rPr lang="en-US" b="1" dirty="0">
                <a:latin typeface="Inter" panose="02000503000000020004" pitchFamily="2" charset="0"/>
                <a:ea typeface="Inter" panose="02000503000000020004" pitchFamily="2" charset="0"/>
                <a:cs typeface="Inter" panose="02000503000000020004" pitchFamily="2" charset="0"/>
              </a:rPr>
              <a:t>Request Protection Layers</a:t>
            </a:r>
          </a:p>
        </p:txBody>
      </p:sp>
      <p:sp>
        <p:nvSpPr>
          <p:cNvPr id="36" name="Right Brace 35">
            <a:extLst>
              <a:ext uri="{FF2B5EF4-FFF2-40B4-BE49-F238E27FC236}">
                <a16:creationId xmlns:a16="http://schemas.microsoft.com/office/drawing/2014/main" id="{063CED1C-0735-29D4-747B-1F306C216594}"/>
              </a:ext>
            </a:extLst>
          </p:cNvPr>
          <p:cNvSpPr/>
          <p:nvPr/>
        </p:nvSpPr>
        <p:spPr>
          <a:xfrm flipH="1">
            <a:off x="3756954" y="1950385"/>
            <a:ext cx="261450" cy="1912883"/>
          </a:xfrm>
          <a:prstGeom prst="rightBrace">
            <a:avLst/>
          </a:prstGeom>
          <a:ln>
            <a:solidFill>
              <a:srgbClr val="822334"/>
            </a:solidFill>
          </a:ln>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a:p>
        </p:txBody>
      </p:sp>
      <p:sp>
        <p:nvSpPr>
          <p:cNvPr id="37" name="Right Brace 36">
            <a:extLst>
              <a:ext uri="{FF2B5EF4-FFF2-40B4-BE49-F238E27FC236}">
                <a16:creationId xmlns:a16="http://schemas.microsoft.com/office/drawing/2014/main" id="{0B619801-9AE4-CC06-E38A-EF4E8983D96B}"/>
              </a:ext>
            </a:extLst>
          </p:cNvPr>
          <p:cNvSpPr/>
          <p:nvPr/>
        </p:nvSpPr>
        <p:spPr>
          <a:xfrm>
            <a:off x="7394028" y="3863268"/>
            <a:ext cx="368332" cy="2024752"/>
          </a:xfrm>
          <a:prstGeom prst="rightBrace">
            <a:avLst>
              <a:gd name="adj1" fmla="val 8333"/>
              <a:gd name="adj2" fmla="val 38999"/>
            </a:avLst>
          </a:prstGeom>
          <a:ln>
            <a:solidFill>
              <a:srgbClr val="822334"/>
            </a:solidFill>
          </a:ln>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a:p>
        </p:txBody>
      </p:sp>
      <p:sp>
        <p:nvSpPr>
          <p:cNvPr id="48" name="Right Brace 47">
            <a:extLst>
              <a:ext uri="{FF2B5EF4-FFF2-40B4-BE49-F238E27FC236}">
                <a16:creationId xmlns:a16="http://schemas.microsoft.com/office/drawing/2014/main" id="{160763CE-0E76-7375-D8D9-9E85B0A6E2ED}"/>
              </a:ext>
            </a:extLst>
          </p:cNvPr>
          <p:cNvSpPr/>
          <p:nvPr/>
        </p:nvSpPr>
        <p:spPr>
          <a:xfrm rot="10800000">
            <a:off x="7624843" y="3298808"/>
            <a:ext cx="275034" cy="2738916"/>
          </a:xfrm>
          <a:prstGeom prst="rightBrace">
            <a:avLst>
              <a:gd name="adj1" fmla="val 8333"/>
              <a:gd name="adj2" fmla="val 50448"/>
            </a:avLst>
          </a:prstGeom>
          <a:ln>
            <a:solidFill>
              <a:srgbClr val="822334"/>
            </a:solidFill>
          </a:ln>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a:p>
        </p:txBody>
      </p:sp>
      <p:sp>
        <p:nvSpPr>
          <p:cNvPr id="49" name="Right Brace 48">
            <a:extLst>
              <a:ext uri="{FF2B5EF4-FFF2-40B4-BE49-F238E27FC236}">
                <a16:creationId xmlns:a16="http://schemas.microsoft.com/office/drawing/2014/main" id="{6E79B40E-03B6-EC5C-1D7D-782B026C5CCB}"/>
              </a:ext>
            </a:extLst>
          </p:cNvPr>
          <p:cNvSpPr/>
          <p:nvPr/>
        </p:nvSpPr>
        <p:spPr>
          <a:xfrm rot="10800000" flipH="1">
            <a:off x="3596973" y="2363752"/>
            <a:ext cx="290706" cy="2729804"/>
          </a:xfrm>
          <a:prstGeom prst="rightBrace">
            <a:avLst>
              <a:gd name="adj1" fmla="val 8333"/>
              <a:gd name="adj2" fmla="val 80148"/>
            </a:avLst>
          </a:prstGeom>
          <a:ln>
            <a:solidFill>
              <a:srgbClr val="822334"/>
            </a:solidFill>
          </a:ln>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2248243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EB1921-F852-997B-2449-E6F2E989782E}"/>
            </a:ext>
          </a:extLst>
        </p:cNvPr>
        <p:cNvGrpSpPr/>
        <p:nvPr/>
      </p:nvGrpSpPr>
      <p:grpSpPr>
        <a:xfrm>
          <a:off x="0" y="0"/>
          <a:ext cx="0" cy="0"/>
          <a:chOff x="0" y="0"/>
          <a:chExt cx="0" cy="0"/>
        </a:xfrm>
      </p:grpSpPr>
      <p:sp>
        <p:nvSpPr>
          <p:cNvPr id="28" name="TextBox 27">
            <a:extLst>
              <a:ext uri="{FF2B5EF4-FFF2-40B4-BE49-F238E27FC236}">
                <a16:creationId xmlns:a16="http://schemas.microsoft.com/office/drawing/2014/main" id="{3A79C3A9-0A40-750F-275A-A166CF07B3A0}"/>
              </a:ext>
            </a:extLst>
          </p:cNvPr>
          <p:cNvSpPr txBox="1"/>
          <p:nvPr/>
        </p:nvSpPr>
        <p:spPr>
          <a:xfrm>
            <a:off x="596348" y="1513049"/>
            <a:ext cx="6914762" cy="4370427"/>
          </a:xfrm>
          <a:prstGeom prst="rect">
            <a:avLst/>
          </a:prstGeom>
          <a:noFill/>
        </p:spPr>
        <p:txBody>
          <a:bodyPr wrap="square" rtlCol="0">
            <a:spAutoFit/>
          </a:bodyPr>
          <a:lstStyle/>
          <a:p>
            <a:pPr algn="just"/>
            <a:r>
              <a:rPr lang="en-US" b="1" dirty="0">
                <a:latin typeface="Inter" panose="02000503000000020004" pitchFamily="2" charset="0"/>
                <a:ea typeface="Inter" panose="02000503000000020004" pitchFamily="2" charset="0"/>
                <a:cs typeface="Inter" panose="02000503000000020004" pitchFamily="2" charset="0"/>
              </a:rPr>
              <a:t>Core Platform APIs</a:t>
            </a:r>
            <a:endParaRPr lang="en-US" dirty="0">
              <a:latin typeface="Inter" panose="02000503000000020004" pitchFamily="2" charset="0"/>
              <a:ea typeface="Inter" panose="02000503000000020004" pitchFamily="2" charset="0"/>
              <a:cs typeface="Inter" panose="02000503000000020004" pitchFamily="2" charset="0"/>
            </a:endParaRPr>
          </a:p>
          <a:p>
            <a:pPr marL="285750" indent="-285750" algn="just">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Health</a:t>
            </a:r>
            <a:r>
              <a:rPr lang="en-US" sz="1600" dirty="0">
                <a:latin typeface="Inter" panose="02000503000000020004" pitchFamily="2" charset="0"/>
                <a:ea typeface="Inter" panose="02000503000000020004" pitchFamily="2" charset="0"/>
                <a:cs typeface="Inter" panose="02000503000000020004" pitchFamily="2" charset="0"/>
              </a:rPr>
              <a:t> 	</a:t>
            </a:r>
            <a:r>
              <a:rPr lang="en-US" sz="1600" b="1" u="none" strike="noStrike" dirty="0">
                <a:effectLst/>
                <a:latin typeface="Google Sans"/>
              </a:rPr>
              <a:t>→</a:t>
            </a:r>
            <a:r>
              <a:rPr lang="en-US" sz="1600" dirty="0">
                <a:latin typeface="Inter" panose="02000503000000020004" pitchFamily="2" charset="0"/>
                <a:ea typeface="Inter" panose="02000503000000020004" pitchFamily="2" charset="0"/>
                <a:cs typeface="Inter" panose="02000503000000020004" pitchFamily="2" charset="0"/>
              </a:rPr>
              <a:t> Checking the health of the system</a:t>
            </a:r>
          </a:p>
          <a:p>
            <a:pPr marL="285750" indent="-285750" algn="just">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Authentication	</a:t>
            </a:r>
            <a:r>
              <a:rPr lang="en-US" sz="1600" b="1" u="none" strike="noStrike" dirty="0">
                <a:effectLst/>
                <a:latin typeface="Google Sans"/>
              </a:rPr>
              <a:t>→</a:t>
            </a:r>
            <a:r>
              <a:rPr lang="en-US" sz="1600" dirty="0">
                <a:latin typeface="Inter" panose="02000503000000020004" pitchFamily="2" charset="0"/>
                <a:ea typeface="Inter" panose="02000503000000020004" pitchFamily="2" charset="0"/>
                <a:cs typeface="Inter" panose="02000503000000020004" pitchFamily="2" charset="0"/>
              </a:rPr>
              <a:t> Validating JWT and roles of the users</a:t>
            </a:r>
          </a:p>
          <a:p>
            <a:pPr marL="285750" indent="-285750" algn="just">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Agents</a:t>
            </a:r>
            <a:r>
              <a:rPr lang="en-US" sz="1600" dirty="0">
                <a:latin typeface="Inter" panose="02000503000000020004" pitchFamily="2" charset="0"/>
                <a:ea typeface="Inter" panose="02000503000000020004" pitchFamily="2" charset="0"/>
                <a:cs typeface="Inter" panose="02000503000000020004" pitchFamily="2" charset="0"/>
              </a:rPr>
              <a:t> 	</a:t>
            </a:r>
            <a:r>
              <a:rPr lang="en-US" sz="1600" b="1" u="none" strike="noStrike" dirty="0">
                <a:effectLst/>
                <a:latin typeface="Google Sans"/>
              </a:rPr>
              <a:t>→</a:t>
            </a:r>
            <a:r>
              <a:rPr lang="en-US" sz="1600" dirty="0">
                <a:latin typeface="Inter" panose="02000503000000020004" pitchFamily="2" charset="0"/>
                <a:ea typeface="Inter" panose="02000503000000020004" pitchFamily="2" charset="0"/>
                <a:cs typeface="Inter" panose="02000503000000020004" pitchFamily="2" charset="0"/>
              </a:rPr>
              <a:t> Managing agent settings</a:t>
            </a:r>
          </a:p>
          <a:p>
            <a:pPr marL="285750" indent="-285750" algn="just">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Tenants</a:t>
            </a:r>
            <a:r>
              <a:rPr lang="en-US" sz="1600" dirty="0">
                <a:latin typeface="Inter" panose="02000503000000020004" pitchFamily="2" charset="0"/>
                <a:ea typeface="Inter" panose="02000503000000020004" pitchFamily="2" charset="0"/>
                <a:cs typeface="Inter" panose="02000503000000020004" pitchFamily="2" charset="0"/>
              </a:rPr>
              <a:t> 	</a:t>
            </a:r>
            <a:r>
              <a:rPr lang="en-US" sz="1600" b="1" u="none" strike="noStrike" dirty="0">
                <a:effectLst/>
                <a:latin typeface="Google Sans"/>
              </a:rPr>
              <a:t>→</a:t>
            </a:r>
            <a:r>
              <a:rPr lang="en-US" sz="1600" dirty="0">
                <a:latin typeface="Inter" panose="02000503000000020004" pitchFamily="2" charset="0"/>
                <a:ea typeface="Inter" panose="02000503000000020004" pitchFamily="2" charset="0"/>
                <a:cs typeface="Inter" panose="02000503000000020004" pitchFamily="2" charset="0"/>
              </a:rPr>
              <a:t> controlling tenant DB isolation and limits</a:t>
            </a:r>
          </a:p>
          <a:p>
            <a:pPr marL="285750" indent="-285750" algn="just">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Models</a:t>
            </a:r>
            <a:r>
              <a:rPr lang="en-US" sz="1600" dirty="0">
                <a:latin typeface="Inter" panose="02000503000000020004" pitchFamily="2" charset="0"/>
                <a:ea typeface="Inter" panose="02000503000000020004" pitchFamily="2" charset="0"/>
                <a:cs typeface="Inter" panose="02000503000000020004" pitchFamily="2" charset="0"/>
              </a:rPr>
              <a:t> 	</a:t>
            </a:r>
            <a:r>
              <a:rPr lang="en-US" sz="1600" b="1" u="none" strike="noStrike" dirty="0">
                <a:effectLst/>
                <a:latin typeface="Google Sans"/>
              </a:rPr>
              <a:t>→</a:t>
            </a:r>
            <a:r>
              <a:rPr lang="en-US" sz="1600" dirty="0">
                <a:latin typeface="Inter" panose="02000503000000020004" pitchFamily="2" charset="0"/>
                <a:ea typeface="Inter" panose="02000503000000020004" pitchFamily="2" charset="0"/>
                <a:cs typeface="Inter" panose="02000503000000020004" pitchFamily="2" charset="0"/>
              </a:rPr>
              <a:t> Choosing LLM providers and models</a:t>
            </a:r>
          </a:p>
          <a:p>
            <a:pPr marL="285750" indent="-285750" algn="just">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Tools</a:t>
            </a:r>
            <a:r>
              <a:rPr lang="en-US" sz="1600" dirty="0">
                <a:latin typeface="Inter" panose="02000503000000020004" pitchFamily="2" charset="0"/>
                <a:ea typeface="Inter" panose="02000503000000020004" pitchFamily="2" charset="0"/>
                <a:cs typeface="Inter" panose="02000503000000020004" pitchFamily="2" charset="0"/>
              </a:rPr>
              <a:t> 		</a:t>
            </a:r>
            <a:r>
              <a:rPr lang="en-US" sz="1600" b="1" u="none" strike="noStrike" dirty="0">
                <a:effectLst/>
                <a:latin typeface="Google Sans"/>
              </a:rPr>
              <a:t>→</a:t>
            </a:r>
            <a:r>
              <a:rPr lang="en-US" sz="1600" dirty="0">
                <a:latin typeface="Inter" panose="02000503000000020004" pitchFamily="2" charset="0"/>
                <a:ea typeface="Inter" panose="02000503000000020004" pitchFamily="2" charset="0"/>
                <a:cs typeface="Inter" panose="02000503000000020004" pitchFamily="2" charset="0"/>
              </a:rPr>
              <a:t> Invoking different MCP tools</a:t>
            </a:r>
          </a:p>
          <a:p>
            <a:pPr marL="285750" indent="-285750" algn="just">
              <a:buFont typeface="Arial" panose="020B0604020202020204" pitchFamily="34" charset="0"/>
              <a:buChar char="•"/>
            </a:pPr>
            <a:endParaRPr lang="en-US" sz="1600" dirty="0">
              <a:latin typeface="Inter" panose="02000503000000020004" pitchFamily="2" charset="0"/>
              <a:ea typeface="Inter" panose="02000503000000020004" pitchFamily="2" charset="0"/>
              <a:cs typeface="Inter" panose="02000503000000020004" pitchFamily="2" charset="0"/>
            </a:endParaRPr>
          </a:p>
          <a:p>
            <a:pPr algn="just"/>
            <a:r>
              <a:rPr lang="en-US" b="1" dirty="0">
                <a:latin typeface="Inter" panose="02000503000000020004" pitchFamily="2" charset="0"/>
                <a:ea typeface="Inter" panose="02000503000000020004" pitchFamily="2" charset="0"/>
                <a:cs typeface="Inter" panose="02000503000000020004" pitchFamily="2" charset="0"/>
              </a:rPr>
              <a:t>Execution APIs</a:t>
            </a:r>
            <a:endParaRPr lang="en-US" dirty="0">
              <a:latin typeface="Inter" panose="02000503000000020004" pitchFamily="2" charset="0"/>
              <a:ea typeface="Inter" panose="02000503000000020004" pitchFamily="2" charset="0"/>
              <a:cs typeface="Inter" panose="02000503000000020004" pitchFamily="2" charset="0"/>
            </a:endParaRPr>
          </a:p>
          <a:p>
            <a:pPr marL="285750" indent="-285750" algn="just">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Jobs</a:t>
            </a:r>
            <a:r>
              <a:rPr lang="en-US" sz="1600" dirty="0">
                <a:latin typeface="Inter" panose="02000503000000020004" pitchFamily="2" charset="0"/>
                <a:ea typeface="Inter" panose="02000503000000020004" pitchFamily="2" charset="0"/>
                <a:cs typeface="Inter" panose="02000503000000020004" pitchFamily="2" charset="0"/>
              </a:rPr>
              <a:t> 		</a:t>
            </a:r>
            <a:r>
              <a:rPr lang="en-US" sz="1600" b="1" u="none" strike="noStrike" dirty="0">
                <a:effectLst/>
                <a:latin typeface="Google Sans"/>
              </a:rPr>
              <a:t>→</a:t>
            </a:r>
            <a:r>
              <a:rPr lang="en-US" sz="1600" dirty="0">
                <a:latin typeface="Inter" panose="02000503000000020004" pitchFamily="2" charset="0"/>
                <a:ea typeface="Inter" panose="02000503000000020004" pitchFamily="2" charset="0"/>
                <a:cs typeface="Inter" panose="02000503000000020004" pitchFamily="2" charset="0"/>
              </a:rPr>
              <a:t> Creating and seeing async jobs and progress</a:t>
            </a:r>
          </a:p>
          <a:p>
            <a:pPr marL="285750" indent="-285750" algn="just">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Orchestrator</a:t>
            </a:r>
            <a:r>
              <a:rPr lang="en-US" sz="1600" dirty="0">
                <a:latin typeface="Inter" panose="02000503000000020004" pitchFamily="2" charset="0"/>
                <a:ea typeface="Inter" panose="02000503000000020004" pitchFamily="2" charset="0"/>
                <a:cs typeface="Inter" panose="02000503000000020004" pitchFamily="2" charset="0"/>
              </a:rPr>
              <a:t> 	</a:t>
            </a:r>
            <a:r>
              <a:rPr lang="en-US" sz="1600" b="1" u="none" strike="noStrike" dirty="0">
                <a:effectLst/>
                <a:latin typeface="Google Sans"/>
              </a:rPr>
              <a:t>→</a:t>
            </a:r>
            <a:r>
              <a:rPr lang="en-US" sz="1600" dirty="0">
                <a:latin typeface="Inter" panose="02000503000000020004" pitchFamily="2" charset="0"/>
                <a:ea typeface="Inter" panose="02000503000000020004" pitchFamily="2" charset="0"/>
                <a:cs typeface="Inter" panose="02000503000000020004" pitchFamily="2" charset="0"/>
              </a:rPr>
              <a:t> Running Agent, Check status, and results</a:t>
            </a:r>
          </a:p>
          <a:p>
            <a:pPr marL="285750" indent="-285750" algn="just">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Graph</a:t>
            </a:r>
            <a:r>
              <a:rPr lang="en-US" sz="1600" dirty="0">
                <a:latin typeface="Inter" panose="02000503000000020004" pitchFamily="2" charset="0"/>
                <a:ea typeface="Inter" panose="02000503000000020004" pitchFamily="2" charset="0"/>
                <a:cs typeface="Inter" panose="02000503000000020004" pitchFamily="2" charset="0"/>
              </a:rPr>
              <a:t> 	</a:t>
            </a:r>
            <a:r>
              <a:rPr lang="en-US" sz="1600" b="1" u="none" strike="noStrike" dirty="0">
                <a:effectLst/>
                <a:latin typeface="Google Sans"/>
              </a:rPr>
              <a:t>→</a:t>
            </a:r>
            <a:r>
              <a:rPr lang="en-US" sz="1600" dirty="0">
                <a:latin typeface="Inter" panose="02000503000000020004" pitchFamily="2" charset="0"/>
                <a:ea typeface="Inter" panose="02000503000000020004" pitchFamily="2" charset="0"/>
                <a:cs typeface="Inter" panose="02000503000000020004" pitchFamily="2" charset="0"/>
              </a:rPr>
              <a:t> Executing Cypher commands</a:t>
            </a:r>
          </a:p>
          <a:p>
            <a:pPr marL="285750" indent="-285750" algn="just">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Sessions</a:t>
            </a:r>
            <a:r>
              <a:rPr lang="en-US" sz="1600" dirty="0">
                <a:latin typeface="Inter" panose="02000503000000020004" pitchFamily="2" charset="0"/>
                <a:ea typeface="Inter" panose="02000503000000020004" pitchFamily="2" charset="0"/>
                <a:cs typeface="Inter" panose="02000503000000020004" pitchFamily="2" charset="0"/>
              </a:rPr>
              <a:t> 	</a:t>
            </a:r>
            <a:r>
              <a:rPr lang="en-US" sz="1600" b="1" u="none" strike="noStrike" dirty="0">
                <a:effectLst/>
                <a:latin typeface="Google Sans"/>
              </a:rPr>
              <a:t>→</a:t>
            </a:r>
            <a:r>
              <a:rPr lang="en-US" sz="1600" dirty="0">
                <a:latin typeface="Inter" panose="02000503000000020004" pitchFamily="2" charset="0"/>
                <a:ea typeface="Inter" panose="02000503000000020004" pitchFamily="2" charset="0"/>
                <a:cs typeface="Inter" panose="02000503000000020004" pitchFamily="2" charset="0"/>
              </a:rPr>
              <a:t> managing conversation and runtime context</a:t>
            </a:r>
          </a:p>
          <a:p>
            <a:pPr marL="285750" indent="-285750" algn="just">
              <a:buFont typeface="Arial" panose="020B0604020202020204" pitchFamily="34" charset="0"/>
              <a:buChar char="•"/>
            </a:pPr>
            <a:endParaRPr lang="en-US" sz="1600" dirty="0">
              <a:latin typeface="Inter" panose="02000503000000020004" pitchFamily="2" charset="0"/>
              <a:ea typeface="Inter" panose="02000503000000020004" pitchFamily="2" charset="0"/>
              <a:cs typeface="Inter" panose="02000503000000020004" pitchFamily="2" charset="0"/>
            </a:endParaRPr>
          </a:p>
          <a:p>
            <a:pPr algn="just"/>
            <a:r>
              <a:rPr lang="en-US" b="1" dirty="0">
                <a:latin typeface="Inter" panose="02000503000000020004" pitchFamily="2" charset="0"/>
                <a:ea typeface="Inter" panose="02000503000000020004" pitchFamily="2" charset="0"/>
                <a:cs typeface="Inter" panose="02000503000000020004" pitchFamily="2" charset="0"/>
              </a:rPr>
              <a:t>Operational APIs</a:t>
            </a:r>
            <a:endParaRPr lang="en-US" dirty="0">
              <a:latin typeface="Inter" panose="02000503000000020004" pitchFamily="2" charset="0"/>
              <a:ea typeface="Inter" panose="02000503000000020004" pitchFamily="2" charset="0"/>
              <a:cs typeface="Inter" panose="02000503000000020004" pitchFamily="2" charset="0"/>
            </a:endParaRPr>
          </a:p>
          <a:p>
            <a:pPr marL="285750" indent="-285750" algn="just">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Admin</a:t>
            </a:r>
            <a:r>
              <a:rPr lang="en-US" sz="1600" dirty="0">
                <a:latin typeface="Inter" panose="02000503000000020004" pitchFamily="2" charset="0"/>
                <a:ea typeface="Inter" panose="02000503000000020004" pitchFamily="2" charset="0"/>
                <a:cs typeface="Inter" panose="02000503000000020004" pitchFamily="2" charset="0"/>
              </a:rPr>
              <a:t> 	</a:t>
            </a:r>
            <a:r>
              <a:rPr lang="en-US" sz="1600" b="1" u="none" strike="noStrike" dirty="0">
                <a:effectLst/>
                <a:latin typeface="Google Sans"/>
              </a:rPr>
              <a:t>→</a:t>
            </a:r>
            <a:r>
              <a:rPr lang="en-US" sz="1600" dirty="0">
                <a:latin typeface="Inter" panose="02000503000000020004" pitchFamily="2" charset="0"/>
                <a:ea typeface="Inter" panose="02000503000000020004" pitchFamily="2" charset="0"/>
                <a:cs typeface="Inter" panose="02000503000000020004" pitchFamily="2" charset="0"/>
              </a:rPr>
              <a:t> Monitoring system and stats</a:t>
            </a:r>
          </a:p>
          <a:p>
            <a:pPr marL="285750" indent="-285750" algn="just">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Export</a:t>
            </a:r>
            <a:r>
              <a:rPr lang="en-US" sz="1600" dirty="0">
                <a:latin typeface="Inter" panose="02000503000000020004" pitchFamily="2" charset="0"/>
                <a:ea typeface="Inter" panose="02000503000000020004" pitchFamily="2" charset="0"/>
                <a:cs typeface="Inter" panose="02000503000000020004" pitchFamily="2" charset="0"/>
              </a:rPr>
              <a:t> 	</a:t>
            </a:r>
            <a:r>
              <a:rPr lang="en-US" sz="1600" b="1" u="none" strike="noStrike" dirty="0">
                <a:effectLst/>
                <a:latin typeface="Google Sans"/>
              </a:rPr>
              <a:t>→</a:t>
            </a:r>
            <a:r>
              <a:rPr lang="en-US" sz="1600" dirty="0">
                <a:latin typeface="Inter" panose="02000503000000020004" pitchFamily="2" charset="0"/>
                <a:ea typeface="Inter" panose="02000503000000020004" pitchFamily="2" charset="0"/>
                <a:cs typeface="Inter" panose="02000503000000020004" pitchFamily="2" charset="0"/>
              </a:rPr>
              <a:t> Exporting runs, job results, and logs</a:t>
            </a:r>
          </a:p>
        </p:txBody>
      </p:sp>
      <p:pic>
        <p:nvPicPr>
          <p:cNvPr id="4" name="Picture 15" descr="Fondino">
            <a:extLst>
              <a:ext uri="{FF2B5EF4-FFF2-40B4-BE49-F238E27FC236}">
                <a16:creationId xmlns:a16="http://schemas.microsoft.com/office/drawing/2014/main" id="{67D0C9B3-4465-3094-11BE-7EC7F5D64C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Slide Number Placeholder 11">
            <a:extLst>
              <a:ext uri="{FF2B5EF4-FFF2-40B4-BE49-F238E27FC236}">
                <a16:creationId xmlns:a16="http://schemas.microsoft.com/office/drawing/2014/main" id="{88D984C8-D02D-ED04-492F-F3B42981E989}"/>
              </a:ext>
            </a:extLst>
          </p:cNvPr>
          <p:cNvSpPr>
            <a:spLocks noGrp="1"/>
          </p:cNvSpPr>
          <p:nvPr>
            <p:ph type="sldNum" sz="quarter" idx="12"/>
          </p:nvPr>
        </p:nvSpPr>
        <p:spPr/>
        <p:txBody>
          <a:bodyPr/>
          <a:lstStyle/>
          <a:p>
            <a:fld id="{48F19E39-9933-F648-B2F3-3AC17C0DC986}" type="slidenum">
              <a:rPr lang="en-US" smtClean="0">
                <a:solidFill>
                  <a:schemeClr val="bg1"/>
                </a:solidFill>
              </a:rPr>
              <a:t>8</a:t>
            </a:fld>
            <a:r>
              <a:rPr lang="en-US" dirty="0">
                <a:solidFill>
                  <a:schemeClr val="bg1"/>
                </a:solidFill>
              </a:rPr>
              <a:t> / 17</a:t>
            </a:r>
          </a:p>
        </p:txBody>
      </p:sp>
      <p:sp>
        <p:nvSpPr>
          <p:cNvPr id="2" name="TextBox 1">
            <a:extLst>
              <a:ext uri="{FF2B5EF4-FFF2-40B4-BE49-F238E27FC236}">
                <a16:creationId xmlns:a16="http://schemas.microsoft.com/office/drawing/2014/main" id="{0C1E64A0-FC83-0A8D-D24B-8A3CDEB5D6B6}"/>
              </a:ext>
            </a:extLst>
          </p:cNvPr>
          <p:cNvSpPr txBox="1"/>
          <p:nvPr/>
        </p:nvSpPr>
        <p:spPr>
          <a:xfrm>
            <a:off x="596349" y="374273"/>
            <a:ext cx="10953226" cy="830997"/>
          </a:xfrm>
          <a:prstGeom prst="rect">
            <a:avLst/>
          </a:prstGeom>
          <a:noFill/>
        </p:spPr>
        <p:txBody>
          <a:bodyPr wrap="square" rtlCol="0">
            <a:spAutoFit/>
          </a:bodyPr>
          <a:lstStyle/>
          <a:p>
            <a:pPr algn="just"/>
            <a:r>
              <a:rPr lang="en-US" sz="2800" b="1" dirty="0">
                <a:solidFill>
                  <a:srgbClr val="822334"/>
                </a:solidFill>
                <a:latin typeface="Inter" panose="02000503000000020004" pitchFamily="2" charset="0"/>
                <a:ea typeface="Inter" panose="02000503000000020004" pitchFamily="2" charset="0"/>
                <a:cs typeface="Inter" panose="02000503000000020004" pitchFamily="2" charset="0"/>
              </a:rPr>
              <a:t>API LAYER - ROUTERS</a:t>
            </a:r>
          </a:p>
          <a:p>
            <a:r>
              <a:rPr lang="en-US" sz="2000" dirty="0">
                <a:solidFill>
                  <a:schemeClr val="bg2">
                    <a:lumMod val="50000"/>
                  </a:schemeClr>
                </a:solidFill>
                <a:latin typeface="Inter" panose="02000503000000020004" pitchFamily="2" charset="0"/>
                <a:ea typeface="Inter" panose="02000503000000020004" pitchFamily="2" charset="0"/>
                <a:cs typeface="Inter" panose="02000503000000020004" pitchFamily="2" charset="0"/>
              </a:rPr>
              <a:t>76 endpoints</a:t>
            </a:r>
          </a:p>
        </p:txBody>
      </p:sp>
      <p:sp>
        <p:nvSpPr>
          <p:cNvPr id="3" name="Footer Placeholder 10">
            <a:extLst>
              <a:ext uri="{FF2B5EF4-FFF2-40B4-BE49-F238E27FC236}">
                <a16:creationId xmlns:a16="http://schemas.microsoft.com/office/drawing/2014/main" id="{FC9DCE86-8121-3F55-7C2C-3051C16CAFFE}"/>
              </a:ext>
            </a:extLst>
          </p:cNvPr>
          <p:cNvSpPr>
            <a:spLocks noGrp="1"/>
          </p:cNvSpPr>
          <p:nvPr>
            <p:ph type="ftr" sz="quarter" idx="11"/>
          </p:nvPr>
        </p:nvSpPr>
        <p:spPr>
          <a:xfrm>
            <a:off x="4566534" y="6356350"/>
            <a:ext cx="3058931" cy="365125"/>
          </a:xfrm>
        </p:spPr>
        <p:txBody>
          <a:bodyPr/>
          <a:lstStyle/>
          <a:p>
            <a:r>
              <a:rPr lang="en-US" dirty="0" err="1">
                <a:solidFill>
                  <a:schemeClr val="bg1"/>
                </a:solidFill>
                <a:latin typeface="Inter" panose="02000503000000020004" pitchFamily="2" charset="0"/>
                <a:ea typeface="Inter" panose="02000503000000020004" pitchFamily="2" charset="0"/>
                <a:cs typeface="Inter" panose="02000503000000020004" pitchFamily="2" charset="0"/>
              </a:rPr>
              <a:t>Cineca</a:t>
            </a:r>
            <a:r>
              <a:rPr lang="en-US" dirty="0">
                <a:solidFill>
                  <a:schemeClr val="bg1"/>
                </a:solidFill>
                <a:latin typeface="Inter" panose="02000503000000020004" pitchFamily="2" charset="0"/>
                <a:ea typeface="Inter" panose="02000503000000020004" pitchFamily="2" charset="0"/>
                <a:cs typeface="Inter" panose="02000503000000020004" pitchFamily="2" charset="0"/>
              </a:rPr>
              <a:t> Agentic Platform – Arman Feili</a:t>
            </a:r>
          </a:p>
        </p:txBody>
      </p:sp>
      <p:pic>
        <p:nvPicPr>
          <p:cNvPr id="7" name="Picture 6">
            <a:extLst>
              <a:ext uri="{FF2B5EF4-FFF2-40B4-BE49-F238E27FC236}">
                <a16:creationId xmlns:a16="http://schemas.microsoft.com/office/drawing/2014/main" id="{DA5A1A20-5975-7C3B-D104-7EA29DD136AE}"/>
              </a:ext>
            </a:extLst>
          </p:cNvPr>
          <p:cNvPicPr>
            <a:picLocks noChangeAspect="1"/>
          </p:cNvPicPr>
          <p:nvPr/>
        </p:nvPicPr>
        <p:blipFill>
          <a:blip r:embed="rId4"/>
          <a:stretch>
            <a:fillRect/>
          </a:stretch>
        </p:blipFill>
        <p:spPr>
          <a:xfrm>
            <a:off x="321777" y="6315552"/>
            <a:ext cx="435345" cy="435345"/>
          </a:xfrm>
          <a:prstGeom prst="rect">
            <a:avLst/>
          </a:prstGeom>
        </p:spPr>
      </p:pic>
      <p:pic>
        <p:nvPicPr>
          <p:cNvPr id="9" name="Picture 8">
            <a:extLst>
              <a:ext uri="{FF2B5EF4-FFF2-40B4-BE49-F238E27FC236}">
                <a16:creationId xmlns:a16="http://schemas.microsoft.com/office/drawing/2014/main" id="{102D1F58-9C4C-30E0-9DCA-E40220D359BA}"/>
              </a:ext>
            </a:extLst>
          </p:cNvPr>
          <p:cNvPicPr>
            <a:picLocks noChangeAspect="1"/>
          </p:cNvPicPr>
          <p:nvPr/>
        </p:nvPicPr>
        <p:blipFill>
          <a:blip r:embed="rId5"/>
          <a:stretch>
            <a:fillRect/>
          </a:stretch>
        </p:blipFill>
        <p:spPr>
          <a:xfrm>
            <a:off x="866134" y="6362629"/>
            <a:ext cx="1093241" cy="365125"/>
          </a:xfrm>
          <a:prstGeom prst="rect">
            <a:avLst/>
          </a:prstGeom>
        </p:spPr>
      </p:pic>
      <p:pic>
        <p:nvPicPr>
          <p:cNvPr id="16" name="Picture 15">
            <a:extLst>
              <a:ext uri="{FF2B5EF4-FFF2-40B4-BE49-F238E27FC236}">
                <a16:creationId xmlns:a16="http://schemas.microsoft.com/office/drawing/2014/main" id="{26DB4FE3-3122-DF24-B191-5456F5F79E1C}"/>
              </a:ext>
            </a:extLst>
          </p:cNvPr>
          <p:cNvPicPr>
            <a:picLocks noChangeAspect="1"/>
          </p:cNvPicPr>
          <p:nvPr/>
        </p:nvPicPr>
        <p:blipFill>
          <a:blip r:embed="rId6"/>
          <a:stretch>
            <a:fillRect/>
          </a:stretch>
        </p:blipFill>
        <p:spPr>
          <a:xfrm>
            <a:off x="5835718" y="467405"/>
            <a:ext cx="5931545" cy="644732"/>
          </a:xfrm>
          <a:prstGeom prst="rect">
            <a:avLst/>
          </a:prstGeom>
        </p:spPr>
      </p:pic>
      <p:grpSp>
        <p:nvGrpSpPr>
          <p:cNvPr id="5" name="Group 4">
            <a:extLst>
              <a:ext uri="{FF2B5EF4-FFF2-40B4-BE49-F238E27FC236}">
                <a16:creationId xmlns:a16="http://schemas.microsoft.com/office/drawing/2014/main" id="{8710C4A3-BBA5-CDDD-B4F8-78B456F72B2D}"/>
              </a:ext>
            </a:extLst>
          </p:cNvPr>
          <p:cNvGrpSpPr/>
          <p:nvPr/>
        </p:nvGrpSpPr>
        <p:grpSpPr>
          <a:xfrm>
            <a:off x="7536130" y="1513049"/>
            <a:ext cx="4231133" cy="4231133"/>
            <a:chOff x="7536130" y="1513049"/>
            <a:chExt cx="4231133" cy="4231133"/>
          </a:xfrm>
        </p:grpSpPr>
        <p:pic>
          <p:nvPicPr>
            <p:cNvPr id="27" name="Picture 26">
              <a:extLst>
                <a:ext uri="{FF2B5EF4-FFF2-40B4-BE49-F238E27FC236}">
                  <a16:creationId xmlns:a16="http://schemas.microsoft.com/office/drawing/2014/main" id="{550E246F-F948-0F84-D2B5-94EB10C6E225}"/>
                </a:ext>
              </a:extLst>
            </p:cNvPr>
            <p:cNvPicPr>
              <a:picLocks noChangeAspect="1"/>
            </p:cNvPicPr>
            <p:nvPr/>
          </p:nvPicPr>
          <p:blipFill>
            <a:blip r:embed="rId7"/>
            <a:stretch>
              <a:fillRect/>
            </a:stretch>
          </p:blipFill>
          <p:spPr>
            <a:xfrm>
              <a:off x="7536130" y="1513049"/>
              <a:ext cx="4231133" cy="4231133"/>
            </a:xfrm>
            <a:prstGeom prst="rect">
              <a:avLst/>
            </a:prstGeom>
          </p:spPr>
        </p:pic>
        <p:sp>
          <p:nvSpPr>
            <p:cNvPr id="29" name="TextBox 28">
              <a:extLst>
                <a:ext uri="{FF2B5EF4-FFF2-40B4-BE49-F238E27FC236}">
                  <a16:creationId xmlns:a16="http://schemas.microsoft.com/office/drawing/2014/main" id="{0121D5E8-7661-FAAA-B08D-EFE3F9C4CBA2}"/>
                </a:ext>
              </a:extLst>
            </p:cNvPr>
            <p:cNvSpPr txBox="1"/>
            <p:nvPr/>
          </p:nvSpPr>
          <p:spPr>
            <a:xfrm>
              <a:off x="8075398" y="2820200"/>
              <a:ext cx="535202" cy="261610"/>
            </a:xfrm>
            <a:prstGeom prst="rect">
              <a:avLst/>
            </a:prstGeom>
            <a:noFill/>
          </p:spPr>
          <p:txBody>
            <a:bodyPr wrap="square">
              <a:spAutoFit/>
            </a:bodyPr>
            <a:lstStyle/>
            <a:p>
              <a:r>
                <a:rPr lang="en-US" sz="1100" b="1" dirty="0">
                  <a:solidFill>
                    <a:schemeClr val="bg1"/>
                  </a:solidFill>
                  <a:latin typeface="Inter" panose="02000503000000020004" pitchFamily="2" charset="0"/>
                  <a:ea typeface="Inter" panose="02000503000000020004" pitchFamily="2" charset="0"/>
                  <a:cs typeface="Inter" panose="02000503000000020004" pitchFamily="2" charset="0"/>
                </a:rPr>
                <a:t>Core</a:t>
              </a:r>
              <a:endParaRPr lang="en-US" sz="1100" dirty="0">
                <a:solidFill>
                  <a:schemeClr val="bg1"/>
                </a:solidFill>
              </a:endParaRPr>
            </a:p>
          </p:txBody>
        </p:sp>
        <p:sp>
          <p:nvSpPr>
            <p:cNvPr id="30" name="TextBox 29">
              <a:extLst>
                <a:ext uri="{FF2B5EF4-FFF2-40B4-BE49-F238E27FC236}">
                  <a16:creationId xmlns:a16="http://schemas.microsoft.com/office/drawing/2014/main" id="{E1995060-1B45-0D91-6D12-CF1A3267CACB}"/>
                </a:ext>
              </a:extLst>
            </p:cNvPr>
            <p:cNvSpPr txBox="1"/>
            <p:nvPr/>
          </p:nvSpPr>
          <p:spPr>
            <a:xfrm>
              <a:off x="9369417" y="2820200"/>
              <a:ext cx="921607" cy="261610"/>
            </a:xfrm>
            <a:prstGeom prst="rect">
              <a:avLst/>
            </a:prstGeom>
            <a:noFill/>
          </p:spPr>
          <p:txBody>
            <a:bodyPr wrap="square">
              <a:spAutoFit/>
            </a:bodyPr>
            <a:lstStyle/>
            <a:p>
              <a:r>
                <a:rPr lang="en-US" sz="1100" b="1" dirty="0">
                  <a:solidFill>
                    <a:schemeClr val="bg1"/>
                  </a:solidFill>
                  <a:latin typeface="Inter" panose="02000503000000020004" pitchFamily="2" charset="0"/>
                  <a:ea typeface="Inter" panose="02000503000000020004" pitchFamily="2" charset="0"/>
                  <a:cs typeface="Inter" panose="02000503000000020004" pitchFamily="2" charset="0"/>
                </a:rPr>
                <a:t>Execution</a:t>
              </a:r>
              <a:endParaRPr lang="en-US" sz="1100" dirty="0">
                <a:solidFill>
                  <a:schemeClr val="bg1"/>
                </a:solidFill>
              </a:endParaRPr>
            </a:p>
          </p:txBody>
        </p:sp>
        <p:sp>
          <p:nvSpPr>
            <p:cNvPr id="31" name="TextBox 30">
              <a:extLst>
                <a:ext uri="{FF2B5EF4-FFF2-40B4-BE49-F238E27FC236}">
                  <a16:creationId xmlns:a16="http://schemas.microsoft.com/office/drawing/2014/main" id="{308AF10D-686A-8389-6588-2250AC9BAB53}"/>
                </a:ext>
              </a:extLst>
            </p:cNvPr>
            <p:cNvSpPr txBox="1"/>
            <p:nvPr/>
          </p:nvSpPr>
          <p:spPr>
            <a:xfrm>
              <a:off x="10566496" y="2820200"/>
              <a:ext cx="1088025" cy="261610"/>
            </a:xfrm>
            <a:prstGeom prst="rect">
              <a:avLst/>
            </a:prstGeom>
            <a:noFill/>
          </p:spPr>
          <p:txBody>
            <a:bodyPr wrap="square">
              <a:spAutoFit/>
            </a:bodyPr>
            <a:lstStyle/>
            <a:p>
              <a:r>
                <a:rPr lang="en-US" sz="1100" b="1" dirty="0">
                  <a:solidFill>
                    <a:schemeClr val="bg1"/>
                  </a:solidFill>
                  <a:latin typeface="Inter" panose="02000503000000020004" pitchFamily="2" charset="0"/>
                  <a:ea typeface="Inter" panose="02000503000000020004" pitchFamily="2" charset="0"/>
                  <a:cs typeface="Inter" panose="02000503000000020004" pitchFamily="2" charset="0"/>
                </a:rPr>
                <a:t>Operational</a:t>
              </a:r>
              <a:endParaRPr lang="en-US" sz="1100" dirty="0">
                <a:solidFill>
                  <a:schemeClr val="bg1"/>
                </a:solidFill>
              </a:endParaRPr>
            </a:p>
          </p:txBody>
        </p:sp>
      </p:grpSp>
    </p:spTree>
    <p:extLst>
      <p:ext uri="{BB962C8B-B14F-4D97-AF65-F5344CB8AC3E}">
        <p14:creationId xmlns:p14="http://schemas.microsoft.com/office/powerpoint/2010/main" val="38987497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407383-8871-1EE2-166A-B589E1CB40D5}"/>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CC69C75C-4A01-EF6E-E80E-25ED610402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Slide Number Placeholder 11">
            <a:extLst>
              <a:ext uri="{FF2B5EF4-FFF2-40B4-BE49-F238E27FC236}">
                <a16:creationId xmlns:a16="http://schemas.microsoft.com/office/drawing/2014/main" id="{416E3709-B6DA-1869-5D4C-B684FCEA70F7}"/>
              </a:ext>
            </a:extLst>
          </p:cNvPr>
          <p:cNvSpPr>
            <a:spLocks noGrp="1"/>
          </p:cNvSpPr>
          <p:nvPr>
            <p:ph type="sldNum" sz="quarter" idx="12"/>
          </p:nvPr>
        </p:nvSpPr>
        <p:spPr/>
        <p:txBody>
          <a:bodyPr/>
          <a:lstStyle/>
          <a:p>
            <a:fld id="{48F19E39-9933-F648-B2F3-3AC17C0DC986}" type="slidenum">
              <a:rPr lang="en-US" smtClean="0">
                <a:solidFill>
                  <a:schemeClr val="bg1"/>
                </a:solidFill>
              </a:rPr>
              <a:t>9</a:t>
            </a:fld>
            <a:r>
              <a:rPr lang="en-US" dirty="0">
                <a:solidFill>
                  <a:schemeClr val="bg1"/>
                </a:solidFill>
              </a:rPr>
              <a:t> / 17</a:t>
            </a:r>
          </a:p>
        </p:txBody>
      </p:sp>
      <p:sp>
        <p:nvSpPr>
          <p:cNvPr id="5" name="TextBox 4">
            <a:extLst>
              <a:ext uri="{FF2B5EF4-FFF2-40B4-BE49-F238E27FC236}">
                <a16:creationId xmlns:a16="http://schemas.microsoft.com/office/drawing/2014/main" id="{2817CA2A-2BBF-DDB2-3CCE-957C1C692365}"/>
              </a:ext>
            </a:extLst>
          </p:cNvPr>
          <p:cNvSpPr txBox="1"/>
          <p:nvPr/>
        </p:nvSpPr>
        <p:spPr>
          <a:xfrm>
            <a:off x="596349" y="374273"/>
            <a:ext cx="10999302" cy="830997"/>
          </a:xfrm>
          <a:prstGeom prst="rect">
            <a:avLst/>
          </a:prstGeom>
          <a:noFill/>
        </p:spPr>
        <p:txBody>
          <a:bodyPr wrap="square" rtlCol="0">
            <a:spAutoFit/>
          </a:bodyPr>
          <a:lstStyle/>
          <a:p>
            <a:pPr algn="just"/>
            <a:r>
              <a:rPr lang="en-US" sz="2800" b="1" dirty="0">
                <a:solidFill>
                  <a:srgbClr val="822334"/>
                </a:solidFill>
                <a:latin typeface="Inter" panose="02000503000000020004" pitchFamily="2" charset="0"/>
                <a:ea typeface="Inter" panose="02000503000000020004" pitchFamily="2" charset="0"/>
                <a:cs typeface="Inter" panose="02000503000000020004" pitchFamily="2" charset="0"/>
              </a:rPr>
              <a:t>JOB CREATION</a:t>
            </a:r>
          </a:p>
          <a:p>
            <a:pPr algn="just"/>
            <a:r>
              <a:rPr lang="en-US" sz="2000" dirty="0">
                <a:solidFill>
                  <a:schemeClr val="bg2">
                    <a:lumMod val="50000"/>
                  </a:schemeClr>
                </a:solidFill>
                <a:latin typeface="Inter" panose="02000503000000020004" pitchFamily="2" charset="0"/>
                <a:ea typeface="Inter" panose="02000503000000020004" pitchFamily="2" charset="0"/>
                <a:cs typeface="Inter" panose="02000503000000020004" pitchFamily="2" charset="0"/>
              </a:rPr>
              <a:t>Long-running async task creation</a:t>
            </a:r>
          </a:p>
        </p:txBody>
      </p:sp>
      <p:pic>
        <p:nvPicPr>
          <p:cNvPr id="8" name="Picture 7">
            <a:extLst>
              <a:ext uri="{FF2B5EF4-FFF2-40B4-BE49-F238E27FC236}">
                <a16:creationId xmlns:a16="http://schemas.microsoft.com/office/drawing/2014/main" id="{5446CBCC-5237-3424-D5C2-57726B26F903}"/>
              </a:ext>
            </a:extLst>
          </p:cNvPr>
          <p:cNvPicPr>
            <a:picLocks noChangeAspect="1"/>
          </p:cNvPicPr>
          <p:nvPr/>
        </p:nvPicPr>
        <p:blipFill>
          <a:blip r:embed="rId3"/>
          <a:stretch>
            <a:fillRect/>
          </a:stretch>
        </p:blipFill>
        <p:spPr>
          <a:xfrm>
            <a:off x="2468739" y="4110144"/>
            <a:ext cx="7254521" cy="1413013"/>
          </a:xfrm>
          <a:prstGeom prst="rect">
            <a:avLst/>
          </a:prstGeom>
        </p:spPr>
      </p:pic>
      <p:sp>
        <p:nvSpPr>
          <p:cNvPr id="6" name="Footer Placeholder 10">
            <a:extLst>
              <a:ext uri="{FF2B5EF4-FFF2-40B4-BE49-F238E27FC236}">
                <a16:creationId xmlns:a16="http://schemas.microsoft.com/office/drawing/2014/main" id="{589D20A6-30AB-470B-ACB3-A3D3D92E82FA}"/>
              </a:ext>
            </a:extLst>
          </p:cNvPr>
          <p:cNvSpPr>
            <a:spLocks noGrp="1"/>
          </p:cNvSpPr>
          <p:nvPr>
            <p:ph type="ftr" sz="quarter" idx="11"/>
          </p:nvPr>
        </p:nvSpPr>
        <p:spPr>
          <a:xfrm>
            <a:off x="4566534" y="6356350"/>
            <a:ext cx="3058931" cy="365125"/>
          </a:xfrm>
        </p:spPr>
        <p:txBody>
          <a:bodyPr/>
          <a:lstStyle/>
          <a:p>
            <a:r>
              <a:rPr lang="en-US" dirty="0" err="1">
                <a:solidFill>
                  <a:schemeClr val="bg1"/>
                </a:solidFill>
                <a:latin typeface="Inter" panose="02000503000000020004" pitchFamily="2" charset="0"/>
                <a:ea typeface="Inter" panose="02000503000000020004" pitchFamily="2" charset="0"/>
                <a:cs typeface="Inter" panose="02000503000000020004" pitchFamily="2" charset="0"/>
              </a:rPr>
              <a:t>Cineca</a:t>
            </a:r>
            <a:r>
              <a:rPr lang="en-US" dirty="0">
                <a:solidFill>
                  <a:schemeClr val="bg1"/>
                </a:solidFill>
                <a:latin typeface="Inter" panose="02000503000000020004" pitchFamily="2" charset="0"/>
                <a:ea typeface="Inter" panose="02000503000000020004" pitchFamily="2" charset="0"/>
                <a:cs typeface="Inter" panose="02000503000000020004" pitchFamily="2" charset="0"/>
              </a:rPr>
              <a:t> Agentic Platform – Arman Feili</a:t>
            </a:r>
          </a:p>
        </p:txBody>
      </p:sp>
      <p:pic>
        <p:nvPicPr>
          <p:cNvPr id="7" name="Picture 6">
            <a:extLst>
              <a:ext uri="{FF2B5EF4-FFF2-40B4-BE49-F238E27FC236}">
                <a16:creationId xmlns:a16="http://schemas.microsoft.com/office/drawing/2014/main" id="{5B166F74-4B2F-AADB-9EF5-5E1C2B829990}"/>
              </a:ext>
            </a:extLst>
          </p:cNvPr>
          <p:cNvPicPr>
            <a:picLocks noChangeAspect="1"/>
          </p:cNvPicPr>
          <p:nvPr/>
        </p:nvPicPr>
        <p:blipFill>
          <a:blip r:embed="rId4"/>
          <a:stretch>
            <a:fillRect/>
          </a:stretch>
        </p:blipFill>
        <p:spPr>
          <a:xfrm>
            <a:off x="321777" y="6315552"/>
            <a:ext cx="435345" cy="435345"/>
          </a:xfrm>
          <a:prstGeom prst="rect">
            <a:avLst/>
          </a:prstGeom>
        </p:spPr>
      </p:pic>
      <p:pic>
        <p:nvPicPr>
          <p:cNvPr id="9" name="Picture 8">
            <a:extLst>
              <a:ext uri="{FF2B5EF4-FFF2-40B4-BE49-F238E27FC236}">
                <a16:creationId xmlns:a16="http://schemas.microsoft.com/office/drawing/2014/main" id="{0945B2D3-B46C-6281-B7A9-1F75F21C8B5E}"/>
              </a:ext>
            </a:extLst>
          </p:cNvPr>
          <p:cNvPicPr>
            <a:picLocks noChangeAspect="1"/>
          </p:cNvPicPr>
          <p:nvPr/>
        </p:nvPicPr>
        <p:blipFill>
          <a:blip r:embed="rId5"/>
          <a:stretch>
            <a:fillRect/>
          </a:stretch>
        </p:blipFill>
        <p:spPr>
          <a:xfrm>
            <a:off x="866134" y="6362629"/>
            <a:ext cx="1093241" cy="365125"/>
          </a:xfrm>
          <a:prstGeom prst="rect">
            <a:avLst/>
          </a:prstGeom>
        </p:spPr>
      </p:pic>
      <p:sp>
        <p:nvSpPr>
          <p:cNvPr id="26" name="TextBox 25">
            <a:extLst>
              <a:ext uri="{FF2B5EF4-FFF2-40B4-BE49-F238E27FC236}">
                <a16:creationId xmlns:a16="http://schemas.microsoft.com/office/drawing/2014/main" id="{5FD2FA65-4A9D-2679-84EA-2C960250738B}"/>
              </a:ext>
            </a:extLst>
          </p:cNvPr>
          <p:cNvSpPr txBox="1"/>
          <p:nvPr/>
        </p:nvSpPr>
        <p:spPr>
          <a:xfrm>
            <a:off x="596349" y="1511997"/>
            <a:ext cx="10999302" cy="2092881"/>
          </a:xfrm>
          <a:prstGeom prst="rect">
            <a:avLst/>
          </a:prstGeom>
          <a:noFill/>
        </p:spPr>
        <p:txBody>
          <a:bodyPr wrap="square" rtlCol="0">
            <a:spAutoFit/>
          </a:bodyPr>
          <a:lstStyle/>
          <a:p>
            <a:r>
              <a:rPr lang="en-US" b="1" dirty="0">
                <a:latin typeface="Inter" panose="02000503000000020004" pitchFamily="2" charset="0"/>
                <a:ea typeface="Inter" panose="02000503000000020004" pitchFamily="2" charset="0"/>
                <a:cs typeface="Inter" panose="02000503000000020004" pitchFamily="2" charset="0"/>
              </a:rPr>
              <a:t>For each request we create an async job in a Redis queue:</a:t>
            </a:r>
          </a:p>
          <a:p>
            <a:pPr marL="342900" indent="-342900">
              <a:buFont typeface="+mj-lt"/>
              <a:buAutoNum type="arabicPeriod"/>
            </a:pPr>
            <a:endParaRPr lang="en-US" sz="1600" b="1" dirty="0">
              <a:latin typeface="Inter" panose="02000503000000020004" pitchFamily="2" charset="0"/>
              <a:ea typeface="Inter" panose="02000503000000020004" pitchFamily="2" charset="0"/>
              <a:cs typeface="Inter" panose="02000503000000020004" pitchFamily="2" charset="0"/>
            </a:endParaRPr>
          </a:p>
          <a:p>
            <a:pPr marL="342900" indent="-342900">
              <a:buFont typeface="+mj-lt"/>
              <a:buAutoNum type="arabicPeriod"/>
            </a:pPr>
            <a:r>
              <a:rPr lang="en-US" sz="1600" b="1" dirty="0">
                <a:latin typeface="Inter" panose="02000503000000020004" pitchFamily="2" charset="0"/>
                <a:ea typeface="Inter" panose="02000503000000020004" pitchFamily="2" charset="0"/>
                <a:cs typeface="Inter" panose="02000503000000020004" pitchFamily="2" charset="0"/>
              </a:rPr>
              <a:t>Request Validation</a:t>
            </a:r>
            <a:r>
              <a:rPr lang="en-US" sz="1600" dirty="0">
                <a:latin typeface="Inter" panose="02000503000000020004" pitchFamily="2" charset="0"/>
                <a:ea typeface="Inter" panose="02000503000000020004" pitchFamily="2" charset="0"/>
                <a:cs typeface="Inter" panose="02000503000000020004" pitchFamily="2" charset="0"/>
              </a:rPr>
              <a:t> 	→ Checks </a:t>
            </a:r>
            <a:r>
              <a:rPr lang="en-US" sz="1600" b="1" dirty="0">
                <a:latin typeface="Inter" panose="02000503000000020004" pitchFamily="2" charset="0"/>
                <a:ea typeface="Inter" panose="02000503000000020004" pitchFamily="2" charset="0"/>
                <a:cs typeface="Inter" panose="02000503000000020004" pitchFamily="2" charset="0"/>
              </a:rPr>
              <a:t>required fields</a:t>
            </a:r>
            <a:r>
              <a:rPr lang="en-US" sz="1600" dirty="0">
                <a:latin typeface="Inter" panose="02000503000000020004" pitchFamily="2" charset="0"/>
                <a:ea typeface="Inter" panose="02000503000000020004" pitchFamily="2" charset="0"/>
                <a:cs typeface="Inter" panose="02000503000000020004" pitchFamily="2" charset="0"/>
              </a:rPr>
              <a:t> and payload </a:t>
            </a:r>
            <a:r>
              <a:rPr lang="en-US" sz="1600" b="1" dirty="0">
                <a:latin typeface="Inter" panose="02000503000000020004" pitchFamily="2" charset="0"/>
                <a:ea typeface="Inter" panose="02000503000000020004" pitchFamily="2" charset="0"/>
                <a:cs typeface="Inter" panose="02000503000000020004" pitchFamily="2" charset="0"/>
              </a:rPr>
              <a:t>structure</a:t>
            </a:r>
          </a:p>
          <a:p>
            <a:pPr marL="342900" indent="-342900">
              <a:buFont typeface="+mj-lt"/>
              <a:buAutoNum type="arabicPeriod"/>
            </a:pPr>
            <a:r>
              <a:rPr lang="en-US" sz="1600" b="1" dirty="0">
                <a:latin typeface="Inter" panose="02000503000000020004" pitchFamily="2" charset="0"/>
                <a:ea typeface="Inter" panose="02000503000000020004" pitchFamily="2" charset="0"/>
                <a:cs typeface="Inter" panose="02000503000000020004" pitchFamily="2" charset="0"/>
              </a:rPr>
              <a:t>Idempotency Check</a:t>
            </a:r>
            <a:r>
              <a:rPr lang="en-US" sz="1600" dirty="0">
                <a:latin typeface="Inter" panose="02000503000000020004" pitchFamily="2" charset="0"/>
                <a:ea typeface="Inter" panose="02000503000000020004" pitchFamily="2" charset="0"/>
                <a:cs typeface="Inter" panose="02000503000000020004" pitchFamily="2" charset="0"/>
              </a:rPr>
              <a:t> 	→ Prevents </a:t>
            </a:r>
            <a:r>
              <a:rPr lang="en-US" sz="1600" b="1" dirty="0">
                <a:latin typeface="Inter" panose="02000503000000020004" pitchFamily="2" charset="0"/>
                <a:ea typeface="Inter" panose="02000503000000020004" pitchFamily="2" charset="0"/>
                <a:cs typeface="Inter" panose="02000503000000020004" pitchFamily="2" charset="0"/>
              </a:rPr>
              <a:t>duplicate</a:t>
            </a:r>
            <a:r>
              <a:rPr lang="en-US" sz="1600" dirty="0">
                <a:latin typeface="Inter" panose="02000503000000020004" pitchFamily="2" charset="0"/>
                <a:ea typeface="Inter" panose="02000503000000020004" pitchFamily="2" charset="0"/>
                <a:cs typeface="Inter" panose="02000503000000020004" pitchFamily="2" charset="0"/>
              </a:rPr>
              <a:t> jobs during retries</a:t>
            </a:r>
          </a:p>
          <a:p>
            <a:pPr marL="342900" indent="-342900">
              <a:buFont typeface="+mj-lt"/>
              <a:buAutoNum type="arabicPeriod"/>
            </a:pPr>
            <a:r>
              <a:rPr lang="en-US" sz="1600" b="1" dirty="0">
                <a:latin typeface="Inter" panose="02000503000000020004" pitchFamily="2" charset="0"/>
                <a:ea typeface="Inter" panose="02000503000000020004" pitchFamily="2" charset="0"/>
                <a:cs typeface="Inter" panose="02000503000000020004" pitchFamily="2" charset="0"/>
              </a:rPr>
              <a:t>Durable Job Record</a:t>
            </a:r>
            <a:r>
              <a:rPr lang="en-US" sz="1600" dirty="0">
                <a:latin typeface="Inter" panose="02000503000000020004" pitchFamily="2" charset="0"/>
                <a:ea typeface="Inter" panose="02000503000000020004" pitchFamily="2" charset="0"/>
                <a:cs typeface="Inter" panose="02000503000000020004" pitchFamily="2" charset="0"/>
              </a:rPr>
              <a:t> 	→ Stores the job in </a:t>
            </a:r>
            <a:r>
              <a:rPr lang="en-US" sz="1600" b="1" dirty="0">
                <a:latin typeface="Inter" panose="02000503000000020004" pitchFamily="2" charset="0"/>
                <a:ea typeface="Inter" panose="02000503000000020004" pitchFamily="2" charset="0"/>
                <a:cs typeface="Inter" panose="02000503000000020004" pitchFamily="2" charset="0"/>
              </a:rPr>
              <a:t>PostgreSQL</a:t>
            </a:r>
            <a:r>
              <a:rPr lang="en-US" sz="1600" dirty="0">
                <a:latin typeface="Inter" panose="02000503000000020004" pitchFamily="2" charset="0"/>
                <a:ea typeface="Inter" panose="02000503000000020004" pitchFamily="2" charset="0"/>
                <a:cs typeface="Inter" panose="02000503000000020004" pitchFamily="2" charset="0"/>
              </a:rPr>
              <a:t> with status queued</a:t>
            </a:r>
          </a:p>
          <a:p>
            <a:pPr marL="342900" indent="-342900">
              <a:buFont typeface="+mj-lt"/>
              <a:buAutoNum type="arabicPeriod"/>
            </a:pPr>
            <a:r>
              <a:rPr lang="en-US" sz="1600" b="1" dirty="0">
                <a:latin typeface="Inter" panose="02000503000000020004" pitchFamily="2" charset="0"/>
                <a:ea typeface="Inter" panose="02000503000000020004" pitchFamily="2" charset="0"/>
                <a:cs typeface="Inter" panose="02000503000000020004" pitchFamily="2" charset="0"/>
              </a:rPr>
              <a:t>Redis Queueing</a:t>
            </a:r>
            <a:r>
              <a:rPr lang="en-US" sz="1600" dirty="0">
                <a:latin typeface="Inter" panose="02000503000000020004" pitchFamily="2" charset="0"/>
                <a:ea typeface="Inter" panose="02000503000000020004" pitchFamily="2" charset="0"/>
                <a:cs typeface="Inter" panose="02000503000000020004" pitchFamily="2" charset="0"/>
              </a:rPr>
              <a:t> 	→ Pushes the job ID to </a:t>
            </a:r>
            <a:r>
              <a:rPr lang="en-US" sz="1600" b="1" dirty="0">
                <a:latin typeface="Inter" panose="02000503000000020004" pitchFamily="2" charset="0"/>
                <a:ea typeface="Inter" panose="02000503000000020004" pitchFamily="2" charset="0"/>
                <a:cs typeface="Inter" panose="02000503000000020004" pitchFamily="2" charset="0"/>
              </a:rPr>
              <a:t>Redis queue </a:t>
            </a:r>
            <a:r>
              <a:rPr lang="en-US" sz="1600" dirty="0">
                <a:latin typeface="Inter" panose="02000503000000020004" pitchFamily="2" charset="0"/>
                <a:ea typeface="Inter" panose="02000503000000020004" pitchFamily="2" charset="0"/>
                <a:cs typeface="Inter" panose="02000503000000020004" pitchFamily="2" charset="0"/>
              </a:rPr>
              <a:t>for worker execution</a:t>
            </a:r>
          </a:p>
          <a:p>
            <a:pPr marL="342900" indent="-342900">
              <a:buFont typeface="+mj-lt"/>
              <a:buAutoNum type="arabicPeriod"/>
            </a:pPr>
            <a:r>
              <a:rPr lang="en-US" sz="1600" b="1" dirty="0">
                <a:latin typeface="Inter" panose="02000503000000020004" pitchFamily="2" charset="0"/>
                <a:ea typeface="Inter" panose="02000503000000020004" pitchFamily="2" charset="0"/>
                <a:cs typeface="Inter" panose="02000503000000020004" pitchFamily="2" charset="0"/>
              </a:rPr>
              <a:t>Retry Cache</a:t>
            </a:r>
            <a:r>
              <a:rPr lang="en-US" sz="1600" dirty="0">
                <a:latin typeface="Inter" panose="02000503000000020004" pitchFamily="2" charset="0"/>
                <a:ea typeface="Inter" panose="02000503000000020004" pitchFamily="2" charset="0"/>
                <a:cs typeface="Inter" panose="02000503000000020004" pitchFamily="2" charset="0"/>
              </a:rPr>
              <a:t> 		→ </a:t>
            </a:r>
            <a:r>
              <a:rPr lang="en-US" sz="1600" b="1" dirty="0">
                <a:latin typeface="Inter" panose="02000503000000020004" pitchFamily="2" charset="0"/>
                <a:ea typeface="Inter" panose="02000503000000020004" pitchFamily="2" charset="0"/>
                <a:cs typeface="Inter" panose="02000503000000020004" pitchFamily="2" charset="0"/>
              </a:rPr>
              <a:t>If job already existed</a:t>
            </a:r>
            <a:r>
              <a:rPr lang="en-US" sz="1600" dirty="0">
                <a:latin typeface="Inter" panose="02000503000000020004" pitchFamily="2" charset="0"/>
                <a:ea typeface="Inter" panose="02000503000000020004" pitchFamily="2" charset="0"/>
                <a:cs typeface="Inter" panose="02000503000000020004" pitchFamily="2" charset="0"/>
              </a:rPr>
              <a:t>, returns the existing job ID</a:t>
            </a:r>
          </a:p>
          <a:p>
            <a:pPr marL="342900" indent="-342900">
              <a:buFont typeface="+mj-lt"/>
              <a:buAutoNum type="arabicPeriod"/>
            </a:pPr>
            <a:r>
              <a:rPr lang="en-US" sz="1600" b="1" dirty="0">
                <a:latin typeface="Inter" panose="02000503000000020004" pitchFamily="2" charset="0"/>
                <a:ea typeface="Inter" panose="02000503000000020004" pitchFamily="2" charset="0"/>
                <a:cs typeface="Inter" panose="02000503000000020004" pitchFamily="2" charset="0"/>
              </a:rPr>
              <a:t>Async Response</a:t>
            </a:r>
            <a:r>
              <a:rPr lang="en-US" sz="1600" dirty="0">
                <a:latin typeface="Inter" panose="02000503000000020004" pitchFamily="2" charset="0"/>
                <a:ea typeface="Inter" panose="02000503000000020004" pitchFamily="2" charset="0"/>
                <a:cs typeface="Inter" panose="02000503000000020004" pitchFamily="2" charset="0"/>
              </a:rPr>
              <a:t> 	→ Returns HTTP 202 for </a:t>
            </a:r>
            <a:r>
              <a:rPr lang="en-US" sz="1600" b="1" dirty="0">
                <a:latin typeface="Inter" panose="02000503000000020004" pitchFamily="2" charset="0"/>
                <a:ea typeface="Inter" panose="02000503000000020004" pitchFamily="2" charset="0"/>
                <a:cs typeface="Inter" panose="02000503000000020004" pitchFamily="2" charset="0"/>
              </a:rPr>
              <a:t>Created</a:t>
            </a:r>
            <a:r>
              <a:rPr lang="en-US" sz="1600" dirty="0">
                <a:latin typeface="Inter" panose="02000503000000020004" pitchFamily="2" charset="0"/>
                <a:ea typeface="Inter" panose="02000503000000020004" pitchFamily="2" charset="0"/>
                <a:cs typeface="Inter" panose="02000503000000020004" pitchFamily="2" charset="0"/>
              </a:rPr>
              <a:t> or </a:t>
            </a:r>
            <a:r>
              <a:rPr lang="en-US" sz="1600" b="1" dirty="0">
                <a:latin typeface="Inter" panose="02000503000000020004" pitchFamily="2" charset="0"/>
                <a:ea typeface="Inter" panose="02000503000000020004" pitchFamily="2" charset="0"/>
                <a:cs typeface="Inter" panose="02000503000000020004" pitchFamily="2" charset="0"/>
              </a:rPr>
              <a:t>Accepted job ID</a:t>
            </a:r>
            <a:r>
              <a:rPr lang="en-US" sz="1600" dirty="0">
                <a:latin typeface="Inter" panose="02000503000000020004" pitchFamily="2" charset="0"/>
                <a:ea typeface="Inter" panose="02000503000000020004" pitchFamily="2" charset="0"/>
                <a:cs typeface="Inter" panose="02000503000000020004" pitchFamily="2" charset="0"/>
              </a:rPr>
              <a:t> and current status</a:t>
            </a:r>
          </a:p>
        </p:txBody>
      </p:sp>
      <p:pic>
        <p:nvPicPr>
          <p:cNvPr id="29" name="Picture 28">
            <a:extLst>
              <a:ext uri="{FF2B5EF4-FFF2-40B4-BE49-F238E27FC236}">
                <a16:creationId xmlns:a16="http://schemas.microsoft.com/office/drawing/2014/main" id="{7784830B-E812-8449-9100-C5F78FE42FC1}"/>
              </a:ext>
            </a:extLst>
          </p:cNvPr>
          <p:cNvPicPr>
            <a:picLocks noChangeAspect="1"/>
          </p:cNvPicPr>
          <p:nvPr/>
        </p:nvPicPr>
        <p:blipFill>
          <a:blip r:embed="rId6"/>
          <a:stretch>
            <a:fillRect/>
          </a:stretch>
        </p:blipFill>
        <p:spPr>
          <a:xfrm>
            <a:off x="5835717" y="471486"/>
            <a:ext cx="5931546" cy="644732"/>
          </a:xfrm>
          <a:prstGeom prst="rect">
            <a:avLst/>
          </a:prstGeom>
        </p:spPr>
      </p:pic>
    </p:spTree>
    <p:extLst>
      <p:ext uri="{BB962C8B-B14F-4D97-AF65-F5344CB8AC3E}">
        <p14:creationId xmlns:p14="http://schemas.microsoft.com/office/powerpoint/2010/main" val="28900059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E022E4-21DB-0138-0DDA-924AB2FA3B43}"/>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0993AADE-1D92-5EAC-23F4-ED1BCB9BC6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Slide Number Placeholder 11">
            <a:extLst>
              <a:ext uri="{FF2B5EF4-FFF2-40B4-BE49-F238E27FC236}">
                <a16:creationId xmlns:a16="http://schemas.microsoft.com/office/drawing/2014/main" id="{FE7802B7-55CA-7398-3826-9098013730A6}"/>
              </a:ext>
            </a:extLst>
          </p:cNvPr>
          <p:cNvSpPr>
            <a:spLocks noGrp="1"/>
          </p:cNvSpPr>
          <p:nvPr>
            <p:ph type="sldNum" sz="quarter" idx="12"/>
          </p:nvPr>
        </p:nvSpPr>
        <p:spPr/>
        <p:txBody>
          <a:bodyPr/>
          <a:lstStyle/>
          <a:p>
            <a:fld id="{48F19E39-9933-F648-B2F3-3AC17C0DC986}" type="slidenum">
              <a:rPr lang="en-US" smtClean="0">
                <a:solidFill>
                  <a:schemeClr val="bg1"/>
                </a:solidFill>
              </a:rPr>
              <a:t>10</a:t>
            </a:fld>
            <a:r>
              <a:rPr lang="en-US" dirty="0">
                <a:solidFill>
                  <a:schemeClr val="bg1"/>
                </a:solidFill>
              </a:rPr>
              <a:t> / 17</a:t>
            </a:r>
          </a:p>
        </p:txBody>
      </p:sp>
      <p:sp>
        <p:nvSpPr>
          <p:cNvPr id="9" name="TextBox 8">
            <a:extLst>
              <a:ext uri="{FF2B5EF4-FFF2-40B4-BE49-F238E27FC236}">
                <a16:creationId xmlns:a16="http://schemas.microsoft.com/office/drawing/2014/main" id="{0B9B25CF-026F-8D71-0A81-93B753F81566}"/>
              </a:ext>
            </a:extLst>
          </p:cNvPr>
          <p:cNvSpPr txBox="1"/>
          <p:nvPr/>
        </p:nvSpPr>
        <p:spPr>
          <a:xfrm>
            <a:off x="596349" y="374273"/>
            <a:ext cx="10999302" cy="830997"/>
          </a:xfrm>
          <a:prstGeom prst="rect">
            <a:avLst/>
          </a:prstGeom>
          <a:noFill/>
        </p:spPr>
        <p:txBody>
          <a:bodyPr wrap="square" rtlCol="0">
            <a:spAutoFit/>
          </a:bodyPr>
          <a:lstStyle/>
          <a:p>
            <a:r>
              <a:rPr lang="en-US" sz="2800" b="1" i="0" dirty="0">
                <a:solidFill>
                  <a:srgbClr val="822334"/>
                </a:solidFill>
                <a:effectLst/>
                <a:latin typeface="Inter" panose="02000503000000020004" pitchFamily="2" charset="0"/>
                <a:ea typeface="Inter" panose="02000503000000020004" pitchFamily="2" charset="0"/>
                <a:cs typeface="Inter" panose="02000503000000020004" pitchFamily="2" charset="0"/>
              </a:rPr>
              <a:t>WORKERS</a:t>
            </a:r>
          </a:p>
          <a:p>
            <a:r>
              <a:rPr lang="en-US" sz="2000" i="0" dirty="0">
                <a:solidFill>
                  <a:schemeClr val="bg2">
                    <a:lumMod val="50000"/>
                  </a:schemeClr>
                </a:solidFill>
                <a:effectLst/>
                <a:latin typeface="Inter" panose="02000503000000020004" pitchFamily="2" charset="0"/>
                <a:ea typeface="Inter" panose="02000503000000020004" pitchFamily="2" charset="0"/>
                <a:cs typeface="Inter" panose="02000503000000020004" pitchFamily="2" charset="0"/>
              </a:rPr>
              <a:t>Job Processing Engine</a:t>
            </a:r>
          </a:p>
        </p:txBody>
      </p:sp>
      <p:sp>
        <p:nvSpPr>
          <p:cNvPr id="3" name="Footer Placeholder 10">
            <a:extLst>
              <a:ext uri="{FF2B5EF4-FFF2-40B4-BE49-F238E27FC236}">
                <a16:creationId xmlns:a16="http://schemas.microsoft.com/office/drawing/2014/main" id="{0B26941F-A5AF-43F2-C484-9C8864E547AD}"/>
              </a:ext>
            </a:extLst>
          </p:cNvPr>
          <p:cNvSpPr>
            <a:spLocks noGrp="1"/>
          </p:cNvSpPr>
          <p:nvPr>
            <p:ph type="ftr" sz="quarter" idx="11"/>
          </p:nvPr>
        </p:nvSpPr>
        <p:spPr>
          <a:xfrm>
            <a:off x="4566534" y="6356350"/>
            <a:ext cx="3058931" cy="365125"/>
          </a:xfrm>
        </p:spPr>
        <p:txBody>
          <a:bodyPr/>
          <a:lstStyle/>
          <a:p>
            <a:r>
              <a:rPr lang="en-US" dirty="0" err="1">
                <a:solidFill>
                  <a:schemeClr val="bg1"/>
                </a:solidFill>
                <a:latin typeface="Inter" panose="02000503000000020004" pitchFamily="2" charset="0"/>
                <a:ea typeface="Inter" panose="02000503000000020004" pitchFamily="2" charset="0"/>
                <a:cs typeface="Inter" panose="02000503000000020004" pitchFamily="2" charset="0"/>
              </a:rPr>
              <a:t>Cineca</a:t>
            </a:r>
            <a:r>
              <a:rPr lang="en-US" dirty="0">
                <a:solidFill>
                  <a:schemeClr val="bg1"/>
                </a:solidFill>
                <a:latin typeface="Inter" panose="02000503000000020004" pitchFamily="2" charset="0"/>
                <a:ea typeface="Inter" panose="02000503000000020004" pitchFamily="2" charset="0"/>
                <a:cs typeface="Inter" panose="02000503000000020004" pitchFamily="2" charset="0"/>
              </a:rPr>
              <a:t> Agentic Platform – Arman Feili</a:t>
            </a:r>
          </a:p>
        </p:txBody>
      </p:sp>
      <p:pic>
        <p:nvPicPr>
          <p:cNvPr id="5" name="Picture 4">
            <a:extLst>
              <a:ext uri="{FF2B5EF4-FFF2-40B4-BE49-F238E27FC236}">
                <a16:creationId xmlns:a16="http://schemas.microsoft.com/office/drawing/2014/main" id="{78E483F7-F82E-6DE8-F7D0-9A6A4715C791}"/>
              </a:ext>
            </a:extLst>
          </p:cNvPr>
          <p:cNvPicPr>
            <a:picLocks noChangeAspect="1"/>
          </p:cNvPicPr>
          <p:nvPr/>
        </p:nvPicPr>
        <p:blipFill>
          <a:blip r:embed="rId3"/>
          <a:stretch>
            <a:fillRect/>
          </a:stretch>
        </p:blipFill>
        <p:spPr>
          <a:xfrm>
            <a:off x="321777" y="6315552"/>
            <a:ext cx="435345" cy="435345"/>
          </a:xfrm>
          <a:prstGeom prst="rect">
            <a:avLst/>
          </a:prstGeom>
        </p:spPr>
      </p:pic>
      <p:pic>
        <p:nvPicPr>
          <p:cNvPr id="6" name="Picture 5">
            <a:extLst>
              <a:ext uri="{FF2B5EF4-FFF2-40B4-BE49-F238E27FC236}">
                <a16:creationId xmlns:a16="http://schemas.microsoft.com/office/drawing/2014/main" id="{26838B9B-72B8-90D3-4DA6-7A11BDEA85B3}"/>
              </a:ext>
            </a:extLst>
          </p:cNvPr>
          <p:cNvPicPr>
            <a:picLocks noChangeAspect="1"/>
          </p:cNvPicPr>
          <p:nvPr/>
        </p:nvPicPr>
        <p:blipFill>
          <a:blip r:embed="rId4"/>
          <a:stretch>
            <a:fillRect/>
          </a:stretch>
        </p:blipFill>
        <p:spPr>
          <a:xfrm>
            <a:off x="866134" y="6362629"/>
            <a:ext cx="1093241" cy="365125"/>
          </a:xfrm>
          <a:prstGeom prst="rect">
            <a:avLst/>
          </a:prstGeom>
        </p:spPr>
      </p:pic>
      <p:sp>
        <p:nvSpPr>
          <p:cNvPr id="26" name="TextBox 25">
            <a:extLst>
              <a:ext uri="{FF2B5EF4-FFF2-40B4-BE49-F238E27FC236}">
                <a16:creationId xmlns:a16="http://schemas.microsoft.com/office/drawing/2014/main" id="{A6169038-0AD1-CBA1-5AFB-90AD77EEB369}"/>
              </a:ext>
            </a:extLst>
          </p:cNvPr>
          <p:cNvSpPr txBox="1"/>
          <p:nvPr/>
        </p:nvSpPr>
        <p:spPr>
          <a:xfrm>
            <a:off x="596348" y="1511996"/>
            <a:ext cx="6947452" cy="3385542"/>
          </a:xfrm>
          <a:prstGeom prst="rect">
            <a:avLst/>
          </a:prstGeom>
          <a:noFill/>
        </p:spPr>
        <p:txBody>
          <a:bodyPr wrap="square" rtlCol="0">
            <a:spAutoFit/>
          </a:bodyPr>
          <a:lstStyle/>
          <a:p>
            <a:r>
              <a:rPr lang="en-US" b="1" dirty="0">
                <a:latin typeface="Inter" panose="02000503000000020004" pitchFamily="2" charset="0"/>
                <a:ea typeface="Inter" panose="02000503000000020004" pitchFamily="2" charset="0"/>
                <a:cs typeface="Inter" panose="02000503000000020004" pitchFamily="2" charset="0"/>
              </a:rPr>
              <a:t>Worker Lifecycle</a:t>
            </a:r>
            <a:endParaRPr lang="en-US" dirty="0">
              <a:latin typeface="Inter" panose="02000503000000020004" pitchFamily="2" charset="0"/>
              <a:ea typeface="Inter" panose="02000503000000020004" pitchFamily="2" charset="0"/>
              <a:cs typeface="Inter" panose="02000503000000020004" pitchFamily="2" charset="0"/>
            </a:endParaRPr>
          </a:p>
          <a:p>
            <a:pPr marL="342900" indent="-342900">
              <a:buFont typeface="+mj-lt"/>
              <a:buAutoNum type="arabicPeriod"/>
            </a:pPr>
            <a:r>
              <a:rPr lang="en-US" sz="1600" b="1" dirty="0">
                <a:latin typeface="Inter" panose="02000503000000020004" pitchFamily="2" charset="0"/>
                <a:ea typeface="Inter" panose="02000503000000020004" pitchFamily="2" charset="0"/>
                <a:cs typeface="Inter" panose="02000503000000020004" pitchFamily="2" charset="0"/>
              </a:rPr>
              <a:t>Pull Job</a:t>
            </a:r>
            <a:r>
              <a:rPr lang="en-US" sz="1600" dirty="0">
                <a:latin typeface="Inter" panose="02000503000000020004" pitchFamily="2" charset="0"/>
                <a:ea typeface="Inter" panose="02000503000000020004" pitchFamily="2" charset="0"/>
                <a:cs typeface="Inter" panose="02000503000000020004" pitchFamily="2" charset="0"/>
              </a:rPr>
              <a:t> 	→ locks a queued job in Redis for one worker</a:t>
            </a:r>
          </a:p>
          <a:p>
            <a:pPr marL="342900" indent="-342900">
              <a:buFont typeface="+mj-lt"/>
              <a:buAutoNum type="arabicPeriod"/>
            </a:pPr>
            <a:r>
              <a:rPr lang="en-US" sz="1600" b="1" dirty="0">
                <a:latin typeface="Inter" panose="02000503000000020004" pitchFamily="2" charset="0"/>
                <a:ea typeface="Inter" panose="02000503000000020004" pitchFamily="2" charset="0"/>
                <a:cs typeface="Inter" panose="02000503000000020004" pitchFamily="2" charset="0"/>
              </a:rPr>
              <a:t>Load Job Data</a:t>
            </a:r>
            <a:r>
              <a:rPr lang="en-US" sz="1600" dirty="0">
                <a:latin typeface="Inter" panose="02000503000000020004" pitchFamily="2" charset="0"/>
                <a:ea typeface="Inter" panose="02000503000000020004" pitchFamily="2" charset="0"/>
                <a:cs typeface="Inter" panose="02000503000000020004" pitchFamily="2" charset="0"/>
              </a:rPr>
              <a:t>	→ reads job details from PostgreSQL</a:t>
            </a:r>
          </a:p>
          <a:p>
            <a:pPr marL="342900" indent="-342900">
              <a:buFont typeface="+mj-lt"/>
              <a:buAutoNum type="arabicPeriod"/>
            </a:pPr>
            <a:r>
              <a:rPr lang="en-US" sz="1600" b="1" dirty="0">
                <a:latin typeface="Inter" panose="02000503000000020004" pitchFamily="2" charset="0"/>
                <a:ea typeface="Inter" panose="02000503000000020004" pitchFamily="2" charset="0"/>
                <a:cs typeface="Inter" panose="02000503000000020004" pitchFamily="2" charset="0"/>
              </a:rPr>
              <a:t>Cancel Check	</a:t>
            </a:r>
            <a:r>
              <a:rPr lang="en-US" sz="1600" dirty="0">
                <a:latin typeface="Inter" panose="02000503000000020004" pitchFamily="2" charset="0"/>
                <a:ea typeface="Inter" panose="02000503000000020004" pitchFamily="2" charset="0"/>
                <a:cs typeface="Inter" panose="02000503000000020004" pitchFamily="2" charset="0"/>
              </a:rPr>
              <a:t>→ if user cancels, it stops safely</a:t>
            </a:r>
          </a:p>
          <a:p>
            <a:pPr marL="342900" indent="-342900">
              <a:buFont typeface="+mj-lt"/>
              <a:buAutoNum type="arabicPeriod"/>
            </a:pPr>
            <a:r>
              <a:rPr lang="en-US" sz="1600" b="1" dirty="0">
                <a:latin typeface="Inter" panose="02000503000000020004" pitchFamily="2" charset="0"/>
                <a:ea typeface="Inter" panose="02000503000000020004" pitchFamily="2" charset="0"/>
                <a:cs typeface="Inter" panose="02000503000000020004" pitchFamily="2" charset="0"/>
              </a:rPr>
              <a:t>Update Status</a:t>
            </a:r>
            <a:r>
              <a:rPr lang="en-US" sz="1600" dirty="0">
                <a:latin typeface="Inter" panose="02000503000000020004" pitchFamily="2" charset="0"/>
                <a:ea typeface="Inter" panose="02000503000000020004" pitchFamily="2" charset="0"/>
                <a:cs typeface="Inter" panose="02000503000000020004" pitchFamily="2" charset="0"/>
              </a:rPr>
              <a:t> 	→ records the job status</a:t>
            </a:r>
          </a:p>
          <a:p>
            <a:pPr marL="342900" indent="-342900">
              <a:buFont typeface="+mj-lt"/>
              <a:buAutoNum type="arabicPeriod"/>
            </a:pPr>
            <a:r>
              <a:rPr lang="en-US" sz="1600" b="1" dirty="0">
                <a:latin typeface="Inter" panose="02000503000000020004" pitchFamily="2" charset="0"/>
                <a:ea typeface="Inter" panose="02000503000000020004" pitchFamily="2" charset="0"/>
                <a:cs typeface="Inter" panose="02000503000000020004" pitchFamily="2" charset="0"/>
              </a:rPr>
              <a:t>Heartbeat</a:t>
            </a:r>
            <a:r>
              <a:rPr lang="en-US" sz="1600" dirty="0">
                <a:latin typeface="Inter" panose="02000503000000020004" pitchFamily="2" charset="0"/>
                <a:ea typeface="Inter" panose="02000503000000020004" pitchFamily="2" charset="0"/>
                <a:cs typeface="Inter" panose="02000503000000020004" pitchFamily="2" charset="0"/>
              </a:rPr>
              <a:t> 	→ Every 30s, detects stuck workers</a:t>
            </a:r>
          </a:p>
          <a:p>
            <a:pPr marL="342900" indent="-342900">
              <a:buFont typeface="+mj-lt"/>
              <a:buAutoNum type="arabicPeriod"/>
            </a:pPr>
            <a:endParaRPr lang="en-US" b="1" dirty="0">
              <a:latin typeface="Inter" panose="02000503000000020004" pitchFamily="2" charset="0"/>
              <a:ea typeface="Inter" panose="02000503000000020004" pitchFamily="2" charset="0"/>
              <a:cs typeface="Inter" panose="02000503000000020004" pitchFamily="2" charset="0"/>
            </a:endParaRPr>
          </a:p>
          <a:p>
            <a:r>
              <a:rPr lang="en-US" b="1" dirty="0">
                <a:latin typeface="Inter" panose="02000503000000020004" pitchFamily="2" charset="0"/>
                <a:ea typeface="Inter" panose="02000503000000020004" pitchFamily="2" charset="0"/>
                <a:cs typeface="Inter" panose="02000503000000020004" pitchFamily="2" charset="0"/>
              </a:rPr>
              <a:t>Agent Run Execution</a:t>
            </a:r>
            <a:endParaRPr lang="en-US" dirty="0">
              <a:latin typeface="Inter" panose="02000503000000020004" pitchFamily="2" charset="0"/>
              <a:ea typeface="Inter" panose="02000503000000020004" pitchFamily="2" charset="0"/>
              <a:cs typeface="Inter" panose="02000503000000020004" pitchFamily="2" charset="0"/>
            </a:endParaRPr>
          </a:p>
          <a:p>
            <a:pPr marL="342900" indent="-342900">
              <a:buFont typeface="+mj-lt"/>
              <a:buAutoNum type="arabicPeriod" startAt="6"/>
            </a:pPr>
            <a:r>
              <a:rPr lang="en-US" sz="1600" b="1" dirty="0">
                <a:latin typeface="Inter" panose="02000503000000020004" pitchFamily="2" charset="0"/>
                <a:ea typeface="Inter" panose="02000503000000020004" pitchFamily="2" charset="0"/>
                <a:cs typeface="Inter" panose="02000503000000020004" pitchFamily="2" charset="0"/>
              </a:rPr>
              <a:t>Init Agent Run</a:t>
            </a:r>
            <a:r>
              <a:rPr lang="en-US" sz="1600" dirty="0">
                <a:latin typeface="Inter" panose="02000503000000020004" pitchFamily="2" charset="0"/>
                <a:ea typeface="Inter" panose="02000503000000020004" pitchFamily="2" charset="0"/>
                <a:cs typeface="Inter" panose="02000503000000020004" pitchFamily="2" charset="0"/>
              </a:rPr>
              <a:t> 	→ Start the Agent for the job</a:t>
            </a:r>
          </a:p>
          <a:p>
            <a:pPr marL="342900" indent="-342900">
              <a:buFont typeface="+mj-lt"/>
              <a:buAutoNum type="arabicPeriod" startAt="6"/>
            </a:pPr>
            <a:r>
              <a:rPr lang="en-US" sz="1600" b="1" dirty="0">
                <a:latin typeface="Inter" panose="02000503000000020004" pitchFamily="2" charset="0"/>
                <a:ea typeface="Inter" panose="02000503000000020004" pitchFamily="2" charset="0"/>
                <a:cs typeface="Inter" panose="02000503000000020004" pitchFamily="2" charset="0"/>
              </a:rPr>
              <a:t>Orchestrator</a:t>
            </a:r>
            <a:r>
              <a:rPr lang="en-US" sz="1600" dirty="0">
                <a:latin typeface="Inter" panose="02000503000000020004" pitchFamily="2" charset="0"/>
                <a:ea typeface="Inter" panose="02000503000000020004" pitchFamily="2" charset="0"/>
                <a:cs typeface="Inter" panose="02000503000000020004" pitchFamily="2" charset="0"/>
              </a:rPr>
              <a:t> 	→ executes the workflow step by step</a:t>
            </a:r>
          </a:p>
          <a:p>
            <a:pPr marL="342900" indent="-342900">
              <a:buFont typeface="+mj-lt"/>
              <a:buAutoNum type="arabicPeriod" startAt="6"/>
            </a:pPr>
            <a:r>
              <a:rPr lang="en-US" sz="1600" b="1" dirty="0">
                <a:latin typeface="Inter" panose="02000503000000020004" pitchFamily="2" charset="0"/>
                <a:ea typeface="Inter" panose="02000503000000020004" pitchFamily="2" charset="0"/>
                <a:cs typeface="Inter" panose="02000503000000020004" pitchFamily="2" charset="0"/>
              </a:rPr>
              <a:t>Store Steps</a:t>
            </a:r>
            <a:r>
              <a:rPr lang="en-US" sz="1600" dirty="0">
                <a:latin typeface="Inter" panose="02000503000000020004" pitchFamily="2" charset="0"/>
                <a:ea typeface="Inter" panose="02000503000000020004" pitchFamily="2" charset="0"/>
                <a:cs typeface="Inter" panose="02000503000000020004" pitchFamily="2" charset="0"/>
              </a:rPr>
              <a:t> 	→ stores output of each step</a:t>
            </a:r>
          </a:p>
          <a:p>
            <a:pPr marL="342900" indent="-342900">
              <a:buFont typeface="+mj-lt"/>
              <a:buAutoNum type="arabicPeriod" startAt="6"/>
            </a:pPr>
            <a:r>
              <a:rPr lang="en-US" sz="1600" b="1" dirty="0">
                <a:latin typeface="Inter" panose="02000503000000020004" pitchFamily="2" charset="0"/>
                <a:ea typeface="Inter" panose="02000503000000020004" pitchFamily="2" charset="0"/>
                <a:cs typeface="Inter" panose="02000503000000020004" pitchFamily="2" charset="0"/>
              </a:rPr>
              <a:t>Live Progress	</a:t>
            </a:r>
            <a:r>
              <a:rPr lang="en-US" sz="1600" dirty="0">
                <a:latin typeface="Inter" panose="02000503000000020004" pitchFamily="2" charset="0"/>
                <a:ea typeface="Inter" panose="02000503000000020004" pitchFamily="2" charset="0"/>
                <a:cs typeface="Inter" panose="02000503000000020004" pitchFamily="2" charset="0"/>
              </a:rPr>
              <a:t>→ sends live updates to the UI (SSE)</a:t>
            </a:r>
          </a:p>
          <a:p>
            <a:pPr marL="342900" indent="-342900">
              <a:buFont typeface="+mj-lt"/>
              <a:buAutoNum type="arabicPeriod" startAt="6"/>
            </a:pPr>
            <a:r>
              <a:rPr lang="en-US" sz="1600" b="1" dirty="0">
                <a:latin typeface="Inter" panose="02000503000000020004" pitchFamily="2" charset="0"/>
                <a:ea typeface="Inter" panose="02000503000000020004" pitchFamily="2" charset="0"/>
                <a:cs typeface="Inter" panose="02000503000000020004" pitchFamily="2" charset="0"/>
              </a:rPr>
              <a:t>Finalize Job</a:t>
            </a:r>
            <a:r>
              <a:rPr lang="en-US" sz="1600" dirty="0">
                <a:latin typeface="Inter" panose="02000503000000020004" pitchFamily="2" charset="0"/>
                <a:ea typeface="Inter" panose="02000503000000020004" pitchFamily="2" charset="0"/>
                <a:cs typeface="Inter" panose="02000503000000020004" pitchFamily="2" charset="0"/>
              </a:rPr>
              <a:t> 	→ applies guards, metrics, and final status</a:t>
            </a:r>
          </a:p>
        </p:txBody>
      </p:sp>
      <p:pic>
        <p:nvPicPr>
          <p:cNvPr id="31" name="Picture 30">
            <a:extLst>
              <a:ext uri="{FF2B5EF4-FFF2-40B4-BE49-F238E27FC236}">
                <a16:creationId xmlns:a16="http://schemas.microsoft.com/office/drawing/2014/main" id="{2C501C9C-153F-AC28-A7C7-FFF0D984918F}"/>
              </a:ext>
            </a:extLst>
          </p:cNvPr>
          <p:cNvPicPr>
            <a:picLocks noChangeAspect="1"/>
          </p:cNvPicPr>
          <p:nvPr/>
        </p:nvPicPr>
        <p:blipFill>
          <a:blip r:embed="rId5"/>
          <a:stretch>
            <a:fillRect/>
          </a:stretch>
        </p:blipFill>
        <p:spPr>
          <a:xfrm>
            <a:off x="5835716" y="481052"/>
            <a:ext cx="5931547" cy="644733"/>
          </a:xfrm>
          <a:prstGeom prst="rect">
            <a:avLst/>
          </a:prstGeom>
        </p:spPr>
      </p:pic>
      <p:pic>
        <p:nvPicPr>
          <p:cNvPr id="7" name="Picture 6">
            <a:extLst>
              <a:ext uri="{FF2B5EF4-FFF2-40B4-BE49-F238E27FC236}">
                <a16:creationId xmlns:a16="http://schemas.microsoft.com/office/drawing/2014/main" id="{A84FDC6B-7D2A-9EFB-916E-C8A7773E1F5D}"/>
              </a:ext>
            </a:extLst>
          </p:cNvPr>
          <p:cNvPicPr>
            <a:picLocks noChangeAspect="1"/>
          </p:cNvPicPr>
          <p:nvPr/>
        </p:nvPicPr>
        <p:blipFill>
          <a:blip r:embed="rId6"/>
          <a:stretch>
            <a:fillRect/>
          </a:stretch>
        </p:blipFill>
        <p:spPr>
          <a:xfrm>
            <a:off x="7011028" y="2229721"/>
            <a:ext cx="4756235" cy="2347758"/>
          </a:xfrm>
          <a:prstGeom prst="rect">
            <a:avLst/>
          </a:prstGeom>
        </p:spPr>
      </p:pic>
    </p:spTree>
    <p:extLst>
      <p:ext uri="{BB962C8B-B14F-4D97-AF65-F5344CB8AC3E}">
        <p14:creationId xmlns:p14="http://schemas.microsoft.com/office/powerpoint/2010/main" val="6919667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14C9E9-0966-4274-C2AB-F4F7C6413354}"/>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DD2F55D2-ABA6-818A-3C0A-0FAC1B224F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Slide Number Placeholder 11">
            <a:extLst>
              <a:ext uri="{FF2B5EF4-FFF2-40B4-BE49-F238E27FC236}">
                <a16:creationId xmlns:a16="http://schemas.microsoft.com/office/drawing/2014/main" id="{BD7840C2-B9E0-1BA0-F184-A949C1B7FA48}"/>
              </a:ext>
            </a:extLst>
          </p:cNvPr>
          <p:cNvSpPr>
            <a:spLocks noGrp="1"/>
          </p:cNvSpPr>
          <p:nvPr>
            <p:ph type="sldNum" sz="quarter" idx="12"/>
          </p:nvPr>
        </p:nvSpPr>
        <p:spPr/>
        <p:txBody>
          <a:bodyPr/>
          <a:lstStyle/>
          <a:p>
            <a:fld id="{48F19E39-9933-F648-B2F3-3AC17C0DC986}" type="slidenum">
              <a:rPr lang="en-US" smtClean="0">
                <a:solidFill>
                  <a:schemeClr val="bg1"/>
                </a:solidFill>
              </a:rPr>
              <a:t>11</a:t>
            </a:fld>
            <a:r>
              <a:rPr lang="en-US" dirty="0">
                <a:solidFill>
                  <a:schemeClr val="bg1"/>
                </a:solidFill>
              </a:rPr>
              <a:t> / 17</a:t>
            </a:r>
          </a:p>
        </p:txBody>
      </p:sp>
      <p:sp>
        <p:nvSpPr>
          <p:cNvPr id="6" name="TextBox 5">
            <a:extLst>
              <a:ext uri="{FF2B5EF4-FFF2-40B4-BE49-F238E27FC236}">
                <a16:creationId xmlns:a16="http://schemas.microsoft.com/office/drawing/2014/main" id="{075B4C02-7078-0545-7EBE-7804B14FA6D9}"/>
              </a:ext>
            </a:extLst>
          </p:cNvPr>
          <p:cNvSpPr txBox="1"/>
          <p:nvPr/>
        </p:nvSpPr>
        <p:spPr>
          <a:xfrm>
            <a:off x="596348" y="374273"/>
            <a:ext cx="11127823" cy="830997"/>
          </a:xfrm>
          <a:prstGeom prst="rect">
            <a:avLst/>
          </a:prstGeom>
          <a:noFill/>
        </p:spPr>
        <p:txBody>
          <a:bodyPr wrap="square" rtlCol="0">
            <a:spAutoFit/>
          </a:bodyPr>
          <a:lstStyle/>
          <a:p>
            <a:r>
              <a:rPr lang="en-US" sz="2800" b="1" dirty="0">
                <a:solidFill>
                  <a:srgbClr val="822334"/>
                </a:solidFill>
                <a:latin typeface="Inter" panose="02000503000000020004" pitchFamily="2" charset="0"/>
                <a:ea typeface="Inter" panose="02000503000000020004" pitchFamily="2" charset="0"/>
                <a:cs typeface="Inter" panose="02000503000000020004" pitchFamily="2" charset="0"/>
              </a:rPr>
              <a:t>ORCHESTRATOR (Part 1/3)</a:t>
            </a:r>
          </a:p>
          <a:p>
            <a:r>
              <a:rPr lang="en-US" sz="2000" dirty="0">
                <a:solidFill>
                  <a:schemeClr val="bg2">
                    <a:lumMod val="50000"/>
                  </a:schemeClr>
                </a:solidFill>
                <a:latin typeface="Inter" panose="02000503000000020004" pitchFamily="2" charset="0"/>
                <a:ea typeface="Inter" panose="02000503000000020004" pitchFamily="2" charset="0"/>
                <a:cs typeface="Inter" panose="02000503000000020004" pitchFamily="2" charset="0"/>
              </a:rPr>
              <a:t>Intent detection &amp; Multi-step planning</a:t>
            </a:r>
          </a:p>
        </p:txBody>
      </p:sp>
      <p:sp>
        <p:nvSpPr>
          <p:cNvPr id="13" name="Footer Placeholder 10">
            <a:extLst>
              <a:ext uri="{FF2B5EF4-FFF2-40B4-BE49-F238E27FC236}">
                <a16:creationId xmlns:a16="http://schemas.microsoft.com/office/drawing/2014/main" id="{EF5CC4A6-4F12-F3B3-798C-7BDF118C16C7}"/>
              </a:ext>
            </a:extLst>
          </p:cNvPr>
          <p:cNvSpPr>
            <a:spLocks noGrp="1"/>
          </p:cNvSpPr>
          <p:nvPr>
            <p:ph type="ftr" sz="quarter" idx="11"/>
          </p:nvPr>
        </p:nvSpPr>
        <p:spPr>
          <a:xfrm>
            <a:off x="4566534" y="6356350"/>
            <a:ext cx="3058931" cy="365125"/>
          </a:xfrm>
        </p:spPr>
        <p:txBody>
          <a:bodyPr/>
          <a:lstStyle/>
          <a:p>
            <a:r>
              <a:rPr lang="en-US" dirty="0" err="1">
                <a:solidFill>
                  <a:schemeClr val="bg1"/>
                </a:solidFill>
                <a:latin typeface="Inter" panose="02000503000000020004" pitchFamily="2" charset="0"/>
                <a:ea typeface="Inter" panose="02000503000000020004" pitchFamily="2" charset="0"/>
                <a:cs typeface="Inter" panose="02000503000000020004" pitchFamily="2" charset="0"/>
              </a:rPr>
              <a:t>Cineca</a:t>
            </a:r>
            <a:r>
              <a:rPr lang="en-US" dirty="0">
                <a:solidFill>
                  <a:schemeClr val="bg1"/>
                </a:solidFill>
                <a:latin typeface="Inter" panose="02000503000000020004" pitchFamily="2" charset="0"/>
                <a:ea typeface="Inter" panose="02000503000000020004" pitchFamily="2" charset="0"/>
                <a:cs typeface="Inter" panose="02000503000000020004" pitchFamily="2" charset="0"/>
              </a:rPr>
              <a:t> Agentic Platform – Arman Feili</a:t>
            </a:r>
          </a:p>
        </p:txBody>
      </p:sp>
      <p:pic>
        <p:nvPicPr>
          <p:cNvPr id="16" name="Picture 15">
            <a:extLst>
              <a:ext uri="{FF2B5EF4-FFF2-40B4-BE49-F238E27FC236}">
                <a16:creationId xmlns:a16="http://schemas.microsoft.com/office/drawing/2014/main" id="{01EE9C6C-0C8F-10CF-EDAF-83BA2FCC9B88}"/>
              </a:ext>
            </a:extLst>
          </p:cNvPr>
          <p:cNvPicPr>
            <a:picLocks noChangeAspect="1"/>
          </p:cNvPicPr>
          <p:nvPr/>
        </p:nvPicPr>
        <p:blipFill>
          <a:blip r:embed="rId4"/>
          <a:stretch>
            <a:fillRect/>
          </a:stretch>
        </p:blipFill>
        <p:spPr>
          <a:xfrm>
            <a:off x="321777" y="6315552"/>
            <a:ext cx="435345" cy="435345"/>
          </a:xfrm>
          <a:prstGeom prst="rect">
            <a:avLst/>
          </a:prstGeom>
        </p:spPr>
      </p:pic>
      <p:pic>
        <p:nvPicPr>
          <p:cNvPr id="17" name="Picture 16">
            <a:extLst>
              <a:ext uri="{FF2B5EF4-FFF2-40B4-BE49-F238E27FC236}">
                <a16:creationId xmlns:a16="http://schemas.microsoft.com/office/drawing/2014/main" id="{013B6E7C-EAC3-059E-2133-3DED7BBF17A8}"/>
              </a:ext>
            </a:extLst>
          </p:cNvPr>
          <p:cNvPicPr>
            <a:picLocks noChangeAspect="1"/>
          </p:cNvPicPr>
          <p:nvPr/>
        </p:nvPicPr>
        <p:blipFill>
          <a:blip r:embed="rId5"/>
          <a:stretch>
            <a:fillRect/>
          </a:stretch>
        </p:blipFill>
        <p:spPr>
          <a:xfrm>
            <a:off x="866134" y="6362629"/>
            <a:ext cx="1093241" cy="365125"/>
          </a:xfrm>
          <a:prstGeom prst="rect">
            <a:avLst/>
          </a:prstGeom>
        </p:spPr>
      </p:pic>
      <p:pic>
        <p:nvPicPr>
          <p:cNvPr id="32" name="Picture 31">
            <a:extLst>
              <a:ext uri="{FF2B5EF4-FFF2-40B4-BE49-F238E27FC236}">
                <a16:creationId xmlns:a16="http://schemas.microsoft.com/office/drawing/2014/main" id="{16A5F55B-A85C-D0B1-1B68-AA8043CE58CC}"/>
              </a:ext>
            </a:extLst>
          </p:cNvPr>
          <p:cNvPicPr>
            <a:picLocks noChangeAspect="1"/>
          </p:cNvPicPr>
          <p:nvPr/>
        </p:nvPicPr>
        <p:blipFill>
          <a:blip r:embed="rId6"/>
          <a:stretch>
            <a:fillRect/>
          </a:stretch>
        </p:blipFill>
        <p:spPr>
          <a:xfrm>
            <a:off x="5792623" y="374273"/>
            <a:ext cx="5931548" cy="985152"/>
          </a:xfrm>
          <a:prstGeom prst="rect">
            <a:avLst/>
          </a:prstGeom>
        </p:spPr>
      </p:pic>
      <p:sp>
        <p:nvSpPr>
          <p:cNvPr id="34" name="TextBox 33">
            <a:extLst>
              <a:ext uri="{FF2B5EF4-FFF2-40B4-BE49-F238E27FC236}">
                <a16:creationId xmlns:a16="http://schemas.microsoft.com/office/drawing/2014/main" id="{64F8CB52-E6CE-EA9F-5DFC-9CCD5104D502}"/>
              </a:ext>
            </a:extLst>
          </p:cNvPr>
          <p:cNvSpPr txBox="1"/>
          <p:nvPr/>
        </p:nvSpPr>
        <p:spPr>
          <a:xfrm>
            <a:off x="596352" y="1560649"/>
            <a:ext cx="9639848" cy="4524315"/>
          </a:xfrm>
          <a:prstGeom prst="rect">
            <a:avLst/>
          </a:prstGeom>
          <a:noFill/>
        </p:spPr>
        <p:txBody>
          <a:bodyPr wrap="square" rtlCol="0">
            <a:spAutoFit/>
          </a:bodyPr>
          <a:lstStyle/>
          <a:p>
            <a:r>
              <a:rPr lang="en-US" sz="1600" b="1" dirty="0">
                <a:latin typeface="Inter" panose="02000503000000020004" pitchFamily="2" charset="0"/>
                <a:ea typeface="Inter" panose="02000503000000020004" pitchFamily="2" charset="0"/>
                <a:cs typeface="Inter" panose="02000503000000020004" pitchFamily="2" charset="0"/>
              </a:rPr>
              <a:t>Phase 1: Intent Classification</a:t>
            </a:r>
            <a:br>
              <a:rPr lang="en-US" sz="1600" dirty="0">
                <a:latin typeface="Inter" panose="02000503000000020004" pitchFamily="2" charset="0"/>
                <a:ea typeface="Inter" panose="02000503000000020004" pitchFamily="2" charset="0"/>
                <a:cs typeface="Inter" panose="02000503000000020004" pitchFamily="2" charset="0"/>
              </a:rPr>
            </a:br>
            <a:r>
              <a:rPr lang="en-US" sz="1600" dirty="0">
                <a:latin typeface="Inter" panose="02000503000000020004" pitchFamily="2" charset="0"/>
                <a:ea typeface="Inter" panose="02000503000000020004" pitchFamily="2" charset="0"/>
                <a:cs typeface="Inter" panose="02000503000000020004" pitchFamily="2" charset="0"/>
              </a:rPr>
              <a:t>One LLM call classifies the request.</a:t>
            </a:r>
          </a:p>
          <a:p>
            <a:endParaRPr lang="en-US" sz="1600" dirty="0">
              <a:latin typeface="Inter" panose="02000503000000020004" pitchFamily="2" charset="0"/>
              <a:ea typeface="Inter" panose="02000503000000020004" pitchFamily="2" charset="0"/>
              <a:cs typeface="Inter" panose="02000503000000020004" pitchFamily="2" charset="0"/>
            </a:endParaRP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CHAT</a:t>
            </a:r>
            <a:r>
              <a:rPr lang="en-US" sz="1600" dirty="0">
                <a:latin typeface="Inter" panose="02000503000000020004" pitchFamily="2" charset="0"/>
                <a:ea typeface="Inter" panose="02000503000000020004" pitchFamily="2" charset="0"/>
                <a:cs typeface="Inter" panose="02000503000000020004" pitchFamily="2" charset="0"/>
              </a:rPr>
              <a:t> 	→ Conversational answer</a:t>
            </a: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GRAPH</a:t>
            </a:r>
            <a:r>
              <a:rPr lang="en-US" sz="1600" dirty="0">
                <a:latin typeface="Inter" panose="02000503000000020004" pitchFamily="2" charset="0"/>
                <a:ea typeface="Inter" panose="02000503000000020004" pitchFamily="2" charset="0"/>
                <a:cs typeface="Inter" panose="02000503000000020004" pitchFamily="2" charset="0"/>
              </a:rPr>
              <a:t> 	→ </a:t>
            </a:r>
            <a:r>
              <a:rPr lang="en-US" sz="1600" dirty="0" err="1">
                <a:latin typeface="Inter" panose="02000503000000020004" pitchFamily="2" charset="0"/>
                <a:ea typeface="Inter" panose="02000503000000020004" pitchFamily="2" charset="0"/>
                <a:cs typeface="Inter" panose="02000503000000020004" pitchFamily="2" charset="0"/>
              </a:rPr>
              <a:t>NL→Cypher</a:t>
            </a:r>
            <a:r>
              <a:rPr lang="en-US" sz="1600" dirty="0">
                <a:latin typeface="Inter" panose="02000503000000020004" pitchFamily="2" charset="0"/>
                <a:ea typeface="Inter" panose="02000503000000020004" pitchFamily="2" charset="0"/>
                <a:cs typeface="Inter" panose="02000503000000020004" pitchFamily="2" charset="0"/>
              </a:rPr>
              <a:t> query</a:t>
            </a: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SECURITY</a:t>
            </a:r>
            <a:r>
              <a:rPr lang="en-US" sz="1600" dirty="0">
                <a:latin typeface="Inter" panose="02000503000000020004" pitchFamily="2" charset="0"/>
                <a:ea typeface="Inter" panose="02000503000000020004" pitchFamily="2" charset="0"/>
                <a:cs typeface="Inter" panose="02000503000000020004" pitchFamily="2" charset="0"/>
              </a:rPr>
              <a:t> 	→ Access and permission request</a:t>
            </a: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ADMIN</a:t>
            </a:r>
            <a:r>
              <a:rPr lang="en-US" sz="1600" dirty="0">
                <a:latin typeface="Inter" panose="02000503000000020004" pitchFamily="2" charset="0"/>
                <a:ea typeface="Inter" panose="02000503000000020004" pitchFamily="2" charset="0"/>
                <a:cs typeface="Inter" panose="02000503000000020004" pitchFamily="2" charset="0"/>
              </a:rPr>
              <a:t> 	→ Administrative action</a:t>
            </a: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DANGEROUS</a:t>
            </a:r>
            <a:r>
              <a:rPr lang="en-US" sz="1600" dirty="0">
                <a:latin typeface="Inter" panose="02000503000000020004" pitchFamily="2" charset="0"/>
                <a:ea typeface="Inter" panose="02000503000000020004" pitchFamily="2" charset="0"/>
                <a:cs typeface="Inter" panose="02000503000000020004" pitchFamily="2" charset="0"/>
              </a:rPr>
              <a:t> 	→ Unsafe request, safely refused</a:t>
            </a: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EXPLAIN</a:t>
            </a:r>
            <a:r>
              <a:rPr lang="en-US" sz="1600" dirty="0">
                <a:latin typeface="Inter" panose="02000503000000020004" pitchFamily="2" charset="0"/>
                <a:ea typeface="Inter" panose="02000503000000020004" pitchFamily="2" charset="0"/>
                <a:cs typeface="Inter" panose="02000503000000020004" pitchFamily="2" charset="0"/>
              </a:rPr>
              <a:t> 	→ Analysis without execution</a:t>
            </a:r>
          </a:p>
          <a:p>
            <a:pPr>
              <a:buFont typeface="Arial" panose="020B0604020202020204" pitchFamily="34" charset="0"/>
              <a:buChar char="•"/>
            </a:pPr>
            <a:endParaRPr lang="en-US" sz="1600" dirty="0">
              <a:latin typeface="Inter" panose="02000503000000020004" pitchFamily="2" charset="0"/>
              <a:ea typeface="Inter" panose="02000503000000020004" pitchFamily="2" charset="0"/>
              <a:cs typeface="Inter" panose="02000503000000020004" pitchFamily="2" charset="0"/>
            </a:endParaRPr>
          </a:p>
          <a:p>
            <a:r>
              <a:rPr lang="en-US" sz="1600" b="1" dirty="0">
                <a:latin typeface="Inter" panose="02000503000000020004" pitchFamily="2" charset="0"/>
                <a:ea typeface="Inter" panose="02000503000000020004" pitchFamily="2" charset="0"/>
                <a:cs typeface="Inter" panose="02000503000000020004" pitchFamily="2" charset="0"/>
              </a:rPr>
              <a:t>Phase 2: TODO Planning</a:t>
            </a:r>
          </a:p>
          <a:p>
            <a:r>
              <a:rPr lang="en-US" sz="1600" dirty="0">
                <a:latin typeface="Inter" panose="02000503000000020004" pitchFamily="2" charset="0"/>
                <a:ea typeface="Inter" panose="02000503000000020004" pitchFamily="2" charset="0"/>
                <a:cs typeface="Inter" panose="02000503000000020004" pitchFamily="2" charset="0"/>
              </a:rPr>
              <a:t>The orchestrator turns the request into a clear </a:t>
            </a:r>
            <a:r>
              <a:rPr lang="en-US" sz="1600" b="1" dirty="0">
                <a:latin typeface="Inter" panose="02000503000000020004" pitchFamily="2" charset="0"/>
                <a:ea typeface="Inter" panose="02000503000000020004" pitchFamily="2" charset="0"/>
                <a:cs typeface="Inter" panose="02000503000000020004" pitchFamily="2" charset="0"/>
              </a:rPr>
              <a:t>execution plan</a:t>
            </a:r>
            <a:r>
              <a:rPr lang="en-US" sz="1600" dirty="0">
                <a:latin typeface="Inter" panose="02000503000000020004" pitchFamily="2" charset="0"/>
                <a:ea typeface="Inter" panose="02000503000000020004" pitchFamily="2" charset="0"/>
                <a:cs typeface="Inter" panose="02000503000000020004" pitchFamily="2" charset="0"/>
              </a:rPr>
              <a:t>.</a:t>
            </a:r>
          </a:p>
          <a:p>
            <a:endParaRPr lang="en-US" sz="1600" dirty="0">
              <a:latin typeface="Inter" panose="02000503000000020004" pitchFamily="2" charset="0"/>
              <a:ea typeface="Inter" panose="02000503000000020004" pitchFamily="2" charset="0"/>
              <a:cs typeface="Inter" panose="02000503000000020004" pitchFamily="2" charset="0"/>
            </a:endParaRP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Breaks the request </a:t>
            </a:r>
            <a:r>
              <a:rPr lang="en-US" sz="1600" b="1" dirty="0">
                <a:latin typeface="Inter" panose="02000503000000020004" pitchFamily="2" charset="0"/>
                <a:ea typeface="Inter" panose="02000503000000020004" pitchFamily="2" charset="0"/>
                <a:cs typeface="Inter" panose="02000503000000020004" pitchFamily="2" charset="0"/>
              </a:rPr>
              <a:t>into smaller actions</a:t>
            </a: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Uses </a:t>
            </a:r>
            <a:r>
              <a:rPr lang="en-US" sz="1600" b="1" dirty="0">
                <a:latin typeface="Inter" panose="02000503000000020004" pitchFamily="2" charset="0"/>
                <a:ea typeface="Inter" panose="02000503000000020004" pitchFamily="2" charset="0"/>
                <a:cs typeface="Inter" panose="02000503000000020004" pitchFamily="2" charset="0"/>
              </a:rPr>
              <a:t>session context </a:t>
            </a:r>
            <a:r>
              <a:rPr lang="en-US" sz="1600" dirty="0">
                <a:latin typeface="Inter" panose="02000503000000020004" pitchFamily="2" charset="0"/>
                <a:ea typeface="Inter" panose="02000503000000020004" pitchFamily="2" charset="0"/>
                <a:cs typeface="Inter" panose="02000503000000020004" pitchFamily="2" charset="0"/>
              </a:rPr>
              <a:t>and previous messages</a:t>
            </a: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Selects </a:t>
            </a:r>
            <a:r>
              <a:rPr lang="en-US" sz="1600" b="1" dirty="0">
                <a:latin typeface="Inter" panose="02000503000000020004" pitchFamily="2" charset="0"/>
                <a:ea typeface="Inter" panose="02000503000000020004" pitchFamily="2" charset="0"/>
                <a:cs typeface="Inter" panose="02000503000000020004" pitchFamily="2" charset="0"/>
              </a:rPr>
              <a:t>relevant</a:t>
            </a:r>
            <a:r>
              <a:rPr lang="en-US" sz="1600" dirty="0">
                <a:latin typeface="Inter" panose="02000503000000020004" pitchFamily="2" charset="0"/>
                <a:ea typeface="Inter" panose="02000503000000020004" pitchFamily="2" charset="0"/>
                <a:cs typeface="Inter" panose="02000503000000020004" pitchFamily="2" charset="0"/>
              </a:rPr>
              <a:t> schema and </a:t>
            </a:r>
            <a:r>
              <a:rPr lang="en-US" sz="1600" b="1" dirty="0">
                <a:latin typeface="Inter" panose="02000503000000020004" pitchFamily="2" charset="0"/>
                <a:ea typeface="Inter" panose="02000503000000020004" pitchFamily="2" charset="0"/>
                <a:cs typeface="Inter" panose="02000503000000020004" pitchFamily="2" charset="0"/>
              </a:rPr>
              <a:t>MCP tools</a:t>
            </a: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Orders the actions</a:t>
            </a:r>
            <a:r>
              <a:rPr lang="en-US" sz="1600" dirty="0">
                <a:latin typeface="Inter" panose="02000503000000020004" pitchFamily="2" charset="0"/>
                <a:ea typeface="Inter" panose="02000503000000020004" pitchFamily="2" charset="0"/>
                <a:cs typeface="Inter" panose="02000503000000020004" pitchFamily="2" charset="0"/>
              </a:rPr>
              <a:t> before execution</a:t>
            </a: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Example: generate cypher → Run query in graph DB → analyze results → summarize answer</a:t>
            </a:r>
          </a:p>
        </p:txBody>
      </p:sp>
      <p:pic>
        <p:nvPicPr>
          <p:cNvPr id="2" name="Picture 1">
            <a:extLst>
              <a:ext uri="{FF2B5EF4-FFF2-40B4-BE49-F238E27FC236}">
                <a16:creationId xmlns:a16="http://schemas.microsoft.com/office/drawing/2014/main" id="{48BD2690-9506-749F-120B-809D235C7B02}"/>
              </a:ext>
            </a:extLst>
          </p:cNvPr>
          <p:cNvPicPr>
            <a:picLocks noChangeAspect="1"/>
          </p:cNvPicPr>
          <p:nvPr/>
        </p:nvPicPr>
        <p:blipFill>
          <a:blip r:embed="rId7"/>
          <a:stretch>
            <a:fillRect/>
          </a:stretch>
        </p:blipFill>
        <p:spPr>
          <a:xfrm>
            <a:off x="7010399" y="2114342"/>
            <a:ext cx="4756864" cy="2240236"/>
          </a:xfrm>
          <a:prstGeom prst="rect">
            <a:avLst/>
          </a:prstGeom>
        </p:spPr>
      </p:pic>
    </p:spTree>
    <p:extLst>
      <p:ext uri="{BB962C8B-B14F-4D97-AF65-F5344CB8AC3E}">
        <p14:creationId xmlns:p14="http://schemas.microsoft.com/office/powerpoint/2010/main" val="23022326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A113B1-646D-BDAC-EFDA-F497752581E5}"/>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C60D2C65-8C2B-A7DE-B7BB-9FD2BD0EC5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Slide Number Placeholder 11">
            <a:extLst>
              <a:ext uri="{FF2B5EF4-FFF2-40B4-BE49-F238E27FC236}">
                <a16:creationId xmlns:a16="http://schemas.microsoft.com/office/drawing/2014/main" id="{B2D84275-470B-F467-2786-543AE781C48B}"/>
              </a:ext>
            </a:extLst>
          </p:cNvPr>
          <p:cNvSpPr>
            <a:spLocks noGrp="1"/>
          </p:cNvSpPr>
          <p:nvPr>
            <p:ph type="sldNum" sz="quarter" idx="12"/>
          </p:nvPr>
        </p:nvSpPr>
        <p:spPr/>
        <p:txBody>
          <a:bodyPr/>
          <a:lstStyle/>
          <a:p>
            <a:fld id="{48F19E39-9933-F648-B2F3-3AC17C0DC986}" type="slidenum">
              <a:rPr lang="en-US" smtClean="0">
                <a:solidFill>
                  <a:schemeClr val="bg1"/>
                </a:solidFill>
              </a:rPr>
              <a:t>12</a:t>
            </a:fld>
            <a:r>
              <a:rPr lang="en-US" dirty="0">
                <a:solidFill>
                  <a:schemeClr val="bg1"/>
                </a:solidFill>
              </a:rPr>
              <a:t> / 17</a:t>
            </a:r>
          </a:p>
        </p:txBody>
      </p:sp>
      <p:sp>
        <p:nvSpPr>
          <p:cNvPr id="3" name="TextBox 2">
            <a:extLst>
              <a:ext uri="{FF2B5EF4-FFF2-40B4-BE49-F238E27FC236}">
                <a16:creationId xmlns:a16="http://schemas.microsoft.com/office/drawing/2014/main" id="{92F78B4B-D69A-CAD6-6006-44A0B966CE79}"/>
              </a:ext>
            </a:extLst>
          </p:cNvPr>
          <p:cNvSpPr txBox="1"/>
          <p:nvPr/>
        </p:nvSpPr>
        <p:spPr>
          <a:xfrm>
            <a:off x="596348" y="374273"/>
            <a:ext cx="11127823" cy="830997"/>
          </a:xfrm>
          <a:prstGeom prst="rect">
            <a:avLst/>
          </a:prstGeom>
          <a:noFill/>
        </p:spPr>
        <p:txBody>
          <a:bodyPr wrap="square" rtlCol="0">
            <a:spAutoFit/>
          </a:bodyPr>
          <a:lstStyle/>
          <a:p>
            <a:r>
              <a:rPr lang="en-US" sz="2800" b="1" dirty="0">
                <a:solidFill>
                  <a:srgbClr val="822334"/>
                </a:solidFill>
                <a:latin typeface="Inter" panose="02000503000000020004" pitchFamily="2" charset="0"/>
                <a:ea typeface="Inter" panose="02000503000000020004" pitchFamily="2" charset="0"/>
                <a:cs typeface="Inter" panose="02000503000000020004" pitchFamily="2" charset="0"/>
              </a:rPr>
              <a:t>ORCHESTRATOR (Part 2/3)</a:t>
            </a:r>
          </a:p>
          <a:p>
            <a:r>
              <a:rPr lang="en-US" sz="2000" dirty="0">
                <a:solidFill>
                  <a:schemeClr val="bg2">
                    <a:lumMod val="50000"/>
                  </a:schemeClr>
                </a:solidFill>
                <a:latin typeface="Inter" panose="02000503000000020004" pitchFamily="2" charset="0"/>
                <a:ea typeface="Inter" panose="02000503000000020004" pitchFamily="2" charset="0"/>
                <a:cs typeface="Inter" panose="02000503000000020004" pitchFamily="2" charset="0"/>
              </a:rPr>
              <a:t>Step Execution</a:t>
            </a:r>
          </a:p>
        </p:txBody>
      </p:sp>
      <p:sp>
        <p:nvSpPr>
          <p:cNvPr id="9" name="Footer Placeholder 10">
            <a:extLst>
              <a:ext uri="{FF2B5EF4-FFF2-40B4-BE49-F238E27FC236}">
                <a16:creationId xmlns:a16="http://schemas.microsoft.com/office/drawing/2014/main" id="{A9384DC0-A150-CAAB-F082-358789DF070D}"/>
              </a:ext>
            </a:extLst>
          </p:cNvPr>
          <p:cNvSpPr>
            <a:spLocks noGrp="1"/>
          </p:cNvSpPr>
          <p:nvPr>
            <p:ph type="ftr" sz="quarter" idx="11"/>
          </p:nvPr>
        </p:nvSpPr>
        <p:spPr>
          <a:xfrm>
            <a:off x="4566534" y="6356350"/>
            <a:ext cx="3058931" cy="365125"/>
          </a:xfrm>
        </p:spPr>
        <p:txBody>
          <a:bodyPr/>
          <a:lstStyle/>
          <a:p>
            <a:r>
              <a:rPr lang="en-US" dirty="0" err="1">
                <a:solidFill>
                  <a:schemeClr val="bg1"/>
                </a:solidFill>
                <a:latin typeface="Inter" panose="02000503000000020004" pitchFamily="2" charset="0"/>
                <a:ea typeface="Inter" panose="02000503000000020004" pitchFamily="2" charset="0"/>
                <a:cs typeface="Inter" panose="02000503000000020004" pitchFamily="2" charset="0"/>
              </a:rPr>
              <a:t>Cineca</a:t>
            </a:r>
            <a:r>
              <a:rPr lang="en-US" dirty="0">
                <a:solidFill>
                  <a:schemeClr val="bg1"/>
                </a:solidFill>
                <a:latin typeface="Inter" panose="02000503000000020004" pitchFamily="2" charset="0"/>
                <a:ea typeface="Inter" panose="02000503000000020004" pitchFamily="2" charset="0"/>
                <a:cs typeface="Inter" panose="02000503000000020004" pitchFamily="2" charset="0"/>
              </a:rPr>
              <a:t> Agentic Platform – Arman Feili</a:t>
            </a:r>
          </a:p>
        </p:txBody>
      </p:sp>
      <p:pic>
        <p:nvPicPr>
          <p:cNvPr id="10" name="Picture 9">
            <a:extLst>
              <a:ext uri="{FF2B5EF4-FFF2-40B4-BE49-F238E27FC236}">
                <a16:creationId xmlns:a16="http://schemas.microsoft.com/office/drawing/2014/main" id="{92CFA33C-EA92-5547-83E5-7257942F3E86}"/>
              </a:ext>
            </a:extLst>
          </p:cNvPr>
          <p:cNvPicPr>
            <a:picLocks noChangeAspect="1"/>
          </p:cNvPicPr>
          <p:nvPr/>
        </p:nvPicPr>
        <p:blipFill>
          <a:blip r:embed="rId4"/>
          <a:stretch>
            <a:fillRect/>
          </a:stretch>
        </p:blipFill>
        <p:spPr>
          <a:xfrm>
            <a:off x="321777" y="6315552"/>
            <a:ext cx="435345" cy="435345"/>
          </a:xfrm>
          <a:prstGeom prst="rect">
            <a:avLst/>
          </a:prstGeom>
        </p:spPr>
      </p:pic>
      <p:pic>
        <p:nvPicPr>
          <p:cNvPr id="13" name="Picture 12">
            <a:extLst>
              <a:ext uri="{FF2B5EF4-FFF2-40B4-BE49-F238E27FC236}">
                <a16:creationId xmlns:a16="http://schemas.microsoft.com/office/drawing/2014/main" id="{1CE57E9B-6DCC-83A1-F597-4F356B699934}"/>
              </a:ext>
            </a:extLst>
          </p:cNvPr>
          <p:cNvPicPr>
            <a:picLocks noChangeAspect="1"/>
          </p:cNvPicPr>
          <p:nvPr/>
        </p:nvPicPr>
        <p:blipFill>
          <a:blip r:embed="rId5"/>
          <a:stretch>
            <a:fillRect/>
          </a:stretch>
        </p:blipFill>
        <p:spPr>
          <a:xfrm>
            <a:off x="866134" y="6362629"/>
            <a:ext cx="1093241" cy="365125"/>
          </a:xfrm>
          <a:prstGeom prst="rect">
            <a:avLst/>
          </a:prstGeom>
        </p:spPr>
      </p:pic>
      <p:pic>
        <p:nvPicPr>
          <p:cNvPr id="35" name="Picture 34">
            <a:extLst>
              <a:ext uri="{FF2B5EF4-FFF2-40B4-BE49-F238E27FC236}">
                <a16:creationId xmlns:a16="http://schemas.microsoft.com/office/drawing/2014/main" id="{510E5F4A-55E5-FED0-3C2E-70272A0D527A}"/>
              </a:ext>
            </a:extLst>
          </p:cNvPr>
          <p:cNvPicPr>
            <a:picLocks noChangeAspect="1"/>
          </p:cNvPicPr>
          <p:nvPr/>
        </p:nvPicPr>
        <p:blipFill>
          <a:blip r:embed="rId6"/>
          <a:stretch>
            <a:fillRect/>
          </a:stretch>
        </p:blipFill>
        <p:spPr>
          <a:xfrm>
            <a:off x="5806271" y="374272"/>
            <a:ext cx="5931548" cy="985153"/>
          </a:xfrm>
          <a:prstGeom prst="rect">
            <a:avLst/>
          </a:prstGeom>
        </p:spPr>
      </p:pic>
      <p:sp>
        <p:nvSpPr>
          <p:cNvPr id="38" name="TextBox 37">
            <a:extLst>
              <a:ext uri="{FF2B5EF4-FFF2-40B4-BE49-F238E27FC236}">
                <a16:creationId xmlns:a16="http://schemas.microsoft.com/office/drawing/2014/main" id="{284CB047-11CE-3F14-5BFC-86D37BAD1813}"/>
              </a:ext>
            </a:extLst>
          </p:cNvPr>
          <p:cNvSpPr txBox="1"/>
          <p:nvPr/>
        </p:nvSpPr>
        <p:spPr>
          <a:xfrm>
            <a:off x="596351" y="1559448"/>
            <a:ext cx="11141468" cy="4524315"/>
          </a:xfrm>
          <a:prstGeom prst="rect">
            <a:avLst/>
          </a:prstGeom>
          <a:noFill/>
        </p:spPr>
        <p:txBody>
          <a:bodyPr wrap="square" rtlCol="0">
            <a:spAutoFit/>
          </a:bodyPr>
          <a:lstStyle/>
          <a:p>
            <a:pPr algn="just"/>
            <a:r>
              <a:rPr lang="en-US" sz="1600" b="1" dirty="0">
                <a:latin typeface="Inter" panose="02000503000000020004" pitchFamily="2" charset="0"/>
                <a:ea typeface="Inter" panose="02000503000000020004" pitchFamily="2" charset="0"/>
                <a:cs typeface="Inter" panose="02000503000000020004" pitchFamily="2" charset="0"/>
              </a:rPr>
              <a:t>Phase 3: Step-by-Step Execution of each TODO</a:t>
            </a:r>
          </a:p>
          <a:p>
            <a:pPr marL="342900" indent="-342900" algn="just">
              <a:buFont typeface="+mj-lt"/>
              <a:buAutoNum type="arabicPeriod"/>
            </a:pPr>
            <a:r>
              <a:rPr lang="en-US" sz="1600" b="1" dirty="0">
                <a:latin typeface="Inter" panose="02000503000000020004" pitchFamily="2" charset="0"/>
                <a:ea typeface="Inter" panose="02000503000000020004" pitchFamily="2" charset="0"/>
                <a:cs typeface="Inter" panose="02000503000000020004" pitchFamily="2" charset="0"/>
              </a:rPr>
              <a:t>Call the LLM Provider (</a:t>
            </a:r>
            <a:r>
              <a:rPr lang="en-US" sz="1600" b="1" dirty="0" err="1">
                <a:latin typeface="Inter" panose="02000503000000020004" pitchFamily="2" charset="0"/>
                <a:ea typeface="Inter" panose="02000503000000020004" pitchFamily="2" charset="0"/>
                <a:cs typeface="Inter" panose="02000503000000020004" pitchFamily="2" charset="0"/>
              </a:rPr>
              <a:t>Ollama</a:t>
            </a:r>
            <a:r>
              <a:rPr lang="en-US" sz="1600" b="1" dirty="0">
                <a:latin typeface="Inter" panose="02000503000000020004" pitchFamily="2" charset="0"/>
                <a:ea typeface="Inter" panose="02000503000000020004" pitchFamily="2" charset="0"/>
                <a:cs typeface="Inter" panose="02000503000000020004" pitchFamily="2" charset="0"/>
              </a:rPr>
              <a:t> / OpenAI)</a:t>
            </a:r>
          </a:p>
          <a:p>
            <a:pPr lvl="1" algn="just"/>
            <a:r>
              <a:rPr lang="en-US" sz="1600" dirty="0">
                <a:latin typeface="Inter" panose="02000503000000020004" pitchFamily="2" charset="0"/>
                <a:ea typeface="Inter" panose="02000503000000020004" pitchFamily="2" charset="0"/>
                <a:cs typeface="Inter" panose="02000503000000020004" pitchFamily="2" charset="0"/>
              </a:rPr>
              <a:t>Responsible for executing the process.</a:t>
            </a:r>
          </a:p>
          <a:p>
            <a:pPr marL="800100" lvl="1" indent="-342900" algn="just">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Retries</a:t>
            </a:r>
            <a:r>
              <a:rPr lang="en-US" sz="1600" dirty="0">
                <a:latin typeface="Inter" panose="02000503000000020004" pitchFamily="2" charset="0"/>
                <a:ea typeface="Inter" panose="02000503000000020004" pitchFamily="2" charset="0"/>
                <a:cs typeface="Inter" panose="02000503000000020004" pitchFamily="2" charset="0"/>
              </a:rPr>
              <a:t> 	→ retry failed LLM calls</a:t>
            </a:r>
          </a:p>
          <a:p>
            <a:pPr marL="800100" lvl="1" indent="-342900" algn="just">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Fallbacks</a:t>
            </a:r>
            <a:r>
              <a:rPr lang="en-US" sz="1600" dirty="0">
                <a:latin typeface="Inter" panose="02000503000000020004" pitchFamily="2" charset="0"/>
                <a:ea typeface="Inter" panose="02000503000000020004" pitchFamily="2" charset="0"/>
                <a:cs typeface="Inter" panose="02000503000000020004" pitchFamily="2" charset="0"/>
              </a:rPr>
              <a:t> 	→ switch provider/model if needed</a:t>
            </a:r>
          </a:p>
          <a:p>
            <a:pPr marL="800100" lvl="1" indent="-342900" algn="just">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Circuit breakers</a:t>
            </a:r>
            <a:r>
              <a:rPr lang="en-US" sz="1600" dirty="0">
                <a:latin typeface="Inter" panose="02000503000000020004" pitchFamily="2" charset="0"/>
                <a:ea typeface="Inter" panose="02000503000000020004" pitchFamily="2" charset="0"/>
                <a:cs typeface="Inter" panose="02000503000000020004" pitchFamily="2" charset="0"/>
              </a:rPr>
              <a:t> → pause failing providers</a:t>
            </a:r>
          </a:p>
          <a:p>
            <a:pPr marL="800100" lvl="1" indent="-342900" algn="just">
              <a:buFont typeface="Arial" panose="020B0604020202020204" pitchFamily="34" charset="0"/>
              <a:buChar char="•"/>
            </a:pPr>
            <a:endParaRPr lang="en-US" sz="1600" dirty="0">
              <a:latin typeface="Inter" panose="02000503000000020004" pitchFamily="2" charset="0"/>
              <a:ea typeface="Inter" panose="02000503000000020004" pitchFamily="2" charset="0"/>
              <a:cs typeface="Inter" panose="02000503000000020004" pitchFamily="2" charset="0"/>
            </a:endParaRPr>
          </a:p>
          <a:p>
            <a:pPr marL="342900" indent="-342900" algn="just">
              <a:buFont typeface="+mj-lt"/>
              <a:buAutoNum type="arabicPeriod"/>
            </a:pPr>
            <a:r>
              <a:rPr lang="en-US" sz="1600" b="1" dirty="0">
                <a:latin typeface="Inter" panose="02000503000000020004" pitchFamily="2" charset="0"/>
                <a:ea typeface="Inter" panose="02000503000000020004" pitchFamily="2" charset="0"/>
                <a:cs typeface="Inter" panose="02000503000000020004" pitchFamily="2" charset="0"/>
              </a:rPr>
              <a:t>Invoke the right MCP Tool for each TODO item</a:t>
            </a:r>
            <a:endParaRPr lang="en-US" sz="1600" dirty="0">
              <a:latin typeface="Inter" panose="02000503000000020004" pitchFamily="2" charset="0"/>
              <a:ea typeface="Inter" panose="02000503000000020004" pitchFamily="2" charset="0"/>
              <a:cs typeface="Inter" panose="02000503000000020004" pitchFamily="2" charset="0"/>
            </a:endParaRPr>
          </a:p>
          <a:p>
            <a:pPr marL="800100" lvl="1" indent="-342900" algn="just">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Tools:</a:t>
            </a:r>
            <a:r>
              <a:rPr lang="en-US" sz="1600" dirty="0">
                <a:latin typeface="Inter" panose="02000503000000020004" pitchFamily="2" charset="0"/>
                <a:ea typeface="Inter" panose="02000503000000020004" pitchFamily="2" charset="0"/>
                <a:cs typeface="Inter" panose="02000503000000020004" pitchFamily="2" charset="0"/>
              </a:rPr>
              <a:t> graph, security, cache, export, system</a:t>
            </a:r>
          </a:p>
          <a:p>
            <a:pPr marL="800100" lvl="1" indent="-342900" algn="just">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Before using each tool, role, tenant, and permissions are checked</a:t>
            </a:r>
          </a:p>
          <a:p>
            <a:pPr marL="800100" lvl="1" indent="-342900" algn="just">
              <a:buFont typeface="Arial" panose="020B0604020202020204" pitchFamily="34" charset="0"/>
              <a:buChar char="•"/>
            </a:pPr>
            <a:endParaRPr lang="en-US" sz="1600" dirty="0">
              <a:latin typeface="Inter" panose="02000503000000020004" pitchFamily="2" charset="0"/>
              <a:ea typeface="Inter" panose="02000503000000020004" pitchFamily="2" charset="0"/>
              <a:cs typeface="Inter" panose="02000503000000020004" pitchFamily="2" charset="0"/>
            </a:endParaRPr>
          </a:p>
          <a:p>
            <a:pPr marL="342900" indent="-342900" algn="just">
              <a:buFont typeface="+mj-lt"/>
              <a:buAutoNum type="arabicPeriod"/>
            </a:pPr>
            <a:r>
              <a:rPr lang="en-US" sz="1600" b="1" dirty="0">
                <a:latin typeface="Inter" panose="02000503000000020004" pitchFamily="2" charset="0"/>
                <a:ea typeface="Inter" panose="02000503000000020004" pitchFamily="2" charset="0"/>
                <a:cs typeface="Inter" panose="02000503000000020004" pitchFamily="2" charset="0"/>
              </a:rPr>
              <a:t>Graph Pipeline (If intention is GRAPH)</a:t>
            </a:r>
            <a:endParaRPr lang="en-US" sz="1600" dirty="0">
              <a:latin typeface="Inter" panose="02000503000000020004" pitchFamily="2" charset="0"/>
              <a:ea typeface="Inter" panose="02000503000000020004" pitchFamily="2" charset="0"/>
              <a:cs typeface="Inter" panose="02000503000000020004" pitchFamily="2" charset="0"/>
            </a:endParaRPr>
          </a:p>
          <a:p>
            <a:pPr marL="800100" lvl="1" indent="-342900" algn="just">
              <a:buFont typeface="Arial" panose="020B0604020202020204" pitchFamily="34" charset="0"/>
              <a:buChar char="•"/>
            </a:pPr>
            <a:r>
              <a:rPr lang="en-US" sz="1600" dirty="0" err="1">
                <a:latin typeface="Inter" panose="02000503000000020004" pitchFamily="2" charset="0"/>
                <a:ea typeface="Inter" panose="02000503000000020004" pitchFamily="2" charset="0"/>
                <a:cs typeface="Inter" panose="02000503000000020004" pitchFamily="2" charset="0"/>
              </a:rPr>
              <a:t>NL→Cypher</a:t>
            </a:r>
            <a:r>
              <a:rPr lang="en-US" sz="1600" dirty="0">
                <a:latin typeface="Inter" panose="02000503000000020004" pitchFamily="2" charset="0"/>
                <a:ea typeface="Inter" panose="02000503000000020004" pitchFamily="2" charset="0"/>
                <a:cs typeface="Inter" panose="02000503000000020004" pitchFamily="2" charset="0"/>
              </a:rPr>
              <a:t> generation, validation, execution, summarization</a:t>
            </a:r>
          </a:p>
          <a:p>
            <a:pPr marL="800100" lvl="1" indent="-342900" algn="just">
              <a:buFont typeface="Arial" panose="020B0604020202020204" pitchFamily="34" charset="0"/>
              <a:buChar char="•"/>
            </a:pPr>
            <a:endParaRPr lang="en-US" sz="1600" dirty="0">
              <a:latin typeface="Inter" panose="02000503000000020004" pitchFamily="2" charset="0"/>
              <a:ea typeface="Inter" panose="02000503000000020004" pitchFamily="2" charset="0"/>
              <a:cs typeface="Inter" panose="02000503000000020004" pitchFamily="2" charset="0"/>
            </a:endParaRPr>
          </a:p>
          <a:p>
            <a:pPr marL="342900" indent="-342900" algn="just">
              <a:buFont typeface="+mj-lt"/>
              <a:buAutoNum type="arabicPeriod"/>
            </a:pPr>
            <a:r>
              <a:rPr lang="en-US" sz="1600" b="1" dirty="0">
                <a:latin typeface="Inter" panose="02000503000000020004" pitchFamily="2" charset="0"/>
                <a:ea typeface="Inter" panose="02000503000000020004" pitchFamily="2" charset="0"/>
                <a:cs typeface="Inter" panose="02000503000000020004" pitchFamily="2" charset="0"/>
              </a:rPr>
              <a:t>Persist Steps &amp; Runtime State</a:t>
            </a:r>
            <a:endParaRPr lang="en-US" sz="1600" dirty="0">
              <a:latin typeface="Inter" panose="02000503000000020004" pitchFamily="2" charset="0"/>
              <a:ea typeface="Inter" panose="02000503000000020004" pitchFamily="2" charset="0"/>
              <a:cs typeface="Inter" panose="02000503000000020004" pitchFamily="2" charset="0"/>
            </a:endParaRPr>
          </a:p>
          <a:p>
            <a:pPr marL="800100" lvl="1" indent="-342900" algn="just">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PostgreSQL</a:t>
            </a:r>
            <a:r>
              <a:rPr lang="en-US" sz="1600" dirty="0">
                <a:latin typeface="Inter" panose="02000503000000020004" pitchFamily="2" charset="0"/>
                <a:ea typeface="Inter" panose="02000503000000020004" pitchFamily="2" charset="0"/>
                <a:cs typeface="Inter" panose="02000503000000020004" pitchFamily="2" charset="0"/>
              </a:rPr>
              <a:t>  → Tenants, jobs, runs, steps, inputs/outputs, timings, errors, final status, model configs</a:t>
            </a:r>
          </a:p>
          <a:p>
            <a:pPr marL="800100" lvl="1" indent="-342900" algn="just">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Redis</a:t>
            </a:r>
            <a:r>
              <a:rPr lang="en-US" sz="1600" dirty="0">
                <a:latin typeface="Inter" panose="02000503000000020004" pitchFamily="2" charset="0"/>
                <a:ea typeface="Inter" panose="02000503000000020004" pitchFamily="2" charset="0"/>
                <a:cs typeface="Inter" panose="02000503000000020004" pitchFamily="2" charset="0"/>
              </a:rPr>
              <a:t> → Job queues, locks, heartbeats, cache sessions, progress events, cancellation flags</a:t>
            </a:r>
          </a:p>
          <a:p>
            <a:pPr marL="800100" lvl="1" indent="-342900" algn="just">
              <a:buFont typeface="Arial" panose="020B0604020202020204" pitchFamily="34" charset="0"/>
              <a:buChar char="•"/>
            </a:pPr>
            <a:r>
              <a:rPr lang="en-US" sz="1600" b="1" dirty="0" err="1">
                <a:latin typeface="Inter" panose="02000503000000020004" pitchFamily="2" charset="0"/>
                <a:ea typeface="Inter" panose="02000503000000020004" pitchFamily="2" charset="0"/>
                <a:cs typeface="Inter" panose="02000503000000020004" pitchFamily="2" charset="0"/>
              </a:rPr>
              <a:t>Memgraph</a:t>
            </a:r>
            <a:r>
              <a:rPr lang="en-US" sz="1600" b="1" dirty="0">
                <a:latin typeface="Inter" panose="02000503000000020004" pitchFamily="2" charset="0"/>
                <a:ea typeface="Inter" panose="02000503000000020004" pitchFamily="2" charset="0"/>
                <a:cs typeface="Inter" panose="02000503000000020004" pitchFamily="2" charset="0"/>
              </a:rPr>
              <a:t> → </a:t>
            </a:r>
            <a:r>
              <a:rPr lang="en-US" sz="1600" dirty="0">
                <a:latin typeface="Inter" panose="02000503000000020004" pitchFamily="2" charset="0"/>
                <a:ea typeface="Inter" panose="02000503000000020004" pitchFamily="2" charset="0"/>
                <a:cs typeface="Inter" panose="02000503000000020004" pitchFamily="2" charset="0"/>
              </a:rPr>
              <a:t>Bioinformatics entities (Users, Institutions, Blast, </a:t>
            </a:r>
            <a:r>
              <a:rPr lang="en-US" sz="1600" dirty="0" err="1">
                <a:latin typeface="Inter" panose="02000503000000020004" pitchFamily="2" charset="0"/>
                <a:ea typeface="Inter" panose="02000503000000020004" pitchFamily="2" charset="0"/>
                <a:cs typeface="Inter" panose="02000503000000020004" pitchFamily="2" charset="0"/>
              </a:rPr>
              <a:t>Fasta</a:t>
            </a:r>
            <a:r>
              <a:rPr lang="en-US" sz="1600" dirty="0">
                <a:latin typeface="Inter" panose="02000503000000020004" pitchFamily="2" charset="0"/>
                <a:ea typeface="Inter" panose="02000503000000020004" pitchFamily="2" charset="0"/>
                <a:cs typeface="Inter" panose="02000503000000020004" pitchFamily="2" charset="0"/>
              </a:rPr>
              <a:t>) and their relationships.</a:t>
            </a:r>
          </a:p>
        </p:txBody>
      </p:sp>
      <p:pic>
        <p:nvPicPr>
          <p:cNvPr id="47" name="Picture 46">
            <a:extLst>
              <a:ext uri="{FF2B5EF4-FFF2-40B4-BE49-F238E27FC236}">
                <a16:creationId xmlns:a16="http://schemas.microsoft.com/office/drawing/2014/main" id="{7B4B3BDB-4939-D039-6506-120C597E09BC}"/>
              </a:ext>
            </a:extLst>
          </p:cNvPr>
          <p:cNvPicPr>
            <a:picLocks noChangeAspect="1"/>
          </p:cNvPicPr>
          <p:nvPr/>
        </p:nvPicPr>
        <p:blipFill>
          <a:blip r:embed="rId7"/>
          <a:srcRect l="8651" t="1806" r="10371" b="2554"/>
          <a:stretch/>
        </p:blipFill>
        <p:spPr>
          <a:xfrm>
            <a:off x="8610600" y="1662353"/>
            <a:ext cx="3113571" cy="3677384"/>
          </a:xfrm>
          <a:prstGeom prst="rect">
            <a:avLst/>
          </a:prstGeom>
        </p:spPr>
      </p:pic>
    </p:spTree>
    <p:extLst>
      <p:ext uri="{BB962C8B-B14F-4D97-AF65-F5344CB8AC3E}">
        <p14:creationId xmlns:p14="http://schemas.microsoft.com/office/powerpoint/2010/main" val="5773906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96E72-CC04-20ED-B570-098810579196}"/>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D99CB6F2-947C-36BD-C793-7F10237BE5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Slide Number Placeholder 11">
            <a:extLst>
              <a:ext uri="{FF2B5EF4-FFF2-40B4-BE49-F238E27FC236}">
                <a16:creationId xmlns:a16="http://schemas.microsoft.com/office/drawing/2014/main" id="{E5C8EECF-56FF-6EA8-EA49-8FE642CD5F2D}"/>
              </a:ext>
            </a:extLst>
          </p:cNvPr>
          <p:cNvSpPr>
            <a:spLocks noGrp="1"/>
          </p:cNvSpPr>
          <p:nvPr>
            <p:ph type="sldNum" sz="quarter" idx="12"/>
          </p:nvPr>
        </p:nvSpPr>
        <p:spPr/>
        <p:txBody>
          <a:bodyPr/>
          <a:lstStyle/>
          <a:p>
            <a:fld id="{48F19E39-9933-F648-B2F3-3AC17C0DC986}" type="slidenum">
              <a:rPr lang="en-US" smtClean="0">
                <a:solidFill>
                  <a:schemeClr val="bg1"/>
                </a:solidFill>
              </a:rPr>
              <a:t>13</a:t>
            </a:fld>
            <a:r>
              <a:rPr lang="en-US" dirty="0">
                <a:solidFill>
                  <a:schemeClr val="bg1"/>
                </a:solidFill>
              </a:rPr>
              <a:t> / 17</a:t>
            </a:r>
          </a:p>
        </p:txBody>
      </p:sp>
      <p:sp>
        <p:nvSpPr>
          <p:cNvPr id="5" name="TextBox 4">
            <a:extLst>
              <a:ext uri="{FF2B5EF4-FFF2-40B4-BE49-F238E27FC236}">
                <a16:creationId xmlns:a16="http://schemas.microsoft.com/office/drawing/2014/main" id="{9BFA6887-54EA-3E17-982F-3373D962D820}"/>
              </a:ext>
            </a:extLst>
          </p:cNvPr>
          <p:cNvSpPr txBox="1"/>
          <p:nvPr/>
        </p:nvSpPr>
        <p:spPr>
          <a:xfrm>
            <a:off x="596348" y="374273"/>
            <a:ext cx="11127823" cy="830997"/>
          </a:xfrm>
          <a:prstGeom prst="rect">
            <a:avLst/>
          </a:prstGeom>
          <a:noFill/>
        </p:spPr>
        <p:txBody>
          <a:bodyPr wrap="square" rtlCol="0">
            <a:spAutoFit/>
          </a:bodyPr>
          <a:lstStyle/>
          <a:p>
            <a:r>
              <a:rPr lang="en-US" sz="2800" b="1" dirty="0">
                <a:solidFill>
                  <a:srgbClr val="822334"/>
                </a:solidFill>
                <a:latin typeface="Inter" panose="02000503000000020004" pitchFamily="2" charset="0"/>
                <a:ea typeface="Inter" panose="02000503000000020004" pitchFamily="2" charset="0"/>
                <a:cs typeface="Inter" panose="02000503000000020004" pitchFamily="2" charset="0"/>
              </a:rPr>
              <a:t>ORCHESTRATOR (Part 3/3)</a:t>
            </a:r>
          </a:p>
          <a:p>
            <a:r>
              <a:rPr lang="en-US" sz="2000" dirty="0">
                <a:solidFill>
                  <a:schemeClr val="bg2">
                    <a:lumMod val="50000"/>
                  </a:schemeClr>
                </a:solidFill>
                <a:latin typeface="Inter" panose="02000503000000020004" pitchFamily="2" charset="0"/>
                <a:ea typeface="Inter" panose="02000503000000020004" pitchFamily="2" charset="0"/>
                <a:cs typeface="Inter" panose="02000503000000020004" pitchFamily="2" charset="0"/>
              </a:rPr>
              <a:t>Finalization &amp; Safe Response Generation</a:t>
            </a:r>
          </a:p>
        </p:txBody>
      </p:sp>
      <p:sp>
        <p:nvSpPr>
          <p:cNvPr id="10" name="Footer Placeholder 10">
            <a:extLst>
              <a:ext uri="{FF2B5EF4-FFF2-40B4-BE49-F238E27FC236}">
                <a16:creationId xmlns:a16="http://schemas.microsoft.com/office/drawing/2014/main" id="{9C545915-4BAF-CE83-D11D-B396C2299DBB}"/>
              </a:ext>
            </a:extLst>
          </p:cNvPr>
          <p:cNvSpPr>
            <a:spLocks noGrp="1"/>
          </p:cNvSpPr>
          <p:nvPr>
            <p:ph type="ftr" sz="quarter" idx="11"/>
          </p:nvPr>
        </p:nvSpPr>
        <p:spPr>
          <a:xfrm>
            <a:off x="4566534" y="6356350"/>
            <a:ext cx="3058931" cy="365125"/>
          </a:xfrm>
        </p:spPr>
        <p:txBody>
          <a:bodyPr/>
          <a:lstStyle/>
          <a:p>
            <a:r>
              <a:rPr lang="en-US" dirty="0" err="1">
                <a:solidFill>
                  <a:schemeClr val="bg1"/>
                </a:solidFill>
                <a:latin typeface="Inter" panose="02000503000000020004" pitchFamily="2" charset="0"/>
                <a:ea typeface="Inter" panose="02000503000000020004" pitchFamily="2" charset="0"/>
                <a:cs typeface="Inter" panose="02000503000000020004" pitchFamily="2" charset="0"/>
              </a:rPr>
              <a:t>Cineca</a:t>
            </a:r>
            <a:r>
              <a:rPr lang="en-US" dirty="0">
                <a:solidFill>
                  <a:schemeClr val="bg1"/>
                </a:solidFill>
                <a:latin typeface="Inter" panose="02000503000000020004" pitchFamily="2" charset="0"/>
                <a:ea typeface="Inter" panose="02000503000000020004" pitchFamily="2" charset="0"/>
                <a:cs typeface="Inter" panose="02000503000000020004" pitchFamily="2" charset="0"/>
              </a:rPr>
              <a:t> Agentic Platform – Arman Feili</a:t>
            </a:r>
          </a:p>
        </p:txBody>
      </p:sp>
      <p:pic>
        <p:nvPicPr>
          <p:cNvPr id="13" name="Picture 12">
            <a:extLst>
              <a:ext uri="{FF2B5EF4-FFF2-40B4-BE49-F238E27FC236}">
                <a16:creationId xmlns:a16="http://schemas.microsoft.com/office/drawing/2014/main" id="{5824F412-2974-30E9-E7D8-33D535BFA785}"/>
              </a:ext>
            </a:extLst>
          </p:cNvPr>
          <p:cNvPicPr>
            <a:picLocks noChangeAspect="1"/>
          </p:cNvPicPr>
          <p:nvPr/>
        </p:nvPicPr>
        <p:blipFill>
          <a:blip r:embed="rId3"/>
          <a:stretch>
            <a:fillRect/>
          </a:stretch>
        </p:blipFill>
        <p:spPr>
          <a:xfrm>
            <a:off x="321777" y="6315552"/>
            <a:ext cx="435345" cy="435345"/>
          </a:xfrm>
          <a:prstGeom prst="rect">
            <a:avLst/>
          </a:prstGeom>
        </p:spPr>
      </p:pic>
      <p:pic>
        <p:nvPicPr>
          <p:cNvPr id="14" name="Picture 13">
            <a:extLst>
              <a:ext uri="{FF2B5EF4-FFF2-40B4-BE49-F238E27FC236}">
                <a16:creationId xmlns:a16="http://schemas.microsoft.com/office/drawing/2014/main" id="{DC1046B5-8A17-9C1A-2287-502560AE2042}"/>
              </a:ext>
            </a:extLst>
          </p:cNvPr>
          <p:cNvPicPr>
            <a:picLocks noChangeAspect="1"/>
          </p:cNvPicPr>
          <p:nvPr/>
        </p:nvPicPr>
        <p:blipFill>
          <a:blip r:embed="rId4"/>
          <a:stretch>
            <a:fillRect/>
          </a:stretch>
        </p:blipFill>
        <p:spPr>
          <a:xfrm>
            <a:off x="866134" y="6362629"/>
            <a:ext cx="1093241" cy="365125"/>
          </a:xfrm>
          <a:prstGeom prst="rect">
            <a:avLst/>
          </a:prstGeom>
        </p:spPr>
      </p:pic>
      <p:pic>
        <p:nvPicPr>
          <p:cNvPr id="21" name="Picture 20">
            <a:extLst>
              <a:ext uri="{FF2B5EF4-FFF2-40B4-BE49-F238E27FC236}">
                <a16:creationId xmlns:a16="http://schemas.microsoft.com/office/drawing/2014/main" id="{D2D3C107-15BC-2345-95EA-BD3C6CFEFACC}"/>
              </a:ext>
            </a:extLst>
          </p:cNvPr>
          <p:cNvPicPr>
            <a:picLocks noChangeAspect="1"/>
          </p:cNvPicPr>
          <p:nvPr/>
        </p:nvPicPr>
        <p:blipFill>
          <a:blip r:embed="rId5"/>
          <a:stretch>
            <a:fillRect/>
          </a:stretch>
        </p:blipFill>
        <p:spPr>
          <a:xfrm>
            <a:off x="5806271" y="374271"/>
            <a:ext cx="5931548" cy="985153"/>
          </a:xfrm>
          <a:prstGeom prst="rect">
            <a:avLst/>
          </a:prstGeom>
        </p:spPr>
      </p:pic>
      <p:sp>
        <p:nvSpPr>
          <p:cNvPr id="23" name="TextBox 22">
            <a:extLst>
              <a:ext uri="{FF2B5EF4-FFF2-40B4-BE49-F238E27FC236}">
                <a16:creationId xmlns:a16="http://schemas.microsoft.com/office/drawing/2014/main" id="{D09C05EC-A984-07A6-3D35-35F5BEC6DCDD}"/>
              </a:ext>
            </a:extLst>
          </p:cNvPr>
          <p:cNvSpPr txBox="1"/>
          <p:nvPr/>
        </p:nvSpPr>
        <p:spPr>
          <a:xfrm>
            <a:off x="596347" y="1564655"/>
            <a:ext cx="11127819" cy="2339102"/>
          </a:xfrm>
          <a:prstGeom prst="rect">
            <a:avLst/>
          </a:prstGeom>
          <a:noFill/>
        </p:spPr>
        <p:txBody>
          <a:bodyPr wrap="square" rtlCol="0">
            <a:spAutoFit/>
          </a:bodyPr>
          <a:lstStyle/>
          <a:p>
            <a:r>
              <a:rPr lang="en-US" b="1" dirty="0">
                <a:latin typeface="Inter" panose="02000503000000020004" pitchFamily="2" charset="0"/>
                <a:ea typeface="Inter" panose="02000503000000020004" pitchFamily="2" charset="0"/>
                <a:cs typeface="Inter" panose="02000503000000020004" pitchFamily="2" charset="0"/>
              </a:rPr>
              <a:t>Phase 4: Final Output Pipeline</a:t>
            </a:r>
            <a:br>
              <a:rPr lang="en-US" dirty="0">
                <a:latin typeface="Inter" panose="02000503000000020004" pitchFamily="2" charset="0"/>
                <a:ea typeface="Inter" panose="02000503000000020004" pitchFamily="2" charset="0"/>
                <a:cs typeface="Inter" panose="02000503000000020004" pitchFamily="2" charset="0"/>
              </a:rPr>
            </a:br>
            <a:r>
              <a:rPr lang="en-US" sz="1600" dirty="0">
                <a:latin typeface="Inter" panose="02000503000000020004" pitchFamily="2" charset="0"/>
                <a:ea typeface="Inter" panose="02000503000000020004" pitchFamily="2" charset="0"/>
                <a:cs typeface="Inter" panose="02000503000000020004" pitchFamily="2" charset="0"/>
              </a:rPr>
              <a:t>The orchestrator turns completed steps into a safe, consistent, and traceable final response.</a:t>
            </a:r>
          </a:p>
          <a:p>
            <a:endParaRPr lang="en-US" sz="1600" b="1" dirty="0">
              <a:latin typeface="Inter" panose="02000503000000020004" pitchFamily="2" charset="0"/>
              <a:ea typeface="Inter" panose="02000503000000020004" pitchFamily="2" charset="0"/>
              <a:cs typeface="Inter" panose="02000503000000020004" pitchFamily="2" charset="0"/>
            </a:endParaRPr>
          </a:p>
          <a:p>
            <a:pPr marL="342900" indent="-342900">
              <a:buFont typeface="+mj-lt"/>
              <a:buAutoNum type="arabicPeriod"/>
            </a:pPr>
            <a:r>
              <a:rPr lang="en-US" sz="1600" b="1" dirty="0">
                <a:latin typeface="Inter" panose="02000503000000020004" pitchFamily="2" charset="0"/>
                <a:ea typeface="Inter" panose="02000503000000020004" pitchFamily="2" charset="0"/>
                <a:cs typeface="Inter" panose="02000503000000020004" pitchFamily="2" charset="0"/>
              </a:rPr>
              <a:t>Assemble Step Outputs</a:t>
            </a:r>
            <a:r>
              <a:rPr lang="en-US" sz="1600" dirty="0">
                <a:latin typeface="Inter" panose="02000503000000020004" pitchFamily="2" charset="0"/>
                <a:ea typeface="Inter" panose="02000503000000020004" pitchFamily="2" charset="0"/>
                <a:cs typeface="Inter" panose="02000503000000020004" pitchFamily="2" charset="0"/>
              </a:rPr>
              <a:t>	→ Combines step outputs into one final answer</a:t>
            </a:r>
          </a:p>
          <a:p>
            <a:pPr marL="342900" indent="-342900">
              <a:buFont typeface="+mj-lt"/>
              <a:buAutoNum type="arabicPeriod"/>
            </a:pPr>
            <a:r>
              <a:rPr lang="en-US" sz="1600" b="1" dirty="0">
                <a:latin typeface="Inter" panose="02000503000000020004" pitchFamily="2" charset="0"/>
                <a:ea typeface="Inter" panose="02000503000000020004" pitchFamily="2" charset="0"/>
                <a:cs typeface="Inter" panose="02000503000000020004" pitchFamily="2" charset="0"/>
              </a:rPr>
              <a:t>Fallback Handling 	</a:t>
            </a:r>
            <a:r>
              <a:rPr lang="en-US" sz="1600" dirty="0">
                <a:latin typeface="Inter" panose="02000503000000020004" pitchFamily="2" charset="0"/>
                <a:ea typeface="Inter" panose="02000503000000020004" pitchFamily="2" charset="0"/>
                <a:cs typeface="Inter" panose="02000503000000020004" pitchFamily="2" charset="0"/>
              </a:rPr>
              <a:t>→ Uses cached or default responses if generation fails</a:t>
            </a:r>
          </a:p>
          <a:p>
            <a:pPr marL="342900" indent="-342900">
              <a:buFont typeface="+mj-lt"/>
              <a:buAutoNum type="arabicPeriod"/>
            </a:pPr>
            <a:r>
              <a:rPr lang="en-US" sz="1600" b="1" dirty="0">
                <a:latin typeface="Inter" panose="02000503000000020004" pitchFamily="2" charset="0"/>
                <a:ea typeface="Inter" panose="02000503000000020004" pitchFamily="2" charset="0"/>
                <a:cs typeface="Inter" panose="02000503000000020004" pitchFamily="2" charset="0"/>
              </a:rPr>
              <a:t>Output Normalization </a:t>
            </a:r>
            <a:r>
              <a:rPr lang="en-US" sz="1600" dirty="0">
                <a:latin typeface="Inter" panose="02000503000000020004" pitchFamily="2" charset="0"/>
                <a:ea typeface="Inter" panose="02000503000000020004" pitchFamily="2" charset="0"/>
                <a:cs typeface="Inter" panose="02000503000000020004" pitchFamily="2" charset="0"/>
              </a:rPr>
              <a:t>	→ Converts the result into readable text and optional structured JSON</a:t>
            </a:r>
          </a:p>
          <a:p>
            <a:pPr marL="342900" indent="-342900">
              <a:buFont typeface="+mj-lt"/>
              <a:buAutoNum type="arabicPeriod"/>
            </a:pPr>
            <a:r>
              <a:rPr lang="en-US" sz="1600" b="1" dirty="0">
                <a:latin typeface="Inter" panose="02000503000000020004" pitchFamily="2" charset="0"/>
                <a:ea typeface="Inter" panose="02000503000000020004" pitchFamily="2" charset="0"/>
                <a:cs typeface="Inter" panose="02000503000000020004" pitchFamily="2" charset="0"/>
              </a:rPr>
              <a:t>Output Safety Checks </a:t>
            </a:r>
            <a:r>
              <a:rPr lang="en-US" sz="1600" dirty="0">
                <a:latin typeface="Inter" panose="02000503000000020004" pitchFamily="2" charset="0"/>
                <a:ea typeface="Inter" panose="02000503000000020004" pitchFamily="2" charset="0"/>
                <a:cs typeface="Inter" panose="02000503000000020004" pitchFamily="2" charset="0"/>
              </a:rPr>
              <a:t>	→ Removes sensitive data and filters unsafe content</a:t>
            </a:r>
          </a:p>
          <a:p>
            <a:pPr marL="342900" indent="-342900">
              <a:buFont typeface="+mj-lt"/>
              <a:buAutoNum type="arabicPeriod"/>
            </a:pPr>
            <a:r>
              <a:rPr lang="en-US" sz="1600" b="1" dirty="0">
                <a:latin typeface="Inter" panose="02000503000000020004" pitchFamily="2" charset="0"/>
                <a:ea typeface="Inter" panose="02000503000000020004" pitchFamily="2" charset="0"/>
                <a:cs typeface="Inter" panose="02000503000000020004" pitchFamily="2" charset="0"/>
              </a:rPr>
              <a:t>Final Persistence   </a:t>
            </a:r>
            <a:r>
              <a:rPr lang="en-US" sz="1600" dirty="0">
                <a:latin typeface="Inter" panose="02000503000000020004" pitchFamily="2" charset="0"/>
                <a:ea typeface="Inter" panose="02000503000000020004" pitchFamily="2" charset="0"/>
                <a:cs typeface="Inter" panose="02000503000000020004" pitchFamily="2" charset="0"/>
              </a:rPr>
              <a:t>	→ Saves final status, output, and metrics in PostgreSQL</a:t>
            </a:r>
          </a:p>
          <a:p>
            <a:pPr marL="342900" indent="-342900">
              <a:buFont typeface="+mj-lt"/>
              <a:buAutoNum type="arabicPeriod"/>
            </a:pPr>
            <a:r>
              <a:rPr lang="en-US" sz="1600" b="1" dirty="0">
                <a:latin typeface="Inter" panose="02000503000000020004" pitchFamily="2" charset="0"/>
                <a:ea typeface="Inter" panose="02000503000000020004" pitchFamily="2" charset="0"/>
                <a:cs typeface="Inter" panose="02000503000000020004" pitchFamily="2" charset="0"/>
              </a:rPr>
              <a:t>Observability Data </a:t>
            </a:r>
            <a:r>
              <a:rPr lang="en-US" sz="1600" dirty="0">
                <a:latin typeface="Inter" panose="02000503000000020004" pitchFamily="2" charset="0"/>
                <a:ea typeface="Inter" panose="02000503000000020004" pitchFamily="2" charset="0"/>
                <a:cs typeface="Inter" panose="02000503000000020004" pitchFamily="2" charset="0"/>
              </a:rPr>
              <a:t>	→ Records metrics and traces for monitoring (Prometheus, Grafana)</a:t>
            </a:r>
          </a:p>
        </p:txBody>
      </p:sp>
      <p:sp>
        <p:nvSpPr>
          <p:cNvPr id="3" name="TextBox 2">
            <a:extLst>
              <a:ext uri="{FF2B5EF4-FFF2-40B4-BE49-F238E27FC236}">
                <a16:creationId xmlns:a16="http://schemas.microsoft.com/office/drawing/2014/main" id="{227C75B1-616E-CB1C-402A-5289DC64801E}"/>
              </a:ext>
            </a:extLst>
          </p:cNvPr>
          <p:cNvSpPr txBox="1"/>
          <p:nvPr/>
        </p:nvSpPr>
        <p:spPr>
          <a:xfrm>
            <a:off x="1522249" y="4321657"/>
            <a:ext cx="8568044" cy="1569660"/>
          </a:xfrm>
          <a:prstGeom prst="rect">
            <a:avLst/>
          </a:prstGeom>
          <a:noFill/>
        </p:spPr>
        <p:txBody>
          <a:bodyPr wrap="square">
            <a:spAutoFit/>
          </a:bodyPr>
          <a:lstStyle/>
          <a:p>
            <a:r>
              <a:rPr lang="en-US" sz="1600" dirty="0">
                <a:latin typeface="Menlo" panose="020B0609030804020204" pitchFamily="49" charset="0"/>
                <a:ea typeface="Menlo" panose="020B0609030804020204" pitchFamily="49" charset="0"/>
                <a:cs typeface="Menlo" panose="020B0609030804020204" pitchFamily="49" charset="0"/>
              </a:rPr>
              <a:t>{ </a:t>
            </a:r>
          </a:p>
          <a:p>
            <a:pPr lvl="1"/>
            <a:r>
              <a:rPr lang="en-US" sz="1600" dirty="0">
                <a:solidFill>
                  <a:srgbClr val="0070C0"/>
                </a:solidFill>
                <a:latin typeface="Menlo" panose="020B0609030804020204" pitchFamily="49" charset="0"/>
                <a:ea typeface="Menlo" panose="020B0609030804020204" pitchFamily="49" charset="0"/>
                <a:cs typeface="Menlo" panose="020B0609030804020204" pitchFamily="49" charset="0"/>
              </a:rPr>
              <a:t>"goal"</a:t>
            </a:r>
            <a:r>
              <a:rPr lang="en-US" sz="1600" dirty="0">
                <a:latin typeface="Menlo" panose="020B0609030804020204" pitchFamily="49" charset="0"/>
                <a:ea typeface="Menlo" panose="020B0609030804020204" pitchFamily="49" charset="0"/>
                <a:cs typeface="Menlo" panose="020B0609030804020204" pitchFamily="49" charset="0"/>
              </a:rPr>
              <a:t>: </a:t>
            </a:r>
            <a:r>
              <a:rPr lang="en-US" sz="1600" dirty="0">
                <a:solidFill>
                  <a:srgbClr val="CD3131"/>
                </a:solidFill>
                <a:latin typeface="Menlo" panose="020B0609030804020204" pitchFamily="49" charset="0"/>
                <a:ea typeface="Menlo" panose="020B0609030804020204" pitchFamily="49" charset="0"/>
                <a:cs typeface="Menlo" panose="020B0609030804020204" pitchFamily="49" charset="0"/>
              </a:rPr>
              <a:t>"Find collaborating institutions"</a:t>
            </a:r>
            <a:r>
              <a:rPr lang="en-US" sz="1600" dirty="0">
                <a:latin typeface="Menlo" panose="020B0609030804020204" pitchFamily="49" charset="0"/>
                <a:ea typeface="Menlo" panose="020B0609030804020204" pitchFamily="49" charset="0"/>
                <a:cs typeface="Menlo" panose="020B0609030804020204" pitchFamily="49" charset="0"/>
              </a:rPr>
              <a:t>, </a:t>
            </a:r>
          </a:p>
          <a:p>
            <a:pPr lvl="1"/>
            <a:r>
              <a:rPr lang="en-US" sz="1600" dirty="0">
                <a:solidFill>
                  <a:srgbClr val="0070C0"/>
                </a:solidFill>
                <a:latin typeface="Menlo" panose="020B0609030804020204" pitchFamily="49" charset="0"/>
                <a:ea typeface="Menlo" panose="020B0609030804020204" pitchFamily="49" charset="0"/>
                <a:cs typeface="Menlo" panose="020B0609030804020204" pitchFamily="49" charset="0"/>
              </a:rPr>
              <a:t>"steps"</a:t>
            </a:r>
            <a:r>
              <a:rPr lang="en-US" sz="1600" dirty="0">
                <a:latin typeface="Menlo" panose="020B0609030804020204" pitchFamily="49" charset="0"/>
                <a:ea typeface="Menlo" panose="020B0609030804020204" pitchFamily="49" charset="0"/>
                <a:cs typeface="Menlo" panose="020B0609030804020204" pitchFamily="49" charset="0"/>
              </a:rPr>
              <a:t>: [</a:t>
            </a:r>
            <a:r>
              <a:rPr lang="en-US" sz="1600" dirty="0">
                <a:solidFill>
                  <a:srgbClr val="CD3131"/>
                </a:solidFill>
                <a:latin typeface="Menlo" panose="020B0609030804020204" pitchFamily="49" charset="0"/>
                <a:ea typeface="Menlo" panose="020B0609030804020204" pitchFamily="49" charset="0"/>
                <a:cs typeface="Menlo" panose="020B0609030804020204" pitchFamily="49" charset="0"/>
              </a:rPr>
              <a:t>"</a:t>
            </a:r>
            <a:r>
              <a:rPr lang="en-US" sz="1600" dirty="0" err="1">
                <a:solidFill>
                  <a:srgbClr val="CD3131"/>
                </a:solidFill>
                <a:latin typeface="Menlo" panose="020B0609030804020204" pitchFamily="49" charset="0"/>
                <a:ea typeface="Menlo" panose="020B0609030804020204" pitchFamily="49" charset="0"/>
                <a:cs typeface="Menlo" panose="020B0609030804020204" pitchFamily="49" charset="0"/>
              </a:rPr>
              <a:t>query_graph</a:t>
            </a:r>
            <a:r>
              <a:rPr lang="en-US" sz="1600" dirty="0">
                <a:solidFill>
                  <a:srgbClr val="CD3131"/>
                </a:solidFill>
                <a:latin typeface="Menlo" panose="020B0609030804020204" pitchFamily="49" charset="0"/>
                <a:ea typeface="Menlo" panose="020B0609030804020204" pitchFamily="49" charset="0"/>
                <a:cs typeface="Menlo" panose="020B0609030804020204" pitchFamily="49" charset="0"/>
              </a:rPr>
              <a:t>"</a:t>
            </a:r>
            <a:r>
              <a:rPr lang="en-US" sz="1600" dirty="0">
                <a:latin typeface="Menlo" panose="020B0609030804020204" pitchFamily="49" charset="0"/>
                <a:ea typeface="Menlo" panose="020B0609030804020204" pitchFamily="49" charset="0"/>
                <a:cs typeface="Menlo" panose="020B0609030804020204" pitchFamily="49" charset="0"/>
              </a:rPr>
              <a:t>, </a:t>
            </a:r>
            <a:r>
              <a:rPr lang="en-US" sz="1600" dirty="0">
                <a:solidFill>
                  <a:srgbClr val="CD3131"/>
                </a:solidFill>
                <a:latin typeface="Menlo" panose="020B0609030804020204" pitchFamily="49" charset="0"/>
                <a:ea typeface="Menlo" panose="020B0609030804020204" pitchFamily="49" charset="0"/>
                <a:cs typeface="Menlo" panose="020B0609030804020204" pitchFamily="49" charset="0"/>
              </a:rPr>
              <a:t>"</a:t>
            </a:r>
            <a:r>
              <a:rPr lang="en-US" sz="1600" dirty="0" err="1">
                <a:solidFill>
                  <a:srgbClr val="CD3131"/>
                </a:solidFill>
                <a:latin typeface="Menlo" panose="020B0609030804020204" pitchFamily="49" charset="0"/>
                <a:ea typeface="Menlo" panose="020B0609030804020204" pitchFamily="49" charset="0"/>
                <a:cs typeface="Menlo" panose="020B0609030804020204" pitchFamily="49" charset="0"/>
              </a:rPr>
              <a:t>analyze_results</a:t>
            </a:r>
            <a:r>
              <a:rPr lang="en-US" sz="1600" dirty="0">
                <a:solidFill>
                  <a:srgbClr val="CD3131"/>
                </a:solidFill>
                <a:latin typeface="Menlo" panose="020B0609030804020204" pitchFamily="49" charset="0"/>
                <a:ea typeface="Menlo" panose="020B0609030804020204" pitchFamily="49" charset="0"/>
                <a:cs typeface="Menlo" panose="020B0609030804020204" pitchFamily="49" charset="0"/>
              </a:rPr>
              <a:t>"</a:t>
            </a:r>
            <a:r>
              <a:rPr lang="en-US" sz="1600" dirty="0">
                <a:latin typeface="Menlo" panose="020B0609030804020204" pitchFamily="49" charset="0"/>
                <a:ea typeface="Menlo" panose="020B0609030804020204" pitchFamily="49" charset="0"/>
                <a:cs typeface="Menlo" panose="020B0609030804020204" pitchFamily="49" charset="0"/>
              </a:rPr>
              <a:t>, </a:t>
            </a:r>
            <a:r>
              <a:rPr lang="en-US" sz="1600" dirty="0">
                <a:solidFill>
                  <a:srgbClr val="CD3131"/>
                </a:solidFill>
                <a:latin typeface="Menlo" panose="020B0609030804020204" pitchFamily="49" charset="0"/>
                <a:ea typeface="Menlo" panose="020B0609030804020204" pitchFamily="49" charset="0"/>
                <a:cs typeface="Menlo" panose="020B0609030804020204" pitchFamily="49" charset="0"/>
              </a:rPr>
              <a:t>"</a:t>
            </a:r>
            <a:r>
              <a:rPr lang="en-US" sz="1600" dirty="0" err="1">
                <a:solidFill>
                  <a:srgbClr val="CD3131"/>
                </a:solidFill>
                <a:latin typeface="Menlo" panose="020B0609030804020204" pitchFamily="49" charset="0"/>
                <a:ea typeface="Menlo" panose="020B0609030804020204" pitchFamily="49" charset="0"/>
                <a:cs typeface="Menlo" panose="020B0609030804020204" pitchFamily="49" charset="0"/>
              </a:rPr>
              <a:t>summarize_answer</a:t>
            </a:r>
            <a:r>
              <a:rPr lang="en-US" sz="1600" dirty="0">
                <a:solidFill>
                  <a:srgbClr val="CD3131"/>
                </a:solidFill>
                <a:latin typeface="Menlo" panose="020B0609030804020204" pitchFamily="49" charset="0"/>
                <a:ea typeface="Menlo" panose="020B0609030804020204" pitchFamily="49" charset="0"/>
                <a:cs typeface="Menlo" panose="020B0609030804020204" pitchFamily="49" charset="0"/>
              </a:rPr>
              <a:t>"</a:t>
            </a:r>
            <a:r>
              <a:rPr lang="en-US" sz="1600" dirty="0">
                <a:latin typeface="Menlo" panose="020B0609030804020204" pitchFamily="49" charset="0"/>
                <a:ea typeface="Menlo" panose="020B0609030804020204" pitchFamily="49" charset="0"/>
                <a:cs typeface="Menlo" panose="020B0609030804020204" pitchFamily="49" charset="0"/>
              </a:rPr>
              <a:t>], </a:t>
            </a:r>
          </a:p>
          <a:p>
            <a:pPr lvl="1"/>
            <a:r>
              <a:rPr lang="en-US" sz="1600" dirty="0">
                <a:solidFill>
                  <a:srgbClr val="0070C0"/>
                </a:solidFill>
                <a:latin typeface="Menlo" panose="020B0609030804020204" pitchFamily="49" charset="0"/>
                <a:ea typeface="Menlo" panose="020B0609030804020204" pitchFamily="49" charset="0"/>
                <a:cs typeface="Menlo" panose="020B0609030804020204" pitchFamily="49" charset="0"/>
              </a:rPr>
              <a:t>"output"</a:t>
            </a:r>
            <a:r>
              <a:rPr lang="en-US" sz="1600" dirty="0">
                <a:latin typeface="Menlo" panose="020B0609030804020204" pitchFamily="49" charset="0"/>
                <a:ea typeface="Menlo" panose="020B0609030804020204" pitchFamily="49" charset="0"/>
                <a:cs typeface="Menlo" panose="020B0609030804020204" pitchFamily="49" charset="0"/>
              </a:rPr>
              <a:t>: </a:t>
            </a:r>
            <a:r>
              <a:rPr lang="en-US" sz="1600" dirty="0">
                <a:solidFill>
                  <a:srgbClr val="CD3131"/>
                </a:solidFill>
                <a:latin typeface="Menlo" panose="020B0609030804020204" pitchFamily="49" charset="0"/>
                <a:ea typeface="Menlo" panose="020B0609030804020204" pitchFamily="49" charset="0"/>
                <a:cs typeface="Menlo" panose="020B0609030804020204" pitchFamily="49" charset="0"/>
              </a:rPr>
              <a:t>"Found 5 collaborating institutions."</a:t>
            </a:r>
            <a:r>
              <a:rPr lang="en-US" sz="1600" dirty="0">
                <a:latin typeface="Menlo" panose="020B0609030804020204" pitchFamily="49" charset="0"/>
                <a:ea typeface="Menlo" panose="020B0609030804020204" pitchFamily="49" charset="0"/>
                <a:cs typeface="Menlo" panose="020B0609030804020204" pitchFamily="49" charset="0"/>
              </a:rPr>
              <a:t>, </a:t>
            </a:r>
          </a:p>
          <a:p>
            <a:pPr lvl="1"/>
            <a:r>
              <a:rPr lang="en-US" sz="1600" dirty="0">
                <a:solidFill>
                  <a:srgbClr val="0070C0"/>
                </a:solidFill>
                <a:latin typeface="Menlo" panose="020B0609030804020204" pitchFamily="49" charset="0"/>
                <a:ea typeface="Menlo" panose="020B0609030804020204" pitchFamily="49" charset="0"/>
                <a:cs typeface="Menlo" panose="020B0609030804020204" pitchFamily="49" charset="0"/>
              </a:rPr>
              <a:t>"metrics"</a:t>
            </a:r>
            <a:r>
              <a:rPr lang="en-US" sz="1600" dirty="0">
                <a:latin typeface="Menlo" panose="020B0609030804020204" pitchFamily="49" charset="0"/>
                <a:ea typeface="Menlo" panose="020B0609030804020204" pitchFamily="49" charset="0"/>
                <a:cs typeface="Menlo" panose="020B0609030804020204" pitchFamily="49" charset="0"/>
              </a:rPr>
              <a:t>: { </a:t>
            </a:r>
            <a:r>
              <a:rPr lang="en-US" sz="1600" dirty="0">
                <a:solidFill>
                  <a:srgbClr val="0070C0"/>
                </a:solidFill>
                <a:latin typeface="Menlo" panose="020B0609030804020204" pitchFamily="49" charset="0"/>
                <a:ea typeface="Menlo" panose="020B0609030804020204" pitchFamily="49" charset="0"/>
                <a:cs typeface="Menlo" panose="020B0609030804020204" pitchFamily="49" charset="0"/>
              </a:rPr>
              <a:t>"</a:t>
            </a:r>
            <a:r>
              <a:rPr lang="en-US" sz="1600" dirty="0" err="1">
                <a:solidFill>
                  <a:srgbClr val="0070C0"/>
                </a:solidFill>
                <a:latin typeface="Menlo" panose="020B0609030804020204" pitchFamily="49" charset="0"/>
                <a:ea typeface="Menlo" panose="020B0609030804020204" pitchFamily="49" charset="0"/>
                <a:cs typeface="Menlo" panose="020B0609030804020204" pitchFamily="49" charset="0"/>
              </a:rPr>
              <a:t>duration_ms</a:t>
            </a:r>
            <a:r>
              <a:rPr lang="en-US" sz="1600" dirty="0">
                <a:solidFill>
                  <a:srgbClr val="0070C0"/>
                </a:solidFill>
                <a:latin typeface="Menlo" panose="020B0609030804020204" pitchFamily="49" charset="0"/>
                <a:ea typeface="Menlo" panose="020B0609030804020204" pitchFamily="49" charset="0"/>
                <a:cs typeface="Menlo" panose="020B0609030804020204" pitchFamily="49" charset="0"/>
              </a:rPr>
              <a:t>"</a:t>
            </a:r>
            <a:r>
              <a:rPr lang="en-US" sz="1600" dirty="0">
                <a:latin typeface="Menlo" panose="020B0609030804020204" pitchFamily="49" charset="0"/>
                <a:ea typeface="Menlo" panose="020B0609030804020204" pitchFamily="49" charset="0"/>
                <a:cs typeface="Menlo" panose="020B0609030804020204" pitchFamily="49" charset="0"/>
              </a:rPr>
              <a:t>: </a:t>
            </a:r>
            <a:r>
              <a:rPr lang="en-US" sz="1600" dirty="0">
                <a:solidFill>
                  <a:srgbClr val="00B050"/>
                </a:solidFill>
                <a:latin typeface="Menlo" panose="020B0609030804020204" pitchFamily="49" charset="0"/>
                <a:ea typeface="Menlo" panose="020B0609030804020204" pitchFamily="49" charset="0"/>
                <a:cs typeface="Menlo" panose="020B0609030804020204" pitchFamily="49" charset="0"/>
              </a:rPr>
              <a:t>2340</a:t>
            </a:r>
            <a:r>
              <a:rPr lang="en-US" sz="1600" dirty="0">
                <a:latin typeface="Menlo" panose="020B0609030804020204" pitchFamily="49" charset="0"/>
                <a:ea typeface="Menlo" panose="020B0609030804020204" pitchFamily="49" charset="0"/>
                <a:cs typeface="Menlo" panose="020B0609030804020204" pitchFamily="49" charset="0"/>
              </a:rPr>
              <a:t>, </a:t>
            </a:r>
            <a:r>
              <a:rPr lang="en-US" sz="1600" dirty="0">
                <a:solidFill>
                  <a:srgbClr val="0070C0"/>
                </a:solidFill>
                <a:latin typeface="Menlo" panose="020B0609030804020204" pitchFamily="49" charset="0"/>
                <a:ea typeface="Menlo" panose="020B0609030804020204" pitchFamily="49" charset="0"/>
                <a:cs typeface="Menlo" panose="020B0609030804020204" pitchFamily="49" charset="0"/>
              </a:rPr>
              <a:t>"tokens"</a:t>
            </a:r>
            <a:r>
              <a:rPr lang="en-US" sz="1600" dirty="0">
                <a:latin typeface="Menlo" panose="020B0609030804020204" pitchFamily="49" charset="0"/>
                <a:ea typeface="Menlo" panose="020B0609030804020204" pitchFamily="49" charset="0"/>
                <a:cs typeface="Menlo" panose="020B0609030804020204" pitchFamily="49" charset="0"/>
              </a:rPr>
              <a:t>: </a:t>
            </a:r>
            <a:r>
              <a:rPr lang="en-US" sz="1600" dirty="0">
                <a:solidFill>
                  <a:srgbClr val="00B050"/>
                </a:solidFill>
                <a:latin typeface="Menlo" panose="020B0609030804020204" pitchFamily="49" charset="0"/>
                <a:ea typeface="Menlo" panose="020B0609030804020204" pitchFamily="49" charset="0"/>
                <a:cs typeface="Menlo" panose="020B0609030804020204" pitchFamily="49" charset="0"/>
              </a:rPr>
              <a:t>1850</a:t>
            </a:r>
            <a:r>
              <a:rPr lang="en-US" sz="1600" dirty="0">
                <a:latin typeface="Menlo" panose="020B0609030804020204" pitchFamily="49" charset="0"/>
                <a:ea typeface="Menlo" panose="020B0609030804020204" pitchFamily="49" charset="0"/>
                <a:cs typeface="Menlo" panose="020B0609030804020204" pitchFamily="49" charset="0"/>
              </a:rPr>
              <a:t> } </a:t>
            </a:r>
          </a:p>
          <a:p>
            <a:r>
              <a:rPr lang="en-US" sz="1600" dirty="0">
                <a:latin typeface="Menlo" panose="020B0609030804020204" pitchFamily="49" charset="0"/>
                <a:ea typeface="Menlo" panose="020B0609030804020204" pitchFamily="49" charset="0"/>
                <a:cs typeface="Menlo" panose="020B0609030804020204" pitchFamily="49" charset="0"/>
              </a:rPr>
              <a:t>} </a:t>
            </a:r>
          </a:p>
        </p:txBody>
      </p:sp>
    </p:spTree>
    <p:extLst>
      <p:ext uri="{BB962C8B-B14F-4D97-AF65-F5344CB8AC3E}">
        <p14:creationId xmlns:p14="http://schemas.microsoft.com/office/powerpoint/2010/main" val="29566853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F3B5A-5433-244C-33C9-FF053D9BFFA5}"/>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389FA6AB-26D5-B1BF-212F-097D324D75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Slide Number Placeholder 11">
            <a:extLst>
              <a:ext uri="{FF2B5EF4-FFF2-40B4-BE49-F238E27FC236}">
                <a16:creationId xmlns:a16="http://schemas.microsoft.com/office/drawing/2014/main" id="{730A26C9-0CB7-FA04-00E7-70D362701508}"/>
              </a:ext>
            </a:extLst>
          </p:cNvPr>
          <p:cNvSpPr>
            <a:spLocks noGrp="1"/>
          </p:cNvSpPr>
          <p:nvPr>
            <p:ph type="sldNum" sz="quarter" idx="12"/>
          </p:nvPr>
        </p:nvSpPr>
        <p:spPr/>
        <p:txBody>
          <a:bodyPr/>
          <a:lstStyle/>
          <a:p>
            <a:fld id="{48F19E39-9933-F648-B2F3-3AC17C0DC986}" type="slidenum">
              <a:rPr lang="en-US" smtClean="0">
                <a:solidFill>
                  <a:schemeClr val="bg1"/>
                </a:solidFill>
              </a:rPr>
              <a:t>14</a:t>
            </a:fld>
            <a:r>
              <a:rPr lang="en-US" dirty="0">
                <a:solidFill>
                  <a:schemeClr val="bg1"/>
                </a:solidFill>
              </a:rPr>
              <a:t> / 17</a:t>
            </a:r>
          </a:p>
        </p:txBody>
      </p:sp>
      <p:sp>
        <p:nvSpPr>
          <p:cNvPr id="5" name="TextBox 4">
            <a:extLst>
              <a:ext uri="{FF2B5EF4-FFF2-40B4-BE49-F238E27FC236}">
                <a16:creationId xmlns:a16="http://schemas.microsoft.com/office/drawing/2014/main" id="{D71CA456-FAF7-9442-3D6A-0F99F2B00039}"/>
              </a:ext>
            </a:extLst>
          </p:cNvPr>
          <p:cNvSpPr txBox="1"/>
          <p:nvPr/>
        </p:nvSpPr>
        <p:spPr>
          <a:xfrm>
            <a:off x="596348" y="374273"/>
            <a:ext cx="11127823" cy="830997"/>
          </a:xfrm>
          <a:prstGeom prst="rect">
            <a:avLst/>
          </a:prstGeom>
          <a:noFill/>
        </p:spPr>
        <p:txBody>
          <a:bodyPr wrap="square" rtlCol="0">
            <a:spAutoFit/>
          </a:bodyPr>
          <a:lstStyle/>
          <a:p>
            <a:r>
              <a:rPr lang="en-US" sz="2800" b="1" dirty="0">
                <a:solidFill>
                  <a:srgbClr val="822334"/>
                </a:solidFill>
                <a:latin typeface="Inter" panose="02000503000000020004" pitchFamily="2" charset="0"/>
                <a:ea typeface="Inter" panose="02000503000000020004" pitchFamily="2" charset="0"/>
                <a:cs typeface="Inter" panose="02000503000000020004" pitchFamily="2" charset="0"/>
              </a:rPr>
              <a:t>VALIDATION &amp; RESULTS</a:t>
            </a:r>
            <a:endParaRPr lang="en-US" sz="2000" b="1" dirty="0">
              <a:solidFill>
                <a:srgbClr val="822334"/>
              </a:solidFill>
              <a:latin typeface="Inter" panose="02000503000000020004" pitchFamily="2" charset="0"/>
              <a:ea typeface="Inter" panose="02000503000000020004" pitchFamily="2" charset="0"/>
              <a:cs typeface="Inter" panose="02000503000000020004" pitchFamily="2" charset="0"/>
            </a:endParaRPr>
          </a:p>
          <a:p>
            <a:r>
              <a:rPr lang="en-US" sz="2000" dirty="0">
                <a:solidFill>
                  <a:schemeClr val="bg2">
                    <a:lumMod val="50000"/>
                  </a:schemeClr>
                </a:solidFill>
                <a:latin typeface="Inter" panose="02000503000000020004" pitchFamily="2" charset="0"/>
                <a:ea typeface="Inter" panose="02000503000000020004" pitchFamily="2" charset="0"/>
                <a:cs typeface="Inter" panose="02000503000000020004" pitchFamily="2" charset="0"/>
              </a:rPr>
              <a:t>End-to-end verification</a:t>
            </a:r>
          </a:p>
        </p:txBody>
      </p:sp>
      <p:sp>
        <p:nvSpPr>
          <p:cNvPr id="14" name="Footer Placeholder 10">
            <a:extLst>
              <a:ext uri="{FF2B5EF4-FFF2-40B4-BE49-F238E27FC236}">
                <a16:creationId xmlns:a16="http://schemas.microsoft.com/office/drawing/2014/main" id="{42F6BA2E-B419-1452-8139-F7DD5F3271CF}"/>
              </a:ext>
            </a:extLst>
          </p:cNvPr>
          <p:cNvSpPr>
            <a:spLocks noGrp="1"/>
          </p:cNvSpPr>
          <p:nvPr>
            <p:ph type="ftr" sz="quarter" idx="11"/>
          </p:nvPr>
        </p:nvSpPr>
        <p:spPr>
          <a:xfrm>
            <a:off x="4566534" y="6356350"/>
            <a:ext cx="3058931" cy="365125"/>
          </a:xfrm>
        </p:spPr>
        <p:txBody>
          <a:bodyPr/>
          <a:lstStyle/>
          <a:p>
            <a:r>
              <a:rPr lang="en-US" dirty="0" err="1">
                <a:solidFill>
                  <a:schemeClr val="bg1"/>
                </a:solidFill>
                <a:latin typeface="Inter" panose="02000503000000020004" pitchFamily="2" charset="0"/>
                <a:ea typeface="Inter" panose="02000503000000020004" pitchFamily="2" charset="0"/>
                <a:cs typeface="Inter" panose="02000503000000020004" pitchFamily="2" charset="0"/>
              </a:rPr>
              <a:t>Cineca</a:t>
            </a:r>
            <a:r>
              <a:rPr lang="en-US" dirty="0">
                <a:solidFill>
                  <a:schemeClr val="bg1"/>
                </a:solidFill>
                <a:latin typeface="Inter" panose="02000503000000020004" pitchFamily="2" charset="0"/>
                <a:ea typeface="Inter" panose="02000503000000020004" pitchFamily="2" charset="0"/>
                <a:cs typeface="Inter" panose="02000503000000020004" pitchFamily="2" charset="0"/>
              </a:rPr>
              <a:t> Agentic Platform – Arman Feili</a:t>
            </a:r>
          </a:p>
        </p:txBody>
      </p:sp>
      <p:pic>
        <p:nvPicPr>
          <p:cNvPr id="15" name="Picture 14">
            <a:extLst>
              <a:ext uri="{FF2B5EF4-FFF2-40B4-BE49-F238E27FC236}">
                <a16:creationId xmlns:a16="http://schemas.microsoft.com/office/drawing/2014/main" id="{C800A263-9A54-A5C9-90BD-7FB7202AA509}"/>
              </a:ext>
            </a:extLst>
          </p:cNvPr>
          <p:cNvPicPr>
            <a:picLocks noChangeAspect="1"/>
          </p:cNvPicPr>
          <p:nvPr/>
        </p:nvPicPr>
        <p:blipFill>
          <a:blip r:embed="rId3"/>
          <a:stretch>
            <a:fillRect/>
          </a:stretch>
        </p:blipFill>
        <p:spPr>
          <a:xfrm>
            <a:off x="321777" y="6315552"/>
            <a:ext cx="435345" cy="435345"/>
          </a:xfrm>
          <a:prstGeom prst="rect">
            <a:avLst/>
          </a:prstGeom>
        </p:spPr>
      </p:pic>
      <p:pic>
        <p:nvPicPr>
          <p:cNvPr id="16" name="Picture 15">
            <a:extLst>
              <a:ext uri="{FF2B5EF4-FFF2-40B4-BE49-F238E27FC236}">
                <a16:creationId xmlns:a16="http://schemas.microsoft.com/office/drawing/2014/main" id="{8E4F250B-6E32-1D2A-558C-2738D52AD97F}"/>
              </a:ext>
            </a:extLst>
          </p:cNvPr>
          <p:cNvPicPr>
            <a:picLocks noChangeAspect="1"/>
          </p:cNvPicPr>
          <p:nvPr/>
        </p:nvPicPr>
        <p:blipFill>
          <a:blip r:embed="rId4"/>
          <a:stretch>
            <a:fillRect/>
          </a:stretch>
        </p:blipFill>
        <p:spPr>
          <a:xfrm>
            <a:off x="866134" y="6362629"/>
            <a:ext cx="1093241" cy="365125"/>
          </a:xfrm>
          <a:prstGeom prst="rect">
            <a:avLst/>
          </a:prstGeom>
        </p:spPr>
      </p:pic>
      <p:sp>
        <p:nvSpPr>
          <p:cNvPr id="17" name="TextBox 16">
            <a:extLst>
              <a:ext uri="{FF2B5EF4-FFF2-40B4-BE49-F238E27FC236}">
                <a16:creationId xmlns:a16="http://schemas.microsoft.com/office/drawing/2014/main" id="{1CF3BCE5-499F-99A8-B12A-75F78B0EE2CA}"/>
              </a:ext>
            </a:extLst>
          </p:cNvPr>
          <p:cNvSpPr txBox="1"/>
          <p:nvPr/>
        </p:nvSpPr>
        <p:spPr>
          <a:xfrm>
            <a:off x="596347" y="1581293"/>
            <a:ext cx="11127823" cy="4555093"/>
          </a:xfrm>
          <a:prstGeom prst="rect">
            <a:avLst/>
          </a:prstGeom>
          <a:noFill/>
        </p:spPr>
        <p:txBody>
          <a:bodyPr wrap="square" rtlCol="0">
            <a:spAutoFit/>
          </a:bodyPr>
          <a:lstStyle/>
          <a:p>
            <a:r>
              <a:rPr lang="en-US" b="1" dirty="0">
                <a:latin typeface="Inter" panose="02000503000000020004" pitchFamily="2" charset="0"/>
                <a:ea typeface="Inter" panose="02000503000000020004" pitchFamily="2" charset="0"/>
                <a:cs typeface="Inter" panose="02000503000000020004" pitchFamily="2" charset="0"/>
              </a:rPr>
              <a:t>Validation Coverage</a:t>
            </a:r>
            <a:endParaRPr lang="en-US" dirty="0">
              <a:latin typeface="Inter" panose="02000503000000020004" pitchFamily="2" charset="0"/>
              <a:ea typeface="Inter" panose="02000503000000020004" pitchFamily="2" charset="0"/>
              <a:cs typeface="Inter" panose="02000503000000020004" pitchFamily="2" charset="0"/>
            </a:endParaRP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1,000+ automated tests	</a:t>
            </a:r>
            <a:r>
              <a:rPr lang="en-US" sz="1600" dirty="0">
                <a:latin typeface="Inter" panose="02000503000000020004" pitchFamily="2" charset="0"/>
                <a:ea typeface="Inter" panose="02000503000000020004" pitchFamily="2" charset="0"/>
                <a:cs typeface="Inter" panose="02000503000000020004" pitchFamily="2" charset="0"/>
              </a:rPr>
              <a:t>→ for core logic, API routes, jobs, RBAC, tenancy, and orchestration</a:t>
            </a: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Security checks tested	</a:t>
            </a:r>
            <a:r>
              <a:rPr lang="en-US" sz="1600" dirty="0">
                <a:latin typeface="Inter" panose="02000503000000020004" pitchFamily="2" charset="0"/>
                <a:ea typeface="Inter" panose="02000503000000020004" pitchFamily="2" charset="0"/>
                <a:cs typeface="Inter" panose="02000503000000020004" pitchFamily="2" charset="0"/>
              </a:rPr>
              <a:t>→</a:t>
            </a:r>
            <a:r>
              <a:rPr lang="en-US" sz="1600" b="1" dirty="0">
                <a:latin typeface="Inter" panose="02000503000000020004" pitchFamily="2" charset="0"/>
                <a:ea typeface="Inter" panose="02000503000000020004" pitchFamily="2" charset="0"/>
                <a:cs typeface="Inter" panose="02000503000000020004" pitchFamily="2" charset="0"/>
              </a:rPr>
              <a:t> </a:t>
            </a:r>
            <a:r>
              <a:rPr lang="en-US" sz="1600" dirty="0">
                <a:latin typeface="Inter" panose="02000503000000020004" pitchFamily="2" charset="0"/>
                <a:ea typeface="Inter" panose="02000503000000020004" pitchFamily="2" charset="0"/>
                <a:cs typeface="Inter" panose="02000503000000020004" pitchFamily="2" charset="0"/>
              </a:rPr>
              <a:t>read-only enforcement, tenant isolation, RBAC, unsafe query blocking</a:t>
            </a: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Async execution tested	</a:t>
            </a:r>
            <a:r>
              <a:rPr lang="en-US" sz="1600" dirty="0">
                <a:latin typeface="Inter" panose="02000503000000020004" pitchFamily="2" charset="0"/>
                <a:ea typeface="Inter" panose="02000503000000020004" pitchFamily="2" charset="0"/>
                <a:cs typeface="Inter" panose="02000503000000020004" pitchFamily="2" charset="0"/>
              </a:rPr>
              <a:t>→ job creation, streaming, cancellation, retries, and final status persistence</a:t>
            </a:r>
            <a:endParaRPr lang="en-US" sz="1600" b="1" dirty="0">
              <a:latin typeface="Inter" panose="02000503000000020004" pitchFamily="2" charset="0"/>
              <a:ea typeface="Inter" panose="02000503000000020004" pitchFamily="2" charset="0"/>
              <a:cs typeface="Inter" panose="02000503000000020004" pitchFamily="2" charset="0"/>
            </a:endParaRPr>
          </a:p>
          <a:p>
            <a:pPr marL="285750" indent="-285750">
              <a:buFont typeface="Arial" panose="020B0604020202020204" pitchFamily="34" charset="0"/>
              <a:buChar char="•"/>
            </a:pPr>
            <a:endParaRPr lang="en-US" sz="1600" dirty="0">
              <a:latin typeface="Inter" panose="02000503000000020004" pitchFamily="2" charset="0"/>
              <a:ea typeface="Inter" panose="02000503000000020004" pitchFamily="2" charset="0"/>
              <a:cs typeface="Inter" panose="02000503000000020004" pitchFamily="2" charset="0"/>
            </a:endParaRPr>
          </a:p>
          <a:p>
            <a:r>
              <a:rPr lang="en-US" b="1" dirty="0">
                <a:latin typeface="Inter" panose="02000503000000020004" pitchFamily="2" charset="0"/>
                <a:ea typeface="Inter" panose="02000503000000020004" pitchFamily="2" charset="0"/>
                <a:cs typeface="Inter" panose="02000503000000020004" pitchFamily="2" charset="0"/>
              </a:rPr>
              <a:t>Full </a:t>
            </a:r>
            <a:r>
              <a:rPr lang="en-US" b="1" dirty="0" err="1">
                <a:latin typeface="Inter" panose="02000503000000020004" pitchFamily="2" charset="0"/>
                <a:ea typeface="Inter" panose="02000503000000020004" pitchFamily="2" charset="0"/>
                <a:cs typeface="Inter" panose="02000503000000020004" pitchFamily="2" charset="0"/>
              </a:rPr>
              <a:t>NL→Cypher</a:t>
            </a:r>
            <a:r>
              <a:rPr lang="en-US" b="1" dirty="0">
                <a:latin typeface="Inter" panose="02000503000000020004" pitchFamily="2" charset="0"/>
                <a:ea typeface="Inter" panose="02000503000000020004" pitchFamily="2" charset="0"/>
                <a:cs typeface="Inter" panose="02000503000000020004" pitchFamily="2" charset="0"/>
              </a:rPr>
              <a:t> path verified: </a:t>
            </a: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Natural language → GRAPH intent → Cypher → validation → </a:t>
            </a:r>
            <a:r>
              <a:rPr lang="en-US" sz="1600" dirty="0" err="1">
                <a:latin typeface="Inter" panose="02000503000000020004" pitchFamily="2" charset="0"/>
                <a:ea typeface="Inter" panose="02000503000000020004" pitchFamily="2" charset="0"/>
                <a:cs typeface="Inter" panose="02000503000000020004" pitchFamily="2" charset="0"/>
              </a:rPr>
              <a:t>Memgraph</a:t>
            </a:r>
            <a:r>
              <a:rPr lang="en-US" sz="1600" dirty="0">
                <a:latin typeface="Inter" panose="02000503000000020004" pitchFamily="2" charset="0"/>
                <a:ea typeface="Inter" panose="02000503000000020004" pitchFamily="2" charset="0"/>
                <a:cs typeface="Inter" panose="02000503000000020004" pitchFamily="2" charset="0"/>
              </a:rPr>
              <a:t> Execution → final answer</a:t>
            </a:r>
          </a:p>
          <a:p>
            <a:endParaRPr lang="en-US" sz="1600" b="1" dirty="0">
              <a:latin typeface="Inter" panose="02000503000000020004" pitchFamily="2" charset="0"/>
              <a:ea typeface="Inter" panose="02000503000000020004" pitchFamily="2" charset="0"/>
              <a:cs typeface="Inter" panose="02000503000000020004" pitchFamily="2" charset="0"/>
            </a:endParaRPr>
          </a:p>
          <a:p>
            <a:r>
              <a:rPr lang="en-US" b="1" dirty="0">
                <a:latin typeface="Inter" panose="02000503000000020004" pitchFamily="2" charset="0"/>
                <a:ea typeface="Inter" panose="02000503000000020004" pitchFamily="2" charset="0"/>
                <a:cs typeface="Inter" panose="02000503000000020004" pitchFamily="2" charset="0"/>
              </a:rPr>
              <a:t>Real Example:</a:t>
            </a:r>
          </a:p>
          <a:p>
            <a:pPr lvl="1"/>
            <a:r>
              <a:rPr lang="en-US" sz="1400" b="1" dirty="0">
                <a:latin typeface="Menlo" panose="020B0609030804020204" pitchFamily="49" charset="0"/>
                <a:ea typeface="Menlo" panose="020B0609030804020204" pitchFamily="49" charset="0"/>
                <a:cs typeface="Menlo" panose="020B0609030804020204" pitchFamily="49" charset="0"/>
              </a:rPr>
              <a:t>User Request:</a:t>
            </a:r>
          </a:p>
          <a:p>
            <a:pPr lvl="1"/>
            <a:r>
              <a:rPr lang="en-US" sz="1400" b="0" dirty="0">
                <a:solidFill>
                  <a:srgbClr val="A31515"/>
                </a:solidFill>
                <a:effectLst/>
                <a:latin typeface="Menlo" panose="020B0609030804020204" pitchFamily="49" charset="0"/>
                <a:ea typeface="Menlo" panose="020B0609030804020204" pitchFamily="49" charset="0"/>
                <a:cs typeface="Menlo" panose="020B0609030804020204" pitchFamily="49" charset="0"/>
              </a:rPr>
              <a:t>"Count Blast nodes grouped by presence of </a:t>
            </a:r>
            <a:r>
              <a:rPr lang="en-US" sz="1400" b="0" dirty="0" err="1">
                <a:solidFill>
                  <a:srgbClr val="A31515"/>
                </a:solidFill>
                <a:effectLst/>
                <a:latin typeface="Menlo" panose="020B0609030804020204" pitchFamily="49" charset="0"/>
                <a:ea typeface="Menlo" panose="020B0609030804020204" pitchFamily="49" charset="0"/>
                <a:cs typeface="Menlo" panose="020B0609030804020204" pitchFamily="49" charset="0"/>
              </a:rPr>
              <a:t>blast_version</a:t>
            </a:r>
            <a:r>
              <a:rPr lang="en-US" sz="1400" b="0" dirty="0">
                <a:solidFill>
                  <a:srgbClr val="A31515"/>
                </a:solidFill>
                <a:effectLst/>
                <a:latin typeface="Menlo" panose="020B0609030804020204" pitchFamily="49" charset="0"/>
                <a:ea typeface="Menlo" panose="020B0609030804020204" pitchFamily="49" charset="0"/>
                <a:cs typeface="Menlo" panose="020B0609030804020204" pitchFamily="49" charset="0"/>
              </a:rPr>
              <a:t>"</a:t>
            </a:r>
            <a:endParaRPr lang="en-US" sz="1400" dirty="0">
              <a:solidFill>
                <a:srgbClr val="A31515"/>
              </a:solidFill>
              <a:latin typeface="Menlo" panose="020B0609030804020204" pitchFamily="49" charset="0"/>
              <a:ea typeface="Menlo" panose="020B0609030804020204" pitchFamily="49" charset="0"/>
              <a:cs typeface="Menlo" panose="020B0609030804020204" pitchFamily="49" charset="0"/>
            </a:endParaRPr>
          </a:p>
          <a:p>
            <a:pPr lvl="1"/>
            <a:endParaRPr lang="en-US" sz="1400" dirty="0">
              <a:solidFill>
                <a:srgbClr val="098658"/>
              </a:solidFill>
              <a:latin typeface="Menlo" panose="020B0609030804020204" pitchFamily="49" charset="0"/>
              <a:ea typeface="Menlo" panose="020B0609030804020204" pitchFamily="49" charset="0"/>
              <a:cs typeface="Menlo" panose="020B0609030804020204" pitchFamily="49" charset="0"/>
            </a:endParaRPr>
          </a:p>
          <a:p>
            <a:pPr lvl="1"/>
            <a:r>
              <a:rPr lang="en-US" sz="1400" dirty="0">
                <a:solidFill>
                  <a:srgbClr val="098658"/>
                </a:solidFill>
                <a:latin typeface="Menlo" panose="020B0609030804020204" pitchFamily="49" charset="0"/>
                <a:ea typeface="Menlo" panose="020B0609030804020204" pitchFamily="49" charset="0"/>
                <a:cs typeface="Menlo" panose="020B0609030804020204" pitchFamily="49" charset="0"/>
              </a:rPr>
              <a:t>1</a:t>
            </a:r>
            <a:r>
              <a:rPr lang="en-US" sz="1400" b="0" dirty="0">
                <a:solidFill>
                  <a:srgbClr val="000000"/>
                </a:solidFill>
                <a:effectLst/>
                <a:latin typeface="Menlo" panose="020B0609030804020204" pitchFamily="49" charset="0"/>
                <a:ea typeface="Menlo" panose="020B0609030804020204" pitchFamily="49" charset="0"/>
                <a:cs typeface="Menlo" panose="020B0609030804020204" pitchFamily="49" charset="0"/>
              </a:rPr>
              <a:t>. </a:t>
            </a:r>
            <a:r>
              <a:rPr lang="en-US" sz="1400" b="1" dirty="0">
                <a:latin typeface="Menlo" panose="020B0609030804020204" pitchFamily="49" charset="0"/>
                <a:ea typeface="Menlo" panose="020B0609030804020204" pitchFamily="49" charset="0"/>
                <a:cs typeface="Menlo" panose="020B0609030804020204" pitchFamily="49" charset="0"/>
              </a:rPr>
              <a:t>Intent Classification</a:t>
            </a:r>
            <a:r>
              <a:rPr lang="en-US" sz="1400" dirty="0">
                <a:latin typeface="Menlo" panose="020B0609030804020204" pitchFamily="49" charset="0"/>
                <a:ea typeface="Menlo" panose="020B0609030804020204" pitchFamily="49" charset="0"/>
                <a:cs typeface="Menlo" panose="020B0609030804020204" pitchFamily="49" charset="0"/>
              </a:rPr>
              <a:t> → GRAPH</a:t>
            </a:r>
            <a:endParaRPr lang="en-US" sz="1400" b="0" dirty="0">
              <a:solidFill>
                <a:srgbClr val="000000"/>
              </a:solidFill>
              <a:effectLst/>
              <a:latin typeface="Menlo" panose="020B0609030804020204" pitchFamily="49" charset="0"/>
              <a:ea typeface="Menlo" panose="020B0609030804020204" pitchFamily="49" charset="0"/>
              <a:cs typeface="Menlo" panose="020B0609030804020204" pitchFamily="49" charset="0"/>
            </a:endParaRPr>
          </a:p>
          <a:p>
            <a:pPr lvl="1"/>
            <a:r>
              <a:rPr lang="en-US" sz="1400" dirty="0">
                <a:solidFill>
                  <a:srgbClr val="098658"/>
                </a:solidFill>
                <a:latin typeface="Menlo" panose="020B0609030804020204" pitchFamily="49" charset="0"/>
                <a:ea typeface="Menlo" panose="020B0609030804020204" pitchFamily="49" charset="0"/>
                <a:cs typeface="Menlo" panose="020B0609030804020204" pitchFamily="49" charset="0"/>
              </a:rPr>
              <a:t>2</a:t>
            </a:r>
            <a:r>
              <a:rPr lang="en-US" sz="1400" b="0" dirty="0">
                <a:solidFill>
                  <a:srgbClr val="000000"/>
                </a:solidFill>
                <a:effectLst/>
                <a:latin typeface="Menlo" panose="020B0609030804020204" pitchFamily="49" charset="0"/>
                <a:ea typeface="Menlo" panose="020B0609030804020204" pitchFamily="49" charset="0"/>
                <a:cs typeface="Menlo" panose="020B0609030804020204" pitchFamily="49" charset="0"/>
              </a:rPr>
              <a:t>. </a:t>
            </a:r>
            <a:r>
              <a:rPr lang="en-US" sz="1400" b="1" dirty="0">
                <a:latin typeface="Menlo" panose="020B0609030804020204" pitchFamily="49" charset="0"/>
                <a:ea typeface="Menlo" panose="020B0609030804020204" pitchFamily="49" charset="0"/>
                <a:cs typeface="Menlo" panose="020B0609030804020204" pitchFamily="49" charset="0"/>
              </a:rPr>
              <a:t>Cypher Generation</a:t>
            </a:r>
            <a:r>
              <a:rPr lang="en-US" sz="1400" dirty="0">
                <a:latin typeface="Menlo" panose="020B0609030804020204" pitchFamily="49" charset="0"/>
                <a:ea typeface="Menlo" panose="020B0609030804020204" pitchFamily="49" charset="0"/>
                <a:cs typeface="Menlo" panose="020B0609030804020204" pitchFamily="49" charset="0"/>
              </a:rPr>
              <a:t> → read-only query created:</a:t>
            </a:r>
            <a:endParaRPr lang="en-US" sz="1400" b="0" dirty="0">
              <a:solidFill>
                <a:srgbClr val="000000"/>
              </a:solidFill>
              <a:effectLst/>
              <a:latin typeface="Menlo" panose="020B0609030804020204" pitchFamily="49" charset="0"/>
              <a:ea typeface="Menlo" panose="020B0609030804020204" pitchFamily="49" charset="0"/>
              <a:cs typeface="Menlo" panose="020B0609030804020204" pitchFamily="49" charset="0"/>
            </a:endParaRPr>
          </a:p>
          <a:p>
            <a:pPr lvl="2"/>
            <a:r>
              <a:rPr lang="en-US" sz="1400" b="0" dirty="0">
                <a:solidFill>
                  <a:srgbClr val="008000"/>
                </a:solidFill>
                <a:effectLst/>
                <a:latin typeface="Menlo" panose="020B0609030804020204" pitchFamily="49" charset="0"/>
                <a:ea typeface="Menlo" panose="020B0609030804020204" pitchFamily="49" charset="0"/>
                <a:cs typeface="Menlo" panose="020B0609030804020204" pitchFamily="49" charset="0"/>
              </a:rPr>
              <a:t>MATCH (</a:t>
            </a:r>
            <a:r>
              <a:rPr lang="en-US" sz="1400" b="0" dirty="0" err="1">
                <a:solidFill>
                  <a:srgbClr val="008000"/>
                </a:solidFill>
                <a:effectLst/>
                <a:latin typeface="Menlo" panose="020B0609030804020204" pitchFamily="49" charset="0"/>
                <a:ea typeface="Menlo" panose="020B0609030804020204" pitchFamily="49" charset="0"/>
                <a:cs typeface="Menlo" panose="020B0609030804020204" pitchFamily="49" charset="0"/>
              </a:rPr>
              <a:t>b:Blast</a:t>
            </a:r>
            <a:r>
              <a:rPr lang="en-US" sz="1400" b="0" dirty="0">
                <a:solidFill>
                  <a:srgbClr val="008000"/>
                </a:solidFill>
                <a:effectLst/>
                <a:latin typeface="Menlo" panose="020B0609030804020204" pitchFamily="49" charset="0"/>
                <a:ea typeface="Menlo" panose="020B0609030804020204" pitchFamily="49" charset="0"/>
                <a:cs typeface="Menlo" panose="020B0609030804020204" pitchFamily="49" charset="0"/>
              </a:rPr>
              <a:t>) RETURN </a:t>
            </a:r>
            <a:r>
              <a:rPr lang="en-US" sz="1400" b="0" dirty="0" err="1">
                <a:solidFill>
                  <a:srgbClr val="008000"/>
                </a:solidFill>
                <a:effectLst/>
                <a:latin typeface="Menlo" panose="020B0609030804020204" pitchFamily="49" charset="0"/>
                <a:ea typeface="Menlo" panose="020B0609030804020204" pitchFamily="49" charset="0"/>
                <a:cs typeface="Menlo" panose="020B0609030804020204" pitchFamily="49" charset="0"/>
              </a:rPr>
              <a:t>b.blast_version</a:t>
            </a:r>
            <a:r>
              <a:rPr lang="en-US" sz="1400" b="0" dirty="0">
                <a:solidFill>
                  <a:srgbClr val="008000"/>
                </a:solidFill>
                <a:effectLst/>
                <a:latin typeface="Menlo" panose="020B0609030804020204" pitchFamily="49" charset="0"/>
                <a:ea typeface="Menlo" panose="020B0609030804020204" pitchFamily="49" charset="0"/>
                <a:cs typeface="Menlo" panose="020B0609030804020204" pitchFamily="49" charset="0"/>
              </a:rPr>
              <a:t> IS NOT NULL AS </a:t>
            </a:r>
            <a:r>
              <a:rPr lang="en-US" sz="1400" b="0" dirty="0" err="1">
                <a:solidFill>
                  <a:srgbClr val="008000"/>
                </a:solidFill>
                <a:effectLst/>
                <a:latin typeface="Menlo" panose="020B0609030804020204" pitchFamily="49" charset="0"/>
                <a:ea typeface="Menlo" panose="020B0609030804020204" pitchFamily="49" charset="0"/>
                <a:cs typeface="Menlo" panose="020B0609030804020204" pitchFamily="49" charset="0"/>
              </a:rPr>
              <a:t>has_blast_version</a:t>
            </a:r>
            <a:r>
              <a:rPr lang="en-US" sz="1400" b="0" dirty="0">
                <a:solidFill>
                  <a:srgbClr val="008000"/>
                </a:solidFill>
                <a:effectLst/>
                <a:latin typeface="Menlo" panose="020B0609030804020204" pitchFamily="49" charset="0"/>
                <a:ea typeface="Menlo" panose="020B0609030804020204" pitchFamily="49" charset="0"/>
                <a:cs typeface="Menlo" panose="020B0609030804020204" pitchFamily="49" charset="0"/>
              </a:rPr>
              <a:t>, </a:t>
            </a:r>
          </a:p>
          <a:p>
            <a:pPr lvl="2"/>
            <a:r>
              <a:rPr lang="en-US" sz="1400" b="0" dirty="0">
                <a:solidFill>
                  <a:srgbClr val="008000"/>
                </a:solidFill>
                <a:effectLst/>
                <a:latin typeface="Menlo" panose="020B0609030804020204" pitchFamily="49" charset="0"/>
                <a:ea typeface="Menlo" panose="020B0609030804020204" pitchFamily="49" charset="0"/>
                <a:cs typeface="Menlo" panose="020B0609030804020204" pitchFamily="49" charset="0"/>
              </a:rPr>
              <a:t>count(b) AS count ORDER BY </a:t>
            </a:r>
            <a:r>
              <a:rPr lang="en-US" sz="1400" b="0" dirty="0" err="1">
                <a:solidFill>
                  <a:srgbClr val="008000"/>
                </a:solidFill>
                <a:effectLst/>
                <a:latin typeface="Menlo" panose="020B0609030804020204" pitchFamily="49" charset="0"/>
                <a:ea typeface="Menlo" panose="020B0609030804020204" pitchFamily="49" charset="0"/>
                <a:cs typeface="Menlo" panose="020B0609030804020204" pitchFamily="49" charset="0"/>
              </a:rPr>
              <a:t>has_blast_v</a:t>
            </a:r>
            <a:r>
              <a:rPr lang="en-US" sz="1400" b="0" dirty="0" err="1">
                <a:solidFill>
                  <a:srgbClr val="008001"/>
                </a:solidFill>
                <a:effectLst/>
                <a:latin typeface="Menlo" panose="020B0609030804020204" pitchFamily="49" charset="0"/>
                <a:ea typeface="Menlo" panose="020B0609030804020204" pitchFamily="49" charset="0"/>
                <a:cs typeface="Menlo" panose="020B0609030804020204" pitchFamily="49" charset="0"/>
              </a:rPr>
              <a:t>e</a:t>
            </a:r>
            <a:r>
              <a:rPr lang="en-US" sz="1400" b="0" dirty="0" err="1">
                <a:solidFill>
                  <a:srgbClr val="008000"/>
                </a:solidFill>
                <a:effectLst/>
                <a:latin typeface="Menlo" panose="020B0609030804020204" pitchFamily="49" charset="0"/>
                <a:ea typeface="Menlo" panose="020B0609030804020204" pitchFamily="49" charset="0"/>
                <a:cs typeface="Menlo" panose="020B0609030804020204" pitchFamily="49" charset="0"/>
              </a:rPr>
              <a:t>rsion</a:t>
            </a:r>
            <a:r>
              <a:rPr lang="en-US" sz="1400" b="0" dirty="0">
                <a:solidFill>
                  <a:srgbClr val="008000"/>
                </a:solidFill>
                <a:effectLst/>
                <a:latin typeface="Menlo" panose="020B0609030804020204" pitchFamily="49" charset="0"/>
                <a:ea typeface="Menlo" panose="020B0609030804020204" pitchFamily="49" charset="0"/>
                <a:cs typeface="Menlo" panose="020B0609030804020204" pitchFamily="49" charset="0"/>
              </a:rPr>
              <a:t> DESC</a:t>
            </a:r>
            <a:endParaRPr lang="en-US" sz="1400" b="0" dirty="0">
              <a:solidFill>
                <a:srgbClr val="000000"/>
              </a:solidFill>
              <a:effectLst/>
              <a:latin typeface="Menlo" panose="020B0609030804020204" pitchFamily="49" charset="0"/>
              <a:ea typeface="Menlo" panose="020B0609030804020204" pitchFamily="49" charset="0"/>
              <a:cs typeface="Menlo" panose="020B0609030804020204" pitchFamily="49" charset="0"/>
            </a:endParaRPr>
          </a:p>
          <a:p>
            <a:pPr lvl="1"/>
            <a:r>
              <a:rPr lang="en-US" sz="1400" dirty="0">
                <a:solidFill>
                  <a:srgbClr val="098658"/>
                </a:solidFill>
                <a:latin typeface="Menlo" panose="020B0609030804020204" pitchFamily="49" charset="0"/>
                <a:ea typeface="Menlo" panose="020B0609030804020204" pitchFamily="49" charset="0"/>
                <a:cs typeface="Menlo" panose="020B0609030804020204" pitchFamily="49" charset="0"/>
              </a:rPr>
              <a:t>3</a:t>
            </a:r>
            <a:r>
              <a:rPr lang="en-US" sz="1400" b="0" dirty="0">
                <a:solidFill>
                  <a:srgbClr val="000000"/>
                </a:solidFill>
                <a:effectLst/>
                <a:latin typeface="Menlo" panose="020B0609030804020204" pitchFamily="49" charset="0"/>
                <a:ea typeface="Menlo" panose="020B0609030804020204" pitchFamily="49" charset="0"/>
                <a:cs typeface="Menlo" panose="020B0609030804020204" pitchFamily="49" charset="0"/>
              </a:rPr>
              <a:t>. </a:t>
            </a:r>
            <a:r>
              <a:rPr lang="en-US" sz="1400" b="1" dirty="0">
                <a:latin typeface="Menlo" panose="020B0609030804020204" pitchFamily="49" charset="0"/>
                <a:ea typeface="Menlo" panose="020B0609030804020204" pitchFamily="49" charset="0"/>
                <a:cs typeface="Menlo" panose="020B0609030804020204" pitchFamily="49" charset="0"/>
              </a:rPr>
              <a:t>Safety Validation</a:t>
            </a:r>
            <a:r>
              <a:rPr lang="en-US" sz="1400" dirty="0">
                <a:latin typeface="Menlo" panose="020B0609030804020204" pitchFamily="49" charset="0"/>
                <a:ea typeface="Menlo" panose="020B0609030804020204" pitchFamily="49" charset="0"/>
                <a:cs typeface="Menlo" panose="020B0609030804020204" pitchFamily="49" charset="0"/>
              </a:rPr>
              <a:t> → </a:t>
            </a:r>
            <a:r>
              <a:rPr lang="en-US" sz="1400" dirty="0">
                <a:solidFill>
                  <a:srgbClr val="008001"/>
                </a:solidFill>
                <a:latin typeface="Menlo" panose="020B0609030804020204" pitchFamily="49" charset="0"/>
                <a:ea typeface="Menlo" panose="020B0609030804020204" pitchFamily="49" charset="0"/>
                <a:cs typeface="Menlo" panose="020B0609030804020204" pitchFamily="49" charset="0"/>
              </a:rPr>
              <a:t>✓</a:t>
            </a:r>
            <a:r>
              <a:rPr lang="en-US" sz="1400" dirty="0">
                <a:latin typeface="Menlo" panose="020B0609030804020204" pitchFamily="49" charset="0"/>
                <a:ea typeface="Menlo" panose="020B0609030804020204" pitchFamily="49" charset="0"/>
                <a:cs typeface="Menlo" panose="020B0609030804020204" pitchFamily="49" charset="0"/>
              </a:rPr>
              <a:t> Safety Validate → </a:t>
            </a:r>
            <a:r>
              <a:rPr lang="en-US" sz="1400" dirty="0">
                <a:solidFill>
                  <a:srgbClr val="008001"/>
                </a:solidFill>
                <a:latin typeface="Menlo" panose="020B0609030804020204" pitchFamily="49" charset="0"/>
                <a:ea typeface="Menlo" panose="020B0609030804020204" pitchFamily="49" charset="0"/>
                <a:cs typeface="Menlo" panose="020B0609030804020204" pitchFamily="49" charset="0"/>
              </a:rPr>
              <a:t>✓</a:t>
            </a:r>
            <a:r>
              <a:rPr lang="en-US" sz="1400" dirty="0">
                <a:latin typeface="Menlo" panose="020B0609030804020204" pitchFamily="49" charset="0"/>
                <a:ea typeface="Menlo" panose="020B0609030804020204" pitchFamily="49" charset="0"/>
                <a:cs typeface="Menlo" panose="020B0609030804020204" pitchFamily="49" charset="0"/>
              </a:rPr>
              <a:t> Read-only </a:t>
            </a:r>
            <a:r>
              <a:rPr lang="en-US" sz="1400" dirty="0">
                <a:solidFill>
                  <a:srgbClr val="008001"/>
                </a:solidFill>
                <a:latin typeface="Menlo" panose="020B0609030804020204" pitchFamily="49" charset="0"/>
                <a:ea typeface="Menlo" panose="020B0609030804020204" pitchFamily="49" charset="0"/>
                <a:cs typeface="Menlo" panose="020B0609030804020204" pitchFamily="49" charset="0"/>
              </a:rPr>
              <a:t>✓</a:t>
            </a:r>
            <a:r>
              <a:rPr lang="en-US" sz="1400" dirty="0">
                <a:latin typeface="Menlo" panose="020B0609030804020204" pitchFamily="49" charset="0"/>
                <a:ea typeface="Menlo" panose="020B0609030804020204" pitchFamily="49" charset="0"/>
                <a:cs typeface="Menlo" panose="020B0609030804020204" pitchFamily="49" charset="0"/>
              </a:rPr>
              <a:t> Tenant-safe</a:t>
            </a:r>
            <a:r>
              <a:rPr lang="en-US" sz="1400" dirty="0">
                <a:solidFill>
                  <a:srgbClr val="008001"/>
                </a:solidFill>
                <a:latin typeface="Menlo" panose="020B0609030804020204" pitchFamily="49" charset="0"/>
                <a:ea typeface="Menlo" panose="020B0609030804020204" pitchFamily="49" charset="0"/>
                <a:cs typeface="Menlo" panose="020B0609030804020204" pitchFamily="49" charset="0"/>
              </a:rPr>
              <a:t> ✓</a:t>
            </a:r>
            <a:r>
              <a:rPr lang="en-US" sz="1400" dirty="0">
                <a:latin typeface="Menlo" panose="020B0609030804020204" pitchFamily="49" charset="0"/>
                <a:ea typeface="Menlo" panose="020B0609030804020204" pitchFamily="49" charset="0"/>
                <a:cs typeface="Menlo" panose="020B0609030804020204" pitchFamily="49" charset="0"/>
              </a:rPr>
              <a:t> RBAC </a:t>
            </a:r>
            <a:r>
              <a:rPr lang="en-US" sz="1400" dirty="0">
                <a:solidFill>
                  <a:srgbClr val="008001"/>
                </a:solidFill>
                <a:latin typeface="Menlo" panose="020B0609030804020204" pitchFamily="49" charset="0"/>
                <a:ea typeface="Menlo" panose="020B0609030804020204" pitchFamily="49" charset="0"/>
                <a:cs typeface="Menlo" panose="020B0609030804020204" pitchFamily="49" charset="0"/>
              </a:rPr>
              <a:t>✓</a:t>
            </a:r>
            <a:r>
              <a:rPr lang="en-US" sz="1400" dirty="0">
                <a:latin typeface="Menlo" panose="020B0609030804020204" pitchFamily="49" charset="0"/>
                <a:ea typeface="Menlo" panose="020B0609030804020204" pitchFamily="49" charset="0"/>
                <a:cs typeface="Menlo" panose="020B0609030804020204" pitchFamily="49" charset="0"/>
              </a:rPr>
              <a:t> Timeout-protected</a:t>
            </a:r>
            <a:endParaRPr lang="en-US" sz="1400" b="0" dirty="0">
              <a:solidFill>
                <a:srgbClr val="000000"/>
              </a:solidFill>
              <a:effectLst/>
              <a:latin typeface="Menlo" panose="020B0609030804020204" pitchFamily="49" charset="0"/>
              <a:ea typeface="Menlo" panose="020B0609030804020204" pitchFamily="49" charset="0"/>
              <a:cs typeface="Menlo" panose="020B0609030804020204" pitchFamily="49" charset="0"/>
            </a:endParaRPr>
          </a:p>
          <a:p>
            <a:pPr lvl="1"/>
            <a:r>
              <a:rPr lang="en-US" sz="1400" dirty="0">
                <a:solidFill>
                  <a:srgbClr val="098658"/>
                </a:solidFill>
                <a:latin typeface="Menlo" panose="020B0609030804020204" pitchFamily="49" charset="0"/>
                <a:ea typeface="Menlo" panose="020B0609030804020204" pitchFamily="49" charset="0"/>
                <a:cs typeface="Menlo" panose="020B0609030804020204" pitchFamily="49" charset="0"/>
              </a:rPr>
              <a:t>4</a:t>
            </a:r>
            <a:r>
              <a:rPr lang="en-US" sz="1400" b="0" dirty="0">
                <a:solidFill>
                  <a:srgbClr val="000000"/>
                </a:solidFill>
                <a:effectLst/>
                <a:latin typeface="Menlo" panose="020B0609030804020204" pitchFamily="49" charset="0"/>
                <a:ea typeface="Menlo" panose="020B0609030804020204" pitchFamily="49" charset="0"/>
                <a:cs typeface="Menlo" panose="020B0609030804020204" pitchFamily="49" charset="0"/>
              </a:rPr>
              <a:t>. </a:t>
            </a:r>
            <a:r>
              <a:rPr lang="en-US" sz="1400" b="1" dirty="0" err="1">
                <a:latin typeface="Menlo" panose="020B0609030804020204" pitchFamily="49" charset="0"/>
                <a:ea typeface="Menlo" panose="020B0609030804020204" pitchFamily="49" charset="0"/>
                <a:cs typeface="Menlo" panose="020B0609030804020204" pitchFamily="49" charset="0"/>
              </a:rPr>
              <a:t>Memgraph</a:t>
            </a:r>
            <a:r>
              <a:rPr lang="en-US" sz="1400" b="1" dirty="0">
                <a:latin typeface="Menlo" panose="020B0609030804020204" pitchFamily="49" charset="0"/>
                <a:ea typeface="Menlo" panose="020B0609030804020204" pitchFamily="49" charset="0"/>
                <a:cs typeface="Menlo" panose="020B0609030804020204" pitchFamily="49" charset="0"/>
              </a:rPr>
              <a:t> Execution</a:t>
            </a:r>
            <a:r>
              <a:rPr lang="en-US" sz="1400" dirty="0">
                <a:latin typeface="Menlo" panose="020B0609030804020204" pitchFamily="49" charset="0"/>
                <a:ea typeface="Menlo" panose="020B0609030804020204" pitchFamily="49" charset="0"/>
                <a:cs typeface="Menlo" panose="020B0609030804020204" pitchFamily="49" charset="0"/>
              </a:rPr>
              <a:t> → returns 1 grouped row</a:t>
            </a:r>
            <a:endParaRPr lang="en-US" sz="1400" b="0" dirty="0">
              <a:solidFill>
                <a:srgbClr val="000000"/>
              </a:solidFill>
              <a:effectLst/>
              <a:latin typeface="Menlo" panose="020B0609030804020204" pitchFamily="49" charset="0"/>
              <a:ea typeface="Menlo" panose="020B0609030804020204" pitchFamily="49" charset="0"/>
              <a:cs typeface="Menlo" panose="020B0609030804020204" pitchFamily="49" charset="0"/>
            </a:endParaRPr>
          </a:p>
          <a:p>
            <a:pPr lvl="1"/>
            <a:r>
              <a:rPr lang="en-US" sz="1400" dirty="0">
                <a:solidFill>
                  <a:srgbClr val="098658"/>
                </a:solidFill>
                <a:latin typeface="Menlo" panose="020B0609030804020204" pitchFamily="49" charset="0"/>
                <a:ea typeface="Menlo" panose="020B0609030804020204" pitchFamily="49" charset="0"/>
                <a:cs typeface="Menlo" panose="020B0609030804020204" pitchFamily="49" charset="0"/>
              </a:rPr>
              <a:t>5</a:t>
            </a:r>
            <a:r>
              <a:rPr lang="en-US" sz="1400" b="0" dirty="0">
                <a:solidFill>
                  <a:srgbClr val="000000"/>
                </a:solidFill>
                <a:effectLst/>
                <a:latin typeface="Menlo" panose="020B0609030804020204" pitchFamily="49" charset="0"/>
                <a:ea typeface="Menlo" panose="020B0609030804020204" pitchFamily="49" charset="0"/>
                <a:cs typeface="Menlo" panose="020B0609030804020204" pitchFamily="49" charset="0"/>
              </a:rPr>
              <a:t>. </a:t>
            </a:r>
            <a:r>
              <a:rPr lang="en-US" sz="1400" b="1" dirty="0">
                <a:latin typeface="Menlo" panose="020B0609030804020204" pitchFamily="49" charset="0"/>
                <a:ea typeface="Menlo" panose="020B0609030804020204" pitchFamily="49" charset="0"/>
                <a:cs typeface="Menlo" panose="020B0609030804020204" pitchFamily="49" charset="0"/>
              </a:rPr>
              <a:t>Final Summary</a:t>
            </a:r>
            <a:r>
              <a:rPr lang="en-US" sz="1400" dirty="0">
                <a:latin typeface="Menlo" panose="020B0609030804020204" pitchFamily="49" charset="0"/>
                <a:ea typeface="Menlo" panose="020B0609030804020204" pitchFamily="49" charset="0"/>
                <a:cs typeface="Menlo" panose="020B0609030804020204" pitchFamily="49" charset="0"/>
              </a:rPr>
              <a:t> →</a:t>
            </a:r>
            <a:r>
              <a:rPr lang="en-US" sz="1400" b="0" dirty="0">
                <a:solidFill>
                  <a:srgbClr val="000000"/>
                </a:solidFill>
                <a:effectLst/>
                <a:latin typeface="Menlo" panose="020B0609030804020204" pitchFamily="49" charset="0"/>
                <a:ea typeface="Menlo" panose="020B0609030804020204" pitchFamily="49" charset="0"/>
                <a:cs typeface="Menlo" panose="020B0609030804020204" pitchFamily="49" charset="0"/>
              </a:rPr>
              <a:t> </a:t>
            </a:r>
            <a:r>
              <a:rPr lang="en-US" sz="1400" b="0" dirty="0">
                <a:solidFill>
                  <a:srgbClr val="A31515"/>
                </a:solidFill>
                <a:effectLst/>
                <a:latin typeface="Menlo" panose="020B0609030804020204" pitchFamily="49" charset="0"/>
                <a:ea typeface="Menlo" panose="020B0609030804020204" pitchFamily="49" charset="0"/>
                <a:cs typeface="Menlo" panose="020B0609030804020204" pitchFamily="49" charset="0"/>
              </a:rPr>
              <a:t>"In total, there are 39 Blast nodes, </a:t>
            </a:r>
            <a:r>
              <a:rPr lang="en-US" sz="1400" dirty="0">
                <a:solidFill>
                  <a:srgbClr val="A31515"/>
                </a:solidFill>
                <a:latin typeface="Menlo" panose="020B0609030804020204" pitchFamily="49" charset="0"/>
                <a:ea typeface="Menlo" panose="020B0609030804020204" pitchFamily="49" charset="0"/>
                <a:cs typeface="Menlo" panose="020B0609030804020204" pitchFamily="49" charset="0"/>
              </a:rPr>
              <a:t>a</a:t>
            </a:r>
            <a:r>
              <a:rPr lang="en-US" sz="1400" b="0" dirty="0">
                <a:solidFill>
                  <a:srgbClr val="A31515"/>
                </a:solidFill>
                <a:effectLst/>
                <a:latin typeface="Menlo" panose="020B0609030804020204" pitchFamily="49" charset="0"/>
                <a:ea typeface="Menlo" panose="020B0609030804020204" pitchFamily="49" charset="0"/>
                <a:cs typeface="Menlo" panose="020B0609030804020204" pitchFamily="49" charset="0"/>
              </a:rPr>
              <a:t>ll containing </a:t>
            </a:r>
            <a:r>
              <a:rPr lang="en-US" sz="1400" b="0" dirty="0" err="1">
                <a:solidFill>
                  <a:srgbClr val="A31515"/>
                </a:solidFill>
                <a:effectLst/>
                <a:latin typeface="Menlo" panose="020B0609030804020204" pitchFamily="49" charset="0"/>
                <a:ea typeface="Menlo" panose="020B0609030804020204" pitchFamily="49" charset="0"/>
                <a:cs typeface="Menlo" panose="020B0609030804020204" pitchFamily="49" charset="0"/>
              </a:rPr>
              <a:t>blast_version</a:t>
            </a:r>
            <a:r>
              <a:rPr lang="en-US" sz="1400" b="0" dirty="0">
                <a:solidFill>
                  <a:srgbClr val="A31515"/>
                </a:solidFill>
                <a:effectLst/>
                <a:latin typeface="Menlo" panose="020B0609030804020204" pitchFamily="49" charset="0"/>
                <a:ea typeface="Menlo" panose="020B0609030804020204" pitchFamily="49" charset="0"/>
                <a:cs typeface="Menlo" panose="020B0609030804020204" pitchFamily="49" charset="0"/>
              </a:rPr>
              <a:t> attribute."</a:t>
            </a:r>
            <a:endParaRPr lang="en-US" sz="1400" b="0" dirty="0">
              <a:solidFill>
                <a:srgbClr val="000000"/>
              </a:solidFill>
              <a:effectLst/>
              <a:latin typeface="Menlo" panose="020B0609030804020204" pitchFamily="49" charset="0"/>
              <a:ea typeface="Menlo" panose="020B0609030804020204" pitchFamily="49" charset="0"/>
              <a:cs typeface="Menlo" panose="020B0609030804020204" pitchFamily="49" charset="0"/>
            </a:endParaRPr>
          </a:p>
        </p:txBody>
      </p:sp>
    </p:spTree>
    <p:extLst>
      <p:ext uri="{BB962C8B-B14F-4D97-AF65-F5344CB8AC3E}">
        <p14:creationId xmlns:p14="http://schemas.microsoft.com/office/powerpoint/2010/main" val="13588022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AEDBB9-7838-305D-FFC7-EF64D681B7FB}"/>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7FA6976E-6FBA-2E74-EACB-5FF046C63B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Slide Number Placeholder 11">
            <a:extLst>
              <a:ext uri="{FF2B5EF4-FFF2-40B4-BE49-F238E27FC236}">
                <a16:creationId xmlns:a16="http://schemas.microsoft.com/office/drawing/2014/main" id="{662776AF-9C02-7AD2-DB4D-2333F9B82FC5}"/>
              </a:ext>
            </a:extLst>
          </p:cNvPr>
          <p:cNvSpPr>
            <a:spLocks noGrp="1"/>
          </p:cNvSpPr>
          <p:nvPr>
            <p:ph type="sldNum" sz="quarter" idx="12"/>
          </p:nvPr>
        </p:nvSpPr>
        <p:spPr/>
        <p:txBody>
          <a:bodyPr/>
          <a:lstStyle/>
          <a:p>
            <a:fld id="{48F19E39-9933-F648-B2F3-3AC17C0DC986}" type="slidenum">
              <a:rPr lang="en-US" smtClean="0">
                <a:solidFill>
                  <a:schemeClr val="bg1"/>
                </a:solidFill>
              </a:rPr>
              <a:t>15</a:t>
            </a:fld>
            <a:r>
              <a:rPr lang="en-US" dirty="0">
                <a:solidFill>
                  <a:schemeClr val="bg1"/>
                </a:solidFill>
              </a:rPr>
              <a:t> / 17</a:t>
            </a:r>
          </a:p>
        </p:txBody>
      </p:sp>
      <p:sp>
        <p:nvSpPr>
          <p:cNvPr id="16" name="TextBox 15">
            <a:extLst>
              <a:ext uri="{FF2B5EF4-FFF2-40B4-BE49-F238E27FC236}">
                <a16:creationId xmlns:a16="http://schemas.microsoft.com/office/drawing/2014/main" id="{2F1F2048-2ABF-E56A-09D0-B98DC59B496C}"/>
              </a:ext>
            </a:extLst>
          </p:cNvPr>
          <p:cNvSpPr txBox="1"/>
          <p:nvPr/>
        </p:nvSpPr>
        <p:spPr>
          <a:xfrm>
            <a:off x="596348" y="374273"/>
            <a:ext cx="11127823" cy="830997"/>
          </a:xfrm>
          <a:prstGeom prst="rect">
            <a:avLst/>
          </a:prstGeom>
          <a:noFill/>
        </p:spPr>
        <p:txBody>
          <a:bodyPr wrap="square" rtlCol="0">
            <a:spAutoFit/>
          </a:bodyPr>
          <a:lstStyle/>
          <a:p>
            <a:r>
              <a:rPr lang="en-US" sz="2800" b="1" dirty="0">
                <a:solidFill>
                  <a:srgbClr val="822334"/>
                </a:solidFill>
                <a:latin typeface="Inter" panose="02000503000000020004" pitchFamily="2" charset="0"/>
                <a:ea typeface="Inter" panose="02000503000000020004" pitchFamily="2" charset="0"/>
                <a:cs typeface="Inter" panose="02000503000000020004" pitchFamily="2" charset="0"/>
              </a:rPr>
              <a:t>COMPARISON WITH RELATED FRAMEWORKS</a:t>
            </a:r>
          </a:p>
          <a:p>
            <a:r>
              <a:rPr lang="en-US" sz="2000" dirty="0">
                <a:solidFill>
                  <a:schemeClr val="bg2">
                    <a:lumMod val="50000"/>
                  </a:schemeClr>
                </a:solidFill>
                <a:latin typeface="Inter" panose="02000503000000020004" pitchFamily="2" charset="0"/>
                <a:ea typeface="Inter" panose="02000503000000020004" pitchFamily="2" charset="0"/>
                <a:cs typeface="Inter" panose="02000503000000020004" pitchFamily="2" charset="0"/>
              </a:rPr>
              <a:t>Why existing frameworks were not enough</a:t>
            </a:r>
          </a:p>
        </p:txBody>
      </p:sp>
      <p:sp>
        <p:nvSpPr>
          <p:cNvPr id="18" name="Footer Placeholder 10">
            <a:extLst>
              <a:ext uri="{FF2B5EF4-FFF2-40B4-BE49-F238E27FC236}">
                <a16:creationId xmlns:a16="http://schemas.microsoft.com/office/drawing/2014/main" id="{A06E038A-5133-E40B-B3A5-7AA1C4187B02}"/>
              </a:ext>
            </a:extLst>
          </p:cNvPr>
          <p:cNvSpPr>
            <a:spLocks noGrp="1"/>
          </p:cNvSpPr>
          <p:nvPr>
            <p:ph type="ftr" sz="quarter" idx="11"/>
          </p:nvPr>
        </p:nvSpPr>
        <p:spPr>
          <a:xfrm>
            <a:off x="4566534" y="6356350"/>
            <a:ext cx="3058931" cy="365125"/>
          </a:xfrm>
        </p:spPr>
        <p:txBody>
          <a:bodyPr/>
          <a:lstStyle/>
          <a:p>
            <a:r>
              <a:rPr lang="en-US" dirty="0" err="1">
                <a:solidFill>
                  <a:schemeClr val="bg1"/>
                </a:solidFill>
                <a:latin typeface="Inter" panose="02000503000000020004" pitchFamily="2" charset="0"/>
                <a:ea typeface="Inter" panose="02000503000000020004" pitchFamily="2" charset="0"/>
                <a:cs typeface="Inter" panose="02000503000000020004" pitchFamily="2" charset="0"/>
              </a:rPr>
              <a:t>Cineca</a:t>
            </a:r>
            <a:r>
              <a:rPr lang="en-US" dirty="0">
                <a:solidFill>
                  <a:schemeClr val="bg1"/>
                </a:solidFill>
                <a:latin typeface="Inter" panose="02000503000000020004" pitchFamily="2" charset="0"/>
                <a:ea typeface="Inter" panose="02000503000000020004" pitchFamily="2" charset="0"/>
                <a:cs typeface="Inter" panose="02000503000000020004" pitchFamily="2" charset="0"/>
              </a:rPr>
              <a:t> Agentic Platform – Arman Feili</a:t>
            </a:r>
          </a:p>
        </p:txBody>
      </p:sp>
      <p:pic>
        <p:nvPicPr>
          <p:cNvPr id="19" name="Picture 18">
            <a:extLst>
              <a:ext uri="{FF2B5EF4-FFF2-40B4-BE49-F238E27FC236}">
                <a16:creationId xmlns:a16="http://schemas.microsoft.com/office/drawing/2014/main" id="{9ACB1503-4877-4A60-2123-0E1886823D11}"/>
              </a:ext>
            </a:extLst>
          </p:cNvPr>
          <p:cNvPicPr>
            <a:picLocks noChangeAspect="1"/>
          </p:cNvPicPr>
          <p:nvPr/>
        </p:nvPicPr>
        <p:blipFill>
          <a:blip r:embed="rId3"/>
          <a:stretch>
            <a:fillRect/>
          </a:stretch>
        </p:blipFill>
        <p:spPr>
          <a:xfrm>
            <a:off x="321777" y="6315552"/>
            <a:ext cx="435345" cy="435345"/>
          </a:xfrm>
          <a:prstGeom prst="rect">
            <a:avLst/>
          </a:prstGeom>
        </p:spPr>
      </p:pic>
      <p:pic>
        <p:nvPicPr>
          <p:cNvPr id="20" name="Picture 19">
            <a:extLst>
              <a:ext uri="{FF2B5EF4-FFF2-40B4-BE49-F238E27FC236}">
                <a16:creationId xmlns:a16="http://schemas.microsoft.com/office/drawing/2014/main" id="{76D59FE0-98D7-7192-E216-5C78C4806F40}"/>
              </a:ext>
            </a:extLst>
          </p:cNvPr>
          <p:cNvPicPr>
            <a:picLocks noChangeAspect="1"/>
          </p:cNvPicPr>
          <p:nvPr/>
        </p:nvPicPr>
        <p:blipFill>
          <a:blip r:embed="rId4"/>
          <a:stretch>
            <a:fillRect/>
          </a:stretch>
        </p:blipFill>
        <p:spPr>
          <a:xfrm>
            <a:off x="866134" y="6362629"/>
            <a:ext cx="1093241" cy="365125"/>
          </a:xfrm>
          <a:prstGeom prst="rect">
            <a:avLst/>
          </a:prstGeom>
        </p:spPr>
      </p:pic>
      <p:graphicFrame>
        <p:nvGraphicFramePr>
          <p:cNvPr id="21" name="Table 20">
            <a:extLst>
              <a:ext uri="{FF2B5EF4-FFF2-40B4-BE49-F238E27FC236}">
                <a16:creationId xmlns:a16="http://schemas.microsoft.com/office/drawing/2014/main" id="{11630264-48DF-9B0F-C390-7CD08A1B4291}"/>
              </a:ext>
            </a:extLst>
          </p:cNvPr>
          <p:cNvGraphicFramePr>
            <a:graphicFrameLocks noGrp="1"/>
          </p:cNvGraphicFramePr>
          <p:nvPr>
            <p:extLst>
              <p:ext uri="{D42A27DB-BD31-4B8C-83A1-F6EECF244321}">
                <p14:modId xmlns:p14="http://schemas.microsoft.com/office/powerpoint/2010/main" val="2666248536"/>
              </p:ext>
            </p:extLst>
          </p:nvPr>
        </p:nvGraphicFramePr>
        <p:xfrm>
          <a:off x="596346" y="1572785"/>
          <a:ext cx="10992678" cy="3441662"/>
        </p:xfrm>
        <a:graphic>
          <a:graphicData uri="http://schemas.openxmlformats.org/drawingml/2006/table">
            <a:tbl>
              <a:tblPr>
                <a:tableStyleId>{C4B1156A-380E-4F78-BDF5-A606A8083BF9}</a:tableStyleId>
              </a:tblPr>
              <a:tblGrid>
                <a:gridCol w="1272208">
                  <a:extLst>
                    <a:ext uri="{9D8B030D-6E8A-4147-A177-3AD203B41FA5}">
                      <a16:colId xmlns:a16="http://schemas.microsoft.com/office/drawing/2014/main" val="1772042116"/>
                    </a:ext>
                  </a:extLst>
                </a:gridCol>
                <a:gridCol w="715617">
                  <a:extLst>
                    <a:ext uri="{9D8B030D-6E8A-4147-A177-3AD203B41FA5}">
                      <a16:colId xmlns:a16="http://schemas.microsoft.com/office/drawing/2014/main" val="2947702222"/>
                    </a:ext>
                  </a:extLst>
                </a:gridCol>
                <a:gridCol w="1043609">
                  <a:extLst>
                    <a:ext uri="{9D8B030D-6E8A-4147-A177-3AD203B41FA5}">
                      <a16:colId xmlns:a16="http://schemas.microsoft.com/office/drawing/2014/main" val="923434259"/>
                    </a:ext>
                  </a:extLst>
                </a:gridCol>
                <a:gridCol w="1202634">
                  <a:extLst>
                    <a:ext uri="{9D8B030D-6E8A-4147-A177-3AD203B41FA5}">
                      <a16:colId xmlns:a16="http://schemas.microsoft.com/office/drawing/2014/main" val="3940525903"/>
                    </a:ext>
                  </a:extLst>
                </a:gridCol>
                <a:gridCol w="1043609">
                  <a:extLst>
                    <a:ext uri="{9D8B030D-6E8A-4147-A177-3AD203B41FA5}">
                      <a16:colId xmlns:a16="http://schemas.microsoft.com/office/drawing/2014/main" val="579518305"/>
                    </a:ext>
                  </a:extLst>
                </a:gridCol>
                <a:gridCol w="1192696">
                  <a:extLst>
                    <a:ext uri="{9D8B030D-6E8A-4147-A177-3AD203B41FA5}">
                      <a16:colId xmlns:a16="http://schemas.microsoft.com/office/drawing/2014/main" val="943604483"/>
                    </a:ext>
                  </a:extLst>
                </a:gridCol>
                <a:gridCol w="1311965">
                  <a:extLst>
                    <a:ext uri="{9D8B030D-6E8A-4147-A177-3AD203B41FA5}">
                      <a16:colId xmlns:a16="http://schemas.microsoft.com/office/drawing/2014/main" val="1589068885"/>
                    </a:ext>
                  </a:extLst>
                </a:gridCol>
                <a:gridCol w="3210340">
                  <a:extLst>
                    <a:ext uri="{9D8B030D-6E8A-4147-A177-3AD203B41FA5}">
                      <a16:colId xmlns:a16="http://schemas.microsoft.com/office/drawing/2014/main" val="66125677"/>
                    </a:ext>
                  </a:extLst>
                </a:gridCol>
              </a:tblGrid>
              <a:tr h="351028">
                <a:tc>
                  <a:txBody>
                    <a:bodyPr/>
                    <a:lstStyle/>
                    <a:p>
                      <a:pPr algn="just"/>
                      <a:r>
                        <a:rPr lang="en-US" sz="1400" b="1" dirty="0">
                          <a:latin typeface="Inter" panose="02000503000000020004" pitchFamily="2" charset="0"/>
                          <a:ea typeface="Inter" panose="02000503000000020004" pitchFamily="2" charset="0"/>
                          <a:cs typeface="Inter" panose="02000503000000020004" pitchFamily="2" charset="0"/>
                        </a:rPr>
                        <a:t>Platform</a:t>
                      </a:r>
                    </a:p>
                  </a:txBody>
                  <a:tcPr marL="64945" marR="64945" marT="32473" marB="32473" anchor="ctr"/>
                </a:tc>
                <a:tc>
                  <a:txBody>
                    <a:bodyPr/>
                    <a:lstStyle/>
                    <a:p>
                      <a:pPr algn="just"/>
                      <a:r>
                        <a:rPr lang="en-US" sz="1400" b="1">
                          <a:latin typeface="Inter" panose="02000503000000020004" pitchFamily="2" charset="0"/>
                          <a:ea typeface="Inter" panose="02000503000000020004" pitchFamily="2" charset="0"/>
                          <a:cs typeface="Inter" panose="02000503000000020004" pitchFamily="2" charset="0"/>
                        </a:rPr>
                        <a:t>Full Stack</a:t>
                      </a:r>
                    </a:p>
                  </a:txBody>
                  <a:tcPr marL="64945" marR="64945" marT="32473" marB="32473" anchor="ctr"/>
                </a:tc>
                <a:tc>
                  <a:txBody>
                    <a:bodyPr/>
                    <a:lstStyle/>
                    <a:p>
                      <a:pPr algn="just"/>
                      <a:r>
                        <a:rPr lang="en-US" sz="1400" b="1" dirty="0">
                          <a:latin typeface="Inter" panose="02000503000000020004" pitchFamily="2" charset="0"/>
                          <a:ea typeface="Inter" panose="02000503000000020004" pitchFamily="2" charset="0"/>
                          <a:cs typeface="Inter" panose="02000503000000020004" pitchFamily="2" charset="0"/>
                        </a:rPr>
                        <a:t>Agentic Planning</a:t>
                      </a:r>
                    </a:p>
                  </a:txBody>
                  <a:tcPr marL="64945" marR="64945" marT="32473" marB="32473" anchor="ctr"/>
                </a:tc>
                <a:tc>
                  <a:txBody>
                    <a:bodyPr/>
                    <a:lstStyle/>
                    <a:p>
                      <a:pPr algn="just"/>
                      <a:r>
                        <a:rPr lang="en-US" sz="1400" b="1">
                          <a:latin typeface="Inter" panose="02000503000000020004" pitchFamily="2" charset="0"/>
                          <a:ea typeface="Inter" panose="02000503000000020004" pitchFamily="2" charset="0"/>
                          <a:cs typeface="Inter" panose="02000503000000020004" pitchFamily="2" charset="0"/>
                        </a:rPr>
                        <a:t>Governed Tools</a:t>
                      </a:r>
                    </a:p>
                  </a:txBody>
                  <a:tcPr marL="64945" marR="64945" marT="32473" marB="32473" anchor="ctr"/>
                </a:tc>
                <a:tc>
                  <a:txBody>
                    <a:bodyPr/>
                    <a:lstStyle/>
                    <a:p>
                      <a:pPr algn="just"/>
                      <a:r>
                        <a:rPr lang="en-US" sz="1400" b="1">
                          <a:latin typeface="Inter" panose="02000503000000020004" pitchFamily="2" charset="0"/>
                          <a:ea typeface="Inter" panose="02000503000000020004" pitchFamily="2" charset="0"/>
                          <a:cs typeface="Inter" panose="02000503000000020004" pitchFamily="2" charset="0"/>
                        </a:rPr>
                        <a:t>Enterprise Security</a:t>
                      </a:r>
                    </a:p>
                  </a:txBody>
                  <a:tcPr marL="64945" marR="64945" marT="32473" marB="32473" anchor="ctr"/>
                </a:tc>
                <a:tc>
                  <a:txBody>
                    <a:bodyPr/>
                    <a:lstStyle/>
                    <a:p>
                      <a:pPr algn="just"/>
                      <a:r>
                        <a:rPr lang="en-US" sz="1400" b="1">
                          <a:latin typeface="Inter" panose="02000503000000020004" pitchFamily="2" charset="0"/>
                          <a:ea typeface="Inter" panose="02000503000000020004" pitchFamily="2" charset="0"/>
                          <a:cs typeface="Inter" panose="02000503000000020004" pitchFamily="2" charset="0"/>
                        </a:rPr>
                        <a:t>Graph NL→Cypher</a:t>
                      </a:r>
                    </a:p>
                  </a:txBody>
                  <a:tcPr marL="64945" marR="64945" marT="32473" marB="32473" anchor="ctr"/>
                </a:tc>
                <a:tc>
                  <a:txBody>
                    <a:bodyPr/>
                    <a:lstStyle/>
                    <a:p>
                      <a:pPr algn="just"/>
                      <a:r>
                        <a:rPr lang="en-US" sz="1400" b="1" dirty="0">
                          <a:latin typeface="Inter" panose="02000503000000020004" pitchFamily="2" charset="0"/>
                          <a:ea typeface="Inter" panose="02000503000000020004" pitchFamily="2" charset="0"/>
                          <a:cs typeface="Inter" panose="02000503000000020004" pitchFamily="2" charset="0"/>
                        </a:rPr>
                        <a:t>Observability</a:t>
                      </a:r>
                    </a:p>
                  </a:txBody>
                  <a:tcPr marL="64945" marR="64945" marT="32473" marB="32473" anchor="ctr"/>
                </a:tc>
                <a:tc>
                  <a:txBody>
                    <a:bodyPr/>
                    <a:lstStyle/>
                    <a:p>
                      <a:pPr algn="l"/>
                      <a:r>
                        <a:rPr lang="en-US" sz="1400" b="1" dirty="0">
                          <a:latin typeface="Inter" panose="02000503000000020004" pitchFamily="2" charset="0"/>
                          <a:ea typeface="Inter" panose="02000503000000020004" pitchFamily="2" charset="0"/>
                          <a:cs typeface="Inter" panose="02000503000000020004" pitchFamily="2" charset="0"/>
                        </a:rPr>
                        <a:t>Summary</a:t>
                      </a:r>
                    </a:p>
                  </a:txBody>
                  <a:tcPr marL="64945" marR="64945" marT="32473" marB="32473" anchor="ctr"/>
                </a:tc>
                <a:extLst>
                  <a:ext uri="{0D108BD9-81ED-4DB2-BD59-A6C34878D82A}">
                    <a16:rowId xmlns:a16="http://schemas.microsoft.com/office/drawing/2014/main" val="937903091"/>
                  </a:ext>
                </a:extLst>
              </a:tr>
              <a:tr h="138567">
                <a:tc>
                  <a:txBody>
                    <a:bodyPr/>
                    <a:lstStyle/>
                    <a:p>
                      <a:pPr algn="just"/>
                      <a:r>
                        <a:rPr lang="en-US" sz="1400" b="1">
                          <a:latin typeface="Inter" panose="02000503000000020004" pitchFamily="2" charset="0"/>
                          <a:ea typeface="Inter" panose="02000503000000020004" pitchFamily="2" charset="0"/>
                          <a:cs typeface="Inter" panose="02000503000000020004" pitchFamily="2" charset="0"/>
                        </a:rPr>
                        <a:t>CAP</a:t>
                      </a:r>
                      <a:endParaRPr lang="en-US" sz="1400">
                        <a:latin typeface="Inter" panose="02000503000000020004" pitchFamily="2" charset="0"/>
                        <a:ea typeface="Inter" panose="02000503000000020004" pitchFamily="2" charset="0"/>
                        <a:cs typeface="Inter" panose="02000503000000020004" pitchFamily="2" charset="0"/>
                      </a:endParaRPr>
                    </a:p>
                  </a:txBody>
                  <a:tcPr marL="64945" marR="64945" marT="32473" marB="32473" anchor="ctr"/>
                </a:tc>
                <a:tc>
                  <a:txBody>
                    <a:bodyPr/>
                    <a:lstStyle/>
                    <a:p>
                      <a:pPr algn="just"/>
                      <a:r>
                        <a:rPr lang="en-US" sz="1800" dirty="0">
                          <a:latin typeface="Inter" panose="02000503000000020004" pitchFamily="2" charset="0"/>
                          <a:ea typeface="Inter" panose="02000503000000020004" pitchFamily="2" charset="0"/>
                          <a:cs typeface="Inter" panose="02000503000000020004" pitchFamily="2" charset="0"/>
                        </a:rPr>
                        <a:t>✓</a:t>
                      </a:r>
                    </a:p>
                  </a:txBody>
                  <a:tcPr marL="64945" marR="64945" marT="32473" marB="32473" anchor="ctr"/>
                </a:tc>
                <a:tc>
                  <a:txBody>
                    <a:bodyPr/>
                    <a:lstStyle/>
                    <a:p>
                      <a:pPr algn="just"/>
                      <a:r>
                        <a:rPr lang="en-US" sz="1800">
                          <a:latin typeface="Inter" panose="02000503000000020004" pitchFamily="2" charset="0"/>
                          <a:ea typeface="Inter" panose="02000503000000020004" pitchFamily="2" charset="0"/>
                          <a:cs typeface="Inter" panose="02000503000000020004" pitchFamily="2" charset="0"/>
                        </a:rPr>
                        <a:t>✓</a:t>
                      </a:r>
                    </a:p>
                  </a:txBody>
                  <a:tcPr marL="64945" marR="64945" marT="32473" marB="32473" anchor="ctr"/>
                </a:tc>
                <a:tc>
                  <a:txBody>
                    <a:bodyPr/>
                    <a:lstStyle/>
                    <a:p>
                      <a:pPr algn="just"/>
                      <a:r>
                        <a:rPr lang="en-US" sz="1800">
                          <a:latin typeface="Inter" panose="02000503000000020004" pitchFamily="2" charset="0"/>
                          <a:ea typeface="Inter" panose="02000503000000020004" pitchFamily="2" charset="0"/>
                          <a:cs typeface="Inter" panose="02000503000000020004" pitchFamily="2" charset="0"/>
                        </a:rPr>
                        <a:t>✓</a:t>
                      </a:r>
                    </a:p>
                  </a:txBody>
                  <a:tcPr marL="64945" marR="64945" marT="32473" marB="32473" anchor="ctr"/>
                </a:tc>
                <a:tc>
                  <a:txBody>
                    <a:bodyPr/>
                    <a:lstStyle/>
                    <a:p>
                      <a:pPr algn="just"/>
                      <a:r>
                        <a:rPr lang="en-US" sz="1800">
                          <a:latin typeface="Inter" panose="02000503000000020004" pitchFamily="2" charset="0"/>
                          <a:ea typeface="Inter" panose="02000503000000020004" pitchFamily="2" charset="0"/>
                          <a:cs typeface="Inter" panose="02000503000000020004" pitchFamily="2" charset="0"/>
                        </a:rPr>
                        <a:t>✓</a:t>
                      </a:r>
                    </a:p>
                  </a:txBody>
                  <a:tcPr marL="64945" marR="64945" marT="32473" marB="32473" anchor="ctr"/>
                </a:tc>
                <a:tc>
                  <a:txBody>
                    <a:bodyPr/>
                    <a:lstStyle/>
                    <a:p>
                      <a:pPr algn="just"/>
                      <a:r>
                        <a:rPr lang="en-US" sz="1800">
                          <a:latin typeface="Inter" panose="02000503000000020004" pitchFamily="2" charset="0"/>
                          <a:ea typeface="Inter" panose="02000503000000020004" pitchFamily="2" charset="0"/>
                          <a:cs typeface="Inter" panose="02000503000000020004" pitchFamily="2" charset="0"/>
                        </a:rPr>
                        <a:t>✓</a:t>
                      </a:r>
                    </a:p>
                  </a:txBody>
                  <a:tcPr marL="64945" marR="64945" marT="32473" marB="32473" anchor="ctr"/>
                </a:tc>
                <a:tc>
                  <a:txBody>
                    <a:bodyPr/>
                    <a:lstStyle/>
                    <a:p>
                      <a:pPr algn="just"/>
                      <a:r>
                        <a:rPr lang="en-US" sz="1800" dirty="0">
                          <a:latin typeface="Inter" panose="02000503000000020004" pitchFamily="2" charset="0"/>
                          <a:ea typeface="Inter" panose="02000503000000020004" pitchFamily="2" charset="0"/>
                          <a:cs typeface="Inter" panose="02000503000000020004" pitchFamily="2" charset="0"/>
                        </a:rPr>
                        <a:t>✓</a:t>
                      </a:r>
                    </a:p>
                  </a:txBody>
                  <a:tcPr marL="64945" marR="64945" marT="32473" marB="32473" anchor="ctr"/>
                </a:tc>
                <a:tc>
                  <a:txBody>
                    <a:bodyPr/>
                    <a:lstStyle/>
                    <a:p>
                      <a:pPr algn="l"/>
                      <a:r>
                        <a:rPr lang="en-US" sz="1400" dirty="0">
                          <a:latin typeface="Inter" panose="02000503000000020004" pitchFamily="2" charset="0"/>
                          <a:ea typeface="Inter" panose="02000503000000020004" pitchFamily="2" charset="0"/>
                          <a:cs typeface="Inter" panose="02000503000000020004" pitchFamily="2" charset="0"/>
                        </a:rPr>
                        <a:t>Complete platform for secure, observable graph-agent execution</a:t>
                      </a:r>
                    </a:p>
                  </a:txBody>
                  <a:tcPr marL="64945" marR="64945" marT="32473" marB="32473" anchor="ctr"/>
                </a:tc>
                <a:extLst>
                  <a:ext uri="{0D108BD9-81ED-4DB2-BD59-A6C34878D82A}">
                    <a16:rowId xmlns:a16="http://schemas.microsoft.com/office/drawing/2014/main" val="3975569649"/>
                  </a:ext>
                </a:extLst>
              </a:tr>
              <a:tr h="244798">
                <a:tc>
                  <a:txBody>
                    <a:bodyPr/>
                    <a:lstStyle/>
                    <a:p>
                      <a:pPr algn="just"/>
                      <a:r>
                        <a:rPr lang="en-US" sz="1400" b="1">
                          <a:latin typeface="Inter" panose="02000503000000020004" pitchFamily="2" charset="0"/>
                          <a:ea typeface="Inter" panose="02000503000000020004" pitchFamily="2" charset="0"/>
                          <a:cs typeface="Inter" panose="02000503000000020004" pitchFamily="2" charset="0"/>
                        </a:rPr>
                        <a:t>Temporal</a:t>
                      </a:r>
                      <a:endParaRPr lang="en-US" sz="1400">
                        <a:latin typeface="Inter" panose="02000503000000020004" pitchFamily="2" charset="0"/>
                        <a:ea typeface="Inter" panose="02000503000000020004" pitchFamily="2" charset="0"/>
                        <a:cs typeface="Inter" panose="02000503000000020004" pitchFamily="2" charset="0"/>
                      </a:endParaRPr>
                    </a:p>
                  </a:txBody>
                  <a:tcPr marL="64945" marR="64945" marT="32473" marB="32473" anchor="ctr"/>
                </a:tc>
                <a:tc>
                  <a:txBody>
                    <a:bodyPr/>
                    <a:lstStyle/>
                    <a:p>
                      <a:pPr algn="just"/>
                      <a:r>
                        <a:rPr lang="en-US" sz="1800">
                          <a:latin typeface="Inter" panose="02000503000000020004" pitchFamily="2" charset="0"/>
                          <a:ea typeface="Inter" panose="02000503000000020004" pitchFamily="2" charset="0"/>
                          <a:cs typeface="Inter" panose="02000503000000020004" pitchFamily="2" charset="0"/>
                        </a:rPr>
                        <a:t>✗</a:t>
                      </a:r>
                    </a:p>
                  </a:txBody>
                  <a:tcPr marL="64945" marR="64945" marT="32473" marB="32473" anchor="ctr"/>
                </a:tc>
                <a:tc>
                  <a:txBody>
                    <a:bodyPr/>
                    <a:lstStyle/>
                    <a:p>
                      <a:pPr algn="just"/>
                      <a:r>
                        <a:rPr lang="en-US" sz="1800">
                          <a:latin typeface="Inter" panose="02000503000000020004" pitchFamily="2" charset="0"/>
                          <a:ea typeface="Inter" panose="02000503000000020004" pitchFamily="2" charset="0"/>
                          <a:cs typeface="Inter" panose="02000503000000020004" pitchFamily="2" charset="0"/>
                        </a:rPr>
                        <a:t>✗</a:t>
                      </a:r>
                    </a:p>
                  </a:txBody>
                  <a:tcPr marL="64945" marR="64945" marT="32473" marB="32473" anchor="ctr"/>
                </a:tc>
                <a:tc>
                  <a:txBody>
                    <a:bodyPr/>
                    <a:lstStyle/>
                    <a:p>
                      <a:pPr algn="just"/>
                      <a:r>
                        <a:rPr lang="en-US" sz="1800">
                          <a:latin typeface="Inter" panose="02000503000000020004" pitchFamily="2" charset="0"/>
                          <a:ea typeface="Inter" panose="02000503000000020004" pitchFamily="2" charset="0"/>
                          <a:cs typeface="Inter" panose="02000503000000020004" pitchFamily="2" charset="0"/>
                        </a:rPr>
                        <a:t>✗</a:t>
                      </a:r>
                    </a:p>
                  </a:txBody>
                  <a:tcPr marL="64945" marR="64945" marT="32473" marB="32473" anchor="ctr"/>
                </a:tc>
                <a:tc>
                  <a:txBody>
                    <a:bodyPr/>
                    <a:lstStyle/>
                    <a:p>
                      <a:pPr algn="just"/>
                      <a:r>
                        <a:rPr lang="en-US" sz="1800">
                          <a:latin typeface="Inter" panose="02000503000000020004" pitchFamily="2" charset="0"/>
                          <a:ea typeface="Inter" panose="02000503000000020004" pitchFamily="2" charset="0"/>
                          <a:cs typeface="Inter" panose="02000503000000020004" pitchFamily="2" charset="0"/>
                        </a:rPr>
                        <a:t>✓</a:t>
                      </a:r>
                    </a:p>
                  </a:txBody>
                  <a:tcPr marL="64945" marR="64945" marT="32473" marB="32473" anchor="ctr"/>
                </a:tc>
                <a:tc>
                  <a:txBody>
                    <a:bodyPr/>
                    <a:lstStyle/>
                    <a:p>
                      <a:pPr algn="just"/>
                      <a:r>
                        <a:rPr lang="en-US" sz="1800">
                          <a:latin typeface="Inter" panose="02000503000000020004" pitchFamily="2" charset="0"/>
                          <a:ea typeface="Inter" panose="02000503000000020004" pitchFamily="2" charset="0"/>
                          <a:cs typeface="Inter" panose="02000503000000020004" pitchFamily="2" charset="0"/>
                        </a:rPr>
                        <a:t>✗</a:t>
                      </a:r>
                    </a:p>
                  </a:txBody>
                  <a:tcPr marL="64945" marR="64945" marT="32473" marB="32473" anchor="ctr"/>
                </a:tc>
                <a:tc>
                  <a:txBody>
                    <a:bodyPr/>
                    <a:lstStyle/>
                    <a:p>
                      <a:pPr algn="just"/>
                      <a:r>
                        <a:rPr lang="en-US" sz="1800">
                          <a:latin typeface="Inter" panose="02000503000000020004" pitchFamily="2" charset="0"/>
                          <a:ea typeface="Inter" panose="02000503000000020004" pitchFamily="2" charset="0"/>
                          <a:cs typeface="Inter" panose="02000503000000020004" pitchFamily="2" charset="0"/>
                        </a:rPr>
                        <a:t>✓</a:t>
                      </a:r>
                    </a:p>
                  </a:txBody>
                  <a:tcPr marL="64945" marR="64945" marT="32473" marB="32473" anchor="ctr"/>
                </a:tc>
                <a:tc>
                  <a:txBody>
                    <a:bodyPr/>
                    <a:lstStyle/>
                    <a:p>
                      <a:pPr algn="l"/>
                      <a:r>
                        <a:rPr lang="en-US" sz="1400" dirty="0">
                          <a:latin typeface="Inter" panose="02000503000000020004" pitchFamily="2" charset="0"/>
                          <a:ea typeface="Inter" panose="02000503000000020004" pitchFamily="2" charset="0"/>
                          <a:cs typeface="Inter" panose="02000503000000020004" pitchFamily="2" charset="0"/>
                        </a:rPr>
                        <a:t>Durable workflow engine without native agent or graph capabilities</a:t>
                      </a:r>
                    </a:p>
                  </a:txBody>
                  <a:tcPr marL="64945" marR="64945" marT="32473" marB="32473" anchor="ctr"/>
                </a:tc>
                <a:extLst>
                  <a:ext uri="{0D108BD9-81ED-4DB2-BD59-A6C34878D82A}">
                    <a16:rowId xmlns:a16="http://schemas.microsoft.com/office/drawing/2014/main" val="4065626416"/>
                  </a:ext>
                </a:extLst>
              </a:tr>
              <a:tr h="244798">
                <a:tc>
                  <a:txBody>
                    <a:bodyPr/>
                    <a:lstStyle/>
                    <a:p>
                      <a:pPr algn="just"/>
                      <a:r>
                        <a:rPr lang="en-US" sz="1400" b="1" dirty="0" err="1">
                          <a:latin typeface="Inter" panose="02000503000000020004" pitchFamily="2" charset="0"/>
                          <a:ea typeface="Inter" panose="02000503000000020004" pitchFamily="2" charset="0"/>
                          <a:cs typeface="Inter" panose="02000503000000020004" pitchFamily="2" charset="0"/>
                        </a:rPr>
                        <a:t>LangGraph</a:t>
                      </a:r>
                      <a:endParaRPr lang="en-US" sz="1400" dirty="0">
                        <a:latin typeface="Inter" panose="02000503000000020004" pitchFamily="2" charset="0"/>
                        <a:ea typeface="Inter" panose="02000503000000020004" pitchFamily="2" charset="0"/>
                        <a:cs typeface="Inter" panose="02000503000000020004" pitchFamily="2" charset="0"/>
                      </a:endParaRPr>
                    </a:p>
                  </a:txBody>
                  <a:tcPr marL="64945" marR="64945" marT="32473" marB="32473" anchor="ctr"/>
                </a:tc>
                <a:tc>
                  <a:txBody>
                    <a:bodyPr/>
                    <a:lstStyle/>
                    <a:p>
                      <a:pPr algn="just"/>
                      <a:r>
                        <a:rPr lang="en-US" sz="1800">
                          <a:latin typeface="Inter" panose="02000503000000020004" pitchFamily="2" charset="0"/>
                          <a:ea typeface="Inter" panose="02000503000000020004" pitchFamily="2" charset="0"/>
                          <a:cs typeface="Inter" panose="02000503000000020004" pitchFamily="2" charset="0"/>
                        </a:rPr>
                        <a:t>✗</a:t>
                      </a:r>
                    </a:p>
                  </a:txBody>
                  <a:tcPr marL="64945" marR="64945" marT="32473" marB="32473" anchor="ctr"/>
                </a:tc>
                <a:tc>
                  <a:txBody>
                    <a:bodyPr/>
                    <a:lstStyle/>
                    <a:p>
                      <a:pPr algn="just"/>
                      <a:r>
                        <a:rPr lang="en-US" sz="1800">
                          <a:latin typeface="Inter" panose="02000503000000020004" pitchFamily="2" charset="0"/>
                          <a:ea typeface="Inter" panose="02000503000000020004" pitchFamily="2" charset="0"/>
                          <a:cs typeface="Inter" panose="02000503000000020004" pitchFamily="2" charset="0"/>
                        </a:rPr>
                        <a:t>✓</a:t>
                      </a:r>
                    </a:p>
                  </a:txBody>
                  <a:tcPr marL="64945" marR="64945" marT="32473" marB="32473" anchor="ctr"/>
                </a:tc>
                <a:tc>
                  <a:txBody>
                    <a:bodyPr/>
                    <a:lstStyle/>
                    <a:p>
                      <a:pPr algn="just"/>
                      <a:r>
                        <a:rPr lang="en-US" sz="1800" dirty="0">
                          <a:latin typeface="Inter" panose="02000503000000020004" pitchFamily="2" charset="0"/>
                          <a:ea typeface="Inter" panose="02000503000000020004" pitchFamily="2" charset="0"/>
                          <a:cs typeface="Inter" panose="02000503000000020004" pitchFamily="2" charset="0"/>
                        </a:rPr>
                        <a:t>~</a:t>
                      </a:r>
                    </a:p>
                  </a:txBody>
                  <a:tcPr marL="64945" marR="64945" marT="32473" marB="32473" anchor="ctr"/>
                </a:tc>
                <a:tc>
                  <a:txBody>
                    <a:bodyPr/>
                    <a:lstStyle/>
                    <a:p>
                      <a:pPr algn="just"/>
                      <a:r>
                        <a:rPr lang="en-US" sz="1800" dirty="0">
                          <a:latin typeface="Inter" panose="02000503000000020004" pitchFamily="2" charset="0"/>
                          <a:ea typeface="Inter" panose="02000503000000020004" pitchFamily="2" charset="0"/>
                          <a:cs typeface="Inter" panose="02000503000000020004" pitchFamily="2" charset="0"/>
                        </a:rPr>
                        <a:t>✗</a:t>
                      </a:r>
                    </a:p>
                  </a:txBody>
                  <a:tcPr marL="64945" marR="64945" marT="32473" marB="32473" anchor="ctr"/>
                </a:tc>
                <a:tc>
                  <a:txBody>
                    <a:bodyPr/>
                    <a:lstStyle/>
                    <a:p>
                      <a:pPr algn="just"/>
                      <a:r>
                        <a:rPr lang="en-US" sz="1800">
                          <a:latin typeface="Inter" panose="02000503000000020004" pitchFamily="2" charset="0"/>
                          <a:ea typeface="Inter" panose="02000503000000020004" pitchFamily="2" charset="0"/>
                          <a:cs typeface="Inter" panose="02000503000000020004" pitchFamily="2" charset="0"/>
                        </a:rPr>
                        <a:t>~</a:t>
                      </a:r>
                    </a:p>
                  </a:txBody>
                  <a:tcPr marL="64945" marR="64945" marT="32473" marB="32473" anchor="ctr"/>
                </a:tc>
                <a:tc>
                  <a:txBody>
                    <a:bodyPr/>
                    <a:lstStyle/>
                    <a:p>
                      <a:pPr algn="just"/>
                      <a:r>
                        <a:rPr lang="en-US" sz="1800" dirty="0">
                          <a:latin typeface="Inter" panose="02000503000000020004" pitchFamily="2" charset="0"/>
                          <a:ea typeface="Inter" panose="02000503000000020004" pitchFamily="2" charset="0"/>
                          <a:cs typeface="Inter" panose="02000503000000020004" pitchFamily="2" charset="0"/>
                        </a:rPr>
                        <a:t>~</a:t>
                      </a:r>
                    </a:p>
                  </a:txBody>
                  <a:tcPr marL="64945" marR="64945" marT="32473" marB="32473" anchor="ctr"/>
                </a:tc>
                <a:tc>
                  <a:txBody>
                    <a:bodyPr/>
                    <a:lstStyle/>
                    <a:p>
                      <a:pPr algn="l"/>
                      <a:r>
                        <a:rPr lang="en-US" sz="1400" dirty="0">
                          <a:latin typeface="Inter" panose="02000503000000020004" pitchFamily="2" charset="0"/>
                          <a:ea typeface="Inter" panose="02000503000000020004" pitchFamily="2" charset="0"/>
                          <a:cs typeface="Inter" panose="02000503000000020004" pitchFamily="2" charset="0"/>
                        </a:rPr>
                        <a:t>Strong agent orchestration; APIs, security, and operations are external</a:t>
                      </a:r>
                    </a:p>
                  </a:txBody>
                  <a:tcPr marL="64945" marR="64945" marT="32473" marB="32473" anchor="ctr"/>
                </a:tc>
                <a:extLst>
                  <a:ext uri="{0D108BD9-81ED-4DB2-BD59-A6C34878D82A}">
                    <a16:rowId xmlns:a16="http://schemas.microsoft.com/office/drawing/2014/main" val="2423840235"/>
                  </a:ext>
                </a:extLst>
              </a:tr>
              <a:tr h="244798">
                <a:tc>
                  <a:txBody>
                    <a:bodyPr/>
                    <a:lstStyle/>
                    <a:p>
                      <a:pPr algn="just"/>
                      <a:r>
                        <a:rPr lang="en-US" sz="1400" b="1" dirty="0">
                          <a:latin typeface="Inter" panose="02000503000000020004" pitchFamily="2" charset="0"/>
                          <a:ea typeface="Inter" panose="02000503000000020004" pitchFamily="2" charset="0"/>
                          <a:cs typeface="Inter" panose="02000503000000020004" pitchFamily="2" charset="0"/>
                        </a:rPr>
                        <a:t>OpenAI Agents SDK</a:t>
                      </a:r>
                      <a:endParaRPr lang="en-US" sz="1400" dirty="0">
                        <a:latin typeface="Inter" panose="02000503000000020004" pitchFamily="2" charset="0"/>
                        <a:ea typeface="Inter" panose="02000503000000020004" pitchFamily="2" charset="0"/>
                        <a:cs typeface="Inter" panose="02000503000000020004" pitchFamily="2" charset="0"/>
                      </a:endParaRPr>
                    </a:p>
                  </a:txBody>
                  <a:tcPr marL="64945" marR="64945" marT="32473" marB="32473" anchor="ctr"/>
                </a:tc>
                <a:tc>
                  <a:txBody>
                    <a:bodyPr/>
                    <a:lstStyle/>
                    <a:p>
                      <a:pPr algn="just"/>
                      <a:r>
                        <a:rPr lang="en-US" sz="1800">
                          <a:latin typeface="Inter" panose="02000503000000020004" pitchFamily="2" charset="0"/>
                          <a:ea typeface="Inter" panose="02000503000000020004" pitchFamily="2" charset="0"/>
                          <a:cs typeface="Inter" panose="02000503000000020004" pitchFamily="2" charset="0"/>
                        </a:rPr>
                        <a:t>✗</a:t>
                      </a:r>
                    </a:p>
                  </a:txBody>
                  <a:tcPr marL="64945" marR="64945" marT="32473" marB="32473" anchor="ctr"/>
                </a:tc>
                <a:tc>
                  <a:txBody>
                    <a:bodyPr/>
                    <a:lstStyle/>
                    <a:p>
                      <a:pPr algn="just"/>
                      <a:r>
                        <a:rPr lang="en-US" sz="1800">
                          <a:latin typeface="Inter" panose="02000503000000020004" pitchFamily="2" charset="0"/>
                          <a:ea typeface="Inter" panose="02000503000000020004" pitchFamily="2" charset="0"/>
                          <a:cs typeface="Inter" panose="02000503000000020004" pitchFamily="2" charset="0"/>
                        </a:rPr>
                        <a:t>✓</a:t>
                      </a:r>
                    </a:p>
                  </a:txBody>
                  <a:tcPr marL="64945" marR="64945" marT="32473" marB="32473" anchor="ctr"/>
                </a:tc>
                <a:tc>
                  <a:txBody>
                    <a:bodyPr/>
                    <a:lstStyle/>
                    <a:p>
                      <a:pPr algn="just"/>
                      <a:r>
                        <a:rPr lang="en-US" sz="1800">
                          <a:latin typeface="Inter" panose="02000503000000020004" pitchFamily="2" charset="0"/>
                          <a:ea typeface="Inter" panose="02000503000000020004" pitchFamily="2" charset="0"/>
                          <a:cs typeface="Inter" panose="02000503000000020004" pitchFamily="2" charset="0"/>
                        </a:rPr>
                        <a:t>~</a:t>
                      </a:r>
                    </a:p>
                  </a:txBody>
                  <a:tcPr marL="64945" marR="64945" marT="32473" marB="32473" anchor="ctr"/>
                </a:tc>
                <a:tc>
                  <a:txBody>
                    <a:bodyPr/>
                    <a:lstStyle/>
                    <a:p>
                      <a:pPr algn="just"/>
                      <a:r>
                        <a:rPr lang="en-US" sz="1800">
                          <a:latin typeface="Inter" panose="02000503000000020004" pitchFamily="2" charset="0"/>
                          <a:ea typeface="Inter" panose="02000503000000020004" pitchFamily="2" charset="0"/>
                          <a:cs typeface="Inter" panose="02000503000000020004" pitchFamily="2" charset="0"/>
                        </a:rPr>
                        <a:t>✗</a:t>
                      </a:r>
                    </a:p>
                  </a:txBody>
                  <a:tcPr marL="64945" marR="64945" marT="32473" marB="32473" anchor="ctr"/>
                </a:tc>
                <a:tc>
                  <a:txBody>
                    <a:bodyPr/>
                    <a:lstStyle/>
                    <a:p>
                      <a:pPr algn="just"/>
                      <a:r>
                        <a:rPr lang="en-US" sz="1800">
                          <a:latin typeface="Inter" panose="02000503000000020004" pitchFamily="2" charset="0"/>
                          <a:ea typeface="Inter" panose="02000503000000020004" pitchFamily="2" charset="0"/>
                          <a:cs typeface="Inter" panose="02000503000000020004" pitchFamily="2" charset="0"/>
                        </a:rPr>
                        <a:t>~</a:t>
                      </a:r>
                    </a:p>
                  </a:txBody>
                  <a:tcPr marL="64945" marR="64945" marT="32473" marB="32473" anchor="ctr"/>
                </a:tc>
                <a:tc>
                  <a:txBody>
                    <a:bodyPr/>
                    <a:lstStyle/>
                    <a:p>
                      <a:pPr algn="just"/>
                      <a:r>
                        <a:rPr lang="en-US" sz="1800">
                          <a:latin typeface="Inter" panose="02000503000000020004" pitchFamily="2" charset="0"/>
                          <a:ea typeface="Inter" panose="02000503000000020004" pitchFamily="2" charset="0"/>
                          <a:cs typeface="Inter" panose="02000503000000020004" pitchFamily="2" charset="0"/>
                        </a:rPr>
                        <a:t>~</a:t>
                      </a:r>
                    </a:p>
                  </a:txBody>
                  <a:tcPr marL="64945" marR="64945" marT="32473" marB="32473"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Inter" panose="02000503000000020004" pitchFamily="2" charset="0"/>
                          <a:ea typeface="Inter" panose="02000503000000020004" pitchFamily="2" charset="0"/>
                          <a:cs typeface="Inter" panose="02000503000000020004" pitchFamily="2" charset="0"/>
                        </a:rPr>
                        <a:t>Fast agent development; platform governance must be added</a:t>
                      </a:r>
                    </a:p>
                  </a:txBody>
                  <a:tcPr marL="64945" marR="64945" marT="32473" marB="32473" anchor="ctr"/>
                </a:tc>
                <a:extLst>
                  <a:ext uri="{0D108BD9-81ED-4DB2-BD59-A6C34878D82A}">
                    <a16:rowId xmlns:a16="http://schemas.microsoft.com/office/drawing/2014/main" val="3521240194"/>
                  </a:ext>
                </a:extLst>
              </a:tr>
              <a:tr h="351028">
                <a:tc>
                  <a:txBody>
                    <a:bodyPr/>
                    <a:lstStyle/>
                    <a:p>
                      <a:pPr algn="just"/>
                      <a:r>
                        <a:rPr lang="en-US" sz="1400" b="1">
                          <a:latin typeface="Inter" panose="02000503000000020004" pitchFamily="2" charset="0"/>
                          <a:ea typeface="Inter" panose="02000503000000020004" pitchFamily="2" charset="0"/>
                          <a:cs typeface="Inter" panose="02000503000000020004" pitchFamily="2" charset="0"/>
                        </a:rPr>
                        <a:t>Semantic Kernel</a:t>
                      </a:r>
                      <a:endParaRPr lang="en-US" sz="1400">
                        <a:latin typeface="Inter" panose="02000503000000020004" pitchFamily="2" charset="0"/>
                        <a:ea typeface="Inter" panose="02000503000000020004" pitchFamily="2" charset="0"/>
                        <a:cs typeface="Inter" panose="02000503000000020004" pitchFamily="2" charset="0"/>
                      </a:endParaRPr>
                    </a:p>
                  </a:txBody>
                  <a:tcPr marL="64945" marR="64945" marT="32473" marB="32473" anchor="ctr"/>
                </a:tc>
                <a:tc>
                  <a:txBody>
                    <a:bodyPr/>
                    <a:lstStyle/>
                    <a:p>
                      <a:pPr algn="just"/>
                      <a:r>
                        <a:rPr lang="en-US" sz="1800">
                          <a:latin typeface="Inter" panose="02000503000000020004" pitchFamily="2" charset="0"/>
                          <a:ea typeface="Inter" panose="02000503000000020004" pitchFamily="2" charset="0"/>
                          <a:cs typeface="Inter" panose="02000503000000020004" pitchFamily="2" charset="0"/>
                        </a:rPr>
                        <a:t>✗</a:t>
                      </a:r>
                    </a:p>
                  </a:txBody>
                  <a:tcPr marL="64945" marR="64945" marT="32473" marB="32473" anchor="ctr"/>
                </a:tc>
                <a:tc>
                  <a:txBody>
                    <a:bodyPr/>
                    <a:lstStyle/>
                    <a:p>
                      <a:pPr algn="just"/>
                      <a:r>
                        <a:rPr lang="en-US" sz="1800">
                          <a:latin typeface="Inter" panose="02000503000000020004" pitchFamily="2" charset="0"/>
                          <a:ea typeface="Inter" panose="02000503000000020004" pitchFamily="2" charset="0"/>
                          <a:cs typeface="Inter" panose="02000503000000020004" pitchFamily="2" charset="0"/>
                        </a:rPr>
                        <a:t>✓</a:t>
                      </a:r>
                    </a:p>
                  </a:txBody>
                  <a:tcPr marL="64945" marR="64945" marT="32473" marB="32473" anchor="ctr"/>
                </a:tc>
                <a:tc>
                  <a:txBody>
                    <a:bodyPr/>
                    <a:lstStyle/>
                    <a:p>
                      <a:pPr algn="just"/>
                      <a:r>
                        <a:rPr lang="en-US" sz="1800">
                          <a:latin typeface="Inter" panose="02000503000000020004" pitchFamily="2" charset="0"/>
                          <a:ea typeface="Inter" panose="02000503000000020004" pitchFamily="2" charset="0"/>
                          <a:cs typeface="Inter" panose="02000503000000020004" pitchFamily="2" charset="0"/>
                        </a:rPr>
                        <a:t>~</a:t>
                      </a:r>
                    </a:p>
                  </a:txBody>
                  <a:tcPr marL="64945" marR="64945" marT="32473" marB="32473" anchor="ctr"/>
                </a:tc>
                <a:tc>
                  <a:txBody>
                    <a:bodyPr/>
                    <a:lstStyle/>
                    <a:p>
                      <a:pPr algn="just"/>
                      <a:r>
                        <a:rPr lang="en-US" sz="1800">
                          <a:latin typeface="Inter" panose="02000503000000020004" pitchFamily="2" charset="0"/>
                          <a:ea typeface="Inter" panose="02000503000000020004" pitchFamily="2" charset="0"/>
                          <a:cs typeface="Inter" panose="02000503000000020004" pitchFamily="2" charset="0"/>
                        </a:rPr>
                        <a:t>~</a:t>
                      </a:r>
                    </a:p>
                  </a:txBody>
                  <a:tcPr marL="64945" marR="64945" marT="32473" marB="32473" anchor="ctr"/>
                </a:tc>
                <a:tc>
                  <a:txBody>
                    <a:bodyPr/>
                    <a:lstStyle/>
                    <a:p>
                      <a:pPr algn="just"/>
                      <a:r>
                        <a:rPr lang="en-US" sz="1800">
                          <a:latin typeface="Inter" panose="02000503000000020004" pitchFamily="2" charset="0"/>
                          <a:ea typeface="Inter" panose="02000503000000020004" pitchFamily="2" charset="0"/>
                          <a:cs typeface="Inter" panose="02000503000000020004" pitchFamily="2" charset="0"/>
                        </a:rPr>
                        <a:t>~</a:t>
                      </a:r>
                    </a:p>
                  </a:txBody>
                  <a:tcPr marL="64945" marR="64945" marT="32473" marB="32473" anchor="ctr"/>
                </a:tc>
                <a:tc>
                  <a:txBody>
                    <a:bodyPr/>
                    <a:lstStyle/>
                    <a:p>
                      <a:pPr algn="just"/>
                      <a:r>
                        <a:rPr lang="en-US" sz="1800">
                          <a:latin typeface="Inter" panose="02000503000000020004" pitchFamily="2" charset="0"/>
                          <a:ea typeface="Inter" panose="02000503000000020004" pitchFamily="2" charset="0"/>
                          <a:cs typeface="Inter" panose="02000503000000020004" pitchFamily="2" charset="0"/>
                        </a:rPr>
                        <a:t>~</a:t>
                      </a:r>
                    </a:p>
                  </a:txBody>
                  <a:tcPr marL="64945" marR="64945" marT="32473" marB="32473"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Inter" panose="02000503000000020004" pitchFamily="2" charset="0"/>
                          <a:ea typeface="Inter" panose="02000503000000020004" pitchFamily="2" charset="0"/>
                          <a:cs typeface="Inter" panose="02000503000000020004" pitchFamily="2" charset="0"/>
                        </a:rPr>
                        <a:t>Flexible AI orchestration; deployment is external</a:t>
                      </a:r>
                    </a:p>
                  </a:txBody>
                  <a:tcPr marL="64945" marR="64945" marT="32473" marB="32473" anchor="ctr"/>
                </a:tc>
                <a:extLst>
                  <a:ext uri="{0D108BD9-81ED-4DB2-BD59-A6C34878D82A}">
                    <a16:rowId xmlns:a16="http://schemas.microsoft.com/office/drawing/2014/main" val="4242245155"/>
                  </a:ext>
                </a:extLst>
              </a:tr>
              <a:tr h="351028">
                <a:tc>
                  <a:txBody>
                    <a:bodyPr/>
                    <a:lstStyle/>
                    <a:p>
                      <a:pPr algn="just"/>
                      <a:r>
                        <a:rPr lang="en-US" sz="1400" b="1" dirty="0">
                          <a:latin typeface="Inter" panose="02000503000000020004" pitchFamily="2" charset="0"/>
                          <a:ea typeface="Inter" panose="02000503000000020004" pitchFamily="2" charset="0"/>
                          <a:cs typeface="Inter" panose="02000503000000020004" pitchFamily="2" charset="0"/>
                        </a:rPr>
                        <a:t>n8n</a:t>
                      </a:r>
                      <a:endParaRPr lang="en-US" sz="1400" dirty="0">
                        <a:latin typeface="Inter" panose="02000503000000020004" pitchFamily="2" charset="0"/>
                        <a:ea typeface="Inter" panose="02000503000000020004" pitchFamily="2" charset="0"/>
                        <a:cs typeface="Inter" panose="02000503000000020004" pitchFamily="2" charset="0"/>
                      </a:endParaRPr>
                    </a:p>
                  </a:txBody>
                  <a:tcPr marL="64945" marR="64945" marT="32473" marB="32473" anchor="ctr"/>
                </a:tc>
                <a:tc>
                  <a:txBody>
                    <a:bodyPr/>
                    <a:lstStyle/>
                    <a:p>
                      <a:pPr algn="just"/>
                      <a:r>
                        <a:rPr lang="en-US" sz="1800">
                          <a:latin typeface="Inter" panose="02000503000000020004" pitchFamily="2" charset="0"/>
                          <a:ea typeface="Inter" panose="02000503000000020004" pitchFamily="2" charset="0"/>
                          <a:cs typeface="Inter" panose="02000503000000020004" pitchFamily="2" charset="0"/>
                        </a:rPr>
                        <a:t>✓</a:t>
                      </a:r>
                    </a:p>
                  </a:txBody>
                  <a:tcPr marL="64945" marR="64945" marT="32473" marB="32473" anchor="ctr"/>
                </a:tc>
                <a:tc>
                  <a:txBody>
                    <a:bodyPr/>
                    <a:lstStyle/>
                    <a:p>
                      <a:pPr algn="just"/>
                      <a:r>
                        <a:rPr lang="en-US" sz="1800">
                          <a:latin typeface="Inter" panose="02000503000000020004" pitchFamily="2" charset="0"/>
                          <a:ea typeface="Inter" panose="02000503000000020004" pitchFamily="2" charset="0"/>
                          <a:cs typeface="Inter" panose="02000503000000020004" pitchFamily="2" charset="0"/>
                        </a:rPr>
                        <a:t>~</a:t>
                      </a:r>
                    </a:p>
                  </a:txBody>
                  <a:tcPr marL="64945" marR="64945" marT="32473" marB="32473" anchor="ctr"/>
                </a:tc>
                <a:tc>
                  <a:txBody>
                    <a:bodyPr/>
                    <a:lstStyle/>
                    <a:p>
                      <a:pPr algn="just"/>
                      <a:r>
                        <a:rPr lang="en-US" sz="1800">
                          <a:latin typeface="Inter" panose="02000503000000020004" pitchFamily="2" charset="0"/>
                          <a:ea typeface="Inter" panose="02000503000000020004" pitchFamily="2" charset="0"/>
                          <a:cs typeface="Inter" panose="02000503000000020004" pitchFamily="2" charset="0"/>
                        </a:rPr>
                        <a:t>~</a:t>
                      </a:r>
                    </a:p>
                  </a:txBody>
                  <a:tcPr marL="64945" marR="64945" marT="32473" marB="32473" anchor="ctr"/>
                </a:tc>
                <a:tc>
                  <a:txBody>
                    <a:bodyPr/>
                    <a:lstStyle/>
                    <a:p>
                      <a:pPr algn="just"/>
                      <a:r>
                        <a:rPr lang="en-US" sz="1800">
                          <a:latin typeface="Inter" panose="02000503000000020004" pitchFamily="2" charset="0"/>
                          <a:ea typeface="Inter" panose="02000503000000020004" pitchFamily="2" charset="0"/>
                          <a:cs typeface="Inter" panose="02000503000000020004" pitchFamily="2" charset="0"/>
                        </a:rPr>
                        <a:t>~</a:t>
                      </a:r>
                    </a:p>
                  </a:txBody>
                  <a:tcPr marL="64945" marR="64945" marT="32473" marB="32473" anchor="ctr"/>
                </a:tc>
                <a:tc>
                  <a:txBody>
                    <a:bodyPr/>
                    <a:lstStyle/>
                    <a:p>
                      <a:pPr algn="just"/>
                      <a:r>
                        <a:rPr lang="en-US" sz="1800">
                          <a:latin typeface="Inter" panose="02000503000000020004" pitchFamily="2" charset="0"/>
                          <a:ea typeface="Inter" panose="02000503000000020004" pitchFamily="2" charset="0"/>
                          <a:cs typeface="Inter" panose="02000503000000020004" pitchFamily="2" charset="0"/>
                        </a:rPr>
                        <a:t>✗</a:t>
                      </a:r>
                    </a:p>
                  </a:txBody>
                  <a:tcPr marL="64945" marR="64945" marT="32473" marB="32473" anchor="ctr"/>
                </a:tc>
                <a:tc>
                  <a:txBody>
                    <a:bodyPr/>
                    <a:lstStyle/>
                    <a:p>
                      <a:pPr algn="just"/>
                      <a:r>
                        <a:rPr lang="en-US" sz="1800" dirty="0">
                          <a:latin typeface="Inter" panose="02000503000000020004" pitchFamily="2" charset="0"/>
                          <a:ea typeface="Inter" panose="02000503000000020004" pitchFamily="2" charset="0"/>
                          <a:cs typeface="Inter" panose="02000503000000020004" pitchFamily="2" charset="0"/>
                        </a:rPr>
                        <a:t>~</a:t>
                      </a:r>
                    </a:p>
                  </a:txBody>
                  <a:tcPr marL="64945" marR="64945" marT="32473" marB="32473"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Inter" panose="02000503000000020004" pitchFamily="2" charset="0"/>
                          <a:ea typeface="Inter" panose="02000503000000020004" pitchFamily="2" charset="0"/>
                          <a:cs typeface="Inter" panose="02000503000000020004" pitchFamily="2" charset="0"/>
                        </a:rPr>
                        <a:t>Strong visual automation; limited for secure graph-agent workloads</a:t>
                      </a:r>
                    </a:p>
                  </a:txBody>
                  <a:tcPr marL="64945" marR="64945" marT="32473" marB="32473" anchor="ctr"/>
                </a:tc>
                <a:extLst>
                  <a:ext uri="{0D108BD9-81ED-4DB2-BD59-A6C34878D82A}">
                    <a16:rowId xmlns:a16="http://schemas.microsoft.com/office/drawing/2014/main" val="2309537851"/>
                  </a:ext>
                </a:extLst>
              </a:tr>
            </a:tbl>
          </a:graphicData>
        </a:graphic>
      </p:graphicFrame>
      <p:sp>
        <p:nvSpPr>
          <p:cNvPr id="22" name="TextBox 21">
            <a:extLst>
              <a:ext uri="{FF2B5EF4-FFF2-40B4-BE49-F238E27FC236}">
                <a16:creationId xmlns:a16="http://schemas.microsoft.com/office/drawing/2014/main" id="{3AFCE1F2-B40C-1B80-16BB-E77078E459AF}"/>
              </a:ext>
            </a:extLst>
          </p:cNvPr>
          <p:cNvSpPr txBox="1"/>
          <p:nvPr/>
        </p:nvSpPr>
        <p:spPr>
          <a:xfrm>
            <a:off x="8146772" y="5260419"/>
            <a:ext cx="3442252" cy="738664"/>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400" dirty="0">
                <a:latin typeface="Inter" panose="02000503000000020004" pitchFamily="2" charset="0"/>
                <a:ea typeface="Inter" panose="02000503000000020004" pitchFamily="2" charset="0"/>
                <a:cs typeface="Inter" panose="02000503000000020004" pitchFamily="2" charset="0"/>
              </a:rPr>
              <a:t>✓ = Native support</a:t>
            </a:r>
          </a:p>
          <a:p>
            <a:r>
              <a:rPr lang="en-US" sz="1400" dirty="0">
                <a:latin typeface="Inter" panose="02000503000000020004" pitchFamily="2" charset="0"/>
                <a:ea typeface="Inter" panose="02000503000000020004" pitchFamily="2" charset="0"/>
                <a:cs typeface="Inter" panose="02000503000000020004" pitchFamily="2" charset="0"/>
              </a:rPr>
              <a:t>~ = Partial / requires customization</a:t>
            </a:r>
          </a:p>
          <a:p>
            <a:r>
              <a:rPr lang="en-US" sz="1400" dirty="0">
                <a:latin typeface="Inter" panose="02000503000000020004" pitchFamily="2" charset="0"/>
                <a:ea typeface="Inter" panose="02000503000000020004" pitchFamily="2" charset="0"/>
                <a:cs typeface="Inter" panose="02000503000000020004" pitchFamily="2" charset="0"/>
              </a:rPr>
              <a:t>✗ = Not supported</a:t>
            </a:r>
          </a:p>
        </p:txBody>
      </p:sp>
      <p:sp>
        <p:nvSpPr>
          <p:cNvPr id="23" name="TextBox 22">
            <a:extLst>
              <a:ext uri="{FF2B5EF4-FFF2-40B4-BE49-F238E27FC236}">
                <a16:creationId xmlns:a16="http://schemas.microsoft.com/office/drawing/2014/main" id="{94974FA0-2DCF-D066-8115-27483C80C314}"/>
              </a:ext>
            </a:extLst>
          </p:cNvPr>
          <p:cNvSpPr txBox="1"/>
          <p:nvPr/>
        </p:nvSpPr>
        <p:spPr>
          <a:xfrm>
            <a:off x="593032" y="5198864"/>
            <a:ext cx="7331768" cy="861774"/>
          </a:xfrm>
          <a:prstGeom prst="rect">
            <a:avLst/>
          </a:prstGeom>
          <a:noFill/>
        </p:spPr>
        <p:txBody>
          <a:bodyPr wrap="square" rtlCol="0">
            <a:spAutoFit/>
          </a:bodyPr>
          <a:lstStyle/>
          <a:p>
            <a:r>
              <a:rPr lang="en-US" b="1" dirty="0">
                <a:latin typeface="Inter" panose="02000503000000020004" pitchFamily="2" charset="0"/>
                <a:ea typeface="Inter" panose="02000503000000020004" pitchFamily="2" charset="0"/>
                <a:cs typeface="Inter" panose="02000503000000020004" pitchFamily="2" charset="0"/>
              </a:rPr>
              <a:t>Main takeaway:</a:t>
            </a:r>
          </a:p>
          <a:p>
            <a:r>
              <a:rPr lang="en-US" sz="1600" dirty="0">
                <a:latin typeface="Inter" panose="02000503000000020004" pitchFamily="2" charset="0"/>
                <a:ea typeface="Inter" panose="02000503000000020004" pitchFamily="2" charset="0"/>
                <a:cs typeface="Inter" panose="02000503000000020004" pitchFamily="2" charset="0"/>
              </a:rPr>
              <a:t>CAP combines agent orchestration, durable jobs, governed tools, secure graph access, multi-tenancy, and observability into one platform.</a:t>
            </a:r>
          </a:p>
        </p:txBody>
      </p:sp>
    </p:spTree>
    <p:extLst>
      <p:ext uri="{BB962C8B-B14F-4D97-AF65-F5344CB8AC3E}">
        <p14:creationId xmlns:p14="http://schemas.microsoft.com/office/powerpoint/2010/main" val="27539676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39995-9008-CFFA-E408-B78389C90995}"/>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10AD2FE3-5AAD-6980-5C21-B040B62A1C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Slide Number Placeholder 11">
            <a:extLst>
              <a:ext uri="{FF2B5EF4-FFF2-40B4-BE49-F238E27FC236}">
                <a16:creationId xmlns:a16="http://schemas.microsoft.com/office/drawing/2014/main" id="{F29A7A22-4422-92CE-0FFD-B38D81A3E4AF}"/>
              </a:ext>
            </a:extLst>
          </p:cNvPr>
          <p:cNvSpPr>
            <a:spLocks noGrp="1"/>
          </p:cNvSpPr>
          <p:nvPr>
            <p:ph type="sldNum" sz="quarter" idx="12"/>
          </p:nvPr>
        </p:nvSpPr>
        <p:spPr/>
        <p:txBody>
          <a:bodyPr/>
          <a:lstStyle/>
          <a:p>
            <a:fld id="{48F19E39-9933-F648-B2F3-3AC17C0DC986}" type="slidenum">
              <a:rPr lang="en-US" smtClean="0">
                <a:solidFill>
                  <a:schemeClr val="bg1"/>
                </a:solidFill>
              </a:rPr>
              <a:t>16</a:t>
            </a:fld>
            <a:r>
              <a:rPr lang="en-US" dirty="0">
                <a:solidFill>
                  <a:schemeClr val="bg1"/>
                </a:solidFill>
              </a:rPr>
              <a:t> / 17</a:t>
            </a:r>
          </a:p>
        </p:txBody>
      </p:sp>
      <p:sp>
        <p:nvSpPr>
          <p:cNvPr id="5" name="TextBox 4">
            <a:extLst>
              <a:ext uri="{FF2B5EF4-FFF2-40B4-BE49-F238E27FC236}">
                <a16:creationId xmlns:a16="http://schemas.microsoft.com/office/drawing/2014/main" id="{BE943AC3-450E-5923-DB14-D5DFF1625D98}"/>
              </a:ext>
            </a:extLst>
          </p:cNvPr>
          <p:cNvSpPr txBox="1"/>
          <p:nvPr/>
        </p:nvSpPr>
        <p:spPr>
          <a:xfrm>
            <a:off x="596348" y="374273"/>
            <a:ext cx="11127823" cy="830997"/>
          </a:xfrm>
          <a:prstGeom prst="rect">
            <a:avLst/>
          </a:prstGeom>
          <a:noFill/>
        </p:spPr>
        <p:txBody>
          <a:bodyPr wrap="square" rtlCol="0">
            <a:spAutoFit/>
          </a:bodyPr>
          <a:lstStyle/>
          <a:p>
            <a:r>
              <a:rPr lang="en-US" sz="2800" b="1" dirty="0">
                <a:solidFill>
                  <a:srgbClr val="822334"/>
                </a:solidFill>
                <a:latin typeface="Inter" panose="02000503000000020004" pitchFamily="2" charset="0"/>
                <a:ea typeface="Inter" panose="02000503000000020004" pitchFamily="2" charset="0"/>
                <a:cs typeface="Inter" panose="02000503000000020004" pitchFamily="2" charset="0"/>
              </a:rPr>
              <a:t>CONCLUSION + FUTURE WORK</a:t>
            </a:r>
          </a:p>
          <a:p>
            <a:r>
              <a:rPr lang="en-US" sz="2000" dirty="0">
                <a:solidFill>
                  <a:schemeClr val="bg2">
                    <a:lumMod val="50000"/>
                  </a:schemeClr>
                </a:solidFill>
                <a:latin typeface="Inter" panose="02000503000000020004" pitchFamily="2" charset="0"/>
                <a:ea typeface="Inter" panose="02000503000000020004" pitchFamily="2" charset="0"/>
                <a:cs typeface="Inter" panose="02000503000000020004" pitchFamily="2" charset="0"/>
              </a:rPr>
              <a:t>From natural language to safe, traceable graph actions</a:t>
            </a:r>
          </a:p>
        </p:txBody>
      </p:sp>
      <p:sp>
        <p:nvSpPr>
          <p:cNvPr id="10" name="Footer Placeholder 10">
            <a:extLst>
              <a:ext uri="{FF2B5EF4-FFF2-40B4-BE49-F238E27FC236}">
                <a16:creationId xmlns:a16="http://schemas.microsoft.com/office/drawing/2014/main" id="{86FF5877-2DCA-8688-590C-E15EAC6FD6A8}"/>
              </a:ext>
            </a:extLst>
          </p:cNvPr>
          <p:cNvSpPr>
            <a:spLocks noGrp="1"/>
          </p:cNvSpPr>
          <p:nvPr>
            <p:ph type="ftr" sz="quarter" idx="11"/>
          </p:nvPr>
        </p:nvSpPr>
        <p:spPr>
          <a:xfrm>
            <a:off x="4566534" y="6356350"/>
            <a:ext cx="3058931" cy="365125"/>
          </a:xfrm>
        </p:spPr>
        <p:txBody>
          <a:bodyPr/>
          <a:lstStyle/>
          <a:p>
            <a:r>
              <a:rPr lang="en-US" dirty="0" err="1">
                <a:solidFill>
                  <a:schemeClr val="bg1"/>
                </a:solidFill>
                <a:latin typeface="Inter" panose="02000503000000020004" pitchFamily="2" charset="0"/>
                <a:ea typeface="Inter" panose="02000503000000020004" pitchFamily="2" charset="0"/>
                <a:cs typeface="Inter" panose="02000503000000020004" pitchFamily="2" charset="0"/>
              </a:rPr>
              <a:t>Cineca</a:t>
            </a:r>
            <a:r>
              <a:rPr lang="en-US" dirty="0">
                <a:solidFill>
                  <a:schemeClr val="bg1"/>
                </a:solidFill>
                <a:latin typeface="Inter" panose="02000503000000020004" pitchFamily="2" charset="0"/>
                <a:ea typeface="Inter" panose="02000503000000020004" pitchFamily="2" charset="0"/>
                <a:cs typeface="Inter" panose="02000503000000020004" pitchFamily="2" charset="0"/>
              </a:rPr>
              <a:t> Agentic Platform – Arman Feili</a:t>
            </a:r>
          </a:p>
        </p:txBody>
      </p:sp>
      <p:pic>
        <p:nvPicPr>
          <p:cNvPr id="13" name="Picture 12">
            <a:extLst>
              <a:ext uri="{FF2B5EF4-FFF2-40B4-BE49-F238E27FC236}">
                <a16:creationId xmlns:a16="http://schemas.microsoft.com/office/drawing/2014/main" id="{7240A011-B538-B2F8-ECAE-30C1169D8061}"/>
              </a:ext>
            </a:extLst>
          </p:cNvPr>
          <p:cNvPicPr>
            <a:picLocks noChangeAspect="1"/>
          </p:cNvPicPr>
          <p:nvPr/>
        </p:nvPicPr>
        <p:blipFill>
          <a:blip r:embed="rId3"/>
          <a:stretch>
            <a:fillRect/>
          </a:stretch>
        </p:blipFill>
        <p:spPr>
          <a:xfrm>
            <a:off x="321777" y="6315552"/>
            <a:ext cx="435345" cy="435345"/>
          </a:xfrm>
          <a:prstGeom prst="rect">
            <a:avLst/>
          </a:prstGeom>
        </p:spPr>
      </p:pic>
      <p:pic>
        <p:nvPicPr>
          <p:cNvPr id="14" name="Picture 13">
            <a:extLst>
              <a:ext uri="{FF2B5EF4-FFF2-40B4-BE49-F238E27FC236}">
                <a16:creationId xmlns:a16="http://schemas.microsoft.com/office/drawing/2014/main" id="{FAC4E73C-DBF2-7102-D008-31AC58795333}"/>
              </a:ext>
            </a:extLst>
          </p:cNvPr>
          <p:cNvPicPr>
            <a:picLocks noChangeAspect="1"/>
          </p:cNvPicPr>
          <p:nvPr/>
        </p:nvPicPr>
        <p:blipFill>
          <a:blip r:embed="rId4"/>
          <a:stretch>
            <a:fillRect/>
          </a:stretch>
        </p:blipFill>
        <p:spPr>
          <a:xfrm>
            <a:off x="866134" y="6362629"/>
            <a:ext cx="1093241" cy="365125"/>
          </a:xfrm>
          <a:prstGeom prst="rect">
            <a:avLst/>
          </a:prstGeom>
        </p:spPr>
      </p:pic>
      <p:sp>
        <p:nvSpPr>
          <p:cNvPr id="18" name="TextBox 17">
            <a:extLst>
              <a:ext uri="{FF2B5EF4-FFF2-40B4-BE49-F238E27FC236}">
                <a16:creationId xmlns:a16="http://schemas.microsoft.com/office/drawing/2014/main" id="{00E35791-74F3-1152-8ECE-8F0D2418C0C2}"/>
              </a:ext>
            </a:extLst>
          </p:cNvPr>
          <p:cNvSpPr txBox="1"/>
          <p:nvPr/>
        </p:nvSpPr>
        <p:spPr>
          <a:xfrm>
            <a:off x="596345" y="1581293"/>
            <a:ext cx="11127823" cy="4370427"/>
          </a:xfrm>
          <a:prstGeom prst="rect">
            <a:avLst/>
          </a:prstGeom>
          <a:noFill/>
        </p:spPr>
        <p:txBody>
          <a:bodyPr wrap="square" rtlCol="0">
            <a:spAutoFit/>
          </a:bodyPr>
          <a:lstStyle/>
          <a:p>
            <a:r>
              <a:rPr lang="en-US" b="1" dirty="0">
                <a:latin typeface="Inter" panose="02000503000000020004" pitchFamily="2" charset="0"/>
                <a:ea typeface="Inter" panose="02000503000000020004" pitchFamily="2" charset="0"/>
                <a:cs typeface="Inter" panose="02000503000000020004" pitchFamily="2" charset="0"/>
              </a:rPr>
              <a:t>Key Contribution</a:t>
            </a:r>
            <a:endParaRPr lang="en-US" dirty="0">
              <a:latin typeface="Inter" panose="02000503000000020004" pitchFamily="2" charset="0"/>
              <a:ea typeface="Inter" panose="02000503000000020004" pitchFamily="2" charset="0"/>
              <a:cs typeface="Inter" panose="02000503000000020004" pitchFamily="2" charset="0"/>
            </a:endParaRPr>
          </a:p>
          <a:p>
            <a:r>
              <a:rPr lang="en-US" sz="1600" dirty="0">
                <a:latin typeface="Inter" panose="02000503000000020004" pitchFamily="2" charset="0"/>
                <a:ea typeface="Inter" panose="02000503000000020004" pitchFamily="2" charset="0"/>
                <a:cs typeface="Inter" panose="02000503000000020004" pitchFamily="2" charset="0"/>
              </a:rPr>
              <a:t>This thesis developed a multi-tenant AI platform that turns natural-language requests into safe, controlled, and traceable graph actions.</a:t>
            </a:r>
          </a:p>
          <a:p>
            <a:endParaRPr lang="en-US" sz="1600" dirty="0">
              <a:latin typeface="Inter" panose="02000503000000020004" pitchFamily="2" charset="0"/>
              <a:ea typeface="Inter" panose="02000503000000020004" pitchFamily="2" charset="0"/>
              <a:cs typeface="Inter" panose="02000503000000020004" pitchFamily="2" charset="0"/>
            </a:endParaRPr>
          </a:p>
          <a:p>
            <a:r>
              <a:rPr lang="en-US" b="1" dirty="0">
                <a:latin typeface="Inter" panose="02000503000000020004" pitchFamily="2" charset="0"/>
                <a:ea typeface="Inter" panose="02000503000000020004" pitchFamily="2" charset="0"/>
                <a:cs typeface="Inter" panose="02000503000000020004" pitchFamily="2" charset="0"/>
              </a:rPr>
              <a:t>The platform connects:</a:t>
            </a: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Agents</a:t>
            </a:r>
            <a:r>
              <a:rPr lang="en-US" sz="1600" dirty="0">
                <a:latin typeface="Inter" panose="02000503000000020004" pitchFamily="2" charset="0"/>
                <a:ea typeface="Inter" panose="02000503000000020004" pitchFamily="2" charset="0"/>
                <a:cs typeface="Inter" panose="02000503000000020004" pitchFamily="2" charset="0"/>
              </a:rPr>
              <a:t> for multi-step reasoning and execution</a:t>
            </a: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MCP tools</a:t>
            </a:r>
            <a:r>
              <a:rPr lang="en-US" sz="1600" dirty="0">
                <a:latin typeface="Inter" panose="02000503000000020004" pitchFamily="2" charset="0"/>
                <a:ea typeface="Inter" panose="02000503000000020004" pitchFamily="2" charset="0"/>
                <a:cs typeface="Inter" panose="02000503000000020004" pitchFamily="2" charset="0"/>
              </a:rPr>
              <a:t> for controlled platform actions</a:t>
            </a: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Async jobs</a:t>
            </a:r>
            <a:r>
              <a:rPr lang="en-US" sz="1600" dirty="0">
                <a:latin typeface="Inter" panose="02000503000000020004" pitchFamily="2" charset="0"/>
                <a:ea typeface="Inter" panose="02000503000000020004" pitchFamily="2" charset="0"/>
                <a:cs typeface="Inter" panose="02000503000000020004" pitchFamily="2" charset="0"/>
              </a:rPr>
              <a:t> for long-running tasks</a:t>
            </a: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Secure graph access</a:t>
            </a:r>
            <a:r>
              <a:rPr lang="en-US" sz="1600" dirty="0">
                <a:latin typeface="Inter" panose="02000503000000020004" pitchFamily="2" charset="0"/>
                <a:ea typeface="Inter" panose="02000503000000020004" pitchFamily="2" charset="0"/>
                <a:cs typeface="Inter" panose="02000503000000020004" pitchFamily="2" charset="0"/>
              </a:rPr>
              <a:t> for validated </a:t>
            </a:r>
            <a:r>
              <a:rPr lang="en-US" sz="1600" dirty="0" err="1">
                <a:latin typeface="Inter" panose="02000503000000020004" pitchFamily="2" charset="0"/>
                <a:ea typeface="Inter" panose="02000503000000020004" pitchFamily="2" charset="0"/>
                <a:cs typeface="Inter" panose="02000503000000020004" pitchFamily="2" charset="0"/>
              </a:rPr>
              <a:t>NL→Cypher</a:t>
            </a:r>
            <a:r>
              <a:rPr lang="en-US" sz="1600" dirty="0">
                <a:latin typeface="Inter" panose="02000503000000020004" pitchFamily="2" charset="0"/>
                <a:ea typeface="Inter" panose="02000503000000020004" pitchFamily="2" charset="0"/>
                <a:cs typeface="Inter" panose="02000503000000020004" pitchFamily="2" charset="0"/>
              </a:rPr>
              <a:t> queries</a:t>
            </a: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Observability</a:t>
            </a:r>
            <a:r>
              <a:rPr lang="en-US" sz="1600" dirty="0">
                <a:latin typeface="Inter" panose="02000503000000020004" pitchFamily="2" charset="0"/>
                <a:ea typeface="Inter" panose="02000503000000020004" pitchFamily="2" charset="0"/>
                <a:cs typeface="Inter" panose="02000503000000020004" pitchFamily="2" charset="0"/>
              </a:rPr>
              <a:t> for tracing, monitoring, and debugging</a:t>
            </a:r>
          </a:p>
          <a:p>
            <a:endParaRPr lang="en-US" sz="1600" b="1" dirty="0">
              <a:latin typeface="Inter" panose="02000503000000020004" pitchFamily="2" charset="0"/>
              <a:ea typeface="Inter" panose="02000503000000020004" pitchFamily="2" charset="0"/>
              <a:cs typeface="Inter" panose="02000503000000020004" pitchFamily="2" charset="0"/>
            </a:endParaRPr>
          </a:p>
          <a:p>
            <a:r>
              <a:rPr lang="en-US" b="1" dirty="0">
                <a:latin typeface="Inter" panose="02000503000000020004" pitchFamily="2" charset="0"/>
                <a:ea typeface="Inter" panose="02000503000000020004" pitchFamily="2" charset="0"/>
                <a:cs typeface="Inter" panose="02000503000000020004" pitchFamily="2" charset="0"/>
              </a:rPr>
              <a:t>Future Work</a:t>
            </a:r>
            <a:endParaRPr lang="en-US" dirty="0">
              <a:latin typeface="Inter" panose="02000503000000020004" pitchFamily="2" charset="0"/>
              <a:ea typeface="Inter" panose="02000503000000020004" pitchFamily="2" charset="0"/>
              <a:cs typeface="Inter" panose="02000503000000020004" pitchFamily="2" charset="0"/>
            </a:endParaRP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Add a lightweight Ask Mode for simple Q&amp;A</a:t>
            </a: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Improve handling of unclear, mixed, or risky prompts</a:t>
            </a: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Recover interrupted workflows from the last completed step</a:t>
            </a: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Manage job queues with priorities, tenant limits, and overload protection</a:t>
            </a:r>
            <a:br>
              <a:rPr lang="en-US" sz="1600" dirty="0">
                <a:latin typeface="Inter" panose="02000503000000020004" pitchFamily="2" charset="0"/>
                <a:ea typeface="Inter" panose="02000503000000020004" pitchFamily="2" charset="0"/>
                <a:cs typeface="Inter" panose="02000503000000020004" pitchFamily="2" charset="0"/>
              </a:rPr>
            </a:br>
            <a:r>
              <a:rPr lang="en-US" sz="1600" i="1" dirty="0">
                <a:latin typeface="Inter" panose="02000503000000020004" pitchFamily="2" charset="0"/>
                <a:ea typeface="Inter" panose="02000503000000020004" pitchFamily="2" charset="0"/>
                <a:cs typeface="Inter" panose="02000503000000020004" pitchFamily="2" charset="0"/>
              </a:rPr>
              <a:t>Example: short chat jobs can run before long export jobs</a:t>
            </a:r>
            <a:endParaRPr lang="en-US" sz="1600" dirty="0">
              <a:latin typeface="Inter" panose="02000503000000020004" pitchFamily="2" charset="0"/>
              <a:ea typeface="Inter" panose="02000503000000020004" pitchFamily="2" charset="0"/>
              <a:cs typeface="Inter" panose="02000503000000020004" pitchFamily="2" charset="0"/>
            </a:endParaRPr>
          </a:p>
        </p:txBody>
      </p:sp>
      <p:pic>
        <p:nvPicPr>
          <p:cNvPr id="20" name="Picture 19">
            <a:extLst>
              <a:ext uri="{FF2B5EF4-FFF2-40B4-BE49-F238E27FC236}">
                <a16:creationId xmlns:a16="http://schemas.microsoft.com/office/drawing/2014/main" id="{A4C9AD83-8581-0E43-8485-E646A354C4F7}"/>
              </a:ext>
            </a:extLst>
          </p:cNvPr>
          <p:cNvPicPr>
            <a:picLocks noChangeAspect="1"/>
          </p:cNvPicPr>
          <p:nvPr/>
        </p:nvPicPr>
        <p:blipFill>
          <a:blip r:embed="rId5"/>
          <a:stretch>
            <a:fillRect/>
          </a:stretch>
        </p:blipFill>
        <p:spPr>
          <a:xfrm>
            <a:off x="7441601" y="2768694"/>
            <a:ext cx="4282570" cy="1767638"/>
          </a:xfrm>
          <a:prstGeom prst="rect">
            <a:avLst/>
          </a:prstGeom>
        </p:spPr>
      </p:pic>
    </p:spTree>
    <p:extLst>
      <p:ext uri="{BB962C8B-B14F-4D97-AF65-F5344CB8AC3E}">
        <p14:creationId xmlns:p14="http://schemas.microsoft.com/office/powerpoint/2010/main" val="8980293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DBD821E8-3354-7535-EC13-817D28E082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Slide Number Placeholder 11">
            <a:extLst>
              <a:ext uri="{FF2B5EF4-FFF2-40B4-BE49-F238E27FC236}">
                <a16:creationId xmlns:a16="http://schemas.microsoft.com/office/drawing/2014/main" id="{93EE6864-9854-8F88-F097-07FDF4A8AF9D}"/>
              </a:ext>
            </a:extLst>
          </p:cNvPr>
          <p:cNvSpPr>
            <a:spLocks noGrp="1"/>
          </p:cNvSpPr>
          <p:nvPr>
            <p:ph type="sldNum" sz="quarter" idx="12"/>
          </p:nvPr>
        </p:nvSpPr>
        <p:spPr/>
        <p:txBody>
          <a:bodyPr/>
          <a:lstStyle/>
          <a:p>
            <a:fld id="{48F19E39-9933-F648-B2F3-3AC17C0DC986}" type="slidenum">
              <a:rPr lang="en-US" smtClean="0">
                <a:solidFill>
                  <a:schemeClr val="bg1"/>
                </a:solidFill>
              </a:rPr>
              <a:t>17</a:t>
            </a:fld>
            <a:r>
              <a:rPr lang="en-US" dirty="0">
                <a:solidFill>
                  <a:schemeClr val="bg1"/>
                </a:solidFill>
              </a:rPr>
              <a:t> / 17</a:t>
            </a:r>
          </a:p>
        </p:txBody>
      </p:sp>
      <p:sp>
        <p:nvSpPr>
          <p:cNvPr id="8" name="TextBox 7">
            <a:extLst>
              <a:ext uri="{FF2B5EF4-FFF2-40B4-BE49-F238E27FC236}">
                <a16:creationId xmlns:a16="http://schemas.microsoft.com/office/drawing/2014/main" id="{A35675E4-D55C-3F6B-0DEB-5576B0D311F5}"/>
              </a:ext>
            </a:extLst>
          </p:cNvPr>
          <p:cNvSpPr txBox="1"/>
          <p:nvPr/>
        </p:nvSpPr>
        <p:spPr>
          <a:xfrm>
            <a:off x="1803914" y="2951946"/>
            <a:ext cx="8584170" cy="954107"/>
          </a:xfrm>
          <a:prstGeom prst="rect">
            <a:avLst/>
          </a:prstGeom>
          <a:noFill/>
        </p:spPr>
        <p:txBody>
          <a:bodyPr wrap="square" rtlCol="0">
            <a:spAutoFit/>
          </a:bodyPr>
          <a:lstStyle/>
          <a:p>
            <a:pPr algn="ctr"/>
            <a:r>
              <a:rPr lang="en-US" sz="3600" b="1" dirty="0">
                <a:solidFill>
                  <a:srgbClr val="822334"/>
                </a:solidFill>
                <a:latin typeface="Inter" panose="02000503000000020004" pitchFamily="2" charset="0"/>
                <a:ea typeface="Inter" panose="02000503000000020004" pitchFamily="2" charset="0"/>
                <a:cs typeface="Inter" panose="02000503000000020004" pitchFamily="2" charset="0"/>
              </a:rPr>
              <a:t>THANK YOU FOR YOUR ATTENTION</a:t>
            </a:r>
          </a:p>
          <a:p>
            <a:pPr algn="ctr"/>
            <a:r>
              <a:rPr lang="en-US" sz="2000" dirty="0">
                <a:solidFill>
                  <a:srgbClr val="822334"/>
                </a:solidFill>
                <a:latin typeface="Inter" panose="02000503000000020004" pitchFamily="2" charset="0"/>
                <a:ea typeface="Inter" panose="02000503000000020004" pitchFamily="2" charset="0"/>
                <a:cs typeface="Inter" panose="02000503000000020004" pitchFamily="2" charset="0"/>
              </a:rPr>
              <a:t>Feel free to ask any questions</a:t>
            </a:r>
          </a:p>
        </p:txBody>
      </p:sp>
      <p:sp>
        <p:nvSpPr>
          <p:cNvPr id="2" name="Footer Placeholder 10">
            <a:extLst>
              <a:ext uri="{FF2B5EF4-FFF2-40B4-BE49-F238E27FC236}">
                <a16:creationId xmlns:a16="http://schemas.microsoft.com/office/drawing/2014/main" id="{F3216FC1-48E7-E40C-1E09-12204ACCA7E0}"/>
              </a:ext>
            </a:extLst>
          </p:cNvPr>
          <p:cNvSpPr>
            <a:spLocks noGrp="1"/>
          </p:cNvSpPr>
          <p:nvPr>
            <p:ph type="ftr" sz="quarter" idx="11"/>
          </p:nvPr>
        </p:nvSpPr>
        <p:spPr>
          <a:xfrm>
            <a:off x="4566534" y="6356350"/>
            <a:ext cx="3058931" cy="365125"/>
          </a:xfrm>
        </p:spPr>
        <p:txBody>
          <a:bodyPr/>
          <a:lstStyle/>
          <a:p>
            <a:r>
              <a:rPr lang="en-US" dirty="0" err="1">
                <a:solidFill>
                  <a:schemeClr val="bg1"/>
                </a:solidFill>
                <a:latin typeface="Inter" panose="02000503000000020004" pitchFamily="2" charset="0"/>
                <a:ea typeface="Inter" panose="02000503000000020004" pitchFamily="2" charset="0"/>
                <a:cs typeface="Inter" panose="02000503000000020004" pitchFamily="2" charset="0"/>
              </a:rPr>
              <a:t>Cineca</a:t>
            </a:r>
            <a:r>
              <a:rPr lang="en-US" dirty="0">
                <a:solidFill>
                  <a:schemeClr val="bg1"/>
                </a:solidFill>
                <a:latin typeface="Inter" panose="02000503000000020004" pitchFamily="2" charset="0"/>
                <a:ea typeface="Inter" panose="02000503000000020004" pitchFamily="2" charset="0"/>
                <a:cs typeface="Inter" panose="02000503000000020004" pitchFamily="2" charset="0"/>
              </a:rPr>
              <a:t> Agentic Platform – Arman Feili</a:t>
            </a:r>
          </a:p>
        </p:txBody>
      </p:sp>
      <p:pic>
        <p:nvPicPr>
          <p:cNvPr id="3" name="Picture 2">
            <a:extLst>
              <a:ext uri="{FF2B5EF4-FFF2-40B4-BE49-F238E27FC236}">
                <a16:creationId xmlns:a16="http://schemas.microsoft.com/office/drawing/2014/main" id="{8E938B8D-4F99-3974-DF9F-34A67A106A37}"/>
              </a:ext>
            </a:extLst>
          </p:cNvPr>
          <p:cNvPicPr>
            <a:picLocks noChangeAspect="1"/>
          </p:cNvPicPr>
          <p:nvPr/>
        </p:nvPicPr>
        <p:blipFill>
          <a:blip r:embed="rId3"/>
          <a:stretch>
            <a:fillRect/>
          </a:stretch>
        </p:blipFill>
        <p:spPr>
          <a:xfrm>
            <a:off x="321777" y="6315552"/>
            <a:ext cx="435345" cy="435345"/>
          </a:xfrm>
          <a:prstGeom prst="rect">
            <a:avLst/>
          </a:prstGeom>
        </p:spPr>
      </p:pic>
      <p:pic>
        <p:nvPicPr>
          <p:cNvPr id="5" name="Picture 4">
            <a:extLst>
              <a:ext uri="{FF2B5EF4-FFF2-40B4-BE49-F238E27FC236}">
                <a16:creationId xmlns:a16="http://schemas.microsoft.com/office/drawing/2014/main" id="{1EFBAC7B-C172-12FA-36E5-28D6FCD88D77}"/>
              </a:ext>
            </a:extLst>
          </p:cNvPr>
          <p:cNvPicPr>
            <a:picLocks noChangeAspect="1"/>
          </p:cNvPicPr>
          <p:nvPr/>
        </p:nvPicPr>
        <p:blipFill>
          <a:blip r:embed="rId4"/>
          <a:stretch>
            <a:fillRect/>
          </a:stretch>
        </p:blipFill>
        <p:spPr>
          <a:xfrm>
            <a:off x="866134" y="6362629"/>
            <a:ext cx="1093241" cy="365125"/>
          </a:xfrm>
          <a:prstGeom prst="rect">
            <a:avLst/>
          </a:prstGeom>
        </p:spPr>
      </p:pic>
    </p:spTree>
    <p:extLst>
      <p:ext uri="{BB962C8B-B14F-4D97-AF65-F5344CB8AC3E}">
        <p14:creationId xmlns:p14="http://schemas.microsoft.com/office/powerpoint/2010/main" val="29116290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915523-5B73-B6C6-D68E-ACFF354E2A0F}"/>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C70717D2-4398-DEC2-D475-D48DD24FDD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Slide Number Placeholder 11">
            <a:extLst>
              <a:ext uri="{FF2B5EF4-FFF2-40B4-BE49-F238E27FC236}">
                <a16:creationId xmlns:a16="http://schemas.microsoft.com/office/drawing/2014/main" id="{C89578F4-C823-2614-61E5-ADE2FAF9B75E}"/>
              </a:ext>
            </a:extLst>
          </p:cNvPr>
          <p:cNvSpPr>
            <a:spLocks noGrp="1"/>
          </p:cNvSpPr>
          <p:nvPr>
            <p:ph type="sldNum" sz="quarter" idx="12"/>
          </p:nvPr>
        </p:nvSpPr>
        <p:spPr/>
        <p:txBody>
          <a:bodyPr/>
          <a:lstStyle/>
          <a:p>
            <a:r>
              <a:rPr lang="en-US" dirty="0">
                <a:solidFill>
                  <a:schemeClr val="bg1"/>
                </a:solidFill>
              </a:rPr>
              <a:t>1 / 10</a:t>
            </a:r>
          </a:p>
        </p:txBody>
      </p:sp>
      <p:sp>
        <p:nvSpPr>
          <p:cNvPr id="2" name="Footer Placeholder 10">
            <a:extLst>
              <a:ext uri="{FF2B5EF4-FFF2-40B4-BE49-F238E27FC236}">
                <a16:creationId xmlns:a16="http://schemas.microsoft.com/office/drawing/2014/main" id="{77229F44-C7AC-18EC-9368-A1221C27897C}"/>
              </a:ext>
            </a:extLst>
          </p:cNvPr>
          <p:cNvSpPr>
            <a:spLocks noGrp="1"/>
          </p:cNvSpPr>
          <p:nvPr>
            <p:ph type="ftr" sz="quarter" idx="11"/>
          </p:nvPr>
        </p:nvSpPr>
        <p:spPr>
          <a:xfrm>
            <a:off x="4566534" y="6356350"/>
            <a:ext cx="3058931" cy="365125"/>
          </a:xfrm>
        </p:spPr>
        <p:txBody>
          <a:bodyPr/>
          <a:lstStyle/>
          <a:p>
            <a:r>
              <a:rPr lang="en-US" dirty="0" err="1">
                <a:solidFill>
                  <a:schemeClr val="bg1"/>
                </a:solidFill>
                <a:latin typeface="Inter" panose="02000503000000020004" pitchFamily="2" charset="0"/>
                <a:ea typeface="Inter" panose="02000503000000020004" pitchFamily="2" charset="0"/>
                <a:cs typeface="Inter" panose="02000503000000020004" pitchFamily="2" charset="0"/>
              </a:rPr>
              <a:t>Cineca</a:t>
            </a:r>
            <a:r>
              <a:rPr lang="en-US" dirty="0">
                <a:solidFill>
                  <a:schemeClr val="bg1"/>
                </a:solidFill>
                <a:latin typeface="Inter" panose="02000503000000020004" pitchFamily="2" charset="0"/>
                <a:ea typeface="Inter" panose="02000503000000020004" pitchFamily="2" charset="0"/>
                <a:cs typeface="Inter" panose="02000503000000020004" pitchFamily="2" charset="0"/>
              </a:rPr>
              <a:t> Agentic Platform – Arman Feili</a:t>
            </a:r>
          </a:p>
        </p:txBody>
      </p:sp>
      <p:pic>
        <p:nvPicPr>
          <p:cNvPr id="3" name="Picture 2">
            <a:extLst>
              <a:ext uri="{FF2B5EF4-FFF2-40B4-BE49-F238E27FC236}">
                <a16:creationId xmlns:a16="http://schemas.microsoft.com/office/drawing/2014/main" id="{0E89F3C5-F85D-7DE3-5222-2E371C52AA2D}"/>
              </a:ext>
            </a:extLst>
          </p:cNvPr>
          <p:cNvPicPr>
            <a:picLocks noChangeAspect="1"/>
          </p:cNvPicPr>
          <p:nvPr/>
        </p:nvPicPr>
        <p:blipFill>
          <a:blip r:embed="rId3"/>
          <a:stretch>
            <a:fillRect/>
          </a:stretch>
        </p:blipFill>
        <p:spPr>
          <a:xfrm>
            <a:off x="321777" y="6315552"/>
            <a:ext cx="435345" cy="435345"/>
          </a:xfrm>
          <a:prstGeom prst="rect">
            <a:avLst/>
          </a:prstGeom>
        </p:spPr>
      </p:pic>
      <p:pic>
        <p:nvPicPr>
          <p:cNvPr id="5" name="Picture 4">
            <a:extLst>
              <a:ext uri="{FF2B5EF4-FFF2-40B4-BE49-F238E27FC236}">
                <a16:creationId xmlns:a16="http://schemas.microsoft.com/office/drawing/2014/main" id="{32AE8D2D-3A8A-F339-8E5C-179A51AED4EB}"/>
              </a:ext>
            </a:extLst>
          </p:cNvPr>
          <p:cNvPicPr>
            <a:picLocks noChangeAspect="1"/>
          </p:cNvPicPr>
          <p:nvPr/>
        </p:nvPicPr>
        <p:blipFill>
          <a:blip r:embed="rId4"/>
          <a:stretch>
            <a:fillRect/>
          </a:stretch>
        </p:blipFill>
        <p:spPr>
          <a:xfrm>
            <a:off x="866134" y="6362629"/>
            <a:ext cx="1093241" cy="365125"/>
          </a:xfrm>
          <a:prstGeom prst="rect">
            <a:avLst/>
          </a:prstGeom>
        </p:spPr>
      </p:pic>
      <p:sp>
        <p:nvSpPr>
          <p:cNvPr id="6" name="TextBox 5">
            <a:extLst>
              <a:ext uri="{FF2B5EF4-FFF2-40B4-BE49-F238E27FC236}">
                <a16:creationId xmlns:a16="http://schemas.microsoft.com/office/drawing/2014/main" id="{D32D126C-283F-9405-35E6-E57E38F4CBD4}"/>
              </a:ext>
            </a:extLst>
          </p:cNvPr>
          <p:cNvSpPr txBox="1"/>
          <p:nvPr/>
        </p:nvSpPr>
        <p:spPr>
          <a:xfrm>
            <a:off x="3015353" y="2951721"/>
            <a:ext cx="6161291" cy="646331"/>
          </a:xfrm>
          <a:prstGeom prst="rect">
            <a:avLst/>
          </a:prstGeom>
          <a:noFill/>
        </p:spPr>
        <p:txBody>
          <a:bodyPr wrap="square" rtlCol="0">
            <a:spAutoFit/>
          </a:bodyPr>
          <a:lstStyle/>
          <a:p>
            <a:pPr algn="ctr"/>
            <a:r>
              <a:rPr lang="en-US" sz="3600" b="1" dirty="0">
                <a:solidFill>
                  <a:srgbClr val="822334"/>
                </a:solidFill>
                <a:latin typeface="Inter" panose="02000503000000020004" pitchFamily="2" charset="0"/>
                <a:ea typeface="Inter" panose="02000503000000020004" pitchFamily="2" charset="0"/>
                <a:cs typeface="Inter" panose="02000503000000020004" pitchFamily="2" charset="0"/>
              </a:rPr>
              <a:t>BACKUP SLIDES</a:t>
            </a:r>
            <a:endParaRPr lang="en-US" sz="2000" dirty="0">
              <a:solidFill>
                <a:srgbClr val="822334"/>
              </a:solidFill>
              <a:latin typeface="Inter" panose="02000503000000020004" pitchFamily="2" charset="0"/>
              <a:ea typeface="Inter" panose="02000503000000020004" pitchFamily="2" charset="0"/>
              <a:cs typeface="Inter" panose="02000503000000020004" pitchFamily="2" charset="0"/>
            </a:endParaRPr>
          </a:p>
        </p:txBody>
      </p:sp>
    </p:spTree>
    <p:extLst>
      <p:ext uri="{BB962C8B-B14F-4D97-AF65-F5344CB8AC3E}">
        <p14:creationId xmlns:p14="http://schemas.microsoft.com/office/powerpoint/2010/main" val="36929890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EAA4FD-6180-B4D1-4353-EA1B1EA2E670}"/>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7B362958-A883-D0D9-543B-A8262F9F2A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Slide Number Placeholder 11">
            <a:extLst>
              <a:ext uri="{FF2B5EF4-FFF2-40B4-BE49-F238E27FC236}">
                <a16:creationId xmlns:a16="http://schemas.microsoft.com/office/drawing/2014/main" id="{3D1A0ED6-84E3-D3C1-2A59-82233CC2AB58}"/>
              </a:ext>
            </a:extLst>
          </p:cNvPr>
          <p:cNvSpPr>
            <a:spLocks noGrp="1"/>
          </p:cNvSpPr>
          <p:nvPr>
            <p:ph type="sldNum" sz="quarter" idx="12"/>
          </p:nvPr>
        </p:nvSpPr>
        <p:spPr/>
        <p:txBody>
          <a:bodyPr/>
          <a:lstStyle/>
          <a:p>
            <a:r>
              <a:rPr lang="en-US" dirty="0">
                <a:solidFill>
                  <a:schemeClr val="bg1"/>
                </a:solidFill>
              </a:rPr>
              <a:t>2 / 10</a:t>
            </a:r>
          </a:p>
        </p:txBody>
      </p:sp>
      <p:sp>
        <p:nvSpPr>
          <p:cNvPr id="2" name="TextBox 1">
            <a:extLst>
              <a:ext uri="{FF2B5EF4-FFF2-40B4-BE49-F238E27FC236}">
                <a16:creationId xmlns:a16="http://schemas.microsoft.com/office/drawing/2014/main" id="{BB57F243-71C0-8BA3-1908-9E3CFAE559FA}"/>
              </a:ext>
            </a:extLst>
          </p:cNvPr>
          <p:cNvSpPr txBox="1"/>
          <p:nvPr/>
        </p:nvSpPr>
        <p:spPr>
          <a:xfrm>
            <a:off x="596348" y="374273"/>
            <a:ext cx="11038604" cy="523220"/>
          </a:xfrm>
          <a:prstGeom prst="rect">
            <a:avLst/>
          </a:prstGeom>
          <a:noFill/>
        </p:spPr>
        <p:txBody>
          <a:bodyPr wrap="square" rtlCol="0">
            <a:spAutoFit/>
          </a:bodyPr>
          <a:lstStyle/>
          <a:p>
            <a:pPr algn="just"/>
            <a:r>
              <a:rPr lang="en-US" sz="2800" b="1" dirty="0">
                <a:solidFill>
                  <a:srgbClr val="822334"/>
                </a:solidFill>
                <a:latin typeface="Inter" panose="02000503000000020004" pitchFamily="2" charset="0"/>
                <a:ea typeface="Inter" panose="02000503000000020004" pitchFamily="2" charset="0"/>
                <a:cs typeface="Inter" panose="02000503000000020004" pitchFamily="2" charset="0"/>
              </a:rPr>
              <a:t>Backup Slides - Detailed System Architecture </a:t>
            </a:r>
          </a:p>
        </p:txBody>
      </p:sp>
      <p:pic>
        <p:nvPicPr>
          <p:cNvPr id="6" name="Picture 5">
            <a:extLst>
              <a:ext uri="{FF2B5EF4-FFF2-40B4-BE49-F238E27FC236}">
                <a16:creationId xmlns:a16="http://schemas.microsoft.com/office/drawing/2014/main" id="{CF9EEC67-7AEC-114A-8E2A-05FFC9384893}"/>
              </a:ext>
            </a:extLst>
          </p:cNvPr>
          <p:cNvPicPr>
            <a:picLocks noChangeAspect="1"/>
          </p:cNvPicPr>
          <p:nvPr/>
        </p:nvPicPr>
        <p:blipFill>
          <a:blip r:embed="rId4"/>
          <a:stretch>
            <a:fillRect/>
          </a:stretch>
        </p:blipFill>
        <p:spPr>
          <a:xfrm>
            <a:off x="3001513" y="1157053"/>
            <a:ext cx="6188973" cy="4918696"/>
          </a:xfrm>
          <a:prstGeom prst="rect">
            <a:avLst/>
          </a:prstGeom>
        </p:spPr>
      </p:pic>
      <p:sp>
        <p:nvSpPr>
          <p:cNvPr id="9" name="Footer Placeholder 10">
            <a:extLst>
              <a:ext uri="{FF2B5EF4-FFF2-40B4-BE49-F238E27FC236}">
                <a16:creationId xmlns:a16="http://schemas.microsoft.com/office/drawing/2014/main" id="{D8D42AD6-97DA-5E2A-BC56-A0E76CFE36E6}"/>
              </a:ext>
            </a:extLst>
          </p:cNvPr>
          <p:cNvSpPr>
            <a:spLocks noGrp="1"/>
          </p:cNvSpPr>
          <p:nvPr>
            <p:ph type="ftr" sz="quarter" idx="11"/>
          </p:nvPr>
        </p:nvSpPr>
        <p:spPr>
          <a:xfrm>
            <a:off x="4566534" y="6356350"/>
            <a:ext cx="3058931" cy="365125"/>
          </a:xfrm>
        </p:spPr>
        <p:txBody>
          <a:bodyPr/>
          <a:lstStyle/>
          <a:p>
            <a:r>
              <a:rPr lang="en-US" dirty="0" err="1">
                <a:solidFill>
                  <a:schemeClr val="bg1"/>
                </a:solidFill>
                <a:latin typeface="Inter" panose="02000503000000020004" pitchFamily="2" charset="0"/>
                <a:ea typeface="Inter" panose="02000503000000020004" pitchFamily="2" charset="0"/>
                <a:cs typeface="Inter" panose="02000503000000020004" pitchFamily="2" charset="0"/>
              </a:rPr>
              <a:t>Cineca</a:t>
            </a:r>
            <a:r>
              <a:rPr lang="en-US" dirty="0">
                <a:solidFill>
                  <a:schemeClr val="bg1"/>
                </a:solidFill>
                <a:latin typeface="Inter" panose="02000503000000020004" pitchFamily="2" charset="0"/>
                <a:ea typeface="Inter" panose="02000503000000020004" pitchFamily="2" charset="0"/>
                <a:cs typeface="Inter" panose="02000503000000020004" pitchFamily="2" charset="0"/>
              </a:rPr>
              <a:t> Agentic Platform – Arman Feili</a:t>
            </a:r>
          </a:p>
        </p:txBody>
      </p:sp>
      <p:pic>
        <p:nvPicPr>
          <p:cNvPr id="13" name="Picture 12">
            <a:extLst>
              <a:ext uri="{FF2B5EF4-FFF2-40B4-BE49-F238E27FC236}">
                <a16:creationId xmlns:a16="http://schemas.microsoft.com/office/drawing/2014/main" id="{E24504EF-15A2-A876-FD26-29AB8718AB80}"/>
              </a:ext>
            </a:extLst>
          </p:cNvPr>
          <p:cNvPicPr>
            <a:picLocks noChangeAspect="1"/>
          </p:cNvPicPr>
          <p:nvPr/>
        </p:nvPicPr>
        <p:blipFill>
          <a:blip r:embed="rId5"/>
          <a:stretch>
            <a:fillRect/>
          </a:stretch>
        </p:blipFill>
        <p:spPr>
          <a:xfrm>
            <a:off x="321777" y="6315552"/>
            <a:ext cx="435345" cy="435345"/>
          </a:xfrm>
          <a:prstGeom prst="rect">
            <a:avLst/>
          </a:prstGeom>
        </p:spPr>
      </p:pic>
      <p:pic>
        <p:nvPicPr>
          <p:cNvPr id="14" name="Picture 13">
            <a:extLst>
              <a:ext uri="{FF2B5EF4-FFF2-40B4-BE49-F238E27FC236}">
                <a16:creationId xmlns:a16="http://schemas.microsoft.com/office/drawing/2014/main" id="{0EE0DA43-B4C7-FFF7-D766-ACDBFDA224DA}"/>
              </a:ext>
            </a:extLst>
          </p:cNvPr>
          <p:cNvPicPr>
            <a:picLocks noChangeAspect="1"/>
          </p:cNvPicPr>
          <p:nvPr/>
        </p:nvPicPr>
        <p:blipFill>
          <a:blip r:embed="rId6"/>
          <a:stretch>
            <a:fillRect/>
          </a:stretch>
        </p:blipFill>
        <p:spPr>
          <a:xfrm>
            <a:off x="866134" y="6362629"/>
            <a:ext cx="1093241" cy="365125"/>
          </a:xfrm>
          <a:prstGeom prst="rect">
            <a:avLst/>
          </a:prstGeom>
        </p:spPr>
      </p:pic>
    </p:spTree>
    <p:extLst>
      <p:ext uri="{BB962C8B-B14F-4D97-AF65-F5344CB8AC3E}">
        <p14:creationId xmlns:p14="http://schemas.microsoft.com/office/powerpoint/2010/main" val="6221604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703851-EA6B-16B4-FD3F-554CCD032A2A}"/>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C73E5DC7-0B5C-CD89-CDDE-2D91631396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Slide Number Placeholder 11">
            <a:extLst>
              <a:ext uri="{FF2B5EF4-FFF2-40B4-BE49-F238E27FC236}">
                <a16:creationId xmlns:a16="http://schemas.microsoft.com/office/drawing/2014/main" id="{F7E45E1C-BAF0-50D6-2F8C-AE151217A189}"/>
              </a:ext>
            </a:extLst>
          </p:cNvPr>
          <p:cNvSpPr>
            <a:spLocks noGrp="1"/>
          </p:cNvSpPr>
          <p:nvPr>
            <p:ph type="sldNum" sz="quarter" idx="12"/>
          </p:nvPr>
        </p:nvSpPr>
        <p:spPr/>
        <p:txBody>
          <a:bodyPr/>
          <a:lstStyle/>
          <a:p>
            <a:r>
              <a:rPr lang="en-US" dirty="0">
                <a:solidFill>
                  <a:schemeClr val="bg1"/>
                </a:solidFill>
              </a:rPr>
              <a:t>3 / 10</a:t>
            </a:r>
          </a:p>
        </p:txBody>
      </p:sp>
      <p:sp>
        <p:nvSpPr>
          <p:cNvPr id="5" name="TextBox 4">
            <a:extLst>
              <a:ext uri="{FF2B5EF4-FFF2-40B4-BE49-F238E27FC236}">
                <a16:creationId xmlns:a16="http://schemas.microsoft.com/office/drawing/2014/main" id="{D63A37AF-43D1-AB39-D291-B00A095608EA}"/>
              </a:ext>
            </a:extLst>
          </p:cNvPr>
          <p:cNvSpPr txBox="1"/>
          <p:nvPr/>
        </p:nvSpPr>
        <p:spPr>
          <a:xfrm>
            <a:off x="596348" y="374273"/>
            <a:ext cx="11127823" cy="830997"/>
          </a:xfrm>
          <a:prstGeom prst="rect">
            <a:avLst/>
          </a:prstGeom>
          <a:noFill/>
        </p:spPr>
        <p:txBody>
          <a:bodyPr wrap="square" rtlCol="0">
            <a:spAutoFit/>
          </a:bodyPr>
          <a:lstStyle/>
          <a:p>
            <a:r>
              <a:rPr lang="en-US" sz="2800" b="1" dirty="0">
                <a:solidFill>
                  <a:srgbClr val="822334"/>
                </a:solidFill>
                <a:latin typeface="Inter" panose="02000503000000020004" pitchFamily="2" charset="0"/>
                <a:ea typeface="Inter" panose="02000503000000020004" pitchFamily="2" charset="0"/>
                <a:cs typeface="Inter" panose="02000503000000020004" pitchFamily="2" charset="0"/>
              </a:rPr>
              <a:t>LIMITATIONS</a:t>
            </a:r>
            <a:br>
              <a:rPr lang="en-US" sz="2800" dirty="0">
                <a:latin typeface="Inter" panose="02000503000000020004" pitchFamily="2" charset="0"/>
                <a:ea typeface="Inter" panose="02000503000000020004" pitchFamily="2" charset="0"/>
                <a:cs typeface="Inter" panose="02000503000000020004" pitchFamily="2" charset="0"/>
              </a:rPr>
            </a:br>
            <a:r>
              <a:rPr lang="en-US" sz="2000" dirty="0">
                <a:solidFill>
                  <a:schemeClr val="bg2">
                    <a:lumMod val="50000"/>
                  </a:schemeClr>
                </a:solidFill>
                <a:latin typeface="Inter" panose="02000503000000020004" pitchFamily="2" charset="0"/>
                <a:ea typeface="Inter" panose="02000503000000020004" pitchFamily="2" charset="0"/>
                <a:cs typeface="Inter" panose="02000503000000020004" pitchFamily="2" charset="0"/>
              </a:rPr>
              <a:t>Evaluation constraints and future validation needs</a:t>
            </a:r>
          </a:p>
        </p:txBody>
      </p:sp>
      <p:sp>
        <p:nvSpPr>
          <p:cNvPr id="7" name="Footer Placeholder 10">
            <a:extLst>
              <a:ext uri="{FF2B5EF4-FFF2-40B4-BE49-F238E27FC236}">
                <a16:creationId xmlns:a16="http://schemas.microsoft.com/office/drawing/2014/main" id="{168393BD-4371-BE0B-7FE8-014237D51A87}"/>
              </a:ext>
            </a:extLst>
          </p:cNvPr>
          <p:cNvSpPr>
            <a:spLocks noGrp="1"/>
          </p:cNvSpPr>
          <p:nvPr>
            <p:ph type="ftr" sz="quarter" idx="11"/>
          </p:nvPr>
        </p:nvSpPr>
        <p:spPr>
          <a:xfrm>
            <a:off x="4566534" y="6356350"/>
            <a:ext cx="3058931" cy="365125"/>
          </a:xfrm>
        </p:spPr>
        <p:txBody>
          <a:bodyPr/>
          <a:lstStyle/>
          <a:p>
            <a:r>
              <a:rPr lang="en-US" dirty="0" err="1">
                <a:solidFill>
                  <a:schemeClr val="bg1"/>
                </a:solidFill>
                <a:latin typeface="Inter" panose="02000503000000020004" pitchFamily="2" charset="0"/>
                <a:ea typeface="Inter" panose="02000503000000020004" pitchFamily="2" charset="0"/>
                <a:cs typeface="Inter" panose="02000503000000020004" pitchFamily="2" charset="0"/>
              </a:rPr>
              <a:t>Cineca</a:t>
            </a:r>
            <a:r>
              <a:rPr lang="en-US" dirty="0">
                <a:solidFill>
                  <a:schemeClr val="bg1"/>
                </a:solidFill>
                <a:latin typeface="Inter" panose="02000503000000020004" pitchFamily="2" charset="0"/>
                <a:ea typeface="Inter" panose="02000503000000020004" pitchFamily="2" charset="0"/>
                <a:cs typeface="Inter" panose="02000503000000020004" pitchFamily="2" charset="0"/>
              </a:rPr>
              <a:t> Agentic Platform – Arman Feili</a:t>
            </a:r>
          </a:p>
        </p:txBody>
      </p:sp>
      <p:pic>
        <p:nvPicPr>
          <p:cNvPr id="9" name="Picture 8">
            <a:extLst>
              <a:ext uri="{FF2B5EF4-FFF2-40B4-BE49-F238E27FC236}">
                <a16:creationId xmlns:a16="http://schemas.microsoft.com/office/drawing/2014/main" id="{FB206040-7EF7-B2AC-6454-35A317CBCC29}"/>
              </a:ext>
            </a:extLst>
          </p:cNvPr>
          <p:cNvPicPr>
            <a:picLocks noChangeAspect="1"/>
          </p:cNvPicPr>
          <p:nvPr/>
        </p:nvPicPr>
        <p:blipFill>
          <a:blip r:embed="rId3"/>
          <a:stretch>
            <a:fillRect/>
          </a:stretch>
        </p:blipFill>
        <p:spPr>
          <a:xfrm>
            <a:off x="321777" y="6315552"/>
            <a:ext cx="435345" cy="435345"/>
          </a:xfrm>
          <a:prstGeom prst="rect">
            <a:avLst/>
          </a:prstGeom>
        </p:spPr>
      </p:pic>
      <p:pic>
        <p:nvPicPr>
          <p:cNvPr id="10" name="Picture 9">
            <a:extLst>
              <a:ext uri="{FF2B5EF4-FFF2-40B4-BE49-F238E27FC236}">
                <a16:creationId xmlns:a16="http://schemas.microsoft.com/office/drawing/2014/main" id="{216C1E64-7348-3305-9BDF-7C400550D8E0}"/>
              </a:ext>
            </a:extLst>
          </p:cNvPr>
          <p:cNvPicPr>
            <a:picLocks noChangeAspect="1"/>
          </p:cNvPicPr>
          <p:nvPr/>
        </p:nvPicPr>
        <p:blipFill>
          <a:blip r:embed="rId4"/>
          <a:stretch>
            <a:fillRect/>
          </a:stretch>
        </p:blipFill>
        <p:spPr>
          <a:xfrm>
            <a:off x="866134" y="6362629"/>
            <a:ext cx="1093241" cy="365125"/>
          </a:xfrm>
          <a:prstGeom prst="rect">
            <a:avLst/>
          </a:prstGeom>
        </p:spPr>
      </p:pic>
      <p:sp>
        <p:nvSpPr>
          <p:cNvPr id="2" name="TextBox 1">
            <a:extLst>
              <a:ext uri="{FF2B5EF4-FFF2-40B4-BE49-F238E27FC236}">
                <a16:creationId xmlns:a16="http://schemas.microsoft.com/office/drawing/2014/main" id="{59255037-2020-0452-6A89-493BF07F0914}"/>
              </a:ext>
            </a:extLst>
          </p:cNvPr>
          <p:cNvSpPr txBox="1"/>
          <p:nvPr/>
        </p:nvSpPr>
        <p:spPr>
          <a:xfrm>
            <a:off x="596347" y="1581293"/>
            <a:ext cx="11127823" cy="2308324"/>
          </a:xfrm>
          <a:prstGeom prst="rect">
            <a:avLst/>
          </a:prstGeom>
          <a:noFill/>
        </p:spPr>
        <p:txBody>
          <a:bodyPr wrap="square" rtlCol="0">
            <a:spAutoFit/>
          </a:bodyPr>
          <a:lstStyle/>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HPC Availability	</a:t>
            </a:r>
            <a:r>
              <a:rPr lang="en-US" sz="1600" dirty="0">
                <a:latin typeface="Inter" panose="02000503000000020004" pitchFamily="2" charset="0"/>
                <a:ea typeface="Inter" panose="02000503000000020004" pitchFamily="2" charset="0"/>
                <a:cs typeface="Inter" panose="02000503000000020004" pitchFamily="2" charset="0"/>
              </a:rPr>
              <a:t>→ CINECA/HPC evaluation was planned but unavailable</a:t>
            </a: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Limited Scenarios</a:t>
            </a:r>
            <a:r>
              <a:rPr lang="en-US" sz="1600" dirty="0">
                <a:latin typeface="Inter" panose="02000503000000020004" pitchFamily="2" charset="0"/>
                <a:ea typeface="Inter" panose="02000503000000020004" pitchFamily="2" charset="0"/>
                <a:cs typeface="Inter" panose="02000503000000020004" pitchFamily="2" charset="0"/>
              </a:rPr>
              <a:t> 	→ Testing used only a limited set of scenarios</a:t>
            </a: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Local Model Latency</a:t>
            </a:r>
            <a:r>
              <a:rPr lang="en-US" sz="1600" dirty="0">
                <a:latin typeface="Inter" panose="02000503000000020004" pitchFamily="2" charset="0"/>
                <a:ea typeface="Inter" panose="02000503000000020004" pitchFamily="2" charset="0"/>
                <a:cs typeface="Inter" panose="02000503000000020004" pitchFamily="2" charset="0"/>
              </a:rPr>
              <a:t> 	→ Powerful local models were too slow on a laptop</a:t>
            </a: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Long Runtime</a:t>
            </a:r>
            <a:r>
              <a:rPr lang="en-US" sz="1600" dirty="0">
                <a:latin typeface="Inter" panose="02000503000000020004" pitchFamily="2" charset="0"/>
                <a:ea typeface="Inter" panose="02000503000000020004" pitchFamily="2" charset="0"/>
                <a:cs typeface="Inter" panose="02000503000000020004" pitchFamily="2" charset="0"/>
              </a:rPr>
              <a:t> 		→ Multi-step runs could take over 20 minutes</a:t>
            </a: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Model Trade-off</a:t>
            </a:r>
            <a:r>
              <a:rPr lang="en-US" sz="1600" dirty="0">
                <a:latin typeface="Inter" panose="02000503000000020004" pitchFamily="2" charset="0"/>
                <a:ea typeface="Inter" panose="02000503000000020004" pitchFamily="2" charset="0"/>
                <a:cs typeface="Inter" panose="02000503000000020004" pitchFamily="2" charset="0"/>
              </a:rPr>
              <a:t> 	→ A lightweight model balanced speed and accuracy</a:t>
            </a: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Prompt Handling</a:t>
            </a:r>
            <a:r>
              <a:rPr lang="en-US" sz="1600" dirty="0">
                <a:latin typeface="Inter" panose="02000503000000020004" pitchFamily="2" charset="0"/>
                <a:ea typeface="Inter" panose="02000503000000020004" pitchFamily="2" charset="0"/>
                <a:cs typeface="Inter" panose="02000503000000020004" pitchFamily="2" charset="0"/>
              </a:rPr>
              <a:t> 	→ Unclear or risky prompts need better handling</a:t>
            </a: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Clarification Logic</a:t>
            </a:r>
            <a:r>
              <a:rPr lang="en-US" sz="1600" dirty="0">
                <a:latin typeface="Inter" panose="02000503000000020004" pitchFamily="2" charset="0"/>
                <a:ea typeface="Inter" panose="02000503000000020004" pitchFamily="2" charset="0"/>
                <a:cs typeface="Inter" panose="02000503000000020004" pitchFamily="2" charset="0"/>
              </a:rPr>
              <a:t> 	→ Clarification logic and safe defaults need refinement</a:t>
            </a: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LLM Variability</a:t>
            </a:r>
            <a:r>
              <a:rPr lang="en-US" sz="1600" dirty="0">
                <a:latin typeface="Inter" panose="02000503000000020004" pitchFamily="2" charset="0"/>
                <a:ea typeface="Inter" panose="02000503000000020004" pitchFamily="2" charset="0"/>
                <a:cs typeface="Inter" panose="02000503000000020004" pitchFamily="2" charset="0"/>
              </a:rPr>
              <a:t> 		→ Different models may generate different plans or queries</a:t>
            </a: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Residual Risk</a:t>
            </a:r>
            <a:r>
              <a:rPr lang="en-US" sz="1600" dirty="0">
                <a:latin typeface="Inter" panose="02000503000000020004" pitchFamily="2" charset="0"/>
                <a:ea typeface="Inter" panose="02000503000000020004" pitchFamily="2" charset="0"/>
                <a:cs typeface="Inter" panose="02000503000000020004" pitchFamily="2" charset="0"/>
              </a:rPr>
              <a:t> 		→ Validation reduces this risk, but cannot remove it fully</a:t>
            </a:r>
          </a:p>
        </p:txBody>
      </p:sp>
      <p:pic>
        <p:nvPicPr>
          <p:cNvPr id="15" name="Picture 14">
            <a:extLst>
              <a:ext uri="{FF2B5EF4-FFF2-40B4-BE49-F238E27FC236}">
                <a16:creationId xmlns:a16="http://schemas.microsoft.com/office/drawing/2014/main" id="{764D05A7-5AB2-8291-B1CB-30205EFB292B}"/>
              </a:ext>
            </a:extLst>
          </p:cNvPr>
          <p:cNvPicPr>
            <a:picLocks noChangeAspect="1"/>
          </p:cNvPicPr>
          <p:nvPr/>
        </p:nvPicPr>
        <p:blipFill>
          <a:blip r:embed="rId5"/>
          <a:stretch>
            <a:fillRect/>
          </a:stretch>
        </p:blipFill>
        <p:spPr>
          <a:xfrm>
            <a:off x="2365109" y="4265640"/>
            <a:ext cx="7590298" cy="1545225"/>
          </a:xfrm>
          <a:prstGeom prst="rect">
            <a:avLst/>
          </a:prstGeom>
        </p:spPr>
      </p:pic>
    </p:spTree>
    <p:extLst>
      <p:ext uri="{BB962C8B-B14F-4D97-AF65-F5344CB8AC3E}">
        <p14:creationId xmlns:p14="http://schemas.microsoft.com/office/powerpoint/2010/main" val="36588161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FDC375-2693-AC3F-6178-40CF605B35E7}"/>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255B66C3-29CA-9161-A2CB-AA9DE5CF64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Slide Number Placeholder 11">
            <a:extLst>
              <a:ext uri="{FF2B5EF4-FFF2-40B4-BE49-F238E27FC236}">
                <a16:creationId xmlns:a16="http://schemas.microsoft.com/office/drawing/2014/main" id="{36A20E72-19E8-7D50-A503-CBC45740C8E6}"/>
              </a:ext>
            </a:extLst>
          </p:cNvPr>
          <p:cNvSpPr>
            <a:spLocks noGrp="1"/>
          </p:cNvSpPr>
          <p:nvPr>
            <p:ph type="sldNum" sz="quarter" idx="12"/>
          </p:nvPr>
        </p:nvSpPr>
        <p:spPr/>
        <p:txBody>
          <a:bodyPr/>
          <a:lstStyle/>
          <a:p>
            <a:r>
              <a:rPr lang="en-US" dirty="0">
                <a:solidFill>
                  <a:schemeClr val="bg1"/>
                </a:solidFill>
              </a:rPr>
              <a:t>4 / 10</a:t>
            </a:r>
          </a:p>
        </p:txBody>
      </p:sp>
      <p:sp>
        <p:nvSpPr>
          <p:cNvPr id="5" name="TextBox 4">
            <a:extLst>
              <a:ext uri="{FF2B5EF4-FFF2-40B4-BE49-F238E27FC236}">
                <a16:creationId xmlns:a16="http://schemas.microsoft.com/office/drawing/2014/main" id="{7E99C776-7756-855C-3AF2-1CEE6EC622A5}"/>
              </a:ext>
            </a:extLst>
          </p:cNvPr>
          <p:cNvSpPr txBox="1"/>
          <p:nvPr/>
        </p:nvSpPr>
        <p:spPr>
          <a:xfrm>
            <a:off x="596348" y="374273"/>
            <a:ext cx="11127823" cy="830997"/>
          </a:xfrm>
          <a:prstGeom prst="rect">
            <a:avLst/>
          </a:prstGeom>
          <a:noFill/>
        </p:spPr>
        <p:txBody>
          <a:bodyPr wrap="square" rtlCol="0">
            <a:spAutoFit/>
          </a:bodyPr>
          <a:lstStyle/>
          <a:p>
            <a:r>
              <a:rPr lang="en-US" sz="2800" b="1" dirty="0">
                <a:solidFill>
                  <a:srgbClr val="822334"/>
                </a:solidFill>
                <a:latin typeface="Inter" panose="02000503000000020004" pitchFamily="2" charset="0"/>
                <a:ea typeface="Inter" panose="02000503000000020004" pitchFamily="2" charset="0"/>
                <a:cs typeface="Inter" panose="02000503000000020004" pitchFamily="2" charset="0"/>
              </a:rPr>
              <a:t>LLM PROVIDERS</a:t>
            </a:r>
          </a:p>
          <a:p>
            <a:r>
              <a:rPr lang="en-US" sz="2000" dirty="0">
                <a:solidFill>
                  <a:schemeClr val="bg2">
                    <a:lumMod val="50000"/>
                  </a:schemeClr>
                </a:solidFill>
                <a:latin typeface="Inter" panose="02000503000000020004" pitchFamily="2" charset="0"/>
                <a:ea typeface="Inter" panose="02000503000000020004" pitchFamily="2" charset="0"/>
                <a:cs typeface="Inter" panose="02000503000000020004" pitchFamily="2" charset="0"/>
              </a:rPr>
              <a:t>Model Selection</a:t>
            </a:r>
          </a:p>
        </p:txBody>
      </p:sp>
      <p:sp>
        <p:nvSpPr>
          <p:cNvPr id="9" name="Footer Placeholder 10">
            <a:extLst>
              <a:ext uri="{FF2B5EF4-FFF2-40B4-BE49-F238E27FC236}">
                <a16:creationId xmlns:a16="http://schemas.microsoft.com/office/drawing/2014/main" id="{3B3A8A6E-20FE-4067-F8DA-1BA6522C5AE8}"/>
              </a:ext>
            </a:extLst>
          </p:cNvPr>
          <p:cNvSpPr>
            <a:spLocks noGrp="1"/>
          </p:cNvSpPr>
          <p:nvPr>
            <p:ph type="ftr" sz="quarter" idx="11"/>
          </p:nvPr>
        </p:nvSpPr>
        <p:spPr>
          <a:xfrm>
            <a:off x="4566534" y="6356350"/>
            <a:ext cx="3058931" cy="365125"/>
          </a:xfrm>
        </p:spPr>
        <p:txBody>
          <a:bodyPr/>
          <a:lstStyle/>
          <a:p>
            <a:r>
              <a:rPr lang="en-US" dirty="0" err="1">
                <a:solidFill>
                  <a:schemeClr val="bg1"/>
                </a:solidFill>
                <a:latin typeface="Inter" panose="02000503000000020004" pitchFamily="2" charset="0"/>
                <a:ea typeface="Inter" panose="02000503000000020004" pitchFamily="2" charset="0"/>
                <a:cs typeface="Inter" panose="02000503000000020004" pitchFamily="2" charset="0"/>
              </a:rPr>
              <a:t>Cineca</a:t>
            </a:r>
            <a:r>
              <a:rPr lang="en-US" dirty="0">
                <a:solidFill>
                  <a:schemeClr val="bg1"/>
                </a:solidFill>
                <a:latin typeface="Inter" panose="02000503000000020004" pitchFamily="2" charset="0"/>
                <a:ea typeface="Inter" panose="02000503000000020004" pitchFamily="2" charset="0"/>
                <a:cs typeface="Inter" panose="02000503000000020004" pitchFamily="2" charset="0"/>
              </a:rPr>
              <a:t> Agentic Platform – Arman Feili</a:t>
            </a:r>
          </a:p>
        </p:txBody>
      </p:sp>
      <p:pic>
        <p:nvPicPr>
          <p:cNvPr id="10" name="Picture 9">
            <a:extLst>
              <a:ext uri="{FF2B5EF4-FFF2-40B4-BE49-F238E27FC236}">
                <a16:creationId xmlns:a16="http://schemas.microsoft.com/office/drawing/2014/main" id="{49C8B747-F184-53EE-2C13-94B14807CB2B}"/>
              </a:ext>
            </a:extLst>
          </p:cNvPr>
          <p:cNvPicPr>
            <a:picLocks noChangeAspect="1"/>
          </p:cNvPicPr>
          <p:nvPr/>
        </p:nvPicPr>
        <p:blipFill>
          <a:blip r:embed="rId3"/>
          <a:stretch>
            <a:fillRect/>
          </a:stretch>
        </p:blipFill>
        <p:spPr>
          <a:xfrm>
            <a:off x="321777" y="6315552"/>
            <a:ext cx="435345" cy="435345"/>
          </a:xfrm>
          <a:prstGeom prst="rect">
            <a:avLst/>
          </a:prstGeom>
        </p:spPr>
      </p:pic>
      <p:pic>
        <p:nvPicPr>
          <p:cNvPr id="13" name="Picture 12">
            <a:extLst>
              <a:ext uri="{FF2B5EF4-FFF2-40B4-BE49-F238E27FC236}">
                <a16:creationId xmlns:a16="http://schemas.microsoft.com/office/drawing/2014/main" id="{851ECD14-A778-A59C-45B2-419A85E94499}"/>
              </a:ext>
            </a:extLst>
          </p:cNvPr>
          <p:cNvPicPr>
            <a:picLocks noChangeAspect="1"/>
          </p:cNvPicPr>
          <p:nvPr/>
        </p:nvPicPr>
        <p:blipFill>
          <a:blip r:embed="rId4"/>
          <a:stretch>
            <a:fillRect/>
          </a:stretch>
        </p:blipFill>
        <p:spPr>
          <a:xfrm>
            <a:off x="866134" y="6362629"/>
            <a:ext cx="1093241" cy="365125"/>
          </a:xfrm>
          <a:prstGeom prst="rect">
            <a:avLst/>
          </a:prstGeom>
        </p:spPr>
      </p:pic>
      <p:pic>
        <p:nvPicPr>
          <p:cNvPr id="20" name="Picture 19">
            <a:extLst>
              <a:ext uri="{FF2B5EF4-FFF2-40B4-BE49-F238E27FC236}">
                <a16:creationId xmlns:a16="http://schemas.microsoft.com/office/drawing/2014/main" id="{B6D182A8-C2B7-10E6-B1B1-5FADEFCACD77}"/>
              </a:ext>
            </a:extLst>
          </p:cNvPr>
          <p:cNvPicPr>
            <a:picLocks noChangeAspect="1"/>
          </p:cNvPicPr>
          <p:nvPr/>
        </p:nvPicPr>
        <p:blipFill>
          <a:blip r:embed="rId5"/>
          <a:stretch>
            <a:fillRect/>
          </a:stretch>
        </p:blipFill>
        <p:spPr>
          <a:xfrm>
            <a:off x="5806271" y="374272"/>
            <a:ext cx="5931547" cy="985152"/>
          </a:xfrm>
          <a:prstGeom prst="rect">
            <a:avLst/>
          </a:prstGeom>
        </p:spPr>
      </p:pic>
      <p:sp>
        <p:nvSpPr>
          <p:cNvPr id="22" name="TextBox 21">
            <a:extLst>
              <a:ext uri="{FF2B5EF4-FFF2-40B4-BE49-F238E27FC236}">
                <a16:creationId xmlns:a16="http://schemas.microsoft.com/office/drawing/2014/main" id="{7A2A2DB3-1662-5271-BA20-580A5A280E3E}"/>
              </a:ext>
            </a:extLst>
          </p:cNvPr>
          <p:cNvSpPr txBox="1"/>
          <p:nvPr/>
        </p:nvSpPr>
        <p:spPr>
          <a:xfrm>
            <a:off x="596345" y="1563454"/>
            <a:ext cx="11127823" cy="2616101"/>
          </a:xfrm>
          <a:prstGeom prst="rect">
            <a:avLst/>
          </a:prstGeom>
          <a:noFill/>
        </p:spPr>
        <p:txBody>
          <a:bodyPr wrap="square" rtlCol="0">
            <a:spAutoFit/>
          </a:bodyPr>
          <a:lstStyle/>
          <a:p>
            <a:r>
              <a:rPr lang="en-US" b="1" dirty="0">
                <a:latin typeface="Inter" panose="02000503000000020004" pitchFamily="2" charset="0"/>
                <a:ea typeface="Inter" panose="02000503000000020004" pitchFamily="2" charset="0"/>
                <a:cs typeface="Inter" panose="02000503000000020004" pitchFamily="2" charset="0"/>
              </a:rPr>
              <a:t>Provider &amp; Deployment Options</a:t>
            </a:r>
            <a:endParaRPr lang="en-US" dirty="0">
              <a:latin typeface="Inter" panose="02000503000000020004" pitchFamily="2" charset="0"/>
              <a:ea typeface="Inter" panose="02000503000000020004" pitchFamily="2" charset="0"/>
              <a:cs typeface="Inter" panose="02000503000000020004" pitchFamily="2" charset="0"/>
            </a:endParaRP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Local</a:t>
            </a:r>
            <a:r>
              <a:rPr lang="en-US" sz="1600" dirty="0">
                <a:latin typeface="Inter" panose="02000503000000020004" pitchFamily="2" charset="0"/>
                <a:ea typeface="Inter" panose="02000503000000020004" pitchFamily="2" charset="0"/>
                <a:cs typeface="Inter" panose="02000503000000020004" pitchFamily="2" charset="0"/>
              </a:rPr>
              <a:t> 		→ </a:t>
            </a:r>
            <a:r>
              <a:rPr lang="en-US" sz="1600" dirty="0" err="1">
                <a:latin typeface="Inter" panose="02000503000000020004" pitchFamily="2" charset="0"/>
                <a:ea typeface="Inter" panose="02000503000000020004" pitchFamily="2" charset="0"/>
                <a:cs typeface="Inter" panose="02000503000000020004" pitchFamily="2" charset="0"/>
              </a:rPr>
              <a:t>Ollama</a:t>
            </a:r>
            <a:r>
              <a:rPr lang="en-US" sz="1600" dirty="0">
                <a:latin typeface="Inter" panose="02000503000000020004" pitchFamily="2" charset="0"/>
                <a:ea typeface="Inter" panose="02000503000000020004" pitchFamily="2" charset="0"/>
                <a:cs typeface="Inter" panose="02000503000000020004" pitchFamily="2" charset="0"/>
              </a:rPr>
              <a:t>-based execution for data control and lower external API costs</a:t>
            </a: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Cloud</a:t>
            </a:r>
            <a:r>
              <a:rPr lang="en-US" sz="1600" dirty="0">
                <a:latin typeface="Inter" panose="02000503000000020004" pitchFamily="2" charset="0"/>
                <a:ea typeface="Inter" panose="02000503000000020004" pitchFamily="2" charset="0"/>
                <a:cs typeface="Inter" panose="02000503000000020004" pitchFamily="2" charset="0"/>
              </a:rPr>
              <a:t> 	→ OpenAI / Azure OpenAI for managed, high-quality models</a:t>
            </a: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Flexible Logic</a:t>
            </a:r>
            <a:r>
              <a:rPr lang="en-US" sz="1600" dirty="0">
                <a:latin typeface="Inter" panose="02000503000000020004" pitchFamily="2" charset="0"/>
                <a:ea typeface="Inter" panose="02000503000000020004" pitchFamily="2" charset="0"/>
                <a:cs typeface="Inter" panose="02000503000000020004" pitchFamily="2" charset="0"/>
              </a:rPr>
              <a:t> 	→ switch providers without changing the orchestrator</a:t>
            </a: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Local Models</a:t>
            </a:r>
            <a:r>
              <a:rPr lang="en-US" sz="1600" dirty="0">
                <a:latin typeface="Inter" panose="02000503000000020004" pitchFamily="2" charset="0"/>
                <a:ea typeface="Inter" panose="02000503000000020004" pitchFamily="2" charset="0"/>
                <a:cs typeface="Inter" panose="02000503000000020004" pitchFamily="2" charset="0"/>
              </a:rPr>
              <a:t>	→ Phi-3, Mistral, </a:t>
            </a:r>
            <a:r>
              <a:rPr lang="en-US" sz="1600" dirty="0" err="1">
                <a:latin typeface="Inter" panose="02000503000000020004" pitchFamily="2" charset="0"/>
                <a:ea typeface="Inter" panose="02000503000000020004" pitchFamily="2" charset="0"/>
                <a:cs typeface="Inter" panose="02000503000000020004" pitchFamily="2" charset="0"/>
              </a:rPr>
              <a:t>LLaMA</a:t>
            </a:r>
            <a:r>
              <a:rPr lang="en-US" sz="1600" dirty="0">
                <a:latin typeface="Inter" panose="02000503000000020004" pitchFamily="2" charset="0"/>
                <a:ea typeface="Inter" panose="02000503000000020004" pitchFamily="2" charset="0"/>
                <a:cs typeface="Inter" panose="02000503000000020004" pitchFamily="2" charset="0"/>
              </a:rPr>
              <a:t>, </a:t>
            </a:r>
            <a:r>
              <a:rPr lang="en-US" sz="1600" dirty="0" err="1">
                <a:latin typeface="Inter" panose="02000503000000020004" pitchFamily="2" charset="0"/>
                <a:ea typeface="Inter" panose="02000503000000020004" pitchFamily="2" charset="0"/>
                <a:cs typeface="Inter" panose="02000503000000020004" pitchFamily="2" charset="0"/>
              </a:rPr>
              <a:t>Qwen</a:t>
            </a:r>
            <a:r>
              <a:rPr lang="en-US" sz="1600" dirty="0">
                <a:latin typeface="Inter" panose="02000503000000020004" pitchFamily="2" charset="0"/>
                <a:ea typeface="Inter" panose="02000503000000020004" pitchFamily="2" charset="0"/>
                <a:cs typeface="Inter" panose="02000503000000020004" pitchFamily="2" charset="0"/>
              </a:rPr>
              <a:t>, Gemma models</a:t>
            </a:r>
          </a:p>
          <a:p>
            <a:endParaRPr lang="en-US" sz="1600" b="1" dirty="0">
              <a:latin typeface="Inter" panose="02000503000000020004" pitchFamily="2" charset="0"/>
              <a:ea typeface="Inter" panose="02000503000000020004" pitchFamily="2" charset="0"/>
              <a:cs typeface="Inter" panose="02000503000000020004" pitchFamily="2" charset="0"/>
            </a:endParaRPr>
          </a:p>
          <a:p>
            <a:r>
              <a:rPr lang="en-US" b="1" dirty="0">
                <a:latin typeface="Inter" panose="02000503000000020004" pitchFamily="2" charset="0"/>
                <a:ea typeface="Inter" panose="02000503000000020004" pitchFamily="2" charset="0"/>
                <a:cs typeface="Inter" panose="02000503000000020004" pitchFamily="2" charset="0"/>
              </a:rPr>
              <a:t>Model Selection Order</a:t>
            </a:r>
            <a:endParaRPr lang="en-US" dirty="0">
              <a:latin typeface="Inter" panose="02000503000000020004" pitchFamily="2" charset="0"/>
              <a:ea typeface="Inter" panose="02000503000000020004" pitchFamily="2" charset="0"/>
              <a:cs typeface="Inter" panose="02000503000000020004" pitchFamily="2" charset="0"/>
            </a:endParaRPr>
          </a:p>
          <a:p>
            <a:r>
              <a:rPr lang="en-US" sz="1600" dirty="0">
                <a:latin typeface="Inter" panose="02000503000000020004" pitchFamily="2" charset="0"/>
                <a:ea typeface="Inter" panose="02000503000000020004" pitchFamily="2" charset="0"/>
                <a:cs typeface="Inter" panose="02000503000000020004" pitchFamily="2" charset="0"/>
              </a:rPr>
              <a:t>The platform uses the most specific model setting available, then falls back step by step to broader defaults.</a:t>
            </a:r>
          </a:p>
          <a:p>
            <a:endParaRPr lang="en-US" sz="1600" b="1" dirty="0">
              <a:latin typeface="Inter" panose="02000503000000020004" pitchFamily="2" charset="0"/>
              <a:ea typeface="Inter" panose="02000503000000020004" pitchFamily="2" charset="0"/>
              <a:cs typeface="Inter" panose="02000503000000020004" pitchFamily="2" charset="0"/>
            </a:endParaRPr>
          </a:p>
          <a:p>
            <a:r>
              <a:rPr lang="en-US" sz="1600" b="1" dirty="0">
                <a:latin typeface="Inter" panose="02000503000000020004" pitchFamily="2" charset="0"/>
                <a:ea typeface="Inter" panose="02000503000000020004" pitchFamily="2" charset="0"/>
                <a:cs typeface="Inter" panose="02000503000000020004" pitchFamily="2" charset="0"/>
              </a:rPr>
              <a:t>Request → Session → Tenant → Global Default</a:t>
            </a:r>
            <a:endParaRPr lang="en-US" sz="1600" dirty="0">
              <a:latin typeface="Inter" panose="02000503000000020004" pitchFamily="2" charset="0"/>
              <a:ea typeface="Inter" panose="02000503000000020004" pitchFamily="2" charset="0"/>
              <a:cs typeface="Inter" panose="02000503000000020004" pitchFamily="2" charset="0"/>
            </a:endParaRPr>
          </a:p>
        </p:txBody>
      </p:sp>
      <p:pic>
        <p:nvPicPr>
          <p:cNvPr id="28" name="Picture 27">
            <a:extLst>
              <a:ext uri="{FF2B5EF4-FFF2-40B4-BE49-F238E27FC236}">
                <a16:creationId xmlns:a16="http://schemas.microsoft.com/office/drawing/2014/main" id="{A9DAB6DF-0B47-8EB7-028E-71086D3E7670}"/>
              </a:ext>
            </a:extLst>
          </p:cNvPr>
          <p:cNvPicPr>
            <a:picLocks noChangeAspect="1"/>
          </p:cNvPicPr>
          <p:nvPr/>
        </p:nvPicPr>
        <p:blipFill>
          <a:blip r:embed="rId6"/>
          <a:srcRect t="8110" b="50000"/>
          <a:stretch/>
        </p:blipFill>
        <p:spPr>
          <a:xfrm>
            <a:off x="3674162" y="4179555"/>
            <a:ext cx="4843674" cy="2029007"/>
          </a:xfrm>
          <a:prstGeom prst="rect">
            <a:avLst/>
          </a:prstGeom>
        </p:spPr>
      </p:pic>
    </p:spTree>
    <p:extLst>
      <p:ext uri="{BB962C8B-B14F-4D97-AF65-F5344CB8AC3E}">
        <p14:creationId xmlns:p14="http://schemas.microsoft.com/office/powerpoint/2010/main" val="6781055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DBA807-84CE-D6AC-900B-D4F539A7F13D}"/>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3D4670CE-7461-2AA2-CDC9-FF7CDB1E24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Slide Number Placeholder 11">
            <a:extLst>
              <a:ext uri="{FF2B5EF4-FFF2-40B4-BE49-F238E27FC236}">
                <a16:creationId xmlns:a16="http://schemas.microsoft.com/office/drawing/2014/main" id="{F0314469-F425-9B54-49DF-BE7CAD5E526F}"/>
              </a:ext>
            </a:extLst>
          </p:cNvPr>
          <p:cNvSpPr>
            <a:spLocks noGrp="1"/>
          </p:cNvSpPr>
          <p:nvPr>
            <p:ph type="sldNum" sz="quarter" idx="12"/>
          </p:nvPr>
        </p:nvSpPr>
        <p:spPr/>
        <p:txBody>
          <a:bodyPr/>
          <a:lstStyle/>
          <a:p>
            <a:r>
              <a:rPr lang="en-US" dirty="0">
                <a:solidFill>
                  <a:schemeClr val="bg1"/>
                </a:solidFill>
              </a:rPr>
              <a:t>5 / 10</a:t>
            </a:r>
          </a:p>
        </p:txBody>
      </p:sp>
      <p:sp>
        <p:nvSpPr>
          <p:cNvPr id="5" name="TextBox 4">
            <a:extLst>
              <a:ext uri="{FF2B5EF4-FFF2-40B4-BE49-F238E27FC236}">
                <a16:creationId xmlns:a16="http://schemas.microsoft.com/office/drawing/2014/main" id="{9CABCAB4-FD08-AE46-D879-F0F54DF4FA44}"/>
              </a:ext>
            </a:extLst>
          </p:cNvPr>
          <p:cNvSpPr txBox="1"/>
          <p:nvPr/>
        </p:nvSpPr>
        <p:spPr>
          <a:xfrm>
            <a:off x="596348" y="374273"/>
            <a:ext cx="11127823" cy="830997"/>
          </a:xfrm>
          <a:prstGeom prst="rect">
            <a:avLst/>
          </a:prstGeom>
          <a:noFill/>
        </p:spPr>
        <p:txBody>
          <a:bodyPr wrap="square" rtlCol="0">
            <a:spAutoFit/>
          </a:bodyPr>
          <a:lstStyle/>
          <a:p>
            <a:r>
              <a:rPr lang="en-US" sz="2800" b="1" dirty="0">
                <a:solidFill>
                  <a:srgbClr val="822334"/>
                </a:solidFill>
                <a:latin typeface="Inter" panose="02000503000000020004" pitchFamily="2" charset="0"/>
                <a:ea typeface="Inter" panose="02000503000000020004" pitchFamily="2" charset="0"/>
                <a:cs typeface="Inter" panose="02000503000000020004" pitchFamily="2" charset="0"/>
              </a:rPr>
              <a:t>MCP RUNTIME &amp; TOOLS</a:t>
            </a:r>
            <a:endParaRPr lang="en-US" sz="2000" b="1" dirty="0">
              <a:solidFill>
                <a:srgbClr val="822334"/>
              </a:solidFill>
              <a:latin typeface="Inter" panose="02000503000000020004" pitchFamily="2" charset="0"/>
              <a:ea typeface="Inter" panose="02000503000000020004" pitchFamily="2" charset="0"/>
              <a:cs typeface="Inter" panose="02000503000000020004" pitchFamily="2" charset="0"/>
            </a:endParaRPr>
          </a:p>
          <a:p>
            <a:r>
              <a:rPr lang="en-US" sz="2000" i="0" dirty="0">
                <a:solidFill>
                  <a:schemeClr val="bg2">
                    <a:lumMod val="50000"/>
                  </a:schemeClr>
                </a:solidFill>
                <a:effectLst/>
                <a:latin typeface="Inter" panose="02000503000000020004" pitchFamily="2" charset="0"/>
                <a:ea typeface="Inter" panose="02000503000000020004" pitchFamily="2" charset="0"/>
                <a:cs typeface="Inter" panose="02000503000000020004" pitchFamily="2" charset="0"/>
              </a:rPr>
              <a:t>34 tools across 12 categories</a:t>
            </a:r>
          </a:p>
        </p:txBody>
      </p:sp>
      <p:sp>
        <p:nvSpPr>
          <p:cNvPr id="3" name="Footer Placeholder 10">
            <a:extLst>
              <a:ext uri="{FF2B5EF4-FFF2-40B4-BE49-F238E27FC236}">
                <a16:creationId xmlns:a16="http://schemas.microsoft.com/office/drawing/2014/main" id="{B17EC90F-3B4D-9C33-CB2A-9249CED03EB1}"/>
              </a:ext>
            </a:extLst>
          </p:cNvPr>
          <p:cNvSpPr>
            <a:spLocks noGrp="1"/>
          </p:cNvSpPr>
          <p:nvPr>
            <p:ph type="ftr" sz="quarter" idx="11"/>
          </p:nvPr>
        </p:nvSpPr>
        <p:spPr>
          <a:xfrm>
            <a:off x="4566534" y="6356350"/>
            <a:ext cx="3058931" cy="365125"/>
          </a:xfrm>
        </p:spPr>
        <p:txBody>
          <a:bodyPr/>
          <a:lstStyle/>
          <a:p>
            <a:r>
              <a:rPr lang="en-US" dirty="0" err="1">
                <a:solidFill>
                  <a:schemeClr val="bg1"/>
                </a:solidFill>
                <a:latin typeface="Inter" panose="02000503000000020004" pitchFamily="2" charset="0"/>
                <a:ea typeface="Inter" panose="02000503000000020004" pitchFamily="2" charset="0"/>
                <a:cs typeface="Inter" panose="02000503000000020004" pitchFamily="2" charset="0"/>
              </a:rPr>
              <a:t>Cineca</a:t>
            </a:r>
            <a:r>
              <a:rPr lang="en-US" dirty="0">
                <a:solidFill>
                  <a:schemeClr val="bg1"/>
                </a:solidFill>
                <a:latin typeface="Inter" panose="02000503000000020004" pitchFamily="2" charset="0"/>
                <a:ea typeface="Inter" panose="02000503000000020004" pitchFamily="2" charset="0"/>
                <a:cs typeface="Inter" panose="02000503000000020004" pitchFamily="2" charset="0"/>
              </a:rPr>
              <a:t> Agentic Platform – Arman Feili</a:t>
            </a:r>
          </a:p>
        </p:txBody>
      </p:sp>
      <p:pic>
        <p:nvPicPr>
          <p:cNvPr id="6" name="Picture 5">
            <a:extLst>
              <a:ext uri="{FF2B5EF4-FFF2-40B4-BE49-F238E27FC236}">
                <a16:creationId xmlns:a16="http://schemas.microsoft.com/office/drawing/2014/main" id="{3C807F7A-BA39-F171-34B1-7650B5F137AD}"/>
              </a:ext>
            </a:extLst>
          </p:cNvPr>
          <p:cNvPicPr>
            <a:picLocks noChangeAspect="1"/>
          </p:cNvPicPr>
          <p:nvPr/>
        </p:nvPicPr>
        <p:blipFill>
          <a:blip r:embed="rId3"/>
          <a:stretch>
            <a:fillRect/>
          </a:stretch>
        </p:blipFill>
        <p:spPr>
          <a:xfrm>
            <a:off x="321777" y="6315552"/>
            <a:ext cx="435345" cy="435345"/>
          </a:xfrm>
          <a:prstGeom prst="rect">
            <a:avLst/>
          </a:prstGeom>
        </p:spPr>
      </p:pic>
      <p:pic>
        <p:nvPicPr>
          <p:cNvPr id="7" name="Picture 6">
            <a:extLst>
              <a:ext uri="{FF2B5EF4-FFF2-40B4-BE49-F238E27FC236}">
                <a16:creationId xmlns:a16="http://schemas.microsoft.com/office/drawing/2014/main" id="{252DD293-05FE-044A-599E-48A7E0C6612F}"/>
              </a:ext>
            </a:extLst>
          </p:cNvPr>
          <p:cNvPicPr>
            <a:picLocks noChangeAspect="1"/>
          </p:cNvPicPr>
          <p:nvPr/>
        </p:nvPicPr>
        <p:blipFill>
          <a:blip r:embed="rId4"/>
          <a:stretch>
            <a:fillRect/>
          </a:stretch>
        </p:blipFill>
        <p:spPr>
          <a:xfrm>
            <a:off x="866134" y="6362629"/>
            <a:ext cx="1093241" cy="365125"/>
          </a:xfrm>
          <a:prstGeom prst="rect">
            <a:avLst/>
          </a:prstGeom>
        </p:spPr>
      </p:pic>
      <p:pic>
        <p:nvPicPr>
          <p:cNvPr id="14" name="Picture 13">
            <a:extLst>
              <a:ext uri="{FF2B5EF4-FFF2-40B4-BE49-F238E27FC236}">
                <a16:creationId xmlns:a16="http://schemas.microsoft.com/office/drawing/2014/main" id="{E832818A-9518-9C40-0173-A73AF98717B2}"/>
              </a:ext>
            </a:extLst>
          </p:cNvPr>
          <p:cNvPicPr>
            <a:picLocks noChangeAspect="1"/>
          </p:cNvPicPr>
          <p:nvPr/>
        </p:nvPicPr>
        <p:blipFill>
          <a:blip r:embed="rId5"/>
          <a:stretch>
            <a:fillRect/>
          </a:stretch>
        </p:blipFill>
        <p:spPr>
          <a:xfrm>
            <a:off x="5806271" y="371963"/>
            <a:ext cx="5931547" cy="985152"/>
          </a:xfrm>
          <a:prstGeom prst="rect">
            <a:avLst/>
          </a:prstGeom>
        </p:spPr>
      </p:pic>
      <p:sp>
        <p:nvSpPr>
          <p:cNvPr id="16" name="TextBox 15">
            <a:extLst>
              <a:ext uri="{FF2B5EF4-FFF2-40B4-BE49-F238E27FC236}">
                <a16:creationId xmlns:a16="http://schemas.microsoft.com/office/drawing/2014/main" id="{8EC7D015-1184-5E0B-2595-C47BBDC18CB6}"/>
              </a:ext>
            </a:extLst>
          </p:cNvPr>
          <p:cNvSpPr txBox="1"/>
          <p:nvPr/>
        </p:nvSpPr>
        <p:spPr>
          <a:xfrm>
            <a:off x="596348" y="1562253"/>
            <a:ext cx="11127822" cy="4339650"/>
          </a:xfrm>
          <a:prstGeom prst="rect">
            <a:avLst/>
          </a:prstGeom>
          <a:noFill/>
        </p:spPr>
        <p:txBody>
          <a:bodyPr wrap="square" rtlCol="0">
            <a:spAutoFit/>
          </a:bodyPr>
          <a:lstStyle/>
          <a:p>
            <a:r>
              <a:rPr lang="en-US" b="1" dirty="0">
                <a:latin typeface="Inter" panose="02000503000000020004" pitchFamily="2" charset="0"/>
                <a:ea typeface="Inter" panose="02000503000000020004" pitchFamily="2" charset="0"/>
                <a:cs typeface="Inter" panose="02000503000000020004" pitchFamily="2" charset="0"/>
              </a:rPr>
              <a:t>Runtime Controls</a:t>
            </a:r>
            <a:endParaRPr lang="en-US" dirty="0">
              <a:latin typeface="Inter" panose="02000503000000020004" pitchFamily="2" charset="0"/>
              <a:ea typeface="Inter" panose="02000503000000020004" pitchFamily="2" charset="0"/>
              <a:cs typeface="Inter" panose="02000503000000020004" pitchFamily="2" charset="0"/>
            </a:endParaRP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Registry</a:t>
            </a:r>
            <a:r>
              <a:rPr lang="en-US" sz="1600" dirty="0">
                <a:latin typeface="Inter" panose="02000503000000020004" pitchFamily="2" charset="0"/>
                <a:ea typeface="Inter" panose="02000503000000020004" pitchFamily="2" charset="0"/>
                <a:cs typeface="Inter" panose="02000503000000020004" pitchFamily="2" charset="0"/>
              </a:rPr>
              <a:t> 	→ stores tool definitions, schemas, scopes, and limits</a:t>
            </a: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Access	</a:t>
            </a:r>
            <a:r>
              <a:rPr lang="en-US" sz="1600" dirty="0">
                <a:latin typeface="Inter" panose="02000503000000020004" pitchFamily="2" charset="0"/>
                <a:ea typeface="Inter" panose="02000503000000020004" pitchFamily="2" charset="0"/>
                <a:cs typeface="Inter" panose="02000503000000020004" pitchFamily="2" charset="0"/>
              </a:rPr>
              <a:t>→ checks RBAC, tenant context, and tool permissions</a:t>
            </a: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Validation 	</a:t>
            </a:r>
            <a:r>
              <a:rPr lang="en-US" sz="1600" dirty="0">
                <a:latin typeface="Inter" panose="02000503000000020004" pitchFamily="2" charset="0"/>
                <a:ea typeface="Inter" panose="02000503000000020004" pitchFamily="2" charset="0"/>
                <a:cs typeface="Inter" panose="02000503000000020004" pitchFamily="2" charset="0"/>
              </a:rPr>
              <a:t>→ verifies inputs before execution</a:t>
            </a: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Audit</a:t>
            </a:r>
            <a:r>
              <a:rPr lang="en-US" sz="1600" dirty="0">
                <a:latin typeface="Inter" panose="02000503000000020004" pitchFamily="2" charset="0"/>
                <a:ea typeface="Inter" panose="02000503000000020004" pitchFamily="2" charset="0"/>
                <a:cs typeface="Inter" panose="02000503000000020004" pitchFamily="2" charset="0"/>
              </a:rPr>
              <a:t>		→ records tool calls, results, errors, and timing</a:t>
            </a: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Output</a:t>
            </a:r>
            <a:r>
              <a:rPr lang="en-US" sz="1600" dirty="0">
                <a:latin typeface="Inter" panose="02000503000000020004" pitchFamily="2" charset="0"/>
                <a:ea typeface="Inter" panose="02000503000000020004" pitchFamily="2" charset="0"/>
                <a:cs typeface="Inter" panose="02000503000000020004" pitchFamily="2" charset="0"/>
              </a:rPr>
              <a:t>	→ returns structured outputs to the agent</a:t>
            </a:r>
          </a:p>
          <a:p>
            <a:endParaRPr lang="en-US" sz="1600" b="1" dirty="0">
              <a:latin typeface="Inter" panose="02000503000000020004" pitchFamily="2" charset="0"/>
              <a:ea typeface="Inter" panose="02000503000000020004" pitchFamily="2" charset="0"/>
              <a:cs typeface="Inter" panose="02000503000000020004" pitchFamily="2" charset="0"/>
            </a:endParaRPr>
          </a:p>
          <a:p>
            <a:r>
              <a:rPr lang="en-US" b="1" dirty="0">
                <a:latin typeface="Inter" panose="02000503000000020004" pitchFamily="2" charset="0"/>
                <a:ea typeface="Inter" panose="02000503000000020004" pitchFamily="2" charset="0"/>
                <a:cs typeface="Inter" panose="02000503000000020004" pitchFamily="2" charset="0"/>
              </a:rPr>
              <a:t>Invocation Flow</a:t>
            </a:r>
            <a:endParaRPr lang="en-US" dirty="0">
              <a:latin typeface="Inter" panose="02000503000000020004" pitchFamily="2" charset="0"/>
              <a:ea typeface="Inter" panose="02000503000000020004" pitchFamily="2" charset="0"/>
              <a:cs typeface="Inter" panose="02000503000000020004" pitchFamily="2" charset="0"/>
            </a:endParaRPr>
          </a:p>
          <a:p>
            <a:r>
              <a:rPr lang="en-US" sz="1600" b="1" dirty="0">
                <a:latin typeface="Inter" panose="02000503000000020004" pitchFamily="2" charset="0"/>
                <a:ea typeface="Inter" panose="02000503000000020004" pitchFamily="2" charset="0"/>
                <a:cs typeface="Inter" panose="02000503000000020004" pitchFamily="2" charset="0"/>
              </a:rPr>
              <a:t>Request → Validate → Authorize → Execute → Audit → Return</a:t>
            </a:r>
            <a:endParaRPr lang="en-US" sz="1600" dirty="0">
              <a:latin typeface="Inter" panose="02000503000000020004" pitchFamily="2" charset="0"/>
              <a:ea typeface="Inter" panose="02000503000000020004" pitchFamily="2" charset="0"/>
              <a:cs typeface="Inter" panose="02000503000000020004" pitchFamily="2" charset="0"/>
            </a:endParaRPr>
          </a:p>
          <a:p>
            <a:endParaRPr lang="en-US" sz="1600" b="1" dirty="0">
              <a:latin typeface="Inter" panose="02000503000000020004" pitchFamily="2" charset="0"/>
              <a:ea typeface="Inter" panose="02000503000000020004" pitchFamily="2" charset="0"/>
              <a:cs typeface="Inter" panose="02000503000000020004" pitchFamily="2" charset="0"/>
            </a:endParaRPr>
          </a:p>
          <a:p>
            <a:r>
              <a:rPr lang="en-US" b="1" dirty="0">
                <a:latin typeface="Inter" panose="02000503000000020004" pitchFamily="2" charset="0"/>
                <a:ea typeface="Inter" panose="02000503000000020004" pitchFamily="2" charset="0"/>
                <a:cs typeface="Inter" panose="02000503000000020004" pitchFamily="2" charset="0"/>
              </a:rPr>
              <a:t>Main Tool Families</a:t>
            </a:r>
            <a:endParaRPr lang="en-US" dirty="0">
              <a:latin typeface="Inter" panose="02000503000000020004" pitchFamily="2" charset="0"/>
              <a:ea typeface="Inter" panose="02000503000000020004" pitchFamily="2" charset="0"/>
              <a:cs typeface="Inter" panose="02000503000000020004" pitchFamily="2" charset="0"/>
            </a:endParaRP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Graph</a:t>
            </a:r>
            <a:r>
              <a:rPr lang="en-US" sz="1600" dirty="0">
                <a:latin typeface="Inter" panose="02000503000000020004" pitchFamily="2" charset="0"/>
                <a:ea typeface="Inter" panose="02000503000000020004" pitchFamily="2" charset="0"/>
                <a:cs typeface="Inter" panose="02000503000000020004" pitchFamily="2" charset="0"/>
              </a:rPr>
              <a:t> 	→ </a:t>
            </a:r>
            <a:r>
              <a:rPr lang="en-US" sz="1600" dirty="0" err="1">
                <a:latin typeface="Inter" panose="02000503000000020004" pitchFamily="2" charset="0"/>
                <a:ea typeface="Inter" panose="02000503000000020004" pitchFamily="2" charset="0"/>
                <a:cs typeface="Inter" panose="02000503000000020004" pitchFamily="2" charset="0"/>
              </a:rPr>
              <a:t>Memgraph</a:t>
            </a:r>
            <a:r>
              <a:rPr lang="en-US" sz="1600" dirty="0">
                <a:latin typeface="Inter" panose="02000503000000020004" pitchFamily="2" charset="0"/>
                <a:ea typeface="Inter" panose="02000503000000020004" pitchFamily="2" charset="0"/>
                <a:cs typeface="Inter" panose="02000503000000020004" pitchFamily="2" charset="0"/>
              </a:rPr>
              <a:t> schema, Cypher execution, graph queries</a:t>
            </a: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Security</a:t>
            </a:r>
            <a:r>
              <a:rPr lang="en-US" sz="1600" dirty="0">
                <a:latin typeface="Inter" panose="02000503000000020004" pitchFamily="2" charset="0"/>
                <a:ea typeface="Inter" panose="02000503000000020004" pitchFamily="2" charset="0"/>
                <a:cs typeface="Inter" panose="02000503000000020004" pitchFamily="2" charset="0"/>
              </a:rPr>
              <a:t> 	→ identity, permissions, and access checks</a:t>
            </a: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System &amp; Catalog</a:t>
            </a:r>
            <a:r>
              <a:rPr lang="en-US" sz="1600" dirty="0">
                <a:latin typeface="Inter" panose="02000503000000020004" pitchFamily="2" charset="0"/>
                <a:ea typeface="Inter" panose="02000503000000020004" pitchFamily="2" charset="0"/>
                <a:cs typeface="Inter" panose="02000503000000020004" pitchFamily="2" charset="0"/>
              </a:rPr>
              <a:t> → health, metrics, configuration, and tool discovery</a:t>
            </a: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Model &amp; Agent</a:t>
            </a:r>
            <a:r>
              <a:rPr lang="en-US" sz="1600" dirty="0">
                <a:latin typeface="Inter" panose="02000503000000020004" pitchFamily="2" charset="0"/>
                <a:ea typeface="Inter" panose="02000503000000020004" pitchFamily="2" charset="0"/>
                <a:cs typeface="Inter" panose="02000503000000020004" pitchFamily="2" charset="0"/>
              </a:rPr>
              <a:t> 	→ model operations, context, history, and session state</a:t>
            </a: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Analytics</a:t>
            </a:r>
            <a:r>
              <a:rPr lang="en-US" sz="1600" dirty="0">
                <a:latin typeface="Inter" panose="02000503000000020004" pitchFamily="2" charset="0"/>
                <a:ea typeface="Inter" panose="02000503000000020004" pitchFamily="2" charset="0"/>
                <a:cs typeface="Inter" panose="02000503000000020004" pitchFamily="2" charset="0"/>
              </a:rPr>
              <a:t> 	→ summarizes graph results and prepares data for charts</a:t>
            </a: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Admin / ETL / CRUD / Export</a:t>
            </a:r>
            <a:r>
              <a:rPr lang="en-US" sz="1600" dirty="0">
                <a:latin typeface="Inter" panose="02000503000000020004" pitchFamily="2" charset="0"/>
                <a:ea typeface="Inter" panose="02000503000000020004" pitchFamily="2" charset="0"/>
                <a:cs typeface="Inter" panose="02000503000000020004" pitchFamily="2" charset="0"/>
              </a:rPr>
              <a:t> → restricted operations, data import, update, and export</a:t>
            </a:r>
          </a:p>
        </p:txBody>
      </p:sp>
      <p:pic>
        <p:nvPicPr>
          <p:cNvPr id="31" name="Picture 30">
            <a:extLst>
              <a:ext uri="{FF2B5EF4-FFF2-40B4-BE49-F238E27FC236}">
                <a16:creationId xmlns:a16="http://schemas.microsoft.com/office/drawing/2014/main" id="{5C77944D-3B2E-8214-0AAF-1D2ED0119B2E}"/>
              </a:ext>
            </a:extLst>
          </p:cNvPr>
          <p:cNvPicPr>
            <a:picLocks noChangeAspect="1"/>
          </p:cNvPicPr>
          <p:nvPr/>
        </p:nvPicPr>
        <p:blipFill>
          <a:blip r:embed="rId6"/>
          <a:stretch>
            <a:fillRect/>
          </a:stretch>
        </p:blipFill>
        <p:spPr>
          <a:xfrm>
            <a:off x="8285944" y="2893249"/>
            <a:ext cx="3438226" cy="1616843"/>
          </a:xfrm>
          <a:prstGeom prst="rect">
            <a:avLst/>
          </a:prstGeom>
        </p:spPr>
      </p:pic>
      <p:pic>
        <p:nvPicPr>
          <p:cNvPr id="33" name="Picture 32">
            <a:extLst>
              <a:ext uri="{FF2B5EF4-FFF2-40B4-BE49-F238E27FC236}">
                <a16:creationId xmlns:a16="http://schemas.microsoft.com/office/drawing/2014/main" id="{35FFC3D9-E984-AC2C-3105-E69FE873A3F2}"/>
              </a:ext>
            </a:extLst>
          </p:cNvPr>
          <p:cNvPicPr>
            <a:picLocks noChangeAspect="1"/>
          </p:cNvPicPr>
          <p:nvPr/>
        </p:nvPicPr>
        <p:blipFill>
          <a:blip r:embed="rId7"/>
          <a:stretch>
            <a:fillRect/>
          </a:stretch>
        </p:blipFill>
        <p:spPr>
          <a:xfrm>
            <a:off x="8299594" y="2122688"/>
            <a:ext cx="3438224" cy="565423"/>
          </a:xfrm>
          <a:prstGeom prst="rect">
            <a:avLst/>
          </a:prstGeom>
        </p:spPr>
      </p:pic>
    </p:spTree>
    <p:extLst>
      <p:ext uri="{BB962C8B-B14F-4D97-AF65-F5344CB8AC3E}">
        <p14:creationId xmlns:p14="http://schemas.microsoft.com/office/powerpoint/2010/main" val="17148643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1B862C-2267-8D03-5685-14F851C2142D}"/>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A10B53D2-1DA0-1C06-2445-5BEBAFDABA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Slide Number Placeholder 11">
            <a:extLst>
              <a:ext uri="{FF2B5EF4-FFF2-40B4-BE49-F238E27FC236}">
                <a16:creationId xmlns:a16="http://schemas.microsoft.com/office/drawing/2014/main" id="{61F0A128-FEA2-5D60-D483-65085F2220CB}"/>
              </a:ext>
            </a:extLst>
          </p:cNvPr>
          <p:cNvSpPr>
            <a:spLocks noGrp="1"/>
          </p:cNvSpPr>
          <p:nvPr>
            <p:ph type="sldNum" sz="quarter" idx="12"/>
          </p:nvPr>
        </p:nvSpPr>
        <p:spPr/>
        <p:txBody>
          <a:bodyPr/>
          <a:lstStyle/>
          <a:p>
            <a:r>
              <a:rPr lang="en-US" dirty="0">
                <a:solidFill>
                  <a:schemeClr val="bg1"/>
                </a:solidFill>
              </a:rPr>
              <a:t>6 / 10</a:t>
            </a:r>
          </a:p>
        </p:txBody>
      </p:sp>
      <p:sp>
        <p:nvSpPr>
          <p:cNvPr id="7" name="Footer Placeholder 10">
            <a:extLst>
              <a:ext uri="{FF2B5EF4-FFF2-40B4-BE49-F238E27FC236}">
                <a16:creationId xmlns:a16="http://schemas.microsoft.com/office/drawing/2014/main" id="{37F38BB5-5780-85F5-93A1-028751EC4565}"/>
              </a:ext>
            </a:extLst>
          </p:cNvPr>
          <p:cNvSpPr>
            <a:spLocks noGrp="1"/>
          </p:cNvSpPr>
          <p:nvPr>
            <p:ph type="ftr" sz="quarter" idx="11"/>
          </p:nvPr>
        </p:nvSpPr>
        <p:spPr>
          <a:xfrm>
            <a:off x="4566534" y="6356350"/>
            <a:ext cx="3058931" cy="365125"/>
          </a:xfrm>
        </p:spPr>
        <p:txBody>
          <a:bodyPr/>
          <a:lstStyle/>
          <a:p>
            <a:r>
              <a:rPr lang="en-US" dirty="0" err="1">
                <a:solidFill>
                  <a:schemeClr val="bg1"/>
                </a:solidFill>
                <a:latin typeface="Inter" panose="02000503000000020004" pitchFamily="2" charset="0"/>
                <a:ea typeface="Inter" panose="02000503000000020004" pitchFamily="2" charset="0"/>
                <a:cs typeface="Inter" panose="02000503000000020004" pitchFamily="2" charset="0"/>
              </a:rPr>
              <a:t>Cineca</a:t>
            </a:r>
            <a:r>
              <a:rPr lang="en-US" dirty="0">
                <a:solidFill>
                  <a:schemeClr val="bg1"/>
                </a:solidFill>
                <a:latin typeface="Inter" panose="02000503000000020004" pitchFamily="2" charset="0"/>
                <a:ea typeface="Inter" panose="02000503000000020004" pitchFamily="2" charset="0"/>
                <a:cs typeface="Inter" panose="02000503000000020004" pitchFamily="2" charset="0"/>
              </a:rPr>
              <a:t> Agentic Platform – Arman Feili</a:t>
            </a:r>
          </a:p>
        </p:txBody>
      </p:sp>
      <p:pic>
        <p:nvPicPr>
          <p:cNvPr id="9" name="Picture 8">
            <a:extLst>
              <a:ext uri="{FF2B5EF4-FFF2-40B4-BE49-F238E27FC236}">
                <a16:creationId xmlns:a16="http://schemas.microsoft.com/office/drawing/2014/main" id="{328595CF-4858-5C63-23E7-E943FBD54705}"/>
              </a:ext>
            </a:extLst>
          </p:cNvPr>
          <p:cNvPicPr>
            <a:picLocks noChangeAspect="1"/>
          </p:cNvPicPr>
          <p:nvPr/>
        </p:nvPicPr>
        <p:blipFill>
          <a:blip r:embed="rId4"/>
          <a:stretch>
            <a:fillRect/>
          </a:stretch>
        </p:blipFill>
        <p:spPr>
          <a:xfrm>
            <a:off x="321777" y="6315552"/>
            <a:ext cx="435345" cy="435345"/>
          </a:xfrm>
          <a:prstGeom prst="rect">
            <a:avLst/>
          </a:prstGeom>
        </p:spPr>
      </p:pic>
      <p:pic>
        <p:nvPicPr>
          <p:cNvPr id="10" name="Picture 9">
            <a:extLst>
              <a:ext uri="{FF2B5EF4-FFF2-40B4-BE49-F238E27FC236}">
                <a16:creationId xmlns:a16="http://schemas.microsoft.com/office/drawing/2014/main" id="{B4756F41-71EE-CF99-2042-5D6D9B1EC950}"/>
              </a:ext>
            </a:extLst>
          </p:cNvPr>
          <p:cNvPicPr>
            <a:picLocks noChangeAspect="1"/>
          </p:cNvPicPr>
          <p:nvPr/>
        </p:nvPicPr>
        <p:blipFill>
          <a:blip r:embed="rId5"/>
          <a:stretch>
            <a:fillRect/>
          </a:stretch>
        </p:blipFill>
        <p:spPr>
          <a:xfrm>
            <a:off x="866134" y="6362629"/>
            <a:ext cx="1093241" cy="365125"/>
          </a:xfrm>
          <a:prstGeom prst="rect">
            <a:avLst/>
          </a:prstGeom>
        </p:spPr>
      </p:pic>
      <p:sp>
        <p:nvSpPr>
          <p:cNvPr id="2" name="TextBox 1">
            <a:extLst>
              <a:ext uri="{FF2B5EF4-FFF2-40B4-BE49-F238E27FC236}">
                <a16:creationId xmlns:a16="http://schemas.microsoft.com/office/drawing/2014/main" id="{DA8710B6-5C8C-86F1-98D0-CC931D37E57C}"/>
              </a:ext>
            </a:extLst>
          </p:cNvPr>
          <p:cNvSpPr txBox="1"/>
          <p:nvPr/>
        </p:nvSpPr>
        <p:spPr>
          <a:xfrm>
            <a:off x="596347" y="1581293"/>
            <a:ext cx="11127823" cy="4278094"/>
          </a:xfrm>
          <a:prstGeom prst="rect">
            <a:avLst/>
          </a:prstGeom>
          <a:noFill/>
        </p:spPr>
        <p:txBody>
          <a:bodyPr wrap="square" rtlCol="0">
            <a:spAutoFit/>
          </a:bodyPr>
          <a:lstStyle/>
          <a:p>
            <a:r>
              <a:rPr lang="en-US" sz="1600" b="1" dirty="0">
                <a:latin typeface="Inter" panose="02000503000000020004" pitchFamily="2" charset="0"/>
                <a:ea typeface="Inter" panose="02000503000000020004" pitchFamily="2" charset="0"/>
                <a:cs typeface="Inter" panose="02000503000000020004" pitchFamily="2" charset="0"/>
              </a:rPr>
              <a:t>MCP</a:t>
            </a: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MCP provides a permission-aware and traceable execution layer between the agent and the platform.</a:t>
            </a: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Every MCP tool is registered, validated, authorized, and audited before execution.</a:t>
            </a:r>
          </a:p>
          <a:p>
            <a:pPr marL="285750" indent="-285750">
              <a:buFont typeface="Arial" panose="020B0604020202020204" pitchFamily="34" charset="0"/>
              <a:buChar char="•"/>
            </a:pPr>
            <a:endParaRPr lang="en-US" sz="1600" b="1" dirty="0">
              <a:latin typeface="Inter" panose="02000503000000020004" pitchFamily="2" charset="0"/>
              <a:ea typeface="Inter" panose="02000503000000020004" pitchFamily="2" charset="0"/>
              <a:cs typeface="Inter" panose="02000503000000020004" pitchFamily="2" charset="0"/>
            </a:endParaRPr>
          </a:p>
          <a:p>
            <a:r>
              <a:rPr lang="en-US" sz="1600" b="1" dirty="0">
                <a:latin typeface="Inter" panose="02000503000000020004" pitchFamily="2" charset="0"/>
                <a:ea typeface="Inter" panose="02000503000000020004" pitchFamily="2" charset="0"/>
                <a:cs typeface="Inter" panose="02000503000000020004" pitchFamily="2" charset="0"/>
              </a:rPr>
              <a:t>Categories</a:t>
            </a: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Graph 	</a:t>
            </a:r>
            <a:r>
              <a:rPr lang="en-US" sz="1600" dirty="0">
                <a:latin typeface="Inter" panose="02000503000000020004" pitchFamily="2" charset="0"/>
                <a:ea typeface="Inter" panose="02000503000000020004" pitchFamily="2" charset="0"/>
                <a:cs typeface="Inter" panose="02000503000000020004" pitchFamily="2" charset="0"/>
              </a:rPr>
              <a:t>→ Query </a:t>
            </a:r>
            <a:r>
              <a:rPr lang="en-US" sz="1600" dirty="0" err="1">
                <a:latin typeface="Inter" panose="02000503000000020004" pitchFamily="2" charset="0"/>
                <a:ea typeface="Inter" panose="02000503000000020004" pitchFamily="2" charset="0"/>
                <a:cs typeface="Inter" panose="02000503000000020004" pitchFamily="2" charset="0"/>
              </a:rPr>
              <a:t>Memgraph</a:t>
            </a:r>
            <a:r>
              <a:rPr lang="en-US" sz="1600" dirty="0">
                <a:latin typeface="Inter" panose="02000503000000020004" pitchFamily="2" charset="0"/>
                <a:ea typeface="Inter" panose="02000503000000020004" pitchFamily="2" charset="0"/>
                <a:cs typeface="Inter" panose="02000503000000020004" pitchFamily="2" charset="0"/>
              </a:rPr>
              <a:t>, generate Cypher, inspect schema, and explain query plans.</a:t>
            </a: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Security 	</a:t>
            </a:r>
            <a:r>
              <a:rPr lang="en-US" sz="1600" dirty="0">
                <a:latin typeface="Inter" panose="02000503000000020004" pitchFamily="2" charset="0"/>
                <a:ea typeface="Inter" panose="02000503000000020004" pitchFamily="2" charset="0"/>
                <a:cs typeface="Inter" panose="02000503000000020004" pitchFamily="2" charset="0"/>
              </a:rPr>
              <a:t>→ Check identity, roles, scopes, permissions, and restricted operations.</a:t>
            </a: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System 	</a:t>
            </a:r>
            <a:r>
              <a:rPr lang="en-US" sz="1600" dirty="0">
                <a:latin typeface="Inter" panose="02000503000000020004" pitchFamily="2" charset="0"/>
                <a:ea typeface="Inter" panose="02000503000000020004" pitchFamily="2" charset="0"/>
                <a:cs typeface="Inter" panose="02000503000000020004" pitchFamily="2" charset="0"/>
              </a:rPr>
              <a:t>→ Monitor platform health, metrics, configuration, workers, and queues.</a:t>
            </a: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Cache 	</a:t>
            </a:r>
            <a:r>
              <a:rPr lang="en-US" sz="1600" dirty="0">
                <a:latin typeface="Inter" panose="02000503000000020004" pitchFamily="2" charset="0"/>
                <a:ea typeface="Inter" panose="02000503000000020004" pitchFamily="2" charset="0"/>
                <a:cs typeface="Inter" panose="02000503000000020004" pitchFamily="2" charset="0"/>
              </a:rPr>
              <a:t>→ Read, store, delete, and invalidate cached Redis results.</a:t>
            </a: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Catalog 	</a:t>
            </a:r>
            <a:r>
              <a:rPr lang="en-US" sz="1600" dirty="0">
                <a:latin typeface="Inter" panose="02000503000000020004" pitchFamily="2" charset="0"/>
                <a:ea typeface="Inter" panose="02000503000000020004" pitchFamily="2" charset="0"/>
                <a:cs typeface="Inter" panose="02000503000000020004" pitchFamily="2" charset="0"/>
              </a:rPr>
              <a:t>→ Discover tools, resources, graph entities, and available platform metadata.</a:t>
            </a: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Model 	</a:t>
            </a:r>
            <a:r>
              <a:rPr lang="en-US" sz="1600" dirty="0">
                <a:latin typeface="Inter" panose="02000503000000020004" pitchFamily="2" charset="0"/>
                <a:ea typeface="Inter" panose="02000503000000020004" pitchFamily="2" charset="0"/>
                <a:cs typeface="Inter" panose="02000503000000020004" pitchFamily="2" charset="0"/>
              </a:rPr>
              <a:t>→ List, inspect, warm up, and switch between available LLM providers.</a:t>
            </a: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Agent 	</a:t>
            </a:r>
            <a:r>
              <a:rPr lang="en-US" sz="1600" dirty="0">
                <a:latin typeface="Inter" panose="02000503000000020004" pitchFamily="2" charset="0"/>
                <a:ea typeface="Inter" panose="02000503000000020004" pitchFamily="2" charset="0"/>
                <a:cs typeface="Inter" panose="02000503000000020004" pitchFamily="2" charset="0"/>
              </a:rPr>
              <a:t>→ Manage context, interaction history, and session-level state.</a:t>
            </a: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Analytics 	</a:t>
            </a:r>
            <a:r>
              <a:rPr lang="en-US" sz="1600" dirty="0">
                <a:latin typeface="Inter" panose="02000503000000020004" pitchFamily="2" charset="0"/>
                <a:ea typeface="Inter" panose="02000503000000020004" pitchFamily="2" charset="0"/>
                <a:cs typeface="Inter" panose="02000503000000020004" pitchFamily="2" charset="0"/>
              </a:rPr>
              <a:t>→ Run analytical queries, aggregations, ratios, and chart-ready outputs.</a:t>
            </a: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Admin</a:t>
            </a:r>
            <a:r>
              <a:rPr lang="en-US" sz="1600" dirty="0">
                <a:latin typeface="Inter" panose="02000503000000020004" pitchFamily="2" charset="0"/>
                <a:ea typeface="Inter" panose="02000503000000020004" pitchFamily="2" charset="0"/>
                <a:cs typeface="Inter" panose="02000503000000020004" pitchFamily="2" charset="0"/>
              </a:rPr>
              <a:t> 	→ Manage indexes, constraints, and admin-only database operations.</a:t>
            </a: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ETL</a:t>
            </a:r>
            <a:r>
              <a:rPr lang="en-US" sz="1600" dirty="0">
                <a:latin typeface="Inter" panose="02000503000000020004" pitchFamily="2" charset="0"/>
                <a:ea typeface="Inter" panose="02000503000000020004" pitchFamily="2" charset="0"/>
                <a:cs typeface="Inter" panose="02000503000000020004" pitchFamily="2" charset="0"/>
              </a:rPr>
              <a:t> 		→ Import, export, and transform graph data in bulk.</a:t>
            </a: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CRUD 		</a:t>
            </a:r>
            <a:r>
              <a:rPr lang="en-US" sz="1600" dirty="0">
                <a:latin typeface="Inter" panose="02000503000000020004" pitchFamily="2" charset="0"/>
                <a:ea typeface="Inter" panose="02000503000000020004" pitchFamily="2" charset="0"/>
                <a:cs typeface="Inter" panose="02000503000000020004" pitchFamily="2" charset="0"/>
              </a:rPr>
              <a:t>→ Create, update, and delete graph nodes with permission checks.</a:t>
            </a: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Export 	</a:t>
            </a:r>
            <a:r>
              <a:rPr lang="en-US" sz="1600" dirty="0">
                <a:latin typeface="Inter" panose="02000503000000020004" pitchFamily="2" charset="0"/>
                <a:ea typeface="Inter" panose="02000503000000020004" pitchFamily="2" charset="0"/>
                <a:cs typeface="Inter" panose="02000503000000020004" pitchFamily="2" charset="0"/>
              </a:rPr>
              <a:t>→ Convert query results into CSV, JSON, or Cypher formats.</a:t>
            </a:r>
          </a:p>
        </p:txBody>
      </p:sp>
      <p:sp>
        <p:nvSpPr>
          <p:cNvPr id="3" name="TextBox 2">
            <a:extLst>
              <a:ext uri="{FF2B5EF4-FFF2-40B4-BE49-F238E27FC236}">
                <a16:creationId xmlns:a16="http://schemas.microsoft.com/office/drawing/2014/main" id="{7CCB6D02-D64E-2397-0210-0797F605BDE0}"/>
              </a:ext>
            </a:extLst>
          </p:cNvPr>
          <p:cNvSpPr txBox="1"/>
          <p:nvPr/>
        </p:nvSpPr>
        <p:spPr>
          <a:xfrm>
            <a:off x="596348" y="374273"/>
            <a:ext cx="11127823" cy="830997"/>
          </a:xfrm>
          <a:prstGeom prst="rect">
            <a:avLst/>
          </a:prstGeom>
          <a:noFill/>
        </p:spPr>
        <p:txBody>
          <a:bodyPr wrap="square" rtlCol="0">
            <a:spAutoFit/>
          </a:bodyPr>
          <a:lstStyle/>
          <a:p>
            <a:r>
              <a:rPr lang="en-US" sz="2800" b="1" dirty="0">
                <a:solidFill>
                  <a:srgbClr val="822334"/>
                </a:solidFill>
                <a:latin typeface="Inter" panose="02000503000000020004" pitchFamily="2" charset="0"/>
                <a:ea typeface="Inter" panose="02000503000000020004" pitchFamily="2" charset="0"/>
                <a:cs typeface="Inter" panose="02000503000000020004" pitchFamily="2" charset="0"/>
              </a:rPr>
              <a:t>MCP RUNTIME &amp; TOOLS</a:t>
            </a:r>
            <a:endParaRPr lang="en-US" sz="2000" b="1" dirty="0">
              <a:solidFill>
                <a:srgbClr val="822334"/>
              </a:solidFill>
              <a:latin typeface="Inter" panose="02000503000000020004" pitchFamily="2" charset="0"/>
              <a:ea typeface="Inter" panose="02000503000000020004" pitchFamily="2" charset="0"/>
              <a:cs typeface="Inter" panose="02000503000000020004" pitchFamily="2" charset="0"/>
            </a:endParaRPr>
          </a:p>
          <a:p>
            <a:r>
              <a:rPr lang="en-US" sz="2000" i="0" dirty="0">
                <a:solidFill>
                  <a:schemeClr val="bg2">
                    <a:lumMod val="50000"/>
                  </a:schemeClr>
                </a:solidFill>
                <a:effectLst/>
                <a:latin typeface="Inter" panose="02000503000000020004" pitchFamily="2" charset="0"/>
                <a:ea typeface="Inter" panose="02000503000000020004" pitchFamily="2" charset="0"/>
                <a:cs typeface="Inter" panose="02000503000000020004" pitchFamily="2" charset="0"/>
              </a:rPr>
              <a:t>34 tools across 12 categories</a:t>
            </a:r>
          </a:p>
        </p:txBody>
      </p:sp>
      <p:pic>
        <p:nvPicPr>
          <p:cNvPr id="6" name="Picture 5">
            <a:extLst>
              <a:ext uri="{FF2B5EF4-FFF2-40B4-BE49-F238E27FC236}">
                <a16:creationId xmlns:a16="http://schemas.microsoft.com/office/drawing/2014/main" id="{E4AC5284-5B17-C1F7-F9A8-EA46FE02D187}"/>
              </a:ext>
            </a:extLst>
          </p:cNvPr>
          <p:cNvPicPr>
            <a:picLocks noChangeAspect="1"/>
          </p:cNvPicPr>
          <p:nvPr/>
        </p:nvPicPr>
        <p:blipFill>
          <a:blip r:embed="rId6"/>
          <a:stretch>
            <a:fillRect/>
          </a:stretch>
        </p:blipFill>
        <p:spPr>
          <a:xfrm>
            <a:off x="5806271" y="371963"/>
            <a:ext cx="5931547" cy="985152"/>
          </a:xfrm>
          <a:prstGeom prst="rect">
            <a:avLst/>
          </a:prstGeom>
        </p:spPr>
      </p:pic>
    </p:spTree>
    <p:extLst>
      <p:ext uri="{BB962C8B-B14F-4D97-AF65-F5344CB8AC3E}">
        <p14:creationId xmlns:p14="http://schemas.microsoft.com/office/powerpoint/2010/main" val="4629943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A7BEA-E7B9-B76F-454F-E4F5C7436991}"/>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5EF9E3CE-D71E-C9E7-8B3F-56168250EA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Slide Number Placeholder 11">
            <a:extLst>
              <a:ext uri="{FF2B5EF4-FFF2-40B4-BE49-F238E27FC236}">
                <a16:creationId xmlns:a16="http://schemas.microsoft.com/office/drawing/2014/main" id="{57537ACC-4442-7C1C-ABB2-F2039999E40E}"/>
              </a:ext>
            </a:extLst>
          </p:cNvPr>
          <p:cNvSpPr>
            <a:spLocks noGrp="1"/>
          </p:cNvSpPr>
          <p:nvPr>
            <p:ph type="sldNum" sz="quarter" idx="12"/>
          </p:nvPr>
        </p:nvSpPr>
        <p:spPr/>
        <p:txBody>
          <a:bodyPr/>
          <a:lstStyle/>
          <a:p>
            <a:r>
              <a:rPr lang="en-US" dirty="0">
                <a:solidFill>
                  <a:schemeClr val="bg1"/>
                </a:solidFill>
              </a:rPr>
              <a:t>7 / 10</a:t>
            </a:r>
          </a:p>
        </p:txBody>
      </p:sp>
      <p:sp>
        <p:nvSpPr>
          <p:cNvPr id="5" name="TextBox 4">
            <a:extLst>
              <a:ext uri="{FF2B5EF4-FFF2-40B4-BE49-F238E27FC236}">
                <a16:creationId xmlns:a16="http://schemas.microsoft.com/office/drawing/2014/main" id="{2E29D061-5059-9CE8-72F3-A6CA8DEE7A1C}"/>
              </a:ext>
            </a:extLst>
          </p:cNvPr>
          <p:cNvSpPr txBox="1"/>
          <p:nvPr/>
        </p:nvSpPr>
        <p:spPr>
          <a:xfrm>
            <a:off x="596348" y="374273"/>
            <a:ext cx="11127823" cy="830997"/>
          </a:xfrm>
          <a:prstGeom prst="rect">
            <a:avLst/>
          </a:prstGeom>
          <a:noFill/>
        </p:spPr>
        <p:txBody>
          <a:bodyPr wrap="square" rtlCol="0">
            <a:spAutoFit/>
          </a:bodyPr>
          <a:lstStyle/>
          <a:p>
            <a:r>
              <a:rPr lang="en-US" sz="2800" b="1" dirty="0">
                <a:solidFill>
                  <a:srgbClr val="822334"/>
                </a:solidFill>
                <a:latin typeface="Inter" panose="02000503000000020004" pitchFamily="2" charset="0"/>
                <a:ea typeface="Inter" panose="02000503000000020004" pitchFamily="2" charset="0"/>
                <a:cs typeface="Inter" panose="02000503000000020004" pitchFamily="2" charset="0"/>
              </a:rPr>
              <a:t>DATA LAYER</a:t>
            </a:r>
            <a:endParaRPr lang="en-US" sz="2000" b="1" dirty="0">
              <a:solidFill>
                <a:srgbClr val="822334"/>
              </a:solidFill>
              <a:latin typeface="Inter" panose="02000503000000020004" pitchFamily="2" charset="0"/>
              <a:ea typeface="Inter" panose="02000503000000020004" pitchFamily="2" charset="0"/>
              <a:cs typeface="Inter" panose="02000503000000020004" pitchFamily="2" charset="0"/>
            </a:endParaRPr>
          </a:p>
          <a:p>
            <a:r>
              <a:rPr lang="en-US" sz="2000" i="0" dirty="0">
                <a:solidFill>
                  <a:schemeClr val="bg2">
                    <a:lumMod val="50000"/>
                  </a:schemeClr>
                </a:solidFill>
                <a:effectLst/>
                <a:latin typeface="Inter" panose="02000503000000020004" pitchFamily="2" charset="0"/>
                <a:ea typeface="Inter" panose="02000503000000020004" pitchFamily="2" charset="0"/>
                <a:cs typeface="Inter" panose="02000503000000020004" pitchFamily="2" charset="0"/>
              </a:rPr>
              <a:t>Redis, PostgreSQL, </a:t>
            </a:r>
            <a:r>
              <a:rPr lang="en-US" sz="2000" i="0" dirty="0" err="1">
                <a:solidFill>
                  <a:schemeClr val="bg2">
                    <a:lumMod val="50000"/>
                  </a:schemeClr>
                </a:solidFill>
                <a:effectLst/>
                <a:latin typeface="Inter" panose="02000503000000020004" pitchFamily="2" charset="0"/>
                <a:ea typeface="Inter" panose="02000503000000020004" pitchFamily="2" charset="0"/>
                <a:cs typeface="Inter" panose="02000503000000020004" pitchFamily="2" charset="0"/>
              </a:rPr>
              <a:t>Memgraph</a:t>
            </a:r>
            <a:endParaRPr lang="en-US" sz="2000" i="0" dirty="0">
              <a:solidFill>
                <a:schemeClr val="bg2">
                  <a:lumMod val="50000"/>
                </a:schemeClr>
              </a:solidFill>
              <a:effectLst/>
              <a:latin typeface="Inter" panose="02000503000000020004" pitchFamily="2" charset="0"/>
              <a:ea typeface="Inter" panose="02000503000000020004" pitchFamily="2" charset="0"/>
              <a:cs typeface="Inter" panose="02000503000000020004" pitchFamily="2" charset="0"/>
            </a:endParaRPr>
          </a:p>
        </p:txBody>
      </p:sp>
      <p:sp>
        <p:nvSpPr>
          <p:cNvPr id="7" name="Footer Placeholder 10">
            <a:extLst>
              <a:ext uri="{FF2B5EF4-FFF2-40B4-BE49-F238E27FC236}">
                <a16:creationId xmlns:a16="http://schemas.microsoft.com/office/drawing/2014/main" id="{B4DE4646-B05A-024D-977B-B0B123CB08DD}"/>
              </a:ext>
            </a:extLst>
          </p:cNvPr>
          <p:cNvSpPr>
            <a:spLocks noGrp="1"/>
          </p:cNvSpPr>
          <p:nvPr>
            <p:ph type="ftr" sz="quarter" idx="11"/>
          </p:nvPr>
        </p:nvSpPr>
        <p:spPr>
          <a:xfrm>
            <a:off x="4566534" y="6356350"/>
            <a:ext cx="3058931" cy="365125"/>
          </a:xfrm>
        </p:spPr>
        <p:txBody>
          <a:bodyPr/>
          <a:lstStyle/>
          <a:p>
            <a:r>
              <a:rPr lang="en-US" dirty="0" err="1">
                <a:solidFill>
                  <a:schemeClr val="bg1"/>
                </a:solidFill>
                <a:latin typeface="Inter" panose="02000503000000020004" pitchFamily="2" charset="0"/>
                <a:ea typeface="Inter" panose="02000503000000020004" pitchFamily="2" charset="0"/>
                <a:cs typeface="Inter" panose="02000503000000020004" pitchFamily="2" charset="0"/>
              </a:rPr>
              <a:t>Cineca</a:t>
            </a:r>
            <a:r>
              <a:rPr lang="en-US" dirty="0">
                <a:solidFill>
                  <a:schemeClr val="bg1"/>
                </a:solidFill>
                <a:latin typeface="Inter" panose="02000503000000020004" pitchFamily="2" charset="0"/>
                <a:ea typeface="Inter" panose="02000503000000020004" pitchFamily="2" charset="0"/>
                <a:cs typeface="Inter" panose="02000503000000020004" pitchFamily="2" charset="0"/>
              </a:rPr>
              <a:t> Agentic Platform – Arman Feili</a:t>
            </a:r>
          </a:p>
        </p:txBody>
      </p:sp>
      <p:pic>
        <p:nvPicPr>
          <p:cNvPr id="8" name="Picture 7">
            <a:extLst>
              <a:ext uri="{FF2B5EF4-FFF2-40B4-BE49-F238E27FC236}">
                <a16:creationId xmlns:a16="http://schemas.microsoft.com/office/drawing/2014/main" id="{0D5DDDF1-4BD4-1FA9-B640-6DEF076085F9}"/>
              </a:ext>
            </a:extLst>
          </p:cNvPr>
          <p:cNvPicPr>
            <a:picLocks noChangeAspect="1"/>
          </p:cNvPicPr>
          <p:nvPr/>
        </p:nvPicPr>
        <p:blipFill>
          <a:blip r:embed="rId3"/>
          <a:stretch>
            <a:fillRect/>
          </a:stretch>
        </p:blipFill>
        <p:spPr>
          <a:xfrm>
            <a:off x="321777" y="6315552"/>
            <a:ext cx="435345" cy="435345"/>
          </a:xfrm>
          <a:prstGeom prst="rect">
            <a:avLst/>
          </a:prstGeom>
        </p:spPr>
      </p:pic>
      <p:pic>
        <p:nvPicPr>
          <p:cNvPr id="13" name="Picture 12">
            <a:extLst>
              <a:ext uri="{FF2B5EF4-FFF2-40B4-BE49-F238E27FC236}">
                <a16:creationId xmlns:a16="http://schemas.microsoft.com/office/drawing/2014/main" id="{495BAA09-7E07-4C99-0950-8ECA82A4EB33}"/>
              </a:ext>
            </a:extLst>
          </p:cNvPr>
          <p:cNvPicPr>
            <a:picLocks noChangeAspect="1"/>
          </p:cNvPicPr>
          <p:nvPr/>
        </p:nvPicPr>
        <p:blipFill>
          <a:blip r:embed="rId4"/>
          <a:stretch>
            <a:fillRect/>
          </a:stretch>
        </p:blipFill>
        <p:spPr>
          <a:xfrm>
            <a:off x="866134" y="6362629"/>
            <a:ext cx="1093241" cy="365125"/>
          </a:xfrm>
          <a:prstGeom prst="rect">
            <a:avLst/>
          </a:prstGeom>
        </p:spPr>
      </p:pic>
      <p:pic>
        <p:nvPicPr>
          <p:cNvPr id="16" name="Picture 15">
            <a:extLst>
              <a:ext uri="{FF2B5EF4-FFF2-40B4-BE49-F238E27FC236}">
                <a16:creationId xmlns:a16="http://schemas.microsoft.com/office/drawing/2014/main" id="{CC622712-804D-022A-0B5E-C9D157E1CC64}"/>
              </a:ext>
            </a:extLst>
          </p:cNvPr>
          <p:cNvPicPr>
            <a:picLocks noChangeAspect="1"/>
          </p:cNvPicPr>
          <p:nvPr/>
        </p:nvPicPr>
        <p:blipFill>
          <a:blip r:embed="rId5"/>
          <a:stretch>
            <a:fillRect/>
          </a:stretch>
        </p:blipFill>
        <p:spPr>
          <a:xfrm>
            <a:off x="5800216" y="377102"/>
            <a:ext cx="5931548" cy="985153"/>
          </a:xfrm>
          <a:prstGeom prst="rect">
            <a:avLst/>
          </a:prstGeom>
        </p:spPr>
      </p:pic>
      <p:sp>
        <p:nvSpPr>
          <p:cNvPr id="17" name="TextBox 16">
            <a:extLst>
              <a:ext uri="{FF2B5EF4-FFF2-40B4-BE49-F238E27FC236}">
                <a16:creationId xmlns:a16="http://schemas.microsoft.com/office/drawing/2014/main" id="{0AAAA507-4998-2AD4-8342-2A7ADCACAF1F}"/>
              </a:ext>
            </a:extLst>
          </p:cNvPr>
          <p:cNvSpPr txBox="1"/>
          <p:nvPr/>
        </p:nvSpPr>
        <p:spPr>
          <a:xfrm>
            <a:off x="596346" y="1576323"/>
            <a:ext cx="8369853" cy="3631763"/>
          </a:xfrm>
          <a:prstGeom prst="rect">
            <a:avLst/>
          </a:prstGeom>
          <a:noFill/>
        </p:spPr>
        <p:txBody>
          <a:bodyPr wrap="square" rtlCol="0">
            <a:spAutoFit/>
          </a:bodyPr>
          <a:lstStyle/>
          <a:p>
            <a:r>
              <a:rPr lang="en-US" b="1" dirty="0">
                <a:latin typeface="Inter" panose="02000503000000020004" pitchFamily="2" charset="0"/>
                <a:ea typeface="Inter" panose="02000503000000020004" pitchFamily="2" charset="0"/>
                <a:cs typeface="Inter" panose="02000503000000020004" pitchFamily="2" charset="0"/>
              </a:rPr>
              <a:t>Redis → Fast Runtime State</a:t>
            </a:r>
            <a:endParaRPr lang="en-US" dirty="0">
              <a:latin typeface="Inter" panose="02000503000000020004" pitchFamily="2" charset="0"/>
              <a:ea typeface="Inter" panose="02000503000000020004" pitchFamily="2" charset="0"/>
              <a:cs typeface="Inter" panose="02000503000000020004" pitchFamily="2" charset="0"/>
            </a:endParaRP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Caches sessions, tenant settings, and model defaults</a:t>
            </a: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Manages rate limits, job queues, and progress events</a:t>
            </a: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Stores cancellation flags, idempotency keys, and circuit-breaker state</a:t>
            </a:r>
          </a:p>
          <a:p>
            <a:pPr marL="285750" indent="-285750">
              <a:buFont typeface="Arial" panose="020B0604020202020204" pitchFamily="34" charset="0"/>
              <a:buChar char="•"/>
            </a:pPr>
            <a:endParaRPr lang="en-US" sz="1600" dirty="0">
              <a:latin typeface="Inter" panose="02000503000000020004" pitchFamily="2" charset="0"/>
              <a:ea typeface="Inter" panose="02000503000000020004" pitchFamily="2" charset="0"/>
              <a:cs typeface="Inter" panose="02000503000000020004" pitchFamily="2" charset="0"/>
            </a:endParaRPr>
          </a:p>
          <a:p>
            <a:r>
              <a:rPr lang="en-US" b="1" dirty="0">
                <a:latin typeface="Inter" panose="02000503000000020004" pitchFamily="2" charset="0"/>
                <a:ea typeface="Inter" panose="02000503000000020004" pitchFamily="2" charset="0"/>
                <a:cs typeface="Inter" panose="02000503000000020004" pitchFamily="2" charset="0"/>
              </a:rPr>
              <a:t>PostgreSQL → Durable Platform State</a:t>
            </a:r>
            <a:endParaRPr lang="en-US" dirty="0">
              <a:latin typeface="Inter" panose="02000503000000020004" pitchFamily="2" charset="0"/>
              <a:ea typeface="Inter" panose="02000503000000020004" pitchFamily="2" charset="0"/>
              <a:cs typeface="Inter" panose="02000503000000020004" pitchFamily="2" charset="0"/>
            </a:endParaRP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Stores tenants, sessions, runs, steps, and jobs</a:t>
            </a: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Records job events, tool calls, audit logs, and encrypted secrets</a:t>
            </a: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Manages model/provider configuration and idempotency records</a:t>
            </a:r>
          </a:p>
          <a:p>
            <a:endParaRPr lang="en-US" sz="1600" b="1" dirty="0">
              <a:latin typeface="Inter" panose="02000503000000020004" pitchFamily="2" charset="0"/>
              <a:ea typeface="Inter" panose="02000503000000020004" pitchFamily="2" charset="0"/>
              <a:cs typeface="Inter" panose="02000503000000020004" pitchFamily="2" charset="0"/>
            </a:endParaRPr>
          </a:p>
          <a:p>
            <a:r>
              <a:rPr lang="en-US" b="1" dirty="0" err="1">
                <a:latin typeface="Inter" panose="02000503000000020004" pitchFamily="2" charset="0"/>
                <a:ea typeface="Inter" panose="02000503000000020004" pitchFamily="2" charset="0"/>
                <a:cs typeface="Inter" panose="02000503000000020004" pitchFamily="2" charset="0"/>
              </a:rPr>
              <a:t>Memgraph</a:t>
            </a:r>
            <a:r>
              <a:rPr lang="en-US" b="1" dirty="0">
                <a:latin typeface="Inter" panose="02000503000000020004" pitchFamily="2" charset="0"/>
                <a:ea typeface="Inter" panose="02000503000000020004" pitchFamily="2" charset="0"/>
                <a:cs typeface="Inter" panose="02000503000000020004" pitchFamily="2" charset="0"/>
              </a:rPr>
              <a:t> → Graph Domain Data</a:t>
            </a:r>
            <a:endParaRPr lang="en-US" dirty="0">
              <a:latin typeface="Inter" panose="02000503000000020004" pitchFamily="2" charset="0"/>
              <a:ea typeface="Inter" panose="02000503000000020004" pitchFamily="2" charset="0"/>
              <a:cs typeface="Inter" panose="02000503000000020004" pitchFamily="2" charset="0"/>
            </a:endParaRP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Stores users, institutions, commands, files, and bioinformatics artifacts </a:t>
            </a: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Represents BLAST analyses, sequences, and FASTA/XML files</a:t>
            </a: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Connects entities through </a:t>
            </a:r>
            <a:r>
              <a:rPr lang="en-US" sz="1600" b="1" dirty="0">
                <a:latin typeface="Inter" panose="02000503000000020004" pitchFamily="2" charset="0"/>
                <a:ea typeface="Inter" panose="02000503000000020004" pitchFamily="2" charset="0"/>
                <a:cs typeface="Inter" panose="02000503000000020004" pitchFamily="2" charset="0"/>
              </a:rPr>
              <a:t>WORKS_AT</a:t>
            </a:r>
            <a:r>
              <a:rPr lang="en-US" sz="1600" dirty="0">
                <a:latin typeface="Inter" panose="02000503000000020004" pitchFamily="2" charset="0"/>
                <a:ea typeface="Inter" panose="02000503000000020004" pitchFamily="2" charset="0"/>
                <a:cs typeface="Inter" panose="02000503000000020004" pitchFamily="2" charset="0"/>
              </a:rPr>
              <a:t>, </a:t>
            </a:r>
            <a:r>
              <a:rPr lang="en-US" sz="1600" b="1" dirty="0">
                <a:latin typeface="Inter" panose="02000503000000020004" pitchFamily="2" charset="0"/>
                <a:ea typeface="Inter" panose="02000503000000020004" pitchFamily="2" charset="0"/>
                <a:cs typeface="Inter" panose="02000503000000020004" pitchFamily="2" charset="0"/>
              </a:rPr>
              <a:t>RUNS</a:t>
            </a:r>
            <a:r>
              <a:rPr lang="en-US" sz="1600" dirty="0">
                <a:latin typeface="Inter" panose="02000503000000020004" pitchFamily="2" charset="0"/>
                <a:ea typeface="Inter" panose="02000503000000020004" pitchFamily="2" charset="0"/>
                <a:cs typeface="Inter" panose="02000503000000020004" pitchFamily="2" charset="0"/>
              </a:rPr>
              <a:t>, </a:t>
            </a:r>
            <a:r>
              <a:rPr lang="en-US" sz="1600" b="1" dirty="0">
                <a:latin typeface="Inter" panose="02000503000000020004" pitchFamily="2" charset="0"/>
                <a:ea typeface="Inter" panose="02000503000000020004" pitchFamily="2" charset="0"/>
                <a:cs typeface="Inter" panose="02000503000000020004" pitchFamily="2" charset="0"/>
              </a:rPr>
              <a:t>INPUT</a:t>
            </a:r>
            <a:r>
              <a:rPr lang="en-US" sz="1600" dirty="0">
                <a:latin typeface="Inter" panose="02000503000000020004" pitchFamily="2" charset="0"/>
                <a:ea typeface="Inter" panose="02000503000000020004" pitchFamily="2" charset="0"/>
                <a:cs typeface="Inter" panose="02000503000000020004" pitchFamily="2" charset="0"/>
              </a:rPr>
              <a:t>, and </a:t>
            </a:r>
            <a:r>
              <a:rPr lang="en-US" sz="1600" b="1" dirty="0">
                <a:latin typeface="Inter" panose="02000503000000020004" pitchFamily="2" charset="0"/>
                <a:ea typeface="Inter" panose="02000503000000020004" pitchFamily="2" charset="0"/>
                <a:cs typeface="Inter" panose="02000503000000020004" pitchFamily="2" charset="0"/>
              </a:rPr>
              <a:t>OUTPUT</a:t>
            </a:r>
            <a:r>
              <a:rPr lang="en-US" sz="1600" dirty="0">
                <a:latin typeface="Inter" panose="02000503000000020004" pitchFamily="2" charset="0"/>
                <a:ea typeface="Inter" panose="02000503000000020004" pitchFamily="2" charset="0"/>
                <a:cs typeface="Inter" panose="02000503000000020004" pitchFamily="2" charset="0"/>
              </a:rPr>
              <a:t> relationships</a:t>
            </a:r>
          </a:p>
        </p:txBody>
      </p:sp>
      <p:pic>
        <p:nvPicPr>
          <p:cNvPr id="3" name="Picture 2">
            <a:extLst>
              <a:ext uri="{FF2B5EF4-FFF2-40B4-BE49-F238E27FC236}">
                <a16:creationId xmlns:a16="http://schemas.microsoft.com/office/drawing/2014/main" id="{F067521B-B9BC-6B9E-F148-7649912D0DEF}"/>
              </a:ext>
            </a:extLst>
          </p:cNvPr>
          <p:cNvPicPr>
            <a:picLocks noChangeAspect="1"/>
          </p:cNvPicPr>
          <p:nvPr/>
        </p:nvPicPr>
        <p:blipFill>
          <a:blip r:embed="rId6"/>
          <a:stretch>
            <a:fillRect/>
          </a:stretch>
        </p:blipFill>
        <p:spPr>
          <a:xfrm>
            <a:off x="9415539" y="1481623"/>
            <a:ext cx="1681300" cy="3894754"/>
          </a:xfrm>
          <a:prstGeom prst="rect">
            <a:avLst/>
          </a:prstGeom>
        </p:spPr>
      </p:pic>
    </p:spTree>
    <p:extLst>
      <p:ext uri="{BB962C8B-B14F-4D97-AF65-F5344CB8AC3E}">
        <p14:creationId xmlns:p14="http://schemas.microsoft.com/office/powerpoint/2010/main" val="30896742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3A8728-E503-6C23-81A8-5E72E6DEBB05}"/>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CD8FD909-F859-1EB9-60A7-2E97F9FF5D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Slide Number Placeholder 11">
            <a:extLst>
              <a:ext uri="{FF2B5EF4-FFF2-40B4-BE49-F238E27FC236}">
                <a16:creationId xmlns:a16="http://schemas.microsoft.com/office/drawing/2014/main" id="{A7282E1F-2A5C-998B-5A17-F72CA3819CC1}"/>
              </a:ext>
            </a:extLst>
          </p:cNvPr>
          <p:cNvSpPr>
            <a:spLocks noGrp="1"/>
          </p:cNvSpPr>
          <p:nvPr>
            <p:ph type="sldNum" sz="quarter" idx="12"/>
          </p:nvPr>
        </p:nvSpPr>
        <p:spPr/>
        <p:txBody>
          <a:bodyPr/>
          <a:lstStyle/>
          <a:p>
            <a:r>
              <a:rPr lang="en-US" dirty="0">
                <a:solidFill>
                  <a:schemeClr val="bg1"/>
                </a:solidFill>
              </a:rPr>
              <a:t>8 / 10</a:t>
            </a:r>
          </a:p>
        </p:txBody>
      </p:sp>
      <p:sp>
        <p:nvSpPr>
          <p:cNvPr id="5" name="TextBox 4">
            <a:extLst>
              <a:ext uri="{FF2B5EF4-FFF2-40B4-BE49-F238E27FC236}">
                <a16:creationId xmlns:a16="http://schemas.microsoft.com/office/drawing/2014/main" id="{94DC69AD-7B7C-1AEE-FDFC-5B2B42BAC9DA}"/>
              </a:ext>
            </a:extLst>
          </p:cNvPr>
          <p:cNvSpPr txBox="1"/>
          <p:nvPr/>
        </p:nvSpPr>
        <p:spPr>
          <a:xfrm>
            <a:off x="596348" y="374273"/>
            <a:ext cx="11127823" cy="830997"/>
          </a:xfrm>
          <a:prstGeom prst="rect">
            <a:avLst/>
          </a:prstGeom>
          <a:noFill/>
        </p:spPr>
        <p:txBody>
          <a:bodyPr wrap="square" rtlCol="0">
            <a:spAutoFit/>
          </a:bodyPr>
          <a:lstStyle/>
          <a:p>
            <a:r>
              <a:rPr lang="en-US" sz="2800" b="1" dirty="0">
                <a:solidFill>
                  <a:srgbClr val="822334"/>
                </a:solidFill>
                <a:latin typeface="Inter" panose="02000503000000020004" pitchFamily="2" charset="0"/>
                <a:ea typeface="Inter" panose="02000503000000020004" pitchFamily="2" charset="0"/>
                <a:cs typeface="Inter" panose="02000503000000020004" pitchFamily="2" charset="0"/>
              </a:rPr>
              <a:t>BACKGROUND TASKS</a:t>
            </a:r>
            <a:endParaRPr lang="en-US" sz="2000" b="1" dirty="0">
              <a:solidFill>
                <a:srgbClr val="822334"/>
              </a:solidFill>
              <a:latin typeface="Inter" panose="02000503000000020004" pitchFamily="2" charset="0"/>
              <a:ea typeface="Inter" panose="02000503000000020004" pitchFamily="2" charset="0"/>
              <a:cs typeface="Inter" panose="02000503000000020004" pitchFamily="2" charset="0"/>
            </a:endParaRPr>
          </a:p>
          <a:p>
            <a:r>
              <a:rPr lang="en-US" sz="2000" dirty="0">
                <a:solidFill>
                  <a:schemeClr val="bg2">
                    <a:lumMod val="50000"/>
                  </a:schemeClr>
                </a:solidFill>
                <a:latin typeface="Inter" panose="02000503000000020004" pitchFamily="2" charset="0"/>
                <a:ea typeface="Inter" panose="02000503000000020004" pitchFamily="2" charset="0"/>
                <a:cs typeface="Inter" panose="02000503000000020004" pitchFamily="2" charset="0"/>
              </a:rPr>
              <a:t>Monitoring | Backups | Session Cleanup</a:t>
            </a:r>
          </a:p>
        </p:txBody>
      </p:sp>
      <p:sp>
        <p:nvSpPr>
          <p:cNvPr id="7" name="Footer Placeholder 10">
            <a:extLst>
              <a:ext uri="{FF2B5EF4-FFF2-40B4-BE49-F238E27FC236}">
                <a16:creationId xmlns:a16="http://schemas.microsoft.com/office/drawing/2014/main" id="{677CAB26-1C9F-136D-6A2D-C2E3B623E931}"/>
              </a:ext>
            </a:extLst>
          </p:cNvPr>
          <p:cNvSpPr>
            <a:spLocks noGrp="1"/>
          </p:cNvSpPr>
          <p:nvPr>
            <p:ph type="ftr" sz="quarter" idx="11"/>
          </p:nvPr>
        </p:nvSpPr>
        <p:spPr>
          <a:xfrm>
            <a:off x="4566534" y="6356350"/>
            <a:ext cx="3058931" cy="365125"/>
          </a:xfrm>
        </p:spPr>
        <p:txBody>
          <a:bodyPr/>
          <a:lstStyle/>
          <a:p>
            <a:r>
              <a:rPr lang="en-US" dirty="0" err="1">
                <a:solidFill>
                  <a:schemeClr val="bg1"/>
                </a:solidFill>
                <a:latin typeface="Inter" panose="02000503000000020004" pitchFamily="2" charset="0"/>
                <a:ea typeface="Inter" panose="02000503000000020004" pitchFamily="2" charset="0"/>
                <a:cs typeface="Inter" panose="02000503000000020004" pitchFamily="2" charset="0"/>
              </a:rPr>
              <a:t>Cineca</a:t>
            </a:r>
            <a:r>
              <a:rPr lang="en-US" dirty="0">
                <a:solidFill>
                  <a:schemeClr val="bg1"/>
                </a:solidFill>
                <a:latin typeface="Inter" panose="02000503000000020004" pitchFamily="2" charset="0"/>
                <a:ea typeface="Inter" panose="02000503000000020004" pitchFamily="2" charset="0"/>
                <a:cs typeface="Inter" panose="02000503000000020004" pitchFamily="2" charset="0"/>
              </a:rPr>
              <a:t> Agentic Platform – Arman Feili</a:t>
            </a:r>
          </a:p>
        </p:txBody>
      </p:sp>
      <p:pic>
        <p:nvPicPr>
          <p:cNvPr id="8" name="Picture 7">
            <a:extLst>
              <a:ext uri="{FF2B5EF4-FFF2-40B4-BE49-F238E27FC236}">
                <a16:creationId xmlns:a16="http://schemas.microsoft.com/office/drawing/2014/main" id="{AD1E10CB-FCD3-920D-7A6C-02A4B2B15152}"/>
              </a:ext>
            </a:extLst>
          </p:cNvPr>
          <p:cNvPicPr>
            <a:picLocks noChangeAspect="1"/>
          </p:cNvPicPr>
          <p:nvPr/>
        </p:nvPicPr>
        <p:blipFill>
          <a:blip r:embed="rId3"/>
          <a:stretch>
            <a:fillRect/>
          </a:stretch>
        </p:blipFill>
        <p:spPr>
          <a:xfrm>
            <a:off x="321777" y="6315552"/>
            <a:ext cx="435345" cy="435345"/>
          </a:xfrm>
          <a:prstGeom prst="rect">
            <a:avLst/>
          </a:prstGeom>
        </p:spPr>
      </p:pic>
      <p:pic>
        <p:nvPicPr>
          <p:cNvPr id="9" name="Picture 8">
            <a:extLst>
              <a:ext uri="{FF2B5EF4-FFF2-40B4-BE49-F238E27FC236}">
                <a16:creationId xmlns:a16="http://schemas.microsoft.com/office/drawing/2014/main" id="{95135195-F60C-DF25-981F-CF81B56C68A2}"/>
              </a:ext>
            </a:extLst>
          </p:cNvPr>
          <p:cNvPicPr>
            <a:picLocks noChangeAspect="1"/>
          </p:cNvPicPr>
          <p:nvPr/>
        </p:nvPicPr>
        <p:blipFill>
          <a:blip r:embed="rId4"/>
          <a:stretch>
            <a:fillRect/>
          </a:stretch>
        </p:blipFill>
        <p:spPr>
          <a:xfrm>
            <a:off x="866134" y="6362629"/>
            <a:ext cx="1093241" cy="365125"/>
          </a:xfrm>
          <a:prstGeom prst="rect">
            <a:avLst/>
          </a:prstGeom>
        </p:spPr>
      </p:pic>
      <p:pic>
        <p:nvPicPr>
          <p:cNvPr id="17" name="Picture 16">
            <a:extLst>
              <a:ext uri="{FF2B5EF4-FFF2-40B4-BE49-F238E27FC236}">
                <a16:creationId xmlns:a16="http://schemas.microsoft.com/office/drawing/2014/main" id="{6E27D728-AF1D-74E5-ECB4-E9975DD8CB60}"/>
              </a:ext>
            </a:extLst>
          </p:cNvPr>
          <p:cNvPicPr>
            <a:picLocks noChangeAspect="1"/>
          </p:cNvPicPr>
          <p:nvPr/>
        </p:nvPicPr>
        <p:blipFill>
          <a:blip r:embed="rId5"/>
          <a:stretch>
            <a:fillRect/>
          </a:stretch>
        </p:blipFill>
        <p:spPr>
          <a:xfrm>
            <a:off x="5835714" y="467404"/>
            <a:ext cx="5931549" cy="644733"/>
          </a:xfrm>
          <a:prstGeom prst="rect">
            <a:avLst/>
          </a:prstGeom>
        </p:spPr>
      </p:pic>
      <p:sp>
        <p:nvSpPr>
          <p:cNvPr id="18" name="TextBox 17">
            <a:extLst>
              <a:ext uri="{FF2B5EF4-FFF2-40B4-BE49-F238E27FC236}">
                <a16:creationId xmlns:a16="http://schemas.microsoft.com/office/drawing/2014/main" id="{A4FA61C0-698B-D3A8-5067-D75B42354A8F}"/>
              </a:ext>
            </a:extLst>
          </p:cNvPr>
          <p:cNvSpPr txBox="1"/>
          <p:nvPr/>
        </p:nvSpPr>
        <p:spPr>
          <a:xfrm>
            <a:off x="596347" y="1575836"/>
            <a:ext cx="11170916" cy="3877985"/>
          </a:xfrm>
          <a:prstGeom prst="rect">
            <a:avLst/>
          </a:prstGeom>
          <a:noFill/>
        </p:spPr>
        <p:txBody>
          <a:bodyPr wrap="square" rtlCol="0">
            <a:spAutoFit/>
          </a:bodyPr>
          <a:lstStyle/>
          <a:p>
            <a:r>
              <a:rPr lang="en-US" b="1" dirty="0">
                <a:latin typeface="Inter" panose="02000503000000020004" pitchFamily="2" charset="0"/>
                <a:ea typeface="Inter" panose="02000503000000020004" pitchFamily="2" charset="0"/>
                <a:cs typeface="Inter" panose="02000503000000020004" pitchFamily="2" charset="0"/>
              </a:rPr>
              <a:t>Scheduled </a:t>
            </a:r>
            <a:r>
              <a:rPr lang="en-US" b="1" dirty="0" err="1">
                <a:latin typeface="Inter" panose="02000503000000020004" pitchFamily="2" charset="0"/>
                <a:ea typeface="Inter" panose="02000503000000020004" pitchFamily="2" charset="0"/>
                <a:cs typeface="Inter" panose="02000503000000020004" pitchFamily="2" charset="0"/>
              </a:rPr>
              <a:t>APScheduler</a:t>
            </a:r>
            <a:r>
              <a:rPr lang="en-US" b="1" dirty="0">
                <a:latin typeface="Inter" panose="02000503000000020004" pitchFamily="2" charset="0"/>
                <a:ea typeface="Inter" panose="02000503000000020004" pitchFamily="2" charset="0"/>
                <a:cs typeface="Inter" panose="02000503000000020004" pitchFamily="2" charset="0"/>
              </a:rPr>
              <a:t> Jobs</a:t>
            </a:r>
            <a:endParaRPr lang="en-US" dirty="0">
              <a:latin typeface="Inter" panose="02000503000000020004" pitchFamily="2" charset="0"/>
              <a:ea typeface="Inter" panose="02000503000000020004" pitchFamily="2" charset="0"/>
              <a:cs typeface="Inter" panose="02000503000000020004" pitchFamily="2" charset="0"/>
            </a:endParaRP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Every 30s 	</a:t>
            </a:r>
            <a:r>
              <a:rPr lang="en-US" sz="1600" dirty="0">
                <a:latin typeface="Inter" panose="02000503000000020004" pitchFamily="2" charset="0"/>
                <a:ea typeface="Inter" panose="02000503000000020004" pitchFamily="2" charset="0"/>
                <a:cs typeface="Inter" panose="02000503000000020004" pitchFamily="2" charset="0"/>
              </a:rPr>
              <a:t>→</a:t>
            </a:r>
            <a:r>
              <a:rPr lang="en-US" sz="1600" b="1" dirty="0">
                <a:latin typeface="Inter" panose="02000503000000020004" pitchFamily="2" charset="0"/>
                <a:ea typeface="Inter" panose="02000503000000020004" pitchFamily="2" charset="0"/>
                <a:cs typeface="Inter" panose="02000503000000020004" pitchFamily="2" charset="0"/>
              </a:rPr>
              <a:t> Health Check</a:t>
            </a:r>
            <a:r>
              <a:rPr lang="en-US" sz="1600" dirty="0">
                <a:latin typeface="Inter" panose="02000503000000020004" pitchFamily="2" charset="0"/>
                <a:ea typeface="Inter" panose="02000503000000020004" pitchFamily="2" charset="0"/>
                <a:cs typeface="Inter" panose="02000503000000020004" pitchFamily="2" charset="0"/>
              </a:rPr>
              <a:t> 	→ checks PostgreSQL, Redis, </a:t>
            </a:r>
            <a:r>
              <a:rPr lang="en-US" sz="1600" dirty="0" err="1">
                <a:latin typeface="Inter" panose="02000503000000020004" pitchFamily="2" charset="0"/>
                <a:ea typeface="Inter" panose="02000503000000020004" pitchFamily="2" charset="0"/>
                <a:cs typeface="Inter" panose="02000503000000020004" pitchFamily="2" charset="0"/>
              </a:rPr>
              <a:t>Memgraph</a:t>
            </a:r>
            <a:r>
              <a:rPr lang="en-US" sz="1600" dirty="0">
                <a:latin typeface="Inter" panose="02000503000000020004" pitchFamily="2" charset="0"/>
                <a:ea typeface="Inter" panose="02000503000000020004" pitchFamily="2" charset="0"/>
                <a:cs typeface="Inter" panose="02000503000000020004" pitchFamily="2" charset="0"/>
              </a:rPr>
              <a:t>, and LLM providers</a:t>
            </a: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Every 60s 	</a:t>
            </a:r>
            <a:r>
              <a:rPr lang="en-US" sz="1600" dirty="0">
                <a:latin typeface="Inter" panose="02000503000000020004" pitchFamily="2" charset="0"/>
                <a:ea typeface="Inter" panose="02000503000000020004" pitchFamily="2" charset="0"/>
                <a:cs typeface="Inter" panose="02000503000000020004" pitchFamily="2" charset="0"/>
              </a:rPr>
              <a:t>→</a:t>
            </a:r>
            <a:r>
              <a:rPr lang="en-US" sz="1600" b="1" dirty="0">
                <a:latin typeface="Inter" panose="02000503000000020004" pitchFamily="2" charset="0"/>
                <a:ea typeface="Inter" panose="02000503000000020004" pitchFamily="2" charset="0"/>
                <a:cs typeface="Inter" panose="02000503000000020004" pitchFamily="2" charset="0"/>
              </a:rPr>
              <a:t> Provider Monitoring</a:t>
            </a:r>
            <a:r>
              <a:rPr lang="en-US" sz="1600" dirty="0">
                <a:latin typeface="Inter" panose="02000503000000020004" pitchFamily="2" charset="0"/>
                <a:ea typeface="Inter" panose="02000503000000020004" pitchFamily="2" charset="0"/>
                <a:cs typeface="Inter" panose="02000503000000020004" pitchFamily="2" charset="0"/>
              </a:rPr>
              <a:t> → tracks LLM health, metrics, and circuit breakers</a:t>
            </a: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Hourly	</a:t>
            </a:r>
            <a:r>
              <a:rPr lang="en-US" sz="1600" dirty="0">
                <a:latin typeface="Inter" panose="02000503000000020004" pitchFamily="2" charset="0"/>
                <a:ea typeface="Inter" panose="02000503000000020004" pitchFamily="2" charset="0"/>
                <a:cs typeface="Inter" panose="02000503000000020004" pitchFamily="2" charset="0"/>
              </a:rPr>
              <a:t>→</a:t>
            </a:r>
            <a:r>
              <a:rPr lang="en-US" sz="1600" b="1" dirty="0">
                <a:latin typeface="Inter" panose="02000503000000020004" pitchFamily="2" charset="0"/>
                <a:ea typeface="Inter" panose="02000503000000020004" pitchFamily="2" charset="0"/>
                <a:cs typeface="Inter" panose="02000503000000020004" pitchFamily="2" charset="0"/>
              </a:rPr>
              <a:t> Cleanup</a:t>
            </a:r>
            <a:r>
              <a:rPr lang="en-US" sz="1600" dirty="0">
                <a:latin typeface="Inter" panose="02000503000000020004" pitchFamily="2" charset="0"/>
                <a:ea typeface="Inter" panose="02000503000000020004" pitchFamily="2" charset="0"/>
                <a:cs typeface="Inter" panose="02000503000000020004" pitchFamily="2" charset="0"/>
              </a:rPr>
              <a:t> 	→ removes expired sessions, cache, old jobs, and orphan runs</a:t>
            </a: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Daily 		</a:t>
            </a:r>
            <a:r>
              <a:rPr lang="en-US" sz="1600" dirty="0">
                <a:latin typeface="Inter" panose="02000503000000020004" pitchFamily="2" charset="0"/>
                <a:ea typeface="Inter" panose="02000503000000020004" pitchFamily="2" charset="0"/>
                <a:cs typeface="Inter" panose="02000503000000020004" pitchFamily="2" charset="0"/>
              </a:rPr>
              <a:t>→</a:t>
            </a:r>
            <a:r>
              <a:rPr lang="en-US" sz="1600" b="1" dirty="0">
                <a:latin typeface="Inter" panose="02000503000000020004" pitchFamily="2" charset="0"/>
                <a:ea typeface="Inter" panose="02000503000000020004" pitchFamily="2" charset="0"/>
                <a:cs typeface="Inter" panose="02000503000000020004" pitchFamily="2" charset="0"/>
              </a:rPr>
              <a:t> Backup	</a:t>
            </a:r>
            <a:r>
              <a:rPr lang="en-US" sz="1600" dirty="0">
                <a:latin typeface="Inter" panose="02000503000000020004" pitchFamily="2" charset="0"/>
                <a:ea typeface="Inter" panose="02000503000000020004" pitchFamily="2" charset="0"/>
                <a:cs typeface="Inter" panose="02000503000000020004" pitchFamily="2" charset="0"/>
              </a:rPr>
              <a:t>→ saves PostgreSQL, Redis, </a:t>
            </a:r>
            <a:r>
              <a:rPr lang="en-US" sz="1600" dirty="0" err="1">
                <a:latin typeface="Inter" panose="02000503000000020004" pitchFamily="2" charset="0"/>
                <a:ea typeface="Inter" panose="02000503000000020004" pitchFamily="2" charset="0"/>
                <a:cs typeface="Inter" panose="02000503000000020004" pitchFamily="2" charset="0"/>
              </a:rPr>
              <a:t>Memgraph</a:t>
            </a:r>
            <a:r>
              <a:rPr lang="en-US" sz="1600" dirty="0">
                <a:latin typeface="Inter" panose="02000503000000020004" pitchFamily="2" charset="0"/>
                <a:ea typeface="Inter" panose="02000503000000020004" pitchFamily="2" charset="0"/>
                <a:cs typeface="Inter" panose="02000503000000020004" pitchFamily="2" charset="0"/>
              </a:rPr>
              <a:t>, and audit snapshots</a:t>
            </a:r>
          </a:p>
          <a:p>
            <a:pPr marL="285750" indent="-285750">
              <a:buFont typeface="Arial" panose="020B0604020202020204" pitchFamily="34" charset="0"/>
              <a:buChar char="•"/>
            </a:pPr>
            <a:endParaRPr lang="en-US" sz="1600" dirty="0">
              <a:latin typeface="Inter" panose="02000503000000020004" pitchFamily="2" charset="0"/>
              <a:ea typeface="Inter" panose="02000503000000020004" pitchFamily="2" charset="0"/>
              <a:cs typeface="Inter" panose="02000503000000020004" pitchFamily="2" charset="0"/>
            </a:endParaRPr>
          </a:p>
          <a:p>
            <a:r>
              <a:rPr lang="en-US" b="1" dirty="0">
                <a:latin typeface="Inter" panose="02000503000000020004" pitchFamily="2" charset="0"/>
                <a:ea typeface="Inter" panose="02000503000000020004" pitchFamily="2" charset="0"/>
                <a:cs typeface="Inter" panose="02000503000000020004" pitchFamily="2" charset="0"/>
              </a:rPr>
              <a:t>Observability Stack</a:t>
            </a:r>
            <a:endParaRPr lang="en-US" dirty="0">
              <a:latin typeface="Inter" panose="02000503000000020004" pitchFamily="2" charset="0"/>
              <a:ea typeface="Inter" panose="02000503000000020004" pitchFamily="2" charset="0"/>
              <a:cs typeface="Inter" panose="02000503000000020004" pitchFamily="2" charset="0"/>
            </a:endParaRPr>
          </a:p>
          <a:p>
            <a:pPr marL="285750" indent="-285750">
              <a:buFont typeface="Arial" panose="020B0604020202020204" pitchFamily="34" charset="0"/>
              <a:buChar char="•"/>
            </a:pPr>
            <a:r>
              <a:rPr lang="en-US" sz="1600" b="1" dirty="0" err="1">
                <a:latin typeface="Inter" panose="02000503000000020004" pitchFamily="2" charset="0"/>
                <a:ea typeface="Inter" panose="02000503000000020004" pitchFamily="2" charset="0"/>
                <a:cs typeface="Inter" panose="02000503000000020004" pitchFamily="2" charset="0"/>
              </a:rPr>
              <a:t>OpenTelemetry</a:t>
            </a:r>
            <a:r>
              <a:rPr lang="en-US" sz="1600" b="1" dirty="0">
                <a:latin typeface="Inter" panose="02000503000000020004" pitchFamily="2" charset="0"/>
                <a:ea typeface="Inter" panose="02000503000000020004" pitchFamily="2" charset="0"/>
                <a:cs typeface="Inter" panose="02000503000000020004" pitchFamily="2" charset="0"/>
              </a:rPr>
              <a:t> </a:t>
            </a:r>
            <a:r>
              <a:rPr lang="en-US" sz="1600" dirty="0">
                <a:latin typeface="Inter" panose="02000503000000020004" pitchFamily="2" charset="0"/>
                <a:ea typeface="Inter" panose="02000503000000020004" pitchFamily="2" charset="0"/>
                <a:cs typeface="Inter" panose="02000503000000020004" pitchFamily="2" charset="0"/>
              </a:rPr>
              <a:t>→ records request traces and shows time spent in LLM calls, DB queries, tools, and jobs</a:t>
            </a: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Prometheus</a:t>
            </a:r>
            <a:r>
              <a:rPr lang="en-US" sz="1600" dirty="0">
                <a:latin typeface="Inter" panose="02000503000000020004" pitchFamily="2" charset="0"/>
                <a:ea typeface="Inter" panose="02000503000000020004" pitchFamily="2" charset="0"/>
                <a:cs typeface="Inter" panose="02000503000000020004" pitchFamily="2" charset="0"/>
              </a:rPr>
              <a:t> 	 → stores metrics for latency, errors, queues, tokens, and provider health over time</a:t>
            </a: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Grafana</a:t>
            </a:r>
            <a:r>
              <a:rPr lang="en-US" sz="1600" dirty="0">
                <a:latin typeface="Inter" panose="02000503000000020004" pitchFamily="2" charset="0"/>
                <a:ea typeface="Inter" panose="02000503000000020004" pitchFamily="2" charset="0"/>
                <a:cs typeface="Inter" panose="02000503000000020004" pitchFamily="2" charset="0"/>
              </a:rPr>
              <a:t> 	 → visualizes metrics and traces for monitoring, debugging, and cost tracking</a:t>
            </a:r>
          </a:p>
          <a:p>
            <a:endParaRPr lang="en-US" sz="1600" b="1" dirty="0">
              <a:latin typeface="Inter" panose="02000503000000020004" pitchFamily="2" charset="0"/>
              <a:ea typeface="Inter" panose="02000503000000020004" pitchFamily="2" charset="0"/>
              <a:cs typeface="Inter" panose="02000503000000020004" pitchFamily="2" charset="0"/>
            </a:endParaRPr>
          </a:p>
          <a:p>
            <a:r>
              <a:rPr lang="en-US" b="1" dirty="0">
                <a:latin typeface="Inter" panose="02000503000000020004" pitchFamily="2" charset="0"/>
                <a:ea typeface="Inter" panose="02000503000000020004" pitchFamily="2" charset="0"/>
                <a:cs typeface="Inter" panose="02000503000000020004" pitchFamily="2" charset="0"/>
              </a:rPr>
              <a:t>Operational Value</a:t>
            </a:r>
            <a:endParaRPr lang="en-US" dirty="0">
              <a:latin typeface="Inter" panose="02000503000000020004" pitchFamily="2" charset="0"/>
              <a:ea typeface="Inter" panose="02000503000000020004" pitchFamily="2" charset="0"/>
              <a:cs typeface="Inter" panose="02000503000000020004" pitchFamily="2" charset="0"/>
            </a:endParaRP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Detects failures and provider issues early</a:t>
            </a: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Finds slow requests and failed tools</a:t>
            </a: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Tracks queues, costs, recovery, and debugging</a:t>
            </a:r>
          </a:p>
        </p:txBody>
      </p:sp>
      <p:pic>
        <p:nvPicPr>
          <p:cNvPr id="23" name="Picture 22">
            <a:extLst>
              <a:ext uri="{FF2B5EF4-FFF2-40B4-BE49-F238E27FC236}">
                <a16:creationId xmlns:a16="http://schemas.microsoft.com/office/drawing/2014/main" id="{A899459F-BBF7-2A21-D90E-F769DEC968B0}"/>
              </a:ext>
            </a:extLst>
          </p:cNvPr>
          <p:cNvPicPr>
            <a:picLocks noChangeAspect="1"/>
          </p:cNvPicPr>
          <p:nvPr/>
        </p:nvPicPr>
        <p:blipFill>
          <a:blip r:embed="rId6"/>
          <a:stretch>
            <a:fillRect/>
          </a:stretch>
        </p:blipFill>
        <p:spPr>
          <a:xfrm>
            <a:off x="6856544" y="4359771"/>
            <a:ext cx="3889887" cy="1705864"/>
          </a:xfrm>
          <a:prstGeom prst="rect">
            <a:avLst/>
          </a:prstGeom>
        </p:spPr>
      </p:pic>
    </p:spTree>
    <p:extLst>
      <p:ext uri="{BB962C8B-B14F-4D97-AF65-F5344CB8AC3E}">
        <p14:creationId xmlns:p14="http://schemas.microsoft.com/office/powerpoint/2010/main" val="4575502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A7508-9434-3784-ADF6-F587E36A8C40}"/>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ABF232E4-1CFF-BDCD-33C4-F2C65A2D15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Slide Number Placeholder 11">
            <a:extLst>
              <a:ext uri="{FF2B5EF4-FFF2-40B4-BE49-F238E27FC236}">
                <a16:creationId xmlns:a16="http://schemas.microsoft.com/office/drawing/2014/main" id="{A0C8BBBC-FD6B-2CB6-7B56-DAD26F35F685}"/>
              </a:ext>
            </a:extLst>
          </p:cNvPr>
          <p:cNvSpPr>
            <a:spLocks noGrp="1"/>
          </p:cNvSpPr>
          <p:nvPr>
            <p:ph type="sldNum" sz="quarter" idx="12"/>
          </p:nvPr>
        </p:nvSpPr>
        <p:spPr/>
        <p:txBody>
          <a:bodyPr/>
          <a:lstStyle/>
          <a:p>
            <a:r>
              <a:rPr lang="en-US" dirty="0">
                <a:solidFill>
                  <a:schemeClr val="bg1"/>
                </a:solidFill>
              </a:rPr>
              <a:t>9 / 10</a:t>
            </a:r>
          </a:p>
        </p:txBody>
      </p:sp>
      <p:sp>
        <p:nvSpPr>
          <p:cNvPr id="5" name="TextBox 4">
            <a:extLst>
              <a:ext uri="{FF2B5EF4-FFF2-40B4-BE49-F238E27FC236}">
                <a16:creationId xmlns:a16="http://schemas.microsoft.com/office/drawing/2014/main" id="{77A1F173-CF36-0695-B8A5-34627A9CA3D5}"/>
              </a:ext>
            </a:extLst>
          </p:cNvPr>
          <p:cNvSpPr txBox="1"/>
          <p:nvPr/>
        </p:nvSpPr>
        <p:spPr>
          <a:xfrm>
            <a:off x="596348" y="374273"/>
            <a:ext cx="11127823" cy="830997"/>
          </a:xfrm>
          <a:prstGeom prst="rect">
            <a:avLst/>
          </a:prstGeom>
          <a:noFill/>
        </p:spPr>
        <p:txBody>
          <a:bodyPr wrap="square" rtlCol="0">
            <a:spAutoFit/>
          </a:bodyPr>
          <a:lstStyle/>
          <a:p>
            <a:r>
              <a:rPr lang="en-US" sz="2800" b="1" dirty="0">
                <a:solidFill>
                  <a:srgbClr val="822334"/>
                </a:solidFill>
                <a:latin typeface="Inter" panose="02000503000000020004" pitchFamily="2" charset="0"/>
                <a:ea typeface="Inter" panose="02000503000000020004" pitchFamily="2" charset="0"/>
                <a:cs typeface="Inter" panose="02000503000000020004" pitchFamily="2" charset="0"/>
              </a:rPr>
              <a:t>ADAPTERS</a:t>
            </a:r>
          </a:p>
          <a:p>
            <a:r>
              <a:rPr lang="en-US" sz="2000" dirty="0">
                <a:solidFill>
                  <a:schemeClr val="bg2">
                    <a:lumMod val="50000"/>
                  </a:schemeClr>
                </a:solidFill>
                <a:latin typeface="Inter" panose="02000503000000020004" pitchFamily="2" charset="0"/>
                <a:ea typeface="Inter" panose="02000503000000020004" pitchFamily="2" charset="0"/>
                <a:cs typeface="Inter" panose="02000503000000020004" pitchFamily="2" charset="0"/>
              </a:rPr>
              <a:t>Adapters let the platform switch providers or databases without changing the orchestrator.</a:t>
            </a:r>
          </a:p>
        </p:txBody>
      </p:sp>
      <p:sp>
        <p:nvSpPr>
          <p:cNvPr id="7" name="Footer Placeholder 10">
            <a:extLst>
              <a:ext uri="{FF2B5EF4-FFF2-40B4-BE49-F238E27FC236}">
                <a16:creationId xmlns:a16="http://schemas.microsoft.com/office/drawing/2014/main" id="{A4737EE5-37A7-DF63-3C7D-81462E9C81E0}"/>
              </a:ext>
            </a:extLst>
          </p:cNvPr>
          <p:cNvSpPr>
            <a:spLocks noGrp="1"/>
          </p:cNvSpPr>
          <p:nvPr>
            <p:ph type="ftr" sz="quarter" idx="11"/>
          </p:nvPr>
        </p:nvSpPr>
        <p:spPr>
          <a:xfrm>
            <a:off x="4566534" y="6356350"/>
            <a:ext cx="3058931" cy="365125"/>
          </a:xfrm>
        </p:spPr>
        <p:txBody>
          <a:bodyPr/>
          <a:lstStyle/>
          <a:p>
            <a:r>
              <a:rPr lang="en-US" dirty="0" err="1">
                <a:solidFill>
                  <a:schemeClr val="bg1"/>
                </a:solidFill>
                <a:latin typeface="Inter" panose="02000503000000020004" pitchFamily="2" charset="0"/>
                <a:ea typeface="Inter" panose="02000503000000020004" pitchFamily="2" charset="0"/>
                <a:cs typeface="Inter" panose="02000503000000020004" pitchFamily="2" charset="0"/>
              </a:rPr>
              <a:t>Cineca</a:t>
            </a:r>
            <a:r>
              <a:rPr lang="en-US" dirty="0">
                <a:solidFill>
                  <a:schemeClr val="bg1"/>
                </a:solidFill>
                <a:latin typeface="Inter" panose="02000503000000020004" pitchFamily="2" charset="0"/>
                <a:ea typeface="Inter" panose="02000503000000020004" pitchFamily="2" charset="0"/>
                <a:cs typeface="Inter" panose="02000503000000020004" pitchFamily="2" charset="0"/>
              </a:rPr>
              <a:t> Agentic Platform – Arman Feili</a:t>
            </a:r>
          </a:p>
        </p:txBody>
      </p:sp>
      <p:pic>
        <p:nvPicPr>
          <p:cNvPr id="9" name="Picture 8">
            <a:extLst>
              <a:ext uri="{FF2B5EF4-FFF2-40B4-BE49-F238E27FC236}">
                <a16:creationId xmlns:a16="http://schemas.microsoft.com/office/drawing/2014/main" id="{5EE06B1A-DF1A-690A-019B-33BE8004478A}"/>
              </a:ext>
            </a:extLst>
          </p:cNvPr>
          <p:cNvPicPr>
            <a:picLocks noChangeAspect="1"/>
          </p:cNvPicPr>
          <p:nvPr/>
        </p:nvPicPr>
        <p:blipFill>
          <a:blip r:embed="rId4"/>
          <a:stretch>
            <a:fillRect/>
          </a:stretch>
        </p:blipFill>
        <p:spPr>
          <a:xfrm>
            <a:off x="321777" y="6315552"/>
            <a:ext cx="435345" cy="435345"/>
          </a:xfrm>
          <a:prstGeom prst="rect">
            <a:avLst/>
          </a:prstGeom>
        </p:spPr>
      </p:pic>
      <p:pic>
        <p:nvPicPr>
          <p:cNvPr id="10" name="Picture 9">
            <a:extLst>
              <a:ext uri="{FF2B5EF4-FFF2-40B4-BE49-F238E27FC236}">
                <a16:creationId xmlns:a16="http://schemas.microsoft.com/office/drawing/2014/main" id="{826B5C75-1BB8-B856-253D-D1FEF3E28E16}"/>
              </a:ext>
            </a:extLst>
          </p:cNvPr>
          <p:cNvPicPr>
            <a:picLocks noChangeAspect="1"/>
          </p:cNvPicPr>
          <p:nvPr/>
        </p:nvPicPr>
        <p:blipFill>
          <a:blip r:embed="rId5"/>
          <a:stretch>
            <a:fillRect/>
          </a:stretch>
        </p:blipFill>
        <p:spPr>
          <a:xfrm>
            <a:off x="866134" y="6362629"/>
            <a:ext cx="1093241" cy="365125"/>
          </a:xfrm>
          <a:prstGeom prst="rect">
            <a:avLst/>
          </a:prstGeom>
        </p:spPr>
      </p:pic>
      <p:sp>
        <p:nvSpPr>
          <p:cNvPr id="2" name="TextBox 1">
            <a:extLst>
              <a:ext uri="{FF2B5EF4-FFF2-40B4-BE49-F238E27FC236}">
                <a16:creationId xmlns:a16="http://schemas.microsoft.com/office/drawing/2014/main" id="{62B24FC1-E3C1-558C-930E-23E54E028F9F}"/>
              </a:ext>
            </a:extLst>
          </p:cNvPr>
          <p:cNvSpPr txBox="1"/>
          <p:nvPr/>
        </p:nvSpPr>
        <p:spPr>
          <a:xfrm>
            <a:off x="596347" y="1581293"/>
            <a:ext cx="11127823" cy="3600986"/>
          </a:xfrm>
          <a:prstGeom prst="rect">
            <a:avLst/>
          </a:prstGeom>
          <a:noFill/>
        </p:spPr>
        <p:txBody>
          <a:bodyPr wrap="square" rtlCol="0">
            <a:spAutoFit/>
          </a:bodyPr>
          <a:lstStyle/>
          <a:p>
            <a:r>
              <a:rPr lang="en-US" b="1" dirty="0">
                <a:latin typeface="Inter" panose="02000503000000020004" pitchFamily="2" charset="0"/>
                <a:ea typeface="Inter" panose="02000503000000020004" pitchFamily="2" charset="0"/>
                <a:cs typeface="Inter" panose="02000503000000020004" pitchFamily="2" charset="0"/>
              </a:rPr>
              <a:t>Swappable Adapters</a:t>
            </a:r>
            <a:endParaRPr lang="en-US" dirty="0">
              <a:latin typeface="Inter" panose="02000503000000020004" pitchFamily="2" charset="0"/>
              <a:ea typeface="Inter" panose="02000503000000020004" pitchFamily="2" charset="0"/>
              <a:cs typeface="Inter" panose="02000503000000020004" pitchFamily="2" charset="0"/>
            </a:endParaRPr>
          </a:p>
          <a:p>
            <a:r>
              <a:rPr lang="en-US" sz="1600" dirty="0">
                <a:latin typeface="Inter" panose="02000503000000020004" pitchFamily="2" charset="0"/>
                <a:ea typeface="Inter" panose="02000503000000020004" pitchFamily="2" charset="0"/>
                <a:cs typeface="Inter" panose="02000503000000020004" pitchFamily="2" charset="0"/>
              </a:rPr>
              <a:t>Adapters let the platform switch providers or databases without changing the orchestrator.</a:t>
            </a:r>
          </a:p>
          <a:p>
            <a:pPr marL="285750" indent="-285750">
              <a:buFont typeface="Arial" panose="020B0604020202020204" pitchFamily="34" charset="0"/>
              <a:buChar char="•"/>
            </a:pPr>
            <a:endParaRPr lang="en-US" sz="1600" b="1" dirty="0">
              <a:latin typeface="Inter" panose="02000503000000020004" pitchFamily="2" charset="0"/>
              <a:ea typeface="Inter" panose="02000503000000020004" pitchFamily="2" charset="0"/>
              <a:cs typeface="Inter" panose="02000503000000020004" pitchFamily="2" charset="0"/>
            </a:endParaRP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LLM adapters</a:t>
            </a:r>
            <a:r>
              <a:rPr lang="en-US" sz="1600" dirty="0">
                <a:latin typeface="Inter" panose="02000503000000020004" pitchFamily="2" charset="0"/>
                <a:ea typeface="Inter" panose="02000503000000020004" pitchFamily="2" charset="0"/>
                <a:cs typeface="Inter" panose="02000503000000020004" pitchFamily="2" charset="0"/>
              </a:rPr>
              <a:t> 		→ </a:t>
            </a:r>
            <a:r>
              <a:rPr lang="en-US" sz="1600" dirty="0" err="1">
                <a:latin typeface="Inter" panose="02000503000000020004" pitchFamily="2" charset="0"/>
                <a:ea typeface="Inter" panose="02000503000000020004" pitchFamily="2" charset="0"/>
                <a:cs typeface="Inter" panose="02000503000000020004" pitchFamily="2" charset="0"/>
              </a:rPr>
              <a:t>Ollama</a:t>
            </a:r>
            <a:r>
              <a:rPr lang="en-US" sz="1600" dirty="0">
                <a:latin typeface="Inter" panose="02000503000000020004" pitchFamily="2" charset="0"/>
                <a:ea typeface="Inter" panose="02000503000000020004" pitchFamily="2" charset="0"/>
                <a:cs typeface="Inter" panose="02000503000000020004" pitchFamily="2" charset="0"/>
              </a:rPr>
              <a:t>, OpenAI, Azure OpenAI</a:t>
            </a: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Provider independence</a:t>
            </a:r>
            <a:r>
              <a:rPr lang="en-US" sz="1600" dirty="0">
                <a:latin typeface="Inter" panose="02000503000000020004" pitchFamily="2" charset="0"/>
                <a:ea typeface="Inter" panose="02000503000000020004" pitchFamily="2" charset="0"/>
                <a:cs typeface="Inter" panose="02000503000000020004" pitchFamily="2" charset="0"/>
              </a:rPr>
              <a:t> 	→ business logic stays the same</a:t>
            </a: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Database adapters</a:t>
            </a:r>
            <a:r>
              <a:rPr lang="en-US" sz="1600" dirty="0">
                <a:latin typeface="Inter" panose="02000503000000020004" pitchFamily="2" charset="0"/>
                <a:ea typeface="Inter" panose="02000503000000020004" pitchFamily="2" charset="0"/>
                <a:cs typeface="Inter" panose="02000503000000020004" pitchFamily="2" charset="0"/>
              </a:rPr>
              <a:t> 	→ Redis, PostgreSQL, and </a:t>
            </a:r>
            <a:r>
              <a:rPr lang="en-US" sz="1600" dirty="0" err="1">
                <a:latin typeface="Inter" panose="02000503000000020004" pitchFamily="2" charset="0"/>
                <a:ea typeface="Inter" panose="02000503000000020004" pitchFamily="2" charset="0"/>
                <a:cs typeface="Inter" panose="02000503000000020004" pitchFamily="2" charset="0"/>
              </a:rPr>
              <a:t>Memgraph</a:t>
            </a:r>
            <a:endParaRPr lang="en-US" sz="1600" dirty="0">
              <a:latin typeface="Inter" panose="02000503000000020004" pitchFamily="2" charset="0"/>
              <a:ea typeface="Inter" panose="02000503000000020004" pitchFamily="2" charset="0"/>
              <a:cs typeface="Inter" panose="02000503000000020004" pitchFamily="2" charset="0"/>
            </a:endParaRP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Backend flexibility</a:t>
            </a:r>
            <a:r>
              <a:rPr lang="en-US" sz="1600" dirty="0">
                <a:latin typeface="Inter" panose="02000503000000020004" pitchFamily="2" charset="0"/>
                <a:ea typeface="Inter" panose="02000503000000020004" pitchFamily="2" charset="0"/>
                <a:cs typeface="Inter" panose="02000503000000020004" pitchFamily="2" charset="0"/>
              </a:rPr>
              <a:t> 	→ The orchestrator remains unchanged</a:t>
            </a:r>
          </a:p>
          <a:p>
            <a:pPr>
              <a:buFont typeface="Arial" panose="020B0604020202020204" pitchFamily="34" charset="0"/>
              <a:buChar char="•"/>
            </a:pPr>
            <a:endParaRPr lang="en-US" sz="1600" dirty="0">
              <a:latin typeface="Inter" panose="02000503000000020004" pitchFamily="2" charset="0"/>
              <a:ea typeface="Inter" panose="02000503000000020004" pitchFamily="2" charset="0"/>
              <a:cs typeface="Inter" panose="02000503000000020004" pitchFamily="2" charset="0"/>
            </a:endParaRPr>
          </a:p>
          <a:p>
            <a:r>
              <a:rPr lang="en-US" b="1" dirty="0">
                <a:latin typeface="Inter" panose="02000503000000020004" pitchFamily="2" charset="0"/>
                <a:ea typeface="Inter" panose="02000503000000020004" pitchFamily="2" charset="0"/>
                <a:cs typeface="Inter" panose="02000503000000020004" pitchFamily="2" charset="0"/>
              </a:rPr>
              <a:t>Robustness Mechanisms</a:t>
            </a:r>
            <a:endParaRPr lang="en-US" dirty="0">
              <a:latin typeface="Inter" panose="02000503000000020004" pitchFamily="2" charset="0"/>
              <a:ea typeface="Inter" panose="02000503000000020004" pitchFamily="2" charset="0"/>
              <a:cs typeface="Inter" panose="02000503000000020004" pitchFamily="2" charset="0"/>
            </a:endParaRP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Retries with backoff</a:t>
            </a:r>
            <a:r>
              <a:rPr lang="en-US" sz="1600" dirty="0">
                <a:latin typeface="Inter" panose="02000503000000020004" pitchFamily="2" charset="0"/>
                <a:ea typeface="Inter" panose="02000503000000020004" pitchFamily="2" charset="0"/>
                <a:cs typeface="Inter" panose="02000503000000020004" pitchFamily="2" charset="0"/>
              </a:rPr>
              <a:t> 	→ retry failed calls with increasing delay</a:t>
            </a: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Provider fallback</a:t>
            </a:r>
            <a:r>
              <a:rPr lang="en-US" sz="1600" dirty="0">
                <a:latin typeface="Inter" panose="02000503000000020004" pitchFamily="2" charset="0"/>
                <a:ea typeface="Inter" panose="02000503000000020004" pitchFamily="2" charset="0"/>
                <a:cs typeface="Inter" panose="02000503000000020004" pitchFamily="2" charset="0"/>
              </a:rPr>
              <a:t> 	→ switch to another provider if one fails</a:t>
            </a: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Circuit breakers</a:t>
            </a:r>
            <a:r>
              <a:rPr lang="en-US" sz="1600" dirty="0">
                <a:latin typeface="Inter" panose="02000503000000020004" pitchFamily="2" charset="0"/>
                <a:ea typeface="Inter" panose="02000503000000020004" pitchFamily="2" charset="0"/>
                <a:cs typeface="Inter" panose="02000503000000020004" pitchFamily="2" charset="0"/>
              </a:rPr>
              <a:t> 	→ pause unstable providers</a:t>
            </a: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Fail-fast behavior</a:t>
            </a:r>
            <a:r>
              <a:rPr lang="en-US" sz="1600" dirty="0">
                <a:latin typeface="Inter" panose="02000503000000020004" pitchFamily="2" charset="0"/>
                <a:ea typeface="Inter" panose="02000503000000020004" pitchFamily="2" charset="0"/>
                <a:cs typeface="Inter" panose="02000503000000020004" pitchFamily="2" charset="0"/>
              </a:rPr>
              <a:t> 	→ skip broken services quickly</a:t>
            </a: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Recovery flow</a:t>
            </a:r>
            <a:r>
              <a:rPr lang="en-US" sz="1600" dirty="0">
                <a:latin typeface="Inter" panose="02000503000000020004" pitchFamily="2" charset="0"/>
                <a:ea typeface="Inter" panose="02000503000000020004" pitchFamily="2" charset="0"/>
                <a:cs typeface="Inter" panose="02000503000000020004" pitchFamily="2" charset="0"/>
              </a:rPr>
              <a:t> 		→ [CLOSED → OPEN → HALF_OPEN → CLOSED]</a:t>
            </a:r>
          </a:p>
        </p:txBody>
      </p:sp>
      <p:pic>
        <p:nvPicPr>
          <p:cNvPr id="6" name="Picture 5">
            <a:extLst>
              <a:ext uri="{FF2B5EF4-FFF2-40B4-BE49-F238E27FC236}">
                <a16:creationId xmlns:a16="http://schemas.microsoft.com/office/drawing/2014/main" id="{871FBA8A-8CFF-6C20-37D9-BA4729D41A54}"/>
              </a:ext>
            </a:extLst>
          </p:cNvPr>
          <p:cNvPicPr>
            <a:picLocks noChangeAspect="1"/>
          </p:cNvPicPr>
          <p:nvPr/>
        </p:nvPicPr>
        <p:blipFill>
          <a:blip r:embed="rId6"/>
          <a:stretch>
            <a:fillRect/>
          </a:stretch>
        </p:blipFill>
        <p:spPr>
          <a:xfrm>
            <a:off x="8184741" y="2132248"/>
            <a:ext cx="3539430" cy="3539430"/>
          </a:xfrm>
          <a:prstGeom prst="rect">
            <a:avLst/>
          </a:prstGeom>
        </p:spPr>
      </p:pic>
    </p:spTree>
    <p:extLst>
      <p:ext uri="{BB962C8B-B14F-4D97-AF65-F5344CB8AC3E}">
        <p14:creationId xmlns:p14="http://schemas.microsoft.com/office/powerpoint/2010/main" val="26384398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61F88-F6C7-0B26-5483-827E13B3698B}"/>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62A33D3F-89F2-4B91-D657-27E8B31C43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DEE00E27-F477-76A4-EE95-D8307049B220}"/>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96D4A160-22A3-8C15-55CC-B19080162C27}"/>
              </a:ext>
            </a:extLst>
          </p:cNvPr>
          <p:cNvSpPr>
            <a:spLocks noGrp="1"/>
          </p:cNvSpPr>
          <p:nvPr>
            <p:ph type="sldNum" sz="quarter" idx="12"/>
          </p:nvPr>
        </p:nvSpPr>
        <p:spPr/>
        <p:txBody>
          <a:bodyPr/>
          <a:lstStyle/>
          <a:p>
            <a:r>
              <a:rPr lang="en-US" dirty="0">
                <a:solidFill>
                  <a:schemeClr val="bg1"/>
                </a:solidFill>
              </a:rPr>
              <a:t>10 / 10</a:t>
            </a:r>
          </a:p>
        </p:txBody>
      </p:sp>
      <p:sp>
        <p:nvSpPr>
          <p:cNvPr id="2" name="TextBox 1">
            <a:extLst>
              <a:ext uri="{FF2B5EF4-FFF2-40B4-BE49-F238E27FC236}">
                <a16:creationId xmlns:a16="http://schemas.microsoft.com/office/drawing/2014/main" id="{F6B279AA-DF2C-2773-09B2-E7FB9EB0413B}"/>
              </a:ext>
            </a:extLst>
          </p:cNvPr>
          <p:cNvSpPr txBox="1"/>
          <p:nvPr/>
        </p:nvSpPr>
        <p:spPr>
          <a:xfrm>
            <a:off x="596349" y="374273"/>
            <a:ext cx="10953226" cy="830997"/>
          </a:xfrm>
          <a:prstGeom prst="rect">
            <a:avLst/>
          </a:prstGeom>
          <a:noFill/>
        </p:spPr>
        <p:txBody>
          <a:bodyPr wrap="square" rtlCol="0">
            <a:spAutoFit/>
          </a:bodyPr>
          <a:lstStyle/>
          <a:p>
            <a:pPr algn="just"/>
            <a:r>
              <a:rPr lang="en-US" sz="2800" b="1">
                <a:solidFill>
                  <a:srgbClr val="822334"/>
                </a:solidFill>
                <a:latin typeface="Inter" panose="02000503000000020004" pitchFamily="2" charset="0"/>
                <a:ea typeface="Inter" panose="02000503000000020004" pitchFamily="2" charset="0"/>
                <a:cs typeface="Inter" panose="02000503000000020004" pitchFamily="2" charset="0"/>
              </a:rPr>
              <a:t>API - </a:t>
            </a:r>
            <a:r>
              <a:rPr lang="en-US" sz="2800" b="1" dirty="0">
                <a:solidFill>
                  <a:srgbClr val="822334"/>
                </a:solidFill>
                <a:latin typeface="Inter" panose="02000503000000020004" pitchFamily="2" charset="0"/>
                <a:ea typeface="Inter" panose="02000503000000020004" pitchFamily="2" charset="0"/>
                <a:cs typeface="Inter" panose="02000503000000020004" pitchFamily="2" charset="0"/>
              </a:rPr>
              <a:t>ENDPOINTS IN DETAIL</a:t>
            </a:r>
          </a:p>
          <a:p>
            <a:pPr algn="just"/>
            <a:r>
              <a:rPr lang="en-US" sz="2000" dirty="0">
                <a:solidFill>
                  <a:schemeClr val="bg2">
                    <a:lumMod val="50000"/>
                  </a:schemeClr>
                </a:solidFill>
                <a:latin typeface="Inter" panose="02000503000000020004" pitchFamily="2" charset="0"/>
                <a:ea typeface="Inter" panose="02000503000000020004" pitchFamily="2" charset="0"/>
                <a:cs typeface="Inter" panose="02000503000000020004" pitchFamily="2" charset="0"/>
              </a:rPr>
              <a:t>Main endpoint groups and responsibilities</a:t>
            </a:r>
            <a:endParaRPr lang="en-US" sz="2000" b="1" dirty="0">
              <a:solidFill>
                <a:schemeClr val="bg2">
                  <a:lumMod val="50000"/>
                </a:schemeClr>
              </a:solidFill>
              <a:effectLst/>
              <a:latin typeface="Inter" panose="02000503000000020004" pitchFamily="2" charset="0"/>
              <a:ea typeface="Inter" panose="02000503000000020004" pitchFamily="2" charset="0"/>
              <a:cs typeface="Inter" panose="02000503000000020004" pitchFamily="2" charset="0"/>
            </a:endParaRPr>
          </a:p>
        </p:txBody>
      </p:sp>
      <p:sp>
        <p:nvSpPr>
          <p:cNvPr id="5" name="Footer Placeholder 10">
            <a:extLst>
              <a:ext uri="{FF2B5EF4-FFF2-40B4-BE49-F238E27FC236}">
                <a16:creationId xmlns:a16="http://schemas.microsoft.com/office/drawing/2014/main" id="{A06DC2EA-EA1C-F614-C6FC-5501F1A55F66}"/>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graphicFrame>
        <p:nvGraphicFramePr>
          <p:cNvPr id="9" name="Table 8">
            <a:extLst>
              <a:ext uri="{FF2B5EF4-FFF2-40B4-BE49-F238E27FC236}">
                <a16:creationId xmlns:a16="http://schemas.microsoft.com/office/drawing/2014/main" id="{5B085CD9-1F0B-50B5-21D7-7CA49D8B468D}"/>
              </a:ext>
            </a:extLst>
          </p:cNvPr>
          <p:cNvGraphicFramePr>
            <a:graphicFrameLocks noGrp="1"/>
          </p:cNvGraphicFramePr>
          <p:nvPr>
            <p:extLst>
              <p:ext uri="{D42A27DB-BD31-4B8C-83A1-F6EECF244321}">
                <p14:modId xmlns:p14="http://schemas.microsoft.com/office/powerpoint/2010/main" val="3170491405"/>
              </p:ext>
            </p:extLst>
          </p:nvPr>
        </p:nvGraphicFramePr>
        <p:xfrm>
          <a:off x="645508" y="1609320"/>
          <a:ext cx="10950145" cy="4270371"/>
        </p:xfrm>
        <a:graphic>
          <a:graphicData uri="http://schemas.openxmlformats.org/drawingml/2006/table">
            <a:tbl>
              <a:tblPr>
                <a:tableStyleId>{16D9F66E-5EB9-4882-86FB-DCBF35E3C3E4}</a:tableStyleId>
              </a:tblPr>
              <a:tblGrid>
                <a:gridCol w="1605626">
                  <a:extLst>
                    <a:ext uri="{9D8B030D-6E8A-4147-A177-3AD203B41FA5}">
                      <a16:colId xmlns:a16="http://schemas.microsoft.com/office/drawing/2014/main" val="321571101"/>
                    </a:ext>
                  </a:extLst>
                </a:gridCol>
                <a:gridCol w="9344519">
                  <a:extLst>
                    <a:ext uri="{9D8B030D-6E8A-4147-A177-3AD203B41FA5}">
                      <a16:colId xmlns:a16="http://schemas.microsoft.com/office/drawing/2014/main" val="3664112657"/>
                    </a:ext>
                  </a:extLst>
                </a:gridCol>
              </a:tblGrid>
              <a:tr h="316225">
                <a:tc>
                  <a:txBody>
                    <a:bodyPr/>
                    <a:lstStyle/>
                    <a:p>
                      <a:r>
                        <a:rPr lang="en-US" sz="1600" b="1">
                          <a:latin typeface="Inter" panose="02000503000000020004" pitchFamily="2" charset="0"/>
                          <a:ea typeface="Inter" panose="02000503000000020004" pitchFamily="2" charset="0"/>
                          <a:cs typeface="Inter" panose="02000503000000020004" pitchFamily="2" charset="0"/>
                        </a:rPr>
                        <a:t>Endpoint</a:t>
                      </a:r>
                    </a:p>
                  </a:txBody>
                  <a:tcPr marL="41441" marR="41441" marT="20721" marB="20721" anchor="ctr"/>
                </a:tc>
                <a:tc>
                  <a:txBody>
                    <a:bodyPr/>
                    <a:lstStyle/>
                    <a:p>
                      <a:r>
                        <a:rPr lang="en-US" sz="1600" b="1" dirty="0">
                          <a:latin typeface="Inter" panose="02000503000000020004" pitchFamily="2" charset="0"/>
                          <a:ea typeface="Inter" panose="02000503000000020004" pitchFamily="2" charset="0"/>
                          <a:cs typeface="Inter" panose="02000503000000020004" pitchFamily="2" charset="0"/>
                        </a:rPr>
                        <a:t>Description</a:t>
                      </a:r>
                    </a:p>
                  </a:txBody>
                  <a:tcPr marL="41441" marR="41441" marT="20721" marB="20721" anchor="ctr"/>
                </a:tc>
                <a:extLst>
                  <a:ext uri="{0D108BD9-81ED-4DB2-BD59-A6C34878D82A}">
                    <a16:rowId xmlns:a16="http://schemas.microsoft.com/office/drawing/2014/main" val="869530727"/>
                  </a:ext>
                </a:extLst>
              </a:tr>
              <a:tr h="282439">
                <a:tc>
                  <a:txBody>
                    <a:bodyPr/>
                    <a:lstStyle/>
                    <a:p>
                      <a:r>
                        <a:rPr lang="en-US" sz="1400" b="1" dirty="0">
                          <a:latin typeface="Inter" panose="02000503000000020004" pitchFamily="2" charset="0"/>
                          <a:ea typeface="Inter" panose="02000503000000020004" pitchFamily="2" charset="0"/>
                          <a:cs typeface="Inter" panose="02000503000000020004" pitchFamily="2" charset="0"/>
                        </a:rPr>
                        <a:t>/v1/health</a:t>
                      </a:r>
                      <a:endParaRPr lang="en-US" sz="1400" dirty="0">
                        <a:latin typeface="Inter" panose="02000503000000020004" pitchFamily="2" charset="0"/>
                        <a:ea typeface="Inter" panose="02000503000000020004" pitchFamily="2" charset="0"/>
                        <a:cs typeface="Inter" panose="02000503000000020004" pitchFamily="2" charset="0"/>
                      </a:endParaRPr>
                    </a:p>
                  </a:txBody>
                  <a:tcPr marL="41441" marR="41441" marT="20721" marB="20721" anchor="ctr"/>
                </a:tc>
                <a:tc>
                  <a:txBody>
                    <a:bodyPr/>
                    <a:lstStyle/>
                    <a:p>
                      <a:r>
                        <a:rPr lang="en-US" sz="1400" dirty="0">
                          <a:latin typeface="Inter" panose="02000503000000020004" pitchFamily="2" charset="0"/>
                          <a:ea typeface="Inter" panose="02000503000000020004" pitchFamily="2" charset="0"/>
                          <a:cs typeface="Inter" panose="02000503000000020004" pitchFamily="2" charset="0"/>
                        </a:rPr>
                        <a:t>Checks if the platform is running, ready, and fully started. Reports PostgreSQL, Redis, and </a:t>
                      </a:r>
                      <a:r>
                        <a:rPr lang="en-US" sz="1400" dirty="0" err="1">
                          <a:latin typeface="Inter" panose="02000503000000020004" pitchFamily="2" charset="0"/>
                          <a:ea typeface="Inter" panose="02000503000000020004" pitchFamily="2" charset="0"/>
                          <a:cs typeface="Inter" panose="02000503000000020004" pitchFamily="2" charset="0"/>
                        </a:rPr>
                        <a:t>Memgraph</a:t>
                      </a:r>
                      <a:r>
                        <a:rPr lang="en-US" sz="1400" dirty="0">
                          <a:latin typeface="Inter" panose="02000503000000020004" pitchFamily="2" charset="0"/>
                          <a:ea typeface="Inter" panose="02000503000000020004" pitchFamily="2" charset="0"/>
                          <a:cs typeface="Inter" panose="02000503000000020004" pitchFamily="2" charset="0"/>
                        </a:rPr>
                        <a:t> status.</a:t>
                      </a:r>
                    </a:p>
                  </a:txBody>
                  <a:tcPr marL="41441" marR="41441" marT="20721" marB="20721" anchor="ctr"/>
                </a:tc>
                <a:extLst>
                  <a:ext uri="{0D108BD9-81ED-4DB2-BD59-A6C34878D82A}">
                    <a16:rowId xmlns:a16="http://schemas.microsoft.com/office/drawing/2014/main" val="2219705874"/>
                  </a:ext>
                </a:extLst>
              </a:tr>
              <a:tr h="282439">
                <a:tc>
                  <a:txBody>
                    <a:bodyPr/>
                    <a:lstStyle/>
                    <a:p>
                      <a:r>
                        <a:rPr lang="en-US" sz="1400" b="1">
                          <a:latin typeface="Inter" panose="02000503000000020004" pitchFamily="2" charset="0"/>
                          <a:ea typeface="Inter" panose="02000503000000020004" pitchFamily="2" charset="0"/>
                          <a:cs typeface="Inter" panose="02000503000000020004" pitchFamily="2" charset="0"/>
                        </a:rPr>
                        <a:t>/v1/auth</a:t>
                      </a:r>
                      <a:endParaRPr lang="en-US" sz="1400">
                        <a:latin typeface="Inter" panose="02000503000000020004" pitchFamily="2" charset="0"/>
                        <a:ea typeface="Inter" panose="02000503000000020004" pitchFamily="2" charset="0"/>
                        <a:cs typeface="Inter" panose="02000503000000020004" pitchFamily="2" charset="0"/>
                      </a:endParaRPr>
                    </a:p>
                  </a:txBody>
                  <a:tcPr marL="41441" marR="41441" marT="20721" marB="20721" anchor="ctr"/>
                </a:tc>
                <a:tc>
                  <a:txBody>
                    <a:bodyPr/>
                    <a:lstStyle/>
                    <a:p>
                      <a:r>
                        <a:rPr lang="en-US" sz="1400" dirty="0">
                          <a:latin typeface="Inter" panose="02000503000000020004" pitchFamily="2" charset="0"/>
                          <a:ea typeface="Inter" panose="02000503000000020004" pitchFamily="2" charset="0"/>
                          <a:cs typeface="Inter" panose="02000503000000020004" pitchFamily="2" charset="0"/>
                        </a:rPr>
                        <a:t>Verifies user identity and validates OIDC/JWT authentication tokens.</a:t>
                      </a:r>
                    </a:p>
                  </a:txBody>
                  <a:tcPr marL="41441" marR="41441" marT="20721" marB="20721" anchor="ctr"/>
                </a:tc>
                <a:extLst>
                  <a:ext uri="{0D108BD9-81ED-4DB2-BD59-A6C34878D82A}">
                    <a16:rowId xmlns:a16="http://schemas.microsoft.com/office/drawing/2014/main" val="296076449"/>
                  </a:ext>
                </a:extLst>
              </a:tr>
              <a:tr h="282439">
                <a:tc>
                  <a:txBody>
                    <a:bodyPr/>
                    <a:lstStyle/>
                    <a:p>
                      <a:r>
                        <a:rPr lang="en-US" sz="1400" b="1">
                          <a:latin typeface="Inter" panose="02000503000000020004" pitchFamily="2" charset="0"/>
                          <a:ea typeface="Inter" panose="02000503000000020004" pitchFamily="2" charset="0"/>
                          <a:cs typeface="Inter" panose="02000503000000020004" pitchFamily="2" charset="0"/>
                        </a:rPr>
                        <a:t>/v1/agents</a:t>
                      </a:r>
                      <a:endParaRPr lang="en-US" sz="1400">
                        <a:latin typeface="Inter" panose="02000503000000020004" pitchFamily="2" charset="0"/>
                        <a:ea typeface="Inter" panose="02000503000000020004" pitchFamily="2" charset="0"/>
                        <a:cs typeface="Inter" panose="02000503000000020004" pitchFamily="2" charset="0"/>
                      </a:endParaRPr>
                    </a:p>
                  </a:txBody>
                  <a:tcPr marL="41441" marR="41441" marT="20721" marB="20721" anchor="ctr"/>
                </a:tc>
                <a:tc>
                  <a:txBody>
                    <a:bodyPr/>
                    <a:lstStyle/>
                    <a:p>
                      <a:r>
                        <a:rPr lang="en-US" sz="1400" dirty="0">
                          <a:latin typeface="Inter" panose="02000503000000020004" pitchFamily="2" charset="0"/>
                          <a:ea typeface="Inter" panose="02000503000000020004" pitchFamily="2" charset="0"/>
                          <a:cs typeface="Inter" panose="02000503000000020004" pitchFamily="2" charset="0"/>
                        </a:rPr>
                        <a:t>Manages agent definitions, prompt templates, and behavior settings.</a:t>
                      </a:r>
                    </a:p>
                  </a:txBody>
                  <a:tcPr marL="41441" marR="41441" marT="20721" marB="20721" anchor="ctr"/>
                </a:tc>
                <a:extLst>
                  <a:ext uri="{0D108BD9-81ED-4DB2-BD59-A6C34878D82A}">
                    <a16:rowId xmlns:a16="http://schemas.microsoft.com/office/drawing/2014/main" val="3850866882"/>
                  </a:ext>
                </a:extLst>
              </a:tr>
              <a:tr h="282439">
                <a:tc>
                  <a:txBody>
                    <a:bodyPr/>
                    <a:lstStyle/>
                    <a:p>
                      <a:r>
                        <a:rPr lang="en-US" sz="1400" b="1">
                          <a:latin typeface="Inter" panose="02000503000000020004" pitchFamily="2" charset="0"/>
                          <a:ea typeface="Inter" panose="02000503000000020004" pitchFamily="2" charset="0"/>
                          <a:cs typeface="Inter" panose="02000503000000020004" pitchFamily="2" charset="0"/>
                        </a:rPr>
                        <a:t>/v1/tenants</a:t>
                      </a:r>
                      <a:endParaRPr lang="en-US" sz="1400">
                        <a:latin typeface="Inter" panose="02000503000000020004" pitchFamily="2" charset="0"/>
                        <a:ea typeface="Inter" panose="02000503000000020004" pitchFamily="2" charset="0"/>
                        <a:cs typeface="Inter" panose="02000503000000020004" pitchFamily="2" charset="0"/>
                      </a:endParaRPr>
                    </a:p>
                  </a:txBody>
                  <a:tcPr marL="41441" marR="41441" marT="20721" marB="20721" anchor="ctr"/>
                </a:tc>
                <a:tc>
                  <a:txBody>
                    <a:bodyPr/>
                    <a:lstStyle/>
                    <a:p>
                      <a:r>
                        <a:rPr lang="en-US" sz="1400" dirty="0">
                          <a:latin typeface="Inter" panose="02000503000000020004" pitchFamily="2" charset="0"/>
                          <a:ea typeface="Inter" panose="02000503000000020004" pitchFamily="2" charset="0"/>
                          <a:cs typeface="Inter" panose="02000503000000020004" pitchFamily="2" charset="0"/>
                        </a:rPr>
                        <a:t>Manages tenant organizations, default models, rate limits, quotas, and enabled features.</a:t>
                      </a:r>
                    </a:p>
                  </a:txBody>
                  <a:tcPr marL="41441" marR="41441" marT="20721" marB="20721" anchor="ctr"/>
                </a:tc>
                <a:extLst>
                  <a:ext uri="{0D108BD9-81ED-4DB2-BD59-A6C34878D82A}">
                    <a16:rowId xmlns:a16="http://schemas.microsoft.com/office/drawing/2014/main" val="3162899015"/>
                  </a:ext>
                </a:extLst>
              </a:tr>
              <a:tr h="282439">
                <a:tc>
                  <a:txBody>
                    <a:bodyPr/>
                    <a:lstStyle/>
                    <a:p>
                      <a:r>
                        <a:rPr lang="en-US" sz="1400" b="1">
                          <a:latin typeface="Inter" panose="02000503000000020004" pitchFamily="2" charset="0"/>
                          <a:ea typeface="Inter" panose="02000503000000020004" pitchFamily="2" charset="0"/>
                          <a:cs typeface="Inter" panose="02000503000000020004" pitchFamily="2" charset="0"/>
                        </a:rPr>
                        <a:t>/v1/models</a:t>
                      </a:r>
                      <a:endParaRPr lang="en-US" sz="1400">
                        <a:latin typeface="Inter" panose="02000503000000020004" pitchFamily="2" charset="0"/>
                        <a:ea typeface="Inter" panose="02000503000000020004" pitchFamily="2" charset="0"/>
                        <a:cs typeface="Inter" panose="02000503000000020004" pitchFamily="2" charset="0"/>
                      </a:endParaRPr>
                    </a:p>
                  </a:txBody>
                  <a:tcPr marL="41441" marR="41441" marT="20721" marB="20721" anchor="ctr"/>
                </a:tc>
                <a:tc>
                  <a:txBody>
                    <a:bodyPr/>
                    <a:lstStyle/>
                    <a:p>
                      <a:r>
                        <a:rPr lang="en-US" sz="1400" dirty="0">
                          <a:latin typeface="Inter" panose="02000503000000020004" pitchFamily="2" charset="0"/>
                          <a:ea typeface="Inter" panose="02000503000000020004" pitchFamily="2" charset="0"/>
                          <a:cs typeface="Inter" panose="02000503000000020004" pitchFamily="2" charset="0"/>
                        </a:rPr>
                        <a:t>Registers LLM providers, configures models, API keys, and tenant defaults.</a:t>
                      </a:r>
                    </a:p>
                  </a:txBody>
                  <a:tcPr marL="41441" marR="41441" marT="20721" marB="20721" anchor="ctr"/>
                </a:tc>
                <a:extLst>
                  <a:ext uri="{0D108BD9-81ED-4DB2-BD59-A6C34878D82A}">
                    <a16:rowId xmlns:a16="http://schemas.microsoft.com/office/drawing/2014/main" val="489659230"/>
                  </a:ext>
                </a:extLst>
              </a:tr>
              <a:tr h="282439">
                <a:tc>
                  <a:txBody>
                    <a:bodyPr/>
                    <a:lstStyle/>
                    <a:p>
                      <a:r>
                        <a:rPr lang="en-US" sz="1400" b="1">
                          <a:latin typeface="Inter" panose="02000503000000020004" pitchFamily="2" charset="0"/>
                          <a:ea typeface="Inter" panose="02000503000000020004" pitchFamily="2" charset="0"/>
                          <a:cs typeface="Inter" panose="02000503000000020004" pitchFamily="2" charset="0"/>
                        </a:rPr>
                        <a:t>/v1/tools</a:t>
                      </a:r>
                      <a:endParaRPr lang="en-US" sz="1400">
                        <a:latin typeface="Inter" panose="02000503000000020004" pitchFamily="2" charset="0"/>
                        <a:ea typeface="Inter" panose="02000503000000020004" pitchFamily="2" charset="0"/>
                        <a:cs typeface="Inter" panose="02000503000000020004" pitchFamily="2" charset="0"/>
                      </a:endParaRPr>
                    </a:p>
                  </a:txBody>
                  <a:tcPr marL="41441" marR="41441" marT="20721" marB="20721" anchor="ctr"/>
                </a:tc>
                <a:tc>
                  <a:txBody>
                    <a:bodyPr/>
                    <a:lstStyle/>
                    <a:p>
                      <a:r>
                        <a:rPr lang="en-US" sz="1400" dirty="0">
                          <a:latin typeface="Inter" panose="02000503000000020004" pitchFamily="2" charset="0"/>
                          <a:ea typeface="Inter" panose="02000503000000020004" pitchFamily="2" charset="0"/>
                          <a:cs typeface="Inter" panose="02000503000000020004" pitchFamily="2" charset="0"/>
                        </a:rPr>
                        <a:t>Discovers MCP tools, reads tool schemas, and invokes tools with validated inputs.</a:t>
                      </a:r>
                    </a:p>
                  </a:txBody>
                  <a:tcPr marL="41441" marR="41441" marT="20721" marB="20721" anchor="ctr"/>
                </a:tc>
                <a:extLst>
                  <a:ext uri="{0D108BD9-81ED-4DB2-BD59-A6C34878D82A}">
                    <a16:rowId xmlns:a16="http://schemas.microsoft.com/office/drawing/2014/main" val="91505588"/>
                  </a:ext>
                </a:extLst>
              </a:tr>
              <a:tr h="282439">
                <a:tc>
                  <a:txBody>
                    <a:bodyPr/>
                    <a:lstStyle/>
                    <a:p>
                      <a:r>
                        <a:rPr lang="en-US" sz="1400" b="1">
                          <a:latin typeface="Inter" panose="02000503000000020004" pitchFamily="2" charset="0"/>
                          <a:ea typeface="Inter" panose="02000503000000020004" pitchFamily="2" charset="0"/>
                          <a:cs typeface="Inter" panose="02000503000000020004" pitchFamily="2" charset="0"/>
                        </a:rPr>
                        <a:t>/v1/jobs</a:t>
                      </a:r>
                      <a:endParaRPr lang="en-US" sz="1400">
                        <a:latin typeface="Inter" panose="02000503000000020004" pitchFamily="2" charset="0"/>
                        <a:ea typeface="Inter" panose="02000503000000020004" pitchFamily="2" charset="0"/>
                        <a:cs typeface="Inter" panose="02000503000000020004" pitchFamily="2" charset="0"/>
                      </a:endParaRPr>
                    </a:p>
                  </a:txBody>
                  <a:tcPr marL="41441" marR="41441" marT="20721" marB="20721" anchor="ctr"/>
                </a:tc>
                <a:tc>
                  <a:txBody>
                    <a:bodyPr/>
                    <a:lstStyle/>
                    <a:p>
                      <a:r>
                        <a:rPr lang="en-US" sz="1400" dirty="0">
                          <a:latin typeface="Inter" panose="02000503000000020004" pitchFamily="2" charset="0"/>
                          <a:ea typeface="Inter" panose="02000503000000020004" pitchFamily="2" charset="0"/>
                          <a:cs typeface="Inter" panose="02000503000000020004" pitchFamily="2" charset="0"/>
                        </a:rPr>
                        <a:t>Creates long-running async jobs, streams progress, and cancels running jobs.</a:t>
                      </a:r>
                    </a:p>
                  </a:txBody>
                  <a:tcPr marL="41441" marR="41441" marT="20721" marB="20721" anchor="ctr"/>
                </a:tc>
                <a:extLst>
                  <a:ext uri="{0D108BD9-81ED-4DB2-BD59-A6C34878D82A}">
                    <a16:rowId xmlns:a16="http://schemas.microsoft.com/office/drawing/2014/main" val="933990470"/>
                  </a:ext>
                </a:extLst>
              </a:tr>
              <a:tr h="282439">
                <a:tc>
                  <a:txBody>
                    <a:bodyPr/>
                    <a:lstStyle/>
                    <a:p>
                      <a:r>
                        <a:rPr lang="en-US" sz="1400" b="1">
                          <a:latin typeface="Inter" panose="02000503000000020004" pitchFamily="2" charset="0"/>
                          <a:ea typeface="Inter" panose="02000503000000020004" pitchFamily="2" charset="0"/>
                          <a:cs typeface="Inter" panose="02000503000000020004" pitchFamily="2" charset="0"/>
                        </a:rPr>
                        <a:t>/v1/agent-runs</a:t>
                      </a:r>
                      <a:endParaRPr lang="en-US" sz="1400">
                        <a:latin typeface="Inter" panose="02000503000000020004" pitchFamily="2" charset="0"/>
                        <a:ea typeface="Inter" panose="02000503000000020004" pitchFamily="2" charset="0"/>
                        <a:cs typeface="Inter" panose="02000503000000020004" pitchFamily="2" charset="0"/>
                      </a:endParaRPr>
                    </a:p>
                  </a:txBody>
                  <a:tcPr marL="41441" marR="41441" marT="20721" marB="20721" anchor="ctr"/>
                </a:tc>
                <a:tc>
                  <a:txBody>
                    <a:bodyPr/>
                    <a:lstStyle/>
                    <a:p>
                      <a:r>
                        <a:rPr lang="en-US" sz="1400" dirty="0">
                          <a:latin typeface="Inter" panose="02000503000000020004" pitchFamily="2" charset="0"/>
                          <a:ea typeface="Inter" panose="02000503000000020004" pitchFamily="2" charset="0"/>
                          <a:cs typeface="Inter" panose="02000503000000020004" pitchFamily="2" charset="0"/>
                        </a:rPr>
                        <a:t>Starts, tracks, retrieves, and cancels agent execution runs.</a:t>
                      </a:r>
                    </a:p>
                  </a:txBody>
                  <a:tcPr marL="41441" marR="41441" marT="20721" marB="20721" anchor="ctr"/>
                </a:tc>
                <a:extLst>
                  <a:ext uri="{0D108BD9-81ED-4DB2-BD59-A6C34878D82A}">
                    <a16:rowId xmlns:a16="http://schemas.microsoft.com/office/drawing/2014/main" val="3069040038"/>
                  </a:ext>
                </a:extLst>
              </a:tr>
              <a:tr h="282439">
                <a:tc>
                  <a:txBody>
                    <a:bodyPr/>
                    <a:lstStyle/>
                    <a:p>
                      <a:r>
                        <a:rPr lang="en-US" sz="1400" b="1">
                          <a:latin typeface="Inter" panose="02000503000000020004" pitchFamily="2" charset="0"/>
                          <a:ea typeface="Inter" panose="02000503000000020004" pitchFamily="2" charset="0"/>
                          <a:cs typeface="Inter" panose="02000503000000020004" pitchFamily="2" charset="0"/>
                        </a:rPr>
                        <a:t>/v1/graph</a:t>
                      </a:r>
                      <a:endParaRPr lang="en-US" sz="1400">
                        <a:latin typeface="Inter" panose="02000503000000020004" pitchFamily="2" charset="0"/>
                        <a:ea typeface="Inter" panose="02000503000000020004" pitchFamily="2" charset="0"/>
                        <a:cs typeface="Inter" panose="02000503000000020004" pitchFamily="2" charset="0"/>
                      </a:endParaRPr>
                    </a:p>
                  </a:txBody>
                  <a:tcPr marL="41441" marR="41441" marT="20721" marB="20721" anchor="ctr"/>
                </a:tc>
                <a:tc>
                  <a:txBody>
                    <a:bodyPr/>
                    <a:lstStyle/>
                    <a:p>
                      <a:r>
                        <a:rPr lang="en-US" sz="1400" dirty="0">
                          <a:latin typeface="Inter" panose="02000503000000020004" pitchFamily="2" charset="0"/>
                          <a:ea typeface="Inter" panose="02000503000000020004" pitchFamily="2" charset="0"/>
                          <a:cs typeface="Inter" panose="02000503000000020004" pitchFamily="2" charset="0"/>
                        </a:rPr>
                        <a:t>Executes direct Cypher queries and validated </a:t>
                      </a:r>
                      <a:r>
                        <a:rPr lang="en-US" sz="1400" dirty="0" err="1">
                          <a:latin typeface="Inter" panose="02000503000000020004" pitchFamily="2" charset="0"/>
                          <a:ea typeface="Inter" panose="02000503000000020004" pitchFamily="2" charset="0"/>
                          <a:cs typeface="Inter" panose="02000503000000020004" pitchFamily="2" charset="0"/>
                        </a:rPr>
                        <a:t>NL→Cypher</a:t>
                      </a:r>
                      <a:r>
                        <a:rPr lang="en-US" sz="1400" dirty="0">
                          <a:latin typeface="Inter" panose="02000503000000020004" pitchFamily="2" charset="0"/>
                          <a:ea typeface="Inter" panose="02000503000000020004" pitchFamily="2" charset="0"/>
                          <a:cs typeface="Inter" panose="02000503000000020004" pitchFamily="2" charset="0"/>
                        </a:rPr>
                        <a:t> graph queries.</a:t>
                      </a:r>
                    </a:p>
                  </a:txBody>
                  <a:tcPr marL="41441" marR="41441" marT="20721" marB="20721" anchor="ctr"/>
                </a:tc>
                <a:extLst>
                  <a:ext uri="{0D108BD9-81ED-4DB2-BD59-A6C34878D82A}">
                    <a16:rowId xmlns:a16="http://schemas.microsoft.com/office/drawing/2014/main" val="637840156"/>
                  </a:ext>
                </a:extLst>
              </a:tr>
              <a:tr h="282439">
                <a:tc>
                  <a:txBody>
                    <a:bodyPr/>
                    <a:lstStyle/>
                    <a:p>
                      <a:r>
                        <a:rPr lang="en-US" sz="1400" b="1">
                          <a:latin typeface="Inter" panose="02000503000000020004" pitchFamily="2" charset="0"/>
                          <a:ea typeface="Inter" panose="02000503000000020004" pitchFamily="2" charset="0"/>
                          <a:cs typeface="Inter" panose="02000503000000020004" pitchFamily="2" charset="0"/>
                        </a:rPr>
                        <a:t>/v1/sessions</a:t>
                      </a:r>
                      <a:endParaRPr lang="en-US" sz="1400">
                        <a:latin typeface="Inter" panose="02000503000000020004" pitchFamily="2" charset="0"/>
                        <a:ea typeface="Inter" panose="02000503000000020004" pitchFamily="2" charset="0"/>
                        <a:cs typeface="Inter" panose="02000503000000020004" pitchFamily="2" charset="0"/>
                      </a:endParaRPr>
                    </a:p>
                  </a:txBody>
                  <a:tcPr marL="41441" marR="41441" marT="20721" marB="20721" anchor="ctr"/>
                </a:tc>
                <a:tc>
                  <a:txBody>
                    <a:bodyPr/>
                    <a:lstStyle/>
                    <a:p>
                      <a:r>
                        <a:rPr lang="en-US" sz="1400" dirty="0">
                          <a:latin typeface="Inter" panose="02000503000000020004" pitchFamily="2" charset="0"/>
                          <a:ea typeface="Inter" panose="02000503000000020004" pitchFamily="2" charset="0"/>
                          <a:cs typeface="Inter" panose="02000503000000020004" pitchFamily="2" charset="0"/>
                        </a:rPr>
                        <a:t>Manages chat sessions, conversation history, and runtime context.</a:t>
                      </a:r>
                    </a:p>
                  </a:txBody>
                  <a:tcPr marL="41441" marR="41441" marT="20721" marB="20721" anchor="ctr"/>
                </a:tc>
                <a:extLst>
                  <a:ext uri="{0D108BD9-81ED-4DB2-BD59-A6C34878D82A}">
                    <a16:rowId xmlns:a16="http://schemas.microsoft.com/office/drawing/2014/main" val="1401952100"/>
                  </a:ext>
                </a:extLst>
              </a:tr>
              <a:tr h="282439">
                <a:tc>
                  <a:txBody>
                    <a:bodyPr/>
                    <a:lstStyle/>
                    <a:p>
                      <a:r>
                        <a:rPr lang="en-US" sz="1400" b="1">
                          <a:latin typeface="Inter" panose="02000503000000020004" pitchFamily="2" charset="0"/>
                          <a:ea typeface="Inter" panose="02000503000000020004" pitchFamily="2" charset="0"/>
                          <a:cs typeface="Inter" panose="02000503000000020004" pitchFamily="2" charset="0"/>
                        </a:rPr>
                        <a:t>/v1/batch</a:t>
                      </a:r>
                      <a:endParaRPr lang="en-US" sz="1400">
                        <a:latin typeface="Inter" panose="02000503000000020004" pitchFamily="2" charset="0"/>
                        <a:ea typeface="Inter" panose="02000503000000020004" pitchFamily="2" charset="0"/>
                        <a:cs typeface="Inter" panose="02000503000000020004" pitchFamily="2" charset="0"/>
                      </a:endParaRPr>
                    </a:p>
                  </a:txBody>
                  <a:tcPr marL="41441" marR="41441" marT="20721" marB="20721" anchor="ctr"/>
                </a:tc>
                <a:tc>
                  <a:txBody>
                    <a:bodyPr/>
                    <a:lstStyle/>
                    <a:p>
                      <a:r>
                        <a:rPr lang="en-US" sz="1400" dirty="0">
                          <a:latin typeface="Inter" panose="02000503000000020004" pitchFamily="2" charset="0"/>
                          <a:ea typeface="Inter" panose="02000503000000020004" pitchFamily="2" charset="0"/>
                          <a:cs typeface="Inter" panose="02000503000000020004" pitchFamily="2" charset="0"/>
                        </a:rPr>
                        <a:t>Handles bulk requests, such as multiple agent runs or tool calls in one request.</a:t>
                      </a:r>
                    </a:p>
                  </a:txBody>
                  <a:tcPr marL="41441" marR="41441" marT="20721" marB="20721" anchor="ctr"/>
                </a:tc>
                <a:extLst>
                  <a:ext uri="{0D108BD9-81ED-4DB2-BD59-A6C34878D82A}">
                    <a16:rowId xmlns:a16="http://schemas.microsoft.com/office/drawing/2014/main" val="923638510"/>
                  </a:ext>
                </a:extLst>
              </a:tr>
              <a:tr h="282439">
                <a:tc>
                  <a:txBody>
                    <a:bodyPr/>
                    <a:lstStyle/>
                    <a:p>
                      <a:r>
                        <a:rPr lang="en-US" sz="1400" b="1">
                          <a:latin typeface="Inter" panose="02000503000000020004" pitchFamily="2" charset="0"/>
                          <a:ea typeface="Inter" panose="02000503000000020004" pitchFamily="2" charset="0"/>
                          <a:cs typeface="Inter" panose="02000503000000020004" pitchFamily="2" charset="0"/>
                        </a:rPr>
                        <a:t>/v1/admin</a:t>
                      </a:r>
                      <a:endParaRPr lang="en-US" sz="1400">
                        <a:latin typeface="Inter" panose="02000503000000020004" pitchFamily="2" charset="0"/>
                        <a:ea typeface="Inter" panose="02000503000000020004" pitchFamily="2" charset="0"/>
                        <a:cs typeface="Inter" panose="02000503000000020004" pitchFamily="2" charset="0"/>
                      </a:endParaRPr>
                    </a:p>
                  </a:txBody>
                  <a:tcPr marL="41441" marR="41441" marT="20721" marB="20721" anchor="ctr"/>
                </a:tc>
                <a:tc>
                  <a:txBody>
                    <a:bodyPr/>
                    <a:lstStyle/>
                    <a:p>
                      <a:r>
                        <a:rPr lang="en-US" sz="1400" dirty="0">
                          <a:latin typeface="Inter" panose="02000503000000020004" pitchFamily="2" charset="0"/>
                          <a:ea typeface="Inter" panose="02000503000000020004" pitchFamily="2" charset="0"/>
                          <a:cs typeface="Inter" panose="02000503000000020004" pitchFamily="2" charset="0"/>
                        </a:rPr>
                        <a:t>Runs restricted admin actions such as cache clearing, maintenance, migrations, and system stats.</a:t>
                      </a:r>
                    </a:p>
                  </a:txBody>
                  <a:tcPr marL="41441" marR="41441" marT="20721" marB="20721" anchor="ctr"/>
                </a:tc>
                <a:extLst>
                  <a:ext uri="{0D108BD9-81ED-4DB2-BD59-A6C34878D82A}">
                    <a16:rowId xmlns:a16="http://schemas.microsoft.com/office/drawing/2014/main" val="2927262152"/>
                  </a:ext>
                </a:extLst>
              </a:tr>
              <a:tr h="282439">
                <a:tc>
                  <a:txBody>
                    <a:bodyPr/>
                    <a:lstStyle/>
                    <a:p>
                      <a:r>
                        <a:rPr lang="en-US" sz="1400" b="1">
                          <a:latin typeface="Inter" panose="02000503000000020004" pitchFamily="2" charset="0"/>
                          <a:ea typeface="Inter" panose="02000503000000020004" pitchFamily="2" charset="0"/>
                          <a:cs typeface="Inter" panose="02000503000000020004" pitchFamily="2" charset="0"/>
                        </a:rPr>
                        <a:t>/v1/internal</a:t>
                      </a:r>
                      <a:endParaRPr lang="en-US" sz="1400">
                        <a:latin typeface="Inter" panose="02000503000000020004" pitchFamily="2" charset="0"/>
                        <a:ea typeface="Inter" panose="02000503000000020004" pitchFamily="2" charset="0"/>
                        <a:cs typeface="Inter" panose="02000503000000020004" pitchFamily="2" charset="0"/>
                      </a:endParaRPr>
                    </a:p>
                  </a:txBody>
                  <a:tcPr marL="41441" marR="41441" marT="20721" marB="20721" anchor="ctr"/>
                </a:tc>
                <a:tc>
                  <a:txBody>
                    <a:bodyPr/>
                    <a:lstStyle/>
                    <a:p>
                      <a:r>
                        <a:rPr lang="en-US" sz="1400" dirty="0">
                          <a:latin typeface="Inter" panose="02000503000000020004" pitchFamily="2" charset="0"/>
                          <a:ea typeface="Inter" panose="02000503000000020004" pitchFamily="2" charset="0"/>
                          <a:cs typeface="Inter" panose="02000503000000020004" pitchFamily="2" charset="0"/>
                        </a:rPr>
                        <a:t>Provides restricted diagnostics, configuration checks, and internal debugging tools.</a:t>
                      </a:r>
                    </a:p>
                  </a:txBody>
                  <a:tcPr marL="41441" marR="41441" marT="20721" marB="20721" anchor="ctr"/>
                </a:tc>
                <a:extLst>
                  <a:ext uri="{0D108BD9-81ED-4DB2-BD59-A6C34878D82A}">
                    <a16:rowId xmlns:a16="http://schemas.microsoft.com/office/drawing/2014/main" val="662326216"/>
                  </a:ext>
                </a:extLst>
              </a:tr>
              <a:tr h="282439">
                <a:tc>
                  <a:txBody>
                    <a:bodyPr/>
                    <a:lstStyle/>
                    <a:p>
                      <a:r>
                        <a:rPr lang="en-US" sz="1400" b="1">
                          <a:latin typeface="Inter" panose="02000503000000020004" pitchFamily="2" charset="0"/>
                          <a:ea typeface="Inter" panose="02000503000000020004" pitchFamily="2" charset="0"/>
                          <a:cs typeface="Inter" panose="02000503000000020004" pitchFamily="2" charset="0"/>
                        </a:rPr>
                        <a:t>/v1/export</a:t>
                      </a:r>
                      <a:endParaRPr lang="en-US" sz="1400">
                        <a:latin typeface="Inter" panose="02000503000000020004" pitchFamily="2" charset="0"/>
                        <a:ea typeface="Inter" panose="02000503000000020004" pitchFamily="2" charset="0"/>
                        <a:cs typeface="Inter" panose="02000503000000020004" pitchFamily="2" charset="0"/>
                      </a:endParaRPr>
                    </a:p>
                  </a:txBody>
                  <a:tcPr marL="41441" marR="41441" marT="20721" marB="20721" anchor="ctr"/>
                </a:tc>
                <a:tc>
                  <a:txBody>
                    <a:bodyPr/>
                    <a:lstStyle/>
                    <a:p>
                      <a:r>
                        <a:rPr lang="en-US" sz="1400" dirty="0">
                          <a:latin typeface="Inter" panose="02000503000000020004" pitchFamily="2" charset="0"/>
                          <a:ea typeface="Inter" panose="02000503000000020004" pitchFamily="2" charset="0"/>
                          <a:cs typeface="Inter" panose="02000503000000020004" pitchFamily="2" charset="0"/>
                        </a:rPr>
                        <a:t>Exports agent runs, job results, and audit logs in CSV or JSON format.</a:t>
                      </a:r>
                    </a:p>
                  </a:txBody>
                  <a:tcPr marL="41441" marR="41441" marT="20721" marB="20721" anchor="ctr"/>
                </a:tc>
                <a:extLst>
                  <a:ext uri="{0D108BD9-81ED-4DB2-BD59-A6C34878D82A}">
                    <a16:rowId xmlns:a16="http://schemas.microsoft.com/office/drawing/2014/main" val="1419631084"/>
                  </a:ext>
                </a:extLst>
              </a:tr>
            </a:tbl>
          </a:graphicData>
        </a:graphic>
      </p:graphicFrame>
    </p:spTree>
    <p:extLst>
      <p:ext uri="{BB962C8B-B14F-4D97-AF65-F5344CB8AC3E}">
        <p14:creationId xmlns:p14="http://schemas.microsoft.com/office/powerpoint/2010/main" val="14460360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46408</TotalTime>
  <Words>3981</Words>
  <Application>Microsoft Macintosh PowerPoint</Application>
  <PresentationFormat>Widescreen</PresentationFormat>
  <Paragraphs>600</Paragraphs>
  <Slides>27</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Arial</vt:lpstr>
      <vt:lpstr>Calibri</vt:lpstr>
      <vt:lpstr>Calibri Light</vt:lpstr>
      <vt:lpstr>Google Sans</vt:lpstr>
      <vt:lpstr>Inter</vt:lpstr>
      <vt:lpstr>Menlo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arman feili</dc:creator>
  <cp:lastModifiedBy>arman feili</cp:lastModifiedBy>
  <cp:revision>436</cp:revision>
  <dcterms:created xsi:type="dcterms:W3CDTF">2024-03-13T12:10:15Z</dcterms:created>
  <dcterms:modified xsi:type="dcterms:W3CDTF">2026-07-17T17:25:20Z</dcterms:modified>
</cp:coreProperties>
</file>