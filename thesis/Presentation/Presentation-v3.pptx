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6"/>
  </p:notesMasterIdLst>
  <p:sldIdLst>
    <p:sldId id="330" r:id="rId2"/>
    <p:sldId id="273" r:id="rId3"/>
    <p:sldId id="329" r:id="rId4"/>
    <p:sldId id="266" r:id="rId5"/>
    <p:sldId id="327" r:id="rId6"/>
    <p:sldId id="328" r:id="rId7"/>
    <p:sldId id="272" r:id="rId8"/>
    <p:sldId id="313" r:id="rId9"/>
    <p:sldId id="281" r:id="rId10"/>
    <p:sldId id="315" r:id="rId11"/>
    <p:sldId id="284" r:id="rId12"/>
    <p:sldId id="317" r:id="rId13"/>
    <p:sldId id="318" r:id="rId14"/>
    <p:sldId id="288" r:id="rId15"/>
    <p:sldId id="319" r:id="rId16"/>
    <p:sldId id="321" r:id="rId17"/>
    <p:sldId id="323" r:id="rId18"/>
    <p:sldId id="331" r:id="rId19"/>
    <p:sldId id="324" r:id="rId20"/>
    <p:sldId id="325" r:id="rId21"/>
    <p:sldId id="258" r:id="rId22"/>
    <p:sldId id="332" r:id="rId23"/>
    <p:sldId id="312" r:id="rId24"/>
    <p:sldId id="322"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22334"/>
    <a:srgbClr val="F0EBF5"/>
    <a:srgbClr val="FFF1E6"/>
    <a:srgbClr val="FFEAEA"/>
    <a:srgbClr val="D7E4D7"/>
    <a:srgbClr val="EAF7E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99"/>
    <p:restoredTop sz="96860"/>
  </p:normalViewPr>
  <p:slideViewPr>
    <p:cSldViewPr snapToGrid="0">
      <p:cViewPr>
        <p:scale>
          <a:sx n="106" d="100"/>
          <a:sy n="106" d="100"/>
        </p:scale>
        <p:origin x="144" y="6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924955-8B34-A04F-9FB2-E0067282C414}" type="datetimeFigureOut">
              <a:rPr lang="en-US" smtClean="0"/>
              <a:t>6/21/26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52EBC6-F9AA-0C43-A9D5-630614822BE9}" type="slidenum">
              <a:rPr lang="en-US" smtClean="0"/>
              <a:t>‹#›</a:t>
            </a:fld>
            <a:endParaRPr lang="en-US"/>
          </a:p>
        </p:txBody>
      </p:sp>
    </p:spTree>
    <p:extLst>
      <p:ext uri="{BB962C8B-B14F-4D97-AF65-F5344CB8AC3E}">
        <p14:creationId xmlns:p14="http://schemas.microsoft.com/office/powerpoint/2010/main" val="32977507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2C7EE-05C5-6ED5-7B79-573E62AAD68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3C82534-CC9F-2F84-7FB8-53311B9783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3E9B9B4-89EE-DC92-DD3C-50AEEFE3F014}"/>
              </a:ext>
            </a:extLst>
          </p:cNvPr>
          <p:cNvSpPr>
            <a:spLocks noGrp="1"/>
          </p:cNvSpPr>
          <p:nvPr>
            <p:ph type="dt" sz="half" idx="10"/>
          </p:nvPr>
        </p:nvSpPr>
        <p:spPr/>
        <p:txBody>
          <a:bodyPr/>
          <a:lstStyle/>
          <a:p>
            <a:fld id="{1213D8A6-EA0A-084D-8DA9-8594A0AEFD45}" type="datetime1">
              <a:rPr lang="en-US" smtClean="0"/>
              <a:t>6/21/26</a:t>
            </a:fld>
            <a:endParaRPr lang="en-US"/>
          </a:p>
        </p:txBody>
      </p:sp>
      <p:sp>
        <p:nvSpPr>
          <p:cNvPr id="5" name="Footer Placeholder 4">
            <a:extLst>
              <a:ext uri="{FF2B5EF4-FFF2-40B4-BE49-F238E27FC236}">
                <a16:creationId xmlns:a16="http://schemas.microsoft.com/office/drawing/2014/main" id="{FDEEEEB6-93DB-7DC9-5677-209D3C224EB9}"/>
              </a:ext>
            </a:extLst>
          </p:cNvPr>
          <p:cNvSpPr>
            <a:spLocks noGrp="1"/>
          </p:cNvSpPr>
          <p:nvPr>
            <p:ph type="ftr" sz="quarter" idx="11"/>
          </p:nvPr>
        </p:nvSpPr>
        <p:spPr/>
        <p:txBody>
          <a:bodyPr/>
          <a:lstStyle/>
          <a:p>
            <a:r>
              <a:rPr lang="en-US"/>
              <a:t>Sapienza University of Rome</a:t>
            </a:r>
          </a:p>
        </p:txBody>
      </p:sp>
      <p:sp>
        <p:nvSpPr>
          <p:cNvPr id="6" name="Slide Number Placeholder 5">
            <a:extLst>
              <a:ext uri="{FF2B5EF4-FFF2-40B4-BE49-F238E27FC236}">
                <a16:creationId xmlns:a16="http://schemas.microsoft.com/office/drawing/2014/main" id="{1C26F21C-5E60-E9F6-108B-615BF7324409}"/>
              </a:ext>
            </a:extLst>
          </p:cNvPr>
          <p:cNvSpPr>
            <a:spLocks noGrp="1"/>
          </p:cNvSpPr>
          <p:nvPr>
            <p:ph type="sldNum" sz="quarter" idx="12"/>
          </p:nvPr>
        </p:nvSpPr>
        <p:spPr/>
        <p:txBody>
          <a:bodyPr/>
          <a:lstStyle/>
          <a:p>
            <a:fld id="{48F19E39-9933-F648-B2F3-3AC17C0DC986}" type="slidenum">
              <a:rPr lang="en-US" smtClean="0"/>
              <a:t>‹#›</a:t>
            </a:fld>
            <a:endParaRPr lang="en-US"/>
          </a:p>
        </p:txBody>
      </p:sp>
    </p:spTree>
    <p:extLst>
      <p:ext uri="{BB962C8B-B14F-4D97-AF65-F5344CB8AC3E}">
        <p14:creationId xmlns:p14="http://schemas.microsoft.com/office/powerpoint/2010/main" val="11151200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D08D0-CF38-4DB2-3D35-564D22D8ECC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BA19E71-6189-DF70-BAC9-1B4169F629A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D9D928-B0D8-EB43-04E1-87E493BFBF8A}"/>
              </a:ext>
            </a:extLst>
          </p:cNvPr>
          <p:cNvSpPr>
            <a:spLocks noGrp="1"/>
          </p:cNvSpPr>
          <p:nvPr>
            <p:ph type="dt" sz="half" idx="10"/>
          </p:nvPr>
        </p:nvSpPr>
        <p:spPr/>
        <p:txBody>
          <a:bodyPr/>
          <a:lstStyle/>
          <a:p>
            <a:fld id="{45C60FBC-0A6B-934E-946F-80179CBF291D}" type="datetime1">
              <a:rPr lang="en-US" smtClean="0"/>
              <a:t>6/21/26</a:t>
            </a:fld>
            <a:endParaRPr lang="en-US"/>
          </a:p>
        </p:txBody>
      </p:sp>
      <p:sp>
        <p:nvSpPr>
          <p:cNvPr id="5" name="Footer Placeholder 4">
            <a:extLst>
              <a:ext uri="{FF2B5EF4-FFF2-40B4-BE49-F238E27FC236}">
                <a16:creationId xmlns:a16="http://schemas.microsoft.com/office/drawing/2014/main" id="{00D1214F-C646-0BC1-9D09-935E79D0DB01}"/>
              </a:ext>
            </a:extLst>
          </p:cNvPr>
          <p:cNvSpPr>
            <a:spLocks noGrp="1"/>
          </p:cNvSpPr>
          <p:nvPr>
            <p:ph type="ftr" sz="quarter" idx="11"/>
          </p:nvPr>
        </p:nvSpPr>
        <p:spPr/>
        <p:txBody>
          <a:bodyPr/>
          <a:lstStyle/>
          <a:p>
            <a:r>
              <a:rPr lang="en-US"/>
              <a:t>Sapienza University of Rome</a:t>
            </a:r>
          </a:p>
        </p:txBody>
      </p:sp>
      <p:sp>
        <p:nvSpPr>
          <p:cNvPr id="6" name="Slide Number Placeholder 5">
            <a:extLst>
              <a:ext uri="{FF2B5EF4-FFF2-40B4-BE49-F238E27FC236}">
                <a16:creationId xmlns:a16="http://schemas.microsoft.com/office/drawing/2014/main" id="{7CE9C569-E1A7-8178-B827-543644285846}"/>
              </a:ext>
            </a:extLst>
          </p:cNvPr>
          <p:cNvSpPr>
            <a:spLocks noGrp="1"/>
          </p:cNvSpPr>
          <p:nvPr>
            <p:ph type="sldNum" sz="quarter" idx="12"/>
          </p:nvPr>
        </p:nvSpPr>
        <p:spPr/>
        <p:txBody>
          <a:bodyPr/>
          <a:lstStyle/>
          <a:p>
            <a:fld id="{48F19E39-9933-F648-B2F3-3AC17C0DC986}" type="slidenum">
              <a:rPr lang="en-US" smtClean="0"/>
              <a:t>‹#›</a:t>
            </a:fld>
            <a:endParaRPr lang="en-US"/>
          </a:p>
        </p:txBody>
      </p:sp>
    </p:spTree>
    <p:extLst>
      <p:ext uri="{BB962C8B-B14F-4D97-AF65-F5344CB8AC3E}">
        <p14:creationId xmlns:p14="http://schemas.microsoft.com/office/powerpoint/2010/main" val="4068684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28589-55A8-4B2D-537D-2EA6A6B17EE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C8D8C3A-9276-9ABF-6996-961FC5FD6DB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1FD18D4-1B31-A6B0-D518-15E1B5D5CC79}"/>
              </a:ext>
            </a:extLst>
          </p:cNvPr>
          <p:cNvSpPr>
            <a:spLocks noGrp="1"/>
          </p:cNvSpPr>
          <p:nvPr>
            <p:ph type="dt" sz="half" idx="10"/>
          </p:nvPr>
        </p:nvSpPr>
        <p:spPr/>
        <p:txBody>
          <a:bodyPr/>
          <a:lstStyle/>
          <a:p>
            <a:fld id="{C9B4B6B2-7D13-4746-97B3-7239DAEC0C59}" type="datetime1">
              <a:rPr lang="en-US" smtClean="0"/>
              <a:t>6/21/26</a:t>
            </a:fld>
            <a:endParaRPr lang="en-US"/>
          </a:p>
        </p:txBody>
      </p:sp>
      <p:sp>
        <p:nvSpPr>
          <p:cNvPr id="5" name="Footer Placeholder 4">
            <a:extLst>
              <a:ext uri="{FF2B5EF4-FFF2-40B4-BE49-F238E27FC236}">
                <a16:creationId xmlns:a16="http://schemas.microsoft.com/office/drawing/2014/main" id="{94E13EC7-CB12-69C5-890C-A9B9DBAC4B70}"/>
              </a:ext>
            </a:extLst>
          </p:cNvPr>
          <p:cNvSpPr>
            <a:spLocks noGrp="1"/>
          </p:cNvSpPr>
          <p:nvPr>
            <p:ph type="ftr" sz="quarter" idx="11"/>
          </p:nvPr>
        </p:nvSpPr>
        <p:spPr/>
        <p:txBody>
          <a:bodyPr/>
          <a:lstStyle/>
          <a:p>
            <a:r>
              <a:rPr lang="en-US"/>
              <a:t>Sapienza University of Rome</a:t>
            </a:r>
          </a:p>
        </p:txBody>
      </p:sp>
      <p:sp>
        <p:nvSpPr>
          <p:cNvPr id="6" name="Slide Number Placeholder 5">
            <a:extLst>
              <a:ext uri="{FF2B5EF4-FFF2-40B4-BE49-F238E27FC236}">
                <a16:creationId xmlns:a16="http://schemas.microsoft.com/office/drawing/2014/main" id="{202B0C25-A597-EDEA-B562-4B6EB3360491}"/>
              </a:ext>
            </a:extLst>
          </p:cNvPr>
          <p:cNvSpPr>
            <a:spLocks noGrp="1"/>
          </p:cNvSpPr>
          <p:nvPr>
            <p:ph type="sldNum" sz="quarter" idx="12"/>
          </p:nvPr>
        </p:nvSpPr>
        <p:spPr/>
        <p:txBody>
          <a:bodyPr/>
          <a:lstStyle/>
          <a:p>
            <a:fld id="{48F19E39-9933-F648-B2F3-3AC17C0DC986}" type="slidenum">
              <a:rPr lang="en-US" smtClean="0"/>
              <a:t>‹#›</a:t>
            </a:fld>
            <a:endParaRPr lang="en-US"/>
          </a:p>
        </p:txBody>
      </p:sp>
    </p:spTree>
    <p:extLst>
      <p:ext uri="{BB962C8B-B14F-4D97-AF65-F5344CB8AC3E}">
        <p14:creationId xmlns:p14="http://schemas.microsoft.com/office/powerpoint/2010/main" val="26221634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16FE8-4D22-6768-605E-719011CBC77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27DC3C0-D65E-81BA-5F4A-E41CFFE882B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6C41ADB-1B73-7713-91A3-38DDC077E1F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E2AE9D0-E821-A243-92CF-7BA2DD02102B}"/>
              </a:ext>
            </a:extLst>
          </p:cNvPr>
          <p:cNvSpPr>
            <a:spLocks noGrp="1"/>
          </p:cNvSpPr>
          <p:nvPr>
            <p:ph type="dt" sz="half" idx="10"/>
          </p:nvPr>
        </p:nvSpPr>
        <p:spPr/>
        <p:txBody>
          <a:bodyPr/>
          <a:lstStyle/>
          <a:p>
            <a:fld id="{0BB48F2C-DA62-AB40-B5CB-43F3501FA683}" type="datetime1">
              <a:rPr lang="en-US" smtClean="0"/>
              <a:t>6/21/26</a:t>
            </a:fld>
            <a:endParaRPr lang="en-US"/>
          </a:p>
        </p:txBody>
      </p:sp>
      <p:sp>
        <p:nvSpPr>
          <p:cNvPr id="6" name="Footer Placeholder 5">
            <a:extLst>
              <a:ext uri="{FF2B5EF4-FFF2-40B4-BE49-F238E27FC236}">
                <a16:creationId xmlns:a16="http://schemas.microsoft.com/office/drawing/2014/main" id="{E4EE1C03-B9E8-FA43-1D26-4EEE16FE3C98}"/>
              </a:ext>
            </a:extLst>
          </p:cNvPr>
          <p:cNvSpPr>
            <a:spLocks noGrp="1"/>
          </p:cNvSpPr>
          <p:nvPr>
            <p:ph type="ftr" sz="quarter" idx="11"/>
          </p:nvPr>
        </p:nvSpPr>
        <p:spPr/>
        <p:txBody>
          <a:bodyPr/>
          <a:lstStyle/>
          <a:p>
            <a:r>
              <a:rPr lang="en-US"/>
              <a:t>Sapienza University of Rome</a:t>
            </a:r>
          </a:p>
        </p:txBody>
      </p:sp>
      <p:sp>
        <p:nvSpPr>
          <p:cNvPr id="7" name="Slide Number Placeholder 6">
            <a:extLst>
              <a:ext uri="{FF2B5EF4-FFF2-40B4-BE49-F238E27FC236}">
                <a16:creationId xmlns:a16="http://schemas.microsoft.com/office/drawing/2014/main" id="{111C47D1-873B-8229-66D1-8AE195EAE6CE}"/>
              </a:ext>
            </a:extLst>
          </p:cNvPr>
          <p:cNvSpPr>
            <a:spLocks noGrp="1"/>
          </p:cNvSpPr>
          <p:nvPr>
            <p:ph type="sldNum" sz="quarter" idx="12"/>
          </p:nvPr>
        </p:nvSpPr>
        <p:spPr/>
        <p:txBody>
          <a:bodyPr/>
          <a:lstStyle/>
          <a:p>
            <a:fld id="{48F19E39-9933-F648-B2F3-3AC17C0DC986}" type="slidenum">
              <a:rPr lang="en-US" smtClean="0"/>
              <a:t>‹#›</a:t>
            </a:fld>
            <a:endParaRPr lang="en-US"/>
          </a:p>
        </p:txBody>
      </p:sp>
    </p:spTree>
    <p:extLst>
      <p:ext uri="{BB962C8B-B14F-4D97-AF65-F5344CB8AC3E}">
        <p14:creationId xmlns:p14="http://schemas.microsoft.com/office/powerpoint/2010/main" val="2874021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8A01B-6CF2-2CE9-8859-6BC5C6137FF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F3628FA-E687-FEAC-5200-EC1283FF3E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E093ECC-1D4F-C58A-8461-FDB86C366DD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C6E81B4-E614-5AD7-1EE1-2EFB6D18F16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644A966-7DE4-582F-AE48-DF1A1CEAB90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EEB33C7-9053-600F-7458-B39589E9DE0D}"/>
              </a:ext>
            </a:extLst>
          </p:cNvPr>
          <p:cNvSpPr>
            <a:spLocks noGrp="1"/>
          </p:cNvSpPr>
          <p:nvPr>
            <p:ph type="dt" sz="half" idx="10"/>
          </p:nvPr>
        </p:nvSpPr>
        <p:spPr/>
        <p:txBody>
          <a:bodyPr/>
          <a:lstStyle/>
          <a:p>
            <a:fld id="{E9D5FA40-FE31-A749-A407-5160762ED597}" type="datetime1">
              <a:rPr lang="en-US" smtClean="0"/>
              <a:t>6/21/26</a:t>
            </a:fld>
            <a:endParaRPr lang="en-US"/>
          </a:p>
        </p:txBody>
      </p:sp>
      <p:sp>
        <p:nvSpPr>
          <p:cNvPr id="8" name="Footer Placeholder 7">
            <a:extLst>
              <a:ext uri="{FF2B5EF4-FFF2-40B4-BE49-F238E27FC236}">
                <a16:creationId xmlns:a16="http://schemas.microsoft.com/office/drawing/2014/main" id="{BD924CAA-DD4D-DD7F-B9D0-EDB9C4456331}"/>
              </a:ext>
            </a:extLst>
          </p:cNvPr>
          <p:cNvSpPr>
            <a:spLocks noGrp="1"/>
          </p:cNvSpPr>
          <p:nvPr>
            <p:ph type="ftr" sz="quarter" idx="11"/>
          </p:nvPr>
        </p:nvSpPr>
        <p:spPr/>
        <p:txBody>
          <a:bodyPr/>
          <a:lstStyle/>
          <a:p>
            <a:r>
              <a:rPr lang="en-US"/>
              <a:t>Sapienza University of Rome</a:t>
            </a:r>
          </a:p>
        </p:txBody>
      </p:sp>
      <p:sp>
        <p:nvSpPr>
          <p:cNvPr id="9" name="Slide Number Placeholder 8">
            <a:extLst>
              <a:ext uri="{FF2B5EF4-FFF2-40B4-BE49-F238E27FC236}">
                <a16:creationId xmlns:a16="http://schemas.microsoft.com/office/drawing/2014/main" id="{778435DE-8D3F-F113-93C2-67B5E3717E8B}"/>
              </a:ext>
            </a:extLst>
          </p:cNvPr>
          <p:cNvSpPr>
            <a:spLocks noGrp="1"/>
          </p:cNvSpPr>
          <p:nvPr>
            <p:ph type="sldNum" sz="quarter" idx="12"/>
          </p:nvPr>
        </p:nvSpPr>
        <p:spPr/>
        <p:txBody>
          <a:bodyPr/>
          <a:lstStyle/>
          <a:p>
            <a:fld id="{48F19E39-9933-F648-B2F3-3AC17C0DC986}" type="slidenum">
              <a:rPr lang="en-US" smtClean="0"/>
              <a:t>‹#›</a:t>
            </a:fld>
            <a:endParaRPr lang="en-US"/>
          </a:p>
        </p:txBody>
      </p:sp>
    </p:spTree>
    <p:extLst>
      <p:ext uri="{BB962C8B-B14F-4D97-AF65-F5344CB8AC3E}">
        <p14:creationId xmlns:p14="http://schemas.microsoft.com/office/powerpoint/2010/main" val="30316383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91BF0-5B82-1665-F951-384202291E8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0D6866-CB71-C42D-B274-BBEBAB15EB37}"/>
              </a:ext>
            </a:extLst>
          </p:cNvPr>
          <p:cNvSpPr>
            <a:spLocks noGrp="1"/>
          </p:cNvSpPr>
          <p:nvPr>
            <p:ph type="dt" sz="half" idx="10"/>
          </p:nvPr>
        </p:nvSpPr>
        <p:spPr/>
        <p:txBody>
          <a:bodyPr/>
          <a:lstStyle/>
          <a:p>
            <a:fld id="{72C7143F-B2B1-FD4E-A03F-2D48B4C4756E}" type="datetime1">
              <a:rPr lang="en-US" smtClean="0"/>
              <a:t>6/21/26</a:t>
            </a:fld>
            <a:endParaRPr lang="en-US"/>
          </a:p>
        </p:txBody>
      </p:sp>
      <p:sp>
        <p:nvSpPr>
          <p:cNvPr id="4" name="Footer Placeholder 3">
            <a:extLst>
              <a:ext uri="{FF2B5EF4-FFF2-40B4-BE49-F238E27FC236}">
                <a16:creationId xmlns:a16="http://schemas.microsoft.com/office/drawing/2014/main" id="{E41F4385-19B3-18BF-14FC-DC423F456870}"/>
              </a:ext>
            </a:extLst>
          </p:cNvPr>
          <p:cNvSpPr>
            <a:spLocks noGrp="1"/>
          </p:cNvSpPr>
          <p:nvPr>
            <p:ph type="ftr" sz="quarter" idx="11"/>
          </p:nvPr>
        </p:nvSpPr>
        <p:spPr/>
        <p:txBody>
          <a:bodyPr/>
          <a:lstStyle/>
          <a:p>
            <a:r>
              <a:rPr lang="en-US"/>
              <a:t>Sapienza University of Rome</a:t>
            </a:r>
          </a:p>
        </p:txBody>
      </p:sp>
      <p:sp>
        <p:nvSpPr>
          <p:cNvPr id="5" name="Slide Number Placeholder 4">
            <a:extLst>
              <a:ext uri="{FF2B5EF4-FFF2-40B4-BE49-F238E27FC236}">
                <a16:creationId xmlns:a16="http://schemas.microsoft.com/office/drawing/2014/main" id="{CF64C7DB-BEB2-D1FD-A36F-D0D6EDC3BF94}"/>
              </a:ext>
            </a:extLst>
          </p:cNvPr>
          <p:cNvSpPr>
            <a:spLocks noGrp="1"/>
          </p:cNvSpPr>
          <p:nvPr>
            <p:ph type="sldNum" sz="quarter" idx="12"/>
          </p:nvPr>
        </p:nvSpPr>
        <p:spPr/>
        <p:txBody>
          <a:bodyPr/>
          <a:lstStyle/>
          <a:p>
            <a:fld id="{48F19E39-9933-F648-B2F3-3AC17C0DC986}" type="slidenum">
              <a:rPr lang="en-US" smtClean="0"/>
              <a:t>‹#›</a:t>
            </a:fld>
            <a:endParaRPr lang="en-US"/>
          </a:p>
        </p:txBody>
      </p:sp>
    </p:spTree>
    <p:extLst>
      <p:ext uri="{BB962C8B-B14F-4D97-AF65-F5344CB8AC3E}">
        <p14:creationId xmlns:p14="http://schemas.microsoft.com/office/powerpoint/2010/main" val="34703549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1D84C01-DF2D-3EEA-5595-767CCCD3E1F3}"/>
              </a:ext>
            </a:extLst>
          </p:cNvPr>
          <p:cNvSpPr>
            <a:spLocks noGrp="1"/>
          </p:cNvSpPr>
          <p:nvPr>
            <p:ph type="dt" sz="half" idx="10"/>
          </p:nvPr>
        </p:nvSpPr>
        <p:spPr/>
        <p:txBody>
          <a:bodyPr/>
          <a:lstStyle/>
          <a:p>
            <a:fld id="{D6D38C82-3D04-8649-87B1-E37B3CC6F257}" type="datetime1">
              <a:rPr lang="en-US" smtClean="0"/>
              <a:t>6/21/26</a:t>
            </a:fld>
            <a:endParaRPr lang="en-US"/>
          </a:p>
        </p:txBody>
      </p:sp>
      <p:sp>
        <p:nvSpPr>
          <p:cNvPr id="3" name="Footer Placeholder 2">
            <a:extLst>
              <a:ext uri="{FF2B5EF4-FFF2-40B4-BE49-F238E27FC236}">
                <a16:creationId xmlns:a16="http://schemas.microsoft.com/office/drawing/2014/main" id="{6783BB7A-86B1-1EB3-1622-B26475CCDC6B}"/>
              </a:ext>
            </a:extLst>
          </p:cNvPr>
          <p:cNvSpPr>
            <a:spLocks noGrp="1"/>
          </p:cNvSpPr>
          <p:nvPr>
            <p:ph type="ftr" sz="quarter" idx="11"/>
          </p:nvPr>
        </p:nvSpPr>
        <p:spPr/>
        <p:txBody>
          <a:bodyPr/>
          <a:lstStyle/>
          <a:p>
            <a:r>
              <a:rPr lang="en-US"/>
              <a:t>Sapienza University of Rome</a:t>
            </a:r>
          </a:p>
        </p:txBody>
      </p:sp>
      <p:sp>
        <p:nvSpPr>
          <p:cNvPr id="4" name="Slide Number Placeholder 3">
            <a:extLst>
              <a:ext uri="{FF2B5EF4-FFF2-40B4-BE49-F238E27FC236}">
                <a16:creationId xmlns:a16="http://schemas.microsoft.com/office/drawing/2014/main" id="{87EA820C-ECA5-EEF7-8673-A46C3D4CB9AF}"/>
              </a:ext>
            </a:extLst>
          </p:cNvPr>
          <p:cNvSpPr>
            <a:spLocks noGrp="1"/>
          </p:cNvSpPr>
          <p:nvPr>
            <p:ph type="sldNum" sz="quarter" idx="12"/>
          </p:nvPr>
        </p:nvSpPr>
        <p:spPr/>
        <p:txBody>
          <a:bodyPr/>
          <a:lstStyle/>
          <a:p>
            <a:fld id="{48F19E39-9933-F648-B2F3-3AC17C0DC986}" type="slidenum">
              <a:rPr lang="en-US" smtClean="0"/>
              <a:t>‹#›</a:t>
            </a:fld>
            <a:endParaRPr lang="en-US"/>
          </a:p>
        </p:txBody>
      </p:sp>
    </p:spTree>
    <p:extLst>
      <p:ext uri="{BB962C8B-B14F-4D97-AF65-F5344CB8AC3E}">
        <p14:creationId xmlns:p14="http://schemas.microsoft.com/office/powerpoint/2010/main" val="18823111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173DA-2A54-FCA0-C360-8554CF703E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AD2AFF9-8CA5-CD7D-DEEE-195EFD05A2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73B1DF3-AF68-D52B-182A-D9ABF9A6A9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C026D9-3021-FAAF-C413-30A5A52C79BD}"/>
              </a:ext>
            </a:extLst>
          </p:cNvPr>
          <p:cNvSpPr>
            <a:spLocks noGrp="1"/>
          </p:cNvSpPr>
          <p:nvPr>
            <p:ph type="dt" sz="half" idx="10"/>
          </p:nvPr>
        </p:nvSpPr>
        <p:spPr/>
        <p:txBody>
          <a:bodyPr/>
          <a:lstStyle/>
          <a:p>
            <a:fld id="{B5A2484E-3F4D-204D-93DF-E49FAFB9DF97}" type="datetime1">
              <a:rPr lang="en-US" smtClean="0"/>
              <a:t>6/21/26</a:t>
            </a:fld>
            <a:endParaRPr lang="en-US"/>
          </a:p>
        </p:txBody>
      </p:sp>
      <p:sp>
        <p:nvSpPr>
          <p:cNvPr id="6" name="Footer Placeholder 5">
            <a:extLst>
              <a:ext uri="{FF2B5EF4-FFF2-40B4-BE49-F238E27FC236}">
                <a16:creationId xmlns:a16="http://schemas.microsoft.com/office/drawing/2014/main" id="{C88B5962-833D-57DF-2059-51B30BCAD60D}"/>
              </a:ext>
            </a:extLst>
          </p:cNvPr>
          <p:cNvSpPr>
            <a:spLocks noGrp="1"/>
          </p:cNvSpPr>
          <p:nvPr>
            <p:ph type="ftr" sz="quarter" idx="11"/>
          </p:nvPr>
        </p:nvSpPr>
        <p:spPr/>
        <p:txBody>
          <a:bodyPr/>
          <a:lstStyle/>
          <a:p>
            <a:r>
              <a:rPr lang="en-US"/>
              <a:t>Sapienza University of Rome</a:t>
            </a:r>
          </a:p>
        </p:txBody>
      </p:sp>
      <p:sp>
        <p:nvSpPr>
          <p:cNvPr id="7" name="Slide Number Placeholder 6">
            <a:extLst>
              <a:ext uri="{FF2B5EF4-FFF2-40B4-BE49-F238E27FC236}">
                <a16:creationId xmlns:a16="http://schemas.microsoft.com/office/drawing/2014/main" id="{90EA2546-9567-4CBF-9E26-EDEA3851B317}"/>
              </a:ext>
            </a:extLst>
          </p:cNvPr>
          <p:cNvSpPr>
            <a:spLocks noGrp="1"/>
          </p:cNvSpPr>
          <p:nvPr>
            <p:ph type="sldNum" sz="quarter" idx="12"/>
          </p:nvPr>
        </p:nvSpPr>
        <p:spPr/>
        <p:txBody>
          <a:bodyPr/>
          <a:lstStyle/>
          <a:p>
            <a:fld id="{48F19E39-9933-F648-B2F3-3AC17C0DC986}" type="slidenum">
              <a:rPr lang="en-US" smtClean="0"/>
              <a:t>‹#›</a:t>
            </a:fld>
            <a:endParaRPr lang="en-US"/>
          </a:p>
        </p:txBody>
      </p:sp>
    </p:spTree>
    <p:extLst>
      <p:ext uri="{BB962C8B-B14F-4D97-AF65-F5344CB8AC3E}">
        <p14:creationId xmlns:p14="http://schemas.microsoft.com/office/powerpoint/2010/main" val="4057760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4F1B2-480F-9C52-FD1A-CAF938BCA5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C852BC0-7818-613C-5BCB-E7B4F33B30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D1C3A47-8405-1622-FAEB-23C5478B90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22C07F-B333-BE61-1D86-53CBC15D1C0F}"/>
              </a:ext>
            </a:extLst>
          </p:cNvPr>
          <p:cNvSpPr>
            <a:spLocks noGrp="1"/>
          </p:cNvSpPr>
          <p:nvPr>
            <p:ph type="dt" sz="half" idx="10"/>
          </p:nvPr>
        </p:nvSpPr>
        <p:spPr/>
        <p:txBody>
          <a:bodyPr/>
          <a:lstStyle/>
          <a:p>
            <a:fld id="{AD472E14-530C-BB46-8E59-461E234CEAFE}" type="datetime1">
              <a:rPr lang="en-US" smtClean="0"/>
              <a:t>6/21/26</a:t>
            </a:fld>
            <a:endParaRPr lang="en-US"/>
          </a:p>
        </p:txBody>
      </p:sp>
      <p:sp>
        <p:nvSpPr>
          <p:cNvPr id="6" name="Footer Placeholder 5">
            <a:extLst>
              <a:ext uri="{FF2B5EF4-FFF2-40B4-BE49-F238E27FC236}">
                <a16:creationId xmlns:a16="http://schemas.microsoft.com/office/drawing/2014/main" id="{1C522695-CC4C-B1E9-01A6-5DF84153BA1E}"/>
              </a:ext>
            </a:extLst>
          </p:cNvPr>
          <p:cNvSpPr>
            <a:spLocks noGrp="1"/>
          </p:cNvSpPr>
          <p:nvPr>
            <p:ph type="ftr" sz="quarter" idx="11"/>
          </p:nvPr>
        </p:nvSpPr>
        <p:spPr/>
        <p:txBody>
          <a:bodyPr/>
          <a:lstStyle/>
          <a:p>
            <a:r>
              <a:rPr lang="en-US"/>
              <a:t>Sapienza University of Rome</a:t>
            </a:r>
          </a:p>
        </p:txBody>
      </p:sp>
      <p:sp>
        <p:nvSpPr>
          <p:cNvPr id="7" name="Slide Number Placeholder 6">
            <a:extLst>
              <a:ext uri="{FF2B5EF4-FFF2-40B4-BE49-F238E27FC236}">
                <a16:creationId xmlns:a16="http://schemas.microsoft.com/office/drawing/2014/main" id="{1A4CDD63-E81C-A76C-CCB4-F3A1B81D07EC}"/>
              </a:ext>
            </a:extLst>
          </p:cNvPr>
          <p:cNvSpPr>
            <a:spLocks noGrp="1"/>
          </p:cNvSpPr>
          <p:nvPr>
            <p:ph type="sldNum" sz="quarter" idx="12"/>
          </p:nvPr>
        </p:nvSpPr>
        <p:spPr/>
        <p:txBody>
          <a:bodyPr/>
          <a:lstStyle/>
          <a:p>
            <a:fld id="{48F19E39-9933-F648-B2F3-3AC17C0DC986}" type="slidenum">
              <a:rPr lang="en-US" smtClean="0"/>
              <a:t>‹#›</a:t>
            </a:fld>
            <a:endParaRPr lang="en-US"/>
          </a:p>
        </p:txBody>
      </p:sp>
    </p:spTree>
    <p:extLst>
      <p:ext uri="{BB962C8B-B14F-4D97-AF65-F5344CB8AC3E}">
        <p14:creationId xmlns:p14="http://schemas.microsoft.com/office/powerpoint/2010/main" val="2817108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F8ABC-9AB7-5DB7-A86C-66A6BAB89A2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DD59D7A-56ED-A78B-A34A-051E288772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CE3C8D-D31D-0ACC-FC8F-AD641C6AEF7D}"/>
              </a:ext>
            </a:extLst>
          </p:cNvPr>
          <p:cNvSpPr>
            <a:spLocks noGrp="1"/>
          </p:cNvSpPr>
          <p:nvPr>
            <p:ph type="dt" sz="half" idx="10"/>
          </p:nvPr>
        </p:nvSpPr>
        <p:spPr/>
        <p:txBody>
          <a:bodyPr/>
          <a:lstStyle/>
          <a:p>
            <a:fld id="{E30EFC2B-6928-3945-94D4-8A6718977E52}" type="datetime1">
              <a:rPr lang="en-US" smtClean="0"/>
              <a:t>6/21/26</a:t>
            </a:fld>
            <a:endParaRPr lang="en-US"/>
          </a:p>
        </p:txBody>
      </p:sp>
      <p:sp>
        <p:nvSpPr>
          <p:cNvPr id="5" name="Footer Placeholder 4">
            <a:extLst>
              <a:ext uri="{FF2B5EF4-FFF2-40B4-BE49-F238E27FC236}">
                <a16:creationId xmlns:a16="http://schemas.microsoft.com/office/drawing/2014/main" id="{26E797D8-ABD3-BD50-0F4B-93E857CD3EAC}"/>
              </a:ext>
            </a:extLst>
          </p:cNvPr>
          <p:cNvSpPr>
            <a:spLocks noGrp="1"/>
          </p:cNvSpPr>
          <p:nvPr>
            <p:ph type="ftr" sz="quarter" idx="11"/>
          </p:nvPr>
        </p:nvSpPr>
        <p:spPr/>
        <p:txBody>
          <a:bodyPr/>
          <a:lstStyle/>
          <a:p>
            <a:r>
              <a:rPr lang="en-US"/>
              <a:t>Sapienza University of Rome</a:t>
            </a:r>
          </a:p>
        </p:txBody>
      </p:sp>
      <p:sp>
        <p:nvSpPr>
          <p:cNvPr id="6" name="Slide Number Placeholder 5">
            <a:extLst>
              <a:ext uri="{FF2B5EF4-FFF2-40B4-BE49-F238E27FC236}">
                <a16:creationId xmlns:a16="http://schemas.microsoft.com/office/drawing/2014/main" id="{0D26C04E-D5D5-B445-53EA-21D28A1A9C28}"/>
              </a:ext>
            </a:extLst>
          </p:cNvPr>
          <p:cNvSpPr>
            <a:spLocks noGrp="1"/>
          </p:cNvSpPr>
          <p:nvPr>
            <p:ph type="sldNum" sz="quarter" idx="12"/>
          </p:nvPr>
        </p:nvSpPr>
        <p:spPr/>
        <p:txBody>
          <a:bodyPr/>
          <a:lstStyle/>
          <a:p>
            <a:fld id="{48F19E39-9933-F648-B2F3-3AC17C0DC986}" type="slidenum">
              <a:rPr lang="en-US" smtClean="0"/>
              <a:t>‹#›</a:t>
            </a:fld>
            <a:endParaRPr lang="en-US"/>
          </a:p>
        </p:txBody>
      </p:sp>
    </p:spTree>
    <p:extLst>
      <p:ext uri="{BB962C8B-B14F-4D97-AF65-F5344CB8AC3E}">
        <p14:creationId xmlns:p14="http://schemas.microsoft.com/office/powerpoint/2010/main" val="30754442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5BAC7F4-937D-BCD4-A638-EAED628EFBB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4CCD961-7227-B3C5-342E-D0777F4E91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6551EF-BA91-9DC2-B373-C35CD03B6DA2}"/>
              </a:ext>
            </a:extLst>
          </p:cNvPr>
          <p:cNvSpPr>
            <a:spLocks noGrp="1"/>
          </p:cNvSpPr>
          <p:nvPr>
            <p:ph type="dt" sz="half" idx="10"/>
          </p:nvPr>
        </p:nvSpPr>
        <p:spPr/>
        <p:txBody>
          <a:bodyPr/>
          <a:lstStyle/>
          <a:p>
            <a:fld id="{497B982F-F446-394C-BCD8-D0F6884AB04A}" type="datetime1">
              <a:rPr lang="en-US" smtClean="0"/>
              <a:t>6/21/26</a:t>
            </a:fld>
            <a:endParaRPr lang="en-US"/>
          </a:p>
        </p:txBody>
      </p:sp>
      <p:sp>
        <p:nvSpPr>
          <p:cNvPr id="5" name="Footer Placeholder 4">
            <a:extLst>
              <a:ext uri="{FF2B5EF4-FFF2-40B4-BE49-F238E27FC236}">
                <a16:creationId xmlns:a16="http://schemas.microsoft.com/office/drawing/2014/main" id="{CE8C42EA-F6DC-2048-71B6-A55883311EDE}"/>
              </a:ext>
            </a:extLst>
          </p:cNvPr>
          <p:cNvSpPr>
            <a:spLocks noGrp="1"/>
          </p:cNvSpPr>
          <p:nvPr>
            <p:ph type="ftr" sz="quarter" idx="11"/>
          </p:nvPr>
        </p:nvSpPr>
        <p:spPr/>
        <p:txBody>
          <a:bodyPr/>
          <a:lstStyle/>
          <a:p>
            <a:r>
              <a:rPr lang="en-US"/>
              <a:t>Sapienza University of Rome</a:t>
            </a:r>
          </a:p>
        </p:txBody>
      </p:sp>
      <p:sp>
        <p:nvSpPr>
          <p:cNvPr id="6" name="Slide Number Placeholder 5">
            <a:extLst>
              <a:ext uri="{FF2B5EF4-FFF2-40B4-BE49-F238E27FC236}">
                <a16:creationId xmlns:a16="http://schemas.microsoft.com/office/drawing/2014/main" id="{D79E56BC-50D5-636D-477A-9B86D0E922AB}"/>
              </a:ext>
            </a:extLst>
          </p:cNvPr>
          <p:cNvSpPr>
            <a:spLocks noGrp="1"/>
          </p:cNvSpPr>
          <p:nvPr>
            <p:ph type="sldNum" sz="quarter" idx="12"/>
          </p:nvPr>
        </p:nvSpPr>
        <p:spPr/>
        <p:txBody>
          <a:bodyPr/>
          <a:lstStyle/>
          <a:p>
            <a:fld id="{48F19E39-9933-F648-B2F3-3AC17C0DC986}" type="slidenum">
              <a:rPr lang="en-US" smtClean="0"/>
              <a:t>‹#›</a:t>
            </a:fld>
            <a:endParaRPr lang="en-US"/>
          </a:p>
        </p:txBody>
      </p:sp>
    </p:spTree>
    <p:extLst>
      <p:ext uri="{BB962C8B-B14F-4D97-AF65-F5344CB8AC3E}">
        <p14:creationId xmlns:p14="http://schemas.microsoft.com/office/powerpoint/2010/main" val="30164724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C26D7D-CED8-F7E2-6C98-BEFB8A4363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20271B9-5CFD-DB35-B320-9D25AC83DC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4C3B05-8623-04ED-9CDC-21C9B0B47A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BEFF2B-B0F7-AA47-9437-9D2D75C12C3B}" type="datetime1">
              <a:rPr lang="en-US" smtClean="0"/>
              <a:t>6/21/26</a:t>
            </a:fld>
            <a:endParaRPr lang="en-US"/>
          </a:p>
        </p:txBody>
      </p:sp>
      <p:sp>
        <p:nvSpPr>
          <p:cNvPr id="5" name="Footer Placeholder 4">
            <a:extLst>
              <a:ext uri="{FF2B5EF4-FFF2-40B4-BE49-F238E27FC236}">
                <a16:creationId xmlns:a16="http://schemas.microsoft.com/office/drawing/2014/main" id="{3C54498D-CC66-7554-D838-3FD45332DD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Sapienza University of Rome</a:t>
            </a:r>
          </a:p>
        </p:txBody>
      </p:sp>
      <p:sp>
        <p:nvSpPr>
          <p:cNvPr id="6" name="Slide Number Placeholder 5">
            <a:extLst>
              <a:ext uri="{FF2B5EF4-FFF2-40B4-BE49-F238E27FC236}">
                <a16:creationId xmlns:a16="http://schemas.microsoft.com/office/drawing/2014/main" id="{441A3BC8-96CB-4936-5AAB-65888F0452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19E39-9933-F648-B2F3-3AC17C0DC986}" type="slidenum">
              <a:rPr lang="en-US" smtClean="0"/>
              <a:t>‹#›</a:t>
            </a:fld>
            <a:endParaRPr lang="en-US"/>
          </a:p>
        </p:txBody>
      </p:sp>
    </p:spTree>
    <p:extLst>
      <p:ext uri="{BB962C8B-B14F-4D97-AF65-F5344CB8AC3E}">
        <p14:creationId xmlns:p14="http://schemas.microsoft.com/office/powerpoint/2010/main" val="8041937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28.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1.jpe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5" descr="Fondino">
            <a:extLst>
              <a:ext uri="{FF2B5EF4-FFF2-40B4-BE49-F238E27FC236}">
                <a16:creationId xmlns:a16="http://schemas.microsoft.com/office/drawing/2014/main" id="{B609E531-63FD-6702-EB99-A8B360E7BA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122718"/>
            <a:ext cx="12192000" cy="1738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13" descr="logo +marchio">
            <a:extLst>
              <a:ext uri="{FF2B5EF4-FFF2-40B4-BE49-F238E27FC236}">
                <a16:creationId xmlns:a16="http://schemas.microsoft.com/office/drawing/2014/main" id="{93857B77-7E9D-09F1-8D44-8DABE74E888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5392" t="19500" r="55731" b="8712"/>
          <a:stretch/>
        </p:blipFill>
        <p:spPr bwMode="auto">
          <a:xfrm>
            <a:off x="1497204" y="5589722"/>
            <a:ext cx="1726443" cy="822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E8822AD0-7E03-F7CA-5FCE-05C7A5AD190C}"/>
              </a:ext>
            </a:extLst>
          </p:cNvPr>
          <p:cNvSpPr txBox="1"/>
          <p:nvPr/>
        </p:nvSpPr>
        <p:spPr>
          <a:xfrm>
            <a:off x="596348" y="926308"/>
            <a:ext cx="10883348" cy="707886"/>
          </a:xfrm>
          <a:prstGeom prst="rect">
            <a:avLst/>
          </a:prstGeom>
          <a:noFill/>
        </p:spPr>
        <p:txBody>
          <a:bodyPr wrap="square" rtlCol="0">
            <a:spAutoFit/>
          </a:bodyPr>
          <a:lstStyle/>
          <a:p>
            <a:r>
              <a:rPr lang="en-US" sz="4000" b="1" dirty="0">
                <a:solidFill>
                  <a:srgbClr val="822334"/>
                </a:solidFill>
                <a:latin typeface="Inter" panose="02000503000000020004" pitchFamily="2" charset="0"/>
                <a:ea typeface="Inter" panose="02000503000000020004" pitchFamily="2" charset="0"/>
                <a:cs typeface="Inter" panose="02000503000000020004" pitchFamily="2" charset="0"/>
              </a:rPr>
              <a:t>CINECA AGENTIC PLATFORM</a:t>
            </a:r>
            <a:endParaRPr lang="en-US" sz="4000" dirty="0">
              <a:solidFill>
                <a:srgbClr val="822334"/>
              </a:solidFill>
              <a:latin typeface="Inter" panose="02000503000000020004" pitchFamily="2" charset="0"/>
              <a:ea typeface="Inter" panose="02000503000000020004" pitchFamily="2" charset="0"/>
              <a:cs typeface="Inter" panose="02000503000000020004" pitchFamily="2" charset="0"/>
            </a:endParaRPr>
          </a:p>
        </p:txBody>
      </p:sp>
      <p:sp>
        <p:nvSpPr>
          <p:cNvPr id="8" name="TextBox 7">
            <a:extLst>
              <a:ext uri="{FF2B5EF4-FFF2-40B4-BE49-F238E27FC236}">
                <a16:creationId xmlns:a16="http://schemas.microsoft.com/office/drawing/2014/main" id="{D332E4FC-2896-9B56-6749-272BA4E11690}"/>
              </a:ext>
            </a:extLst>
          </p:cNvPr>
          <p:cNvSpPr txBox="1"/>
          <p:nvPr/>
        </p:nvSpPr>
        <p:spPr>
          <a:xfrm>
            <a:off x="596348" y="2326237"/>
            <a:ext cx="3260036" cy="2062103"/>
          </a:xfrm>
          <a:prstGeom prst="rect">
            <a:avLst/>
          </a:prstGeom>
          <a:noFill/>
        </p:spPr>
        <p:txBody>
          <a:bodyPr wrap="square" rtlCol="0">
            <a:spAutoFit/>
          </a:bodyPr>
          <a:lstStyle/>
          <a:p>
            <a:r>
              <a:rPr lang="en-US" sz="1600" b="1" dirty="0">
                <a:latin typeface="Inter" panose="02000503000000020004" pitchFamily="2" charset="0"/>
                <a:ea typeface="Inter" panose="02000503000000020004" pitchFamily="2" charset="0"/>
                <a:cs typeface="Inter" panose="02000503000000020004" pitchFamily="2" charset="0"/>
              </a:rPr>
              <a:t>University: </a:t>
            </a:r>
          </a:p>
          <a:p>
            <a:r>
              <a:rPr lang="en-US" sz="1600" dirty="0">
                <a:latin typeface="Inter" panose="02000503000000020004" pitchFamily="2" charset="0"/>
                <a:ea typeface="Inter" panose="02000503000000020004" pitchFamily="2" charset="0"/>
                <a:cs typeface="Inter" panose="02000503000000020004" pitchFamily="2" charset="0"/>
              </a:rPr>
              <a:t>Sapienza University of Rome</a:t>
            </a:r>
          </a:p>
          <a:p>
            <a:endParaRPr lang="en-US" sz="1600" dirty="0">
              <a:latin typeface="Inter" panose="02000503000000020004" pitchFamily="2" charset="0"/>
              <a:ea typeface="Inter" panose="02000503000000020004" pitchFamily="2" charset="0"/>
              <a:cs typeface="Inter" panose="02000503000000020004" pitchFamily="2" charset="0"/>
            </a:endParaRPr>
          </a:p>
          <a:p>
            <a:r>
              <a:rPr lang="en-US" sz="1600" b="1" dirty="0">
                <a:latin typeface="Inter" panose="02000503000000020004" pitchFamily="2" charset="0"/>
                <a:ea typeface="Inter" panose="02000503000000020004" pitchFamily="2" charset="0"/>
                <a:cs typeface="Inter" panose="02000503000000020004" pitchFamily="2" charset="0"/>
              </a:rPr>
              <a:t>Academic Year: </a:t>
            </a:r>
          </a:p>
          <a:p>
            <a:r>
              <a:rPr lang="en-US" sz="1600" dirty="0">
                <a:latin typeface="Inter" panose="02000503000000020004" pitchFamily="2" charset="0"/>
                <a:ea typeface="Inter" panose="02000503000000020004" pitchFamily="2" charset="0"/>
                <a:cs typeface="Inter" panose="02000503000000020004" pitchFamily="2" charset="0"/>
              </a:rPr>
              <a:t>2025/2026</a:t>
            </a:r>
          </a:p>
          <a:p>
            <a:endParaRPr lang="en-US" sz="1600" dirty="0">
              <a:latin typeface="Inter" panose="02000503000000020004" pitchFamily="2" charset="0"/>
              <a:ea typeface="Inter" panose="02000503000000020004" pitchFamily="2" charset="0"/>
              <a:cs typeface="Inter" panose="02000503000000020004" pitchFamily="2" charset="0"/>
            </a:endParaRPr>
          </a:p>
          <a:p>
            <a:r>
              <a:rPr lang="en-US" sz="1600" b="1" dirty="0">
                <a:latin typeface="Inter" panose="02000503000000020004" pitchFamily="2" charset="0"/>
                <a:ea typeface="Inter" panose="02000503000000020004" pitchFamily="2" charset="0"/>
                <a:cs typeface="Inter" panose="02000503000000020004" pitchFamily="2" charset="0"/>
              </a:rPr>
              <a:t>Author: </a:t>
            </a:r>
          </a:p>
          <a:p>
            <a:r>
              <a:rPr lang="en-US" sz="1600" dirty="0">
                <a:latin typeface="Inter" panose="02000503000000020004" pitchFamily="2" charset="0"/>
                <a:ea typeface="Inter" panose="02000503000000020004" pitchFamily="2" charset="0"/>
                <a:cs typeface="Inter" panose="02000503000000020004" pitchFamily="2" charset="0"/>
              </a:rPr>
              <a:t>Arman Feili</a:t>
            </a:r>
          </a:p>
        </p:txBody>
      </p:sp>
      <p:sp>
        <p:nvSpPr>
          <p:cNvPr id="9" name="CasellaDiTesto 1">
            <a:extLst>
              <a:ext uri="{FF2B5EF4-FFF2-40B4-BE49-F238E27FC236}">
                <a16:creationId xmlns:a16="http://schemas.microsoft.com/office/drawing/2014/main" id="{E9CB3607-E574-4BB8-80A3-1648106621F9}"/>
              </a:ext>
            </a:extLst>
          </p:cNvPr>
          <p:cNvSpPr txBox="1">
            <a:spLocks noChangeArrowheads="1"/>
          </p:cNvSpPr>
          <p:nvPr/>
        </p:nvSpPr>
        <p:spPr bwMode="auto">
          <a:xfrm>
            <a:off x="3568464" y="5607660"/>
            <a:ext cx="4821383"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822433"/>
              </a:buClr>
              <a:buChar char="•"/>
              <a:defRPr sz="24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har char="–"/>
              <a:defRPr sz="20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har char="•"/>
              <a:defRPr sz="16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har char="–"/>
              <a:defRPr sz="14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9pPr>
          </a:lstStyle>
          <a:p>
            <a:pPr algn="just">
              <a:spcBef>
                <a:spcPct val="0"/>
              </a:spcBef>
              <a:buClrTx/>
              <a:buFontTx/>
              <a:buNone/>
            </a:pPr>
            <a:r>
              <a:rPr lang="en-US" sz="1000" dirty="0">
                <a:solidFill>
                  <a:schemeClr val="bg1"/>
                </a:solidFill>
              </a:rPr>
              <a:t>All rights relating to this teaching material and its contents are reserved by Sapienza and its authors (or teachers who produced it). Personal use of the same by the student for study purposes is permitted. Its dissemination, duplication, assignment, transmission, distribution to third parties or to the public is absolutely prohibited under penalty of the sanctions applicable by law.</a:t>
            </a:r>
            <a:endParaRPr lang="it-IT" altLang="it-IT" sz="1000" dirty="0">
              <a:solidFill>
                <a:schemeClr val="bg1"/>
              </a:solidFill>
            </a:endParaRPr>
          </a:p>
        </p:txBody>
      </p:sp>
      <p:sp>
        <p:nvSpPr>
          <p:cNvPr id="3" name="TextBox 2">
            <a:extLst>
              <a:ext uri="{FF2B5EF4-FFF2-40B4-BE49-F238E27FC236}">
                <a16:creationId xmlns:a16="http://schemas.microsoft.com/office/drawing/2014/main" id="{4BB9E0F2-E6EC-CB8E-AAA6-E687219EE315}"/>
              </a:ext>
            </a:extLst>
          </p:cNvPr>
          <p:cNvSpPr txBox="1"/>
          <p:nvPr/>
        </p:nvSpPr>
        <p:spPr>
          <a:xfrm>
            <a:off x="4002006" y="2321835"/>
            <a:ext cx="6260493" cy="2308324"/>
          </a:xfrm>
          <a:prstGeom prst="rect">
            <a:avLst/>
          </a:prstGeom>
          <a:noFill/>
        </p:spPr>
        <p:txBody>
          <a:bodyPr wrap="square" rtlCol="0">
            <a:spAutoFit/>
          </a:bodyPr>
          <a:lstStyle/>
          <a:p>
            <a:r>
              <a:rPr lang="en-US" sz="1600" b="1" dirty="0">
                <a:latin typeface="Inter" panose="02000503000000020004" pitchFamily="2" charset="0"/>
                <a:ea typeface="Inter" panose="02000503000000020004" pitchFamily="2" charset="0"/>
                <a:cs typeface="Inter" panose="02000503000000020004" pitchFamily="2" charset="0"/>
              </a:rPr>
              <a:t>Department:</a:t>
            </a:r>
          </a:p>
          <a:p>
            <a:r>
              <a:rPr lang="en-US" sz="1600" dirty="0">
                <a:latin typeface="Inter" panose="02000503000000020004" pitchFamily="2" charset="0"/>
                <a:ea typeface="Inter" panose="02000503000000020004" pitchFamily="2" charset="0"/>
                <a:cs typeface="Inter" panose="02000503000000020004" pitchFamily="2" charset="0"/>
              </a:rPr>
              <a:t>Information Engineering, Electronics and Telecommunications</a:t>
            </a:r>
          </a:p>
          <a:p>
            <a:endParaRPr lang="en-US" sz="1600" dirty="0">
              <a:latin typeface="Inter" panose="02000503000000020004" pitchFamily="2" charset="0"/>
              <a:ea typeface="Inter" panose="02000503000000020004" pitchFamily="2" charset="0"/>
              <a:cs typeface="Inter" panose="02000503000000020004" pitchFamily="2" charset="0"/>
            </a:endParaRPr>
          </a:p>
          <a:p>
            <a:r>
              <a:rPr lang="en-US" sz="1600" b="1" dirty="0">
                <a:latin typeface="Inter" panose="02000503000000020004" pitchFamily="2" charset="0"/>
                <a:ea typeface="Inter" panose="02000503000000020004" pitchFamily="2" charset="0"/>
                <a:cs typeface="Inter" panose="02000503000000020004" pitchFamily="2" charset="0"/>
              </a:rPr>
              <a:t>University Advisor: </a:t>
            </a:r>
          </a:p>
          <a:p>
            <a:r>
              <a:rPr lang="en-US" sz="1600" dirty="0">
                <a:latin typeface="Inter" panose="02000503000000020004" pitchFamily="2" charset="0"/>
                <a:ea typeface="Inter" panose="02000503000000020004" pitchFamily="2" charset="0"/>
                <a:cs typeface="Inter" panose="02000503000000020004" pitchFamily="2" charset="0"/>
              </a:rPr>
              <a:t>Prof. Maria De Marsico </a:t>
            </a:r>
          </a:p>
          <a:p>
            <a:endParaRPr lang="en-US" sz="1600" dirty="0">
              <a:latin typeface="Inter" panose="02000503000000020004" pitchFamily="2" charset="0"/>
              <a:ea typeface="Inter" panose="02000503000000020004" pitchFamily="2" charset="0"/>
              <a:cs typeface="Inter" panose="02000503000000020004" pitchFamily="2" charset="0"/>
            </a:endParaRPr>
          </a:p>
          <a:p>
            <a:r>
              <a:rPr lang="en-US" sz="1600" b="1" dirty="0">
                <a:latin typeface="Inter" panose="02000503000000020004" pitchFamily="2" charset="0"/>
                <a:ea typeface="Inter" panose="02000503000000020004" pitchFamily="2" charset="0"/>
                <a:cs typeface="Inter" panose="02000503000000020004" pitchFamily="2" charset="0"/>
              </a:rPr>
              <a:t>University Co-Advisors: </a:t>
            </a:r>
            <a:br>
              <a:rPr lang="en-US" sz="1600" b="1" dirty="0">
                <a:latin typeface="Inter" panose="02000503000000020004" pitchFamily="2" charset="0"/>
                <a:ea typeface="Inter" panose="02000503000000020004" pitchFamily="2" charset="0"/>
                <a:cs typeface="Inter" panose="02000503000000020004" pitchFamily="2" charset="0"/>
              </a:rPr>
            </a:br>
            <a:r>
              <a:rPr lang="en-US" sz="1600" dirty="0">
                <a:latin typeface="Inter" panose="02000503000000020004" pitchFamily="2" charset="0"/>
                <a:ea typeface="Inter" panose="02000503000000020004" pitchFamily="2" charset="0"/>
                <a:cs typeface="Inter" panose="02000503000000020004" pitchFamily="2" charset="0"/>
              </a:rPr>
              <a:t>Prof. Marco Raoul Marini</a:t>
            </a:r>
            <a:endParaRPr lang="en-US" sz="1600" b="1" dirty="0">
              <a:latin typeface="Inter" panose="02000503000000020004" pitchFamily="2" charset="0"/>
              <a:ea typeface="Inter" panose="02000503000000020004" pitchFamily="2" charset="0"/>
              <a:cs typeface="Inter" panose="02000503000000020004" pitchFamily="2" charset="0"/>
            </a:endParaRPr>
          </a:p>
          <a:p>
            <a:r>
              <a:rPr lang="en-US" sz="1600" dirty="0">
                <a:latin typeface="Inter" panose="02000503000000020004" pitchFamily="2" charset="0"/>
                <a:ea typeface="Inter" panose="02000503000000020004" pitchFamily="2" charset="0"/>
                <a:cs typeface="Inter" panose="02000503000000020004" pitchFamily="2" charset="0"/>
              </a:rPr>
              <a:t>Dr. Valerio </a:t>
            </a:r>
            <a:r>
              <a:rPr lang="en-US" sz="1600" dirty="0" err="1">
                <a:latin typeface="Inter" panose="02000503000000020004" pitchFamily="2" charset="0"/>
                <a:ea typeface="Inter" panose="02000503000000020004" pitchFamily="2" charset="0"/>
                <a:cs typeface="Inter" panose="02000503000000020004" pitchFamily="2" charset="0"/>
              </a:rPr>
              <a:t>Venanzi</a:t>
            </a:r>
            <a:r>
              <a:rPr lang="en-US" sz="1600" dirty="0">
                <a:latin typeface="Inter" panose="02000503000000020004" pitchFamily="2" charset="0"/>
                <a:ea typeface="Inter" panose="02000503000000020004" pitchFamily="2" charset="0"/>
                <a:cs typeface="Inter" panose="02000503000000020004" pitchFamily="2" charset="0"/>
              </a:rPr>
              <a:t> </a:t>
            </a:r>
          </a:p>
        </p:txBody>
      </p:sp>
      <p:sp>
        <p:nvSpPr>
          <p:cNvPr id="2" name="TextBox 1">
            <a:extLst>
              <a:ext uri="{FF2B5EF4-FFF2-40B4-BE49-F238E27FC236}">
                <a16:creationId xmlns:a16="http://schemas.microsoft.com/office/drawing/2014/main" id="{366A3898-4044-35BC-81E5-B9E84385A1D5}"/>
              </a:ext>
            </a:extLst>
          </p:cNvPr>
          <p:cNvSpPr txBox="1"/>
          <p:nvPr/>
        </p:nvSpPr>
        <p:spPr>
          <a:xfrm>
            <a:off x="7764310" y="2321835"/>
            <a:ext cx="2643811" cy="2308324"/>
          </a:xfrm>
          <a:prstGeom prst="rect">
            <a:avLst/>
          </a:prstGeom>
          <a:noFill/>
        </p:spPr>
        <p:txBody>
          <a:bodyPr wrap="square" rtlCol="0">
            <a:spAutoFit/>
          </a:bodyPr>
          <a:lstStyle/>
          <a:p>
            <a:endParaRPr lang="en-US" sz="1600" b="1" dirty="0">
              <a:latin typeface="Inter" panose="02000503000000020004" pitchFamily="2" charset="0"/>
              <a:ea typeface="Inter" panose="02000503000000020004" pitchFamily="2" charset="0"/>
              <a:cs typeface="Inter" panose="02000503000000020004" pitchFamily="2" charset="0"/>
            </a:endParaRPr>
          </a:p>
          <a:p>
            <a:endParaRPr lang="en-US" sz="1600" b="1" dirty="0">
              <a:latin typeface="Inter" panose="02000503000000020004" pitchFamily="2" charset="0"/>
              <a:ea typeface="Inter" panose="02000503000000020004" pitchFamily="2" charset="0"/>
              <a:cs typeface="Inter" panose="02000503000000020004" pitchFamily="2" charset="0"/>
            </a:endParaRPr>
          </a:p>
          <a:p>
            <a:endParaRPr lang="en-US" sz="1600" b="1" dirty="0">
              <a:latin typeface="Inter" panose="02000503000000020004" pitchFamily="2" charset="0"/>
              <a:ea typeface="Inter" panose="02000503000000020004" pitchFamily="2" charset="0"/>
              <a:cs typeface="Inter" panose="02000503000000020004" pitchFamily="2" charset="0"/>
            </a:endParaRPr>
          </a:p>
          <a:p>
            <a:r>
              <a:rPr lang="en-US" sz="1600" b="1" dirty="0">
                <a:latin typeface="Inter" panose="02000503000000020004" pitchFamily="2" charset="0"/>
                <a:ea typeface="Inter" panose="02000503000000020004" pitchFamily="2" charset="0"/>
                <a:cs typeface="Inter" panose="02000503000000020004" pitchFamily="2" charset="0"/>
              </a:rPr>
              <a:t>Company: </a:t>
            </a:r>
          </a:p>
          <a:p>
            <a:r>
              <a:rPr lang="en-US" sz="1600" dirty="0">
                <a:latin typeface="Inter" panose="02000503000000020004" pitchFamily="2" charset="0"/>
                <a:ea typeface="Inter" panose="02000503000000020004" pitchFamily="2" charset="0"/>
                <a:cs typeface="Inter" panose="02000503000000020004" pitchFamily="2" charset="0"/>
              </a:rPr>
              <a:t>CINECA</a:t>
            </a:r>
          </a:p>
          <a:p>
            <a:endParaRPr lang="en-US" sz="1600" dirty="0">
              <a:latin typeface="Inter" panose="02000503000000020004" pitchFamily="2" charset="0"/>
              <a:ea typeface="Inter" panose="02000503000000020004" pitchFamily="2" charset="0"/>
              <a:cs typeface="Inter" panose="02000503000000020004" pitchFamily="2" charset="0"/>
            </a:endParaRPr>
          </a:p>
          <a:p>
            <a:r>
              <a:rPr lang="en-US" sz="1600" b="1" dirty="0" err="1">
                <a:latin typeface="Inter" panose="02000503000000020004" pitchFamily="2" charset="0"/>
                <a:ea typeface="Inter" panose="02000503000000020004" pitchFamily="2" charset="0"/>
                <a:cs typeface="Inter" panose="02000503000000020004" pitchFamily="2" charset="0"/>
              </a:rPr>
              <a:t>Cineca</a:t>
            </a:r>
            <a:r>
              <a:rPr lang="en-US" sz="1600" b="1" dirty="0">
                <a:latin typeface="Inter" panose="02000503000000020004" pitchFamily="2" charset="0"/>
                <a:ea typeface="Inter" panose="02000503000000020004" pitchFamily="2" charset="0"/>
                <a:cs typeface="Inter" panose="02000503000000020004" pitchFamily="2" charset="0"/>
              </a:rPr>
              <a:t> Advisors: </a:t>
            </a:r>
            <a:br>
              <a:rPr lang="en-US" sz="1600" b="1" dirty="0">
                <a:latin typeface="Inter" panose="02000503000000020004" pitchFamily="2" charset="0"/>
                <a:ea typeface="Inter" panose="02000503000000020004" pitchFamily="2" charset="0"/>
                <a:cs typeface="Inter" panose="02000503000000020004" pitchFamily="2" charset="0"/>
              </a:rPr>
            </a:br>
            <a:r>
              <a:rPr lang="en-US" sz="1600" dirty="0">
                <a:latin typeface="Inter" panose="02000503000000020004" pitchFamily="2" charset="0"/>
                <a:ea typeface="Inter" panose="02000503000000020004" pitchFamily="2" charset="0"/>
                <a:cs typeface="Inter" panose="02000503000000020004" pitchFamily="2" charset="0"/>
              </a:rPr>
              <a:t>Dr. Giuseppe </a:t>
            </a:r>
            <a:r>
              <a:rPr lang="en-US" sz="1600" dirty="0" err="1">
                <a:latin typeface="Inter" panose="02000503000000020004" pitchFamily="2" charset="0"/>
                <a:ea typeface="Inter" panose="02000503000000020004" pitchFamily="2" charset="0"/>
                <a:cs typeface="Inter" panose="02000503000000020004" pitchFamily="2" charset="0"/>
              </a:rPr>
              <a:t>Melfi</a:t>
            </a:r>
            <a:endParaRPr lang="en-US" sz="1600" dirty="0">
              <a:latin typeface="Inter" panose="02000503000000020004" pitchFamily="2" charset="0"/>
              <a:ea typeface="Inter" panose="02000503000000020004" pitchFamily="2" charset="0"/>
              <a:cs typeface="Inter" panose="02000503000000020004" pitchFamily="2" charset="0"/>
            </a:endParaRPr>
          </a:p>
          <a:p>
            <a:r>
              <a:rPr lang="en-US" sz="1600" dirty="0">
                <a:latin typeface="Inter" panose="02000503000000020004" pitchFamily="2" charset="0"/>
                <a:ea typeface="Inter" panose="02000503000000020004" pitchFamily="2" charset="0"/>
                <a:cs typeface="Inter" panose="02000503000000020004" pitchFamily="2" charset="0"/>
              </a:rPr>
              <a:t>Dr. Marco Puccini</a:t>
            </a:r>
          </a:p>
        </p:txBody>
      </p:sp>
      <p:sp>
        <p:nvSpPr>
          <p:cNvPr id="10" name="TextBox 9">
            <a:extLst>
              <a:ext uri="{FF2B5EF4-FFF2-40B4-BE49-F238E27FC236}">
                <a16:creationId xmlns:a16="http://schemas.microsoft.com/office/drawing/2014/main" id="{F5A24252-5B62-93A6-97DD-B2CE31FA8F53}"/>
              </a:ext>
            </a:extLst>
          </p:cNvPr>
          <p:cNvSpPr txBox="1"/>
          <p:nvPr/>
        </p:nvSpPr>
        <p:spPr>
          <a:xfrm>
            <a:off x="596348" y="1634194"/>
            <a:ext cx="10765616" cy="369332"/>
          </a:xfrm>
          <a:prstGeom prst="rect">
            <a:avLst/>
          </a:prstGeom>
          <a:noFill/>
        </p:spPr>
        <p:txBody>
          <a:bodyPr wrap="square">
            <a:spAutoFit/>
          </a:bodyPr>
          <a:lstStyle/>
          <a:p>
            <a:r>
              <a:rPr lang="en-US" dirty="0">
                <a:solidFill>
                  <a:srgbClr val="822334"/>
                </a:solidFill>
                <a:latin typeface="Inter" panose="02000503000000020004" pitchFamily="2" charset="0"/>
                <a:ea typeface="Inter" panose="02000503000000020004" pitchFamily="2" charset="0"/>
                <a:cs typeface="Inter" panose="02000503000000020004" pitchFamily="2" charset="0"/>
              </a:rPr>
              <a:t>An Enterprise-Grade Multi-Tenant AI Orchestrator with MCP Tools and Secure Graph Querying</a:t>
            </a:r>
          </a:p>
        </p:txBody>
      </p:sp>
      <p:pic>
        <p:nvPicPr>
          <p:cNvPr id="14" name="Picture 13">
            <a:extLst>
              <a:ext uri="{FF2B5EF4-FFF2-40B4-BE49-F238E27FC236}">
                <a16:creationId xmlns:a16="http://schemas.microsoft.com/office/drawing/2014/main" id="{8E89698A-B8A6-648D-BE67-C13813ED9851}"/>
              </a:ext>
            </a:extLst>
          </p:cNvPr>
          <p:cNvPicPr>
            <a:picLocks noChangeAspect="1"/>
          </p:cNvPicPr>
          <p:nvPr/>
        </p:nvPicPr>
        <p:blipFill>
          <a:blip r:embed="rId4"/>
          <a:stretch>
            <a:fillRect/>
          </a:stretch>
        </p:blipFill>
        <p:spPr>
          <a:xfrm>
            <a:off x="449473" y="5522473"/>
            <a:ext cx="957296" cy="957296"/>
          </a:xfrm>
          <a:prstGeom prst="rect">
            <a:avLst/>
          </a:prstGeom>
        </p:spPr>
      </p:pic>
      <p:pic>
        <p:nvPicPr>
          <p:cNvPr id="16" name="Picture 15">
            <a:extLst>
              <a:ext uri="{FF2B5EF4-FFF2-40B4-BE49-F238E27FC236}">
                <a16:creationId xmlns:a16="http://schemas.microsoft.com/office/drawing/2014/main" id="{691FA9D1-4FD4-335B-976D-049E173A089C}"/>
              </a:ext>
            </a:extLst>
          </p:cNvPr>
          <p:cNvPicPr>
            <a:picLocks noChangeAspect="1"/>
          </p:cNvPicPr>
          <p:nvPr/>
        </p:nvPicPr>
        <p:blipFill>
          <a:blip r:embed="rId5"/>
          <a:stretch>
            <a:fillRect/>
          </a:stretch>
        </p:blipFill>
        <p:spPr>
          <a:xfrm>
            <a:off x="8734664" y="5589722"/>
            <a:ext cx="2866291" cy="957296"/>
          </a:xfrm>
          <a:prstGeom prst="rect">
            <a:avLst/>
          </a:prstGeom>
        </p:spPr>
      </p:pic>
    </p:spTree>
    <p:extLst>
      <p:ext uri="{BB962C8B-B14F-4D97-AF65-F5344CB8AC3E}">
        <p14:creationId xmlns:p14="http://schemas.microsoft.com/office/powerpoint/2010/main" val="26475925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D3F30-9C46-9CE1-0C1E-6F165BC509E1}"/>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4398078A-B5EC-733A-610D-8C3ACF9927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278377C2-5E41-0371-262D-703F529390ED}"/>
              </a:ext>
            </a:extLst>
          </p:cNvPr>
          <p:cNvSpPr>
            <a:spLocks noGrp="1"/>
          </p:cNvSpPr>
          <p:nvPr>
            <p:ph type="ftr" sz="quarter" idx="11"/>
          </p:nvPr>
        </p:nvSpPr>
        <p:spPr>
          <a:xfrm>
            <a:off x="4566534" y="6356350"/>
            <a:ext cx="3058931" cy="365125"/>
          </a:xfrm>
        </p:spPr>
        <p:txBody>
          <a:bodyPr/>
          <a:lstStyle/>
          <a:p>
            <a:r>
              <a:rPr lang="en-US" dirty="0" err="1">
                <a:solidFill>
                  <a:schemeClr val="bg1"/>
                </a:solidFill>
                <a:latin typeface="Inter" panose="02000503000000020004" pitchFamily="2" charset="0"/>
                <a:ea typeface="Inter" panose="02000503000000020004" pitchFamily="2" charset="0"/>
                <a:cs typeface="Inter" panose="02000503000000020004" pitchFamily="2" charset="0"/>
              </a:rPr>
              <a:t>Cineca</a:t>
            </a:r>
            <a:r>
              <a:rPr lang="en-US" dirty="0">
                <a:solidFill>
                  <a:schemeClr val="bg1"/>
                </a:solidFill>
                <a:latin typeface="Inter" panose="02000503000000020004" pitchFamily="2" charset="0"/>
                <a:ea typeface="Inter" panose="02000503000000020004" pitchFamily="2" charset="0"/>
                <a:cs typeface="Inter" panose="02000503000000020004" pitchFamily="2" charset="0"/>
              </a:rPr>
              <a:t> Agentic Platform – Arman Feili</a:t>
            </a:r>
          </a:p>
        </p:txBody>
      </p:sp>
      <p:sp>
        <p:nvSpPr>
          <p:cNvPr id="12" name="Slide Number Placeholder 11">
            <a:extLst>
              <a:ext uri="{FF2B5EF4-FFF2-40B4-BE49-F238E27FC236}">
                <a16:creationId xmlns:a16="http://schemas.microsoft.com/office/drawing/2014/main" id="{8CD98C48-56F7-4963-6223-1E96C366D127}"/>
              </a:ext>
            </a:extLst>
          </p:cNvPr>
          <p:cNvSpPr>
            <a:spLocks noGrp="1"/>
          </p:cNvSpPr>
          <p:nvPr>
            <p:ph type="sldNum" sz="quarter" idx="12"/>
          </p:nvPr>
        </p:nvSpPr>
        <p:spPr/>
        <p:txBody>
          <a:bodyPr/>
          <a:lstStyle/>
          <a:p>
            <a:fld id="{48F19E39-9933-F648-B2F3-3AC17C0DC986}" type="slidenum">
              <a:rPr lang="en-US" smtClean="0">
                <a:solidFill>
                  <a:schemeClr val="bg1"/>
                </a:solidFill>
              </a:rPr>
              <a:t>2</a:t>
            </a:fld>
            <a:endParaRPr lang="en-US" dirty="0">
              <a:solidFill>
                <a:schemeClr val="bg1"/>
              </a:solidFill>
            </a:endParaRPr>
          </a:p>
        </p:txBody>
      </p:sp>
      <p:sp>
        <p:nvSpPr>
          <p:cNvPr id="15" name="TextBox 14">
            <a:extLst>
              <a:ext uri="{FF2B5EF4-FFF2-40B4-BE49-F238E27FC236}">
                <a16:creationId xmlns:a16="http://schemas.microsoft.com/office/drawing/2014/main" id="{C18F3D6D-AA54-1F40-9C7B-0796FD4552B9}"/>
              </a:ext>
            </a:extLst>
          </p:cNvPr>
          <p:cNvSpPr txBox="1"/>
          <p:nvPr/>
        </p:nvSpPr>
        <p:spPr>
          <a:xfrm>
            <a:off x="596349" y="374273"/>
            <a:ext cx="10953226" cy="830997"/>
          </a:xfrm>
          <a:prstGeom prst="rect">
            <a:avLst/>
          </a:prstGeom>
          <a:noFill/>
        </p:spPr>
        <p:txBody>
          <a:bodyPr wrap="square" rtlCol="0">
            <a:spAutoFit/>
          </a:bodyPr>
          <a:lstStyle/>
          <a:p>
            <a:pPr algn="just"/>
            <a:r>
              <a:rPr lang="en-US" sz="2800" b="1" dirty="0">
                <a:solidFill>
                  <a:srgbClr val="822334"/>
                </a:solidFill>
                <a:latin typeface="Inter" panose="02000503000000020004" pitchFamily="2" charset="0"/>
                <a:ea typeface="Inter" panose="02000503000000020004" pitchFamily="2" charset="0"/>
                <a:cs typeface="Inter" panose="02000503000000020004" pitchFamily="2" charset="0"/>
              </a:rPr>
              <a:t>TABLE OF CONTENT </a:t>
            </a:r>
          </a:p>
          <a:p>
            <a:pPr algn="just"/>
            <a:r>
              <a:rPr lang="en-US" sz="2000" dirty="0">
                <a:solidFill>
                  <a:srgbClr val="822334"/>
                </a:solidFill>
                <a:latin typeface="Inter" panose="02000503000000020004" pitchFamily="2" charset="0"/>
                <a:ea typeface="Inter" panose="02000503000000020004" pitchFamily="2" charset="0"/>
                <a:cs typeface="Inter" panose="02000503000000020004" pitchFamily="2" charset="0"/>
              </a:rPr>
              <a:t>Overview of the presentation structure</a:t>
            </a:r>
          </a:p>
        </p:txBody>
      </p:sp>
      <p:pic>
        <p:nvPicPr>
          <p:cNvPr id="20" name="Picture 19">
            <a:extLst>
              <a:ext uri="{FF2B5EF4-FFF2-40B4-BE49-F238E27FC236}">
                <a16:creationId xmlns:a16="http://schemas.microsoft.com/office/drawing/2014/main" id="{C124917D-1195-11F4-79A6-78CD5563469E}"/>
              </a:ext>
            </a:extLst>
          </p:cNvPr>
          <p:cNvPicPr>
            <a:picLocks noChangeAspect="1"/>
          </p:cNvPicPr>
          <p:nvPr/>
        </p:nvPicPr>
        <p:blipFill>
          <a:blip r:embed="rId3"/>
          <a:srcRect b="8680"/>
          <a:stretch/>
        </p:blipFill>
        <p:spPr>
          <a:xfrm>
            <a:off x="6095999" y="1267057"/>
            <a:ext cx="5257800" cy="4323885"/>
          </a:xfrm>
          <a:prstGeom prst="rect">
            <a:avLst/>
          </a:prstGeom>
        </p:spPr>
      </p:pic>
      <p:pic>
        <p:nvPicPr>
          <p:cNvPr id="3" name="Picture 2">
            <a:extLst>
              <a:ext uri="{FF2B5EF4-FFF2-40B4-BE49-F238E27FC236}">
                <a16:creationId xmlns:a16="http://schemas.microsoft.com/office/drawing/2014/main" id="{4B56BDB4-7F52-9199-E747-F0CD56615536}"/>
              </a:ext>
            </a:extLst>
          </p:cNvPr>
          <p:cNvPicPr>
            <a:picLocks noChangeAspect="1"/>
          </p:cNvPicPr>
          <p:nvPr/>
        </p:nvPicPr>
        <p:blipFill>
          <a:blip r:embed="rId4"/>
          <a:stretch>
            <a:fillRect/>
          </a:stretch>
        </p:blipFill>
        <p:spPr>
          <a:xfrm>
            <a:off x="321777" y="6315552"/>
            <a:ext cx="435345" cy="435345"/>
          </a:xfrm>
          <a:prstGeom prst="rect">
            <a:avLst/>
          </a:prstGeom>
        </p:spPr>
      </p:pic>
      <p:pic>
        <p:nvPicPr>
          <p:cNvPr id="7" name="Picture 6">
            <a:extLst>
              <a:ext uri="{FF2B5EF4-FFF2-40B4-BE49-F238E27FC236}">
                <a16:creationId xmlns:a16="http://schemas.microsoft.com/office/drawing/2014/main" id="{6E49A478-0C2E-BB59-A2D6-0D30D37E8771}"/>
              </a:ext>
            </a:extLst>
          </p:cNvPr>
          <p:cNvPicPr>
            <a:picLocks noChangeAspect="1"/>
          </p:cNvPicPr>
          <p:nvPr/>
        </p:nvPicPr>
        <p:blipFill>
          <a:blip r:embed="rId5"/>
          <a:stretch>
            <a:fillRect/>
          </a:stretch>
        </p:blipFill>
        <p:spPr>
          <a:xfrm>
            <a:off x="866134" y="6362629"/>
            <a:ext cx="1093241" cy="365125"/>
          </a:xfrm>
          <a:prstGeom prst="rect">
            <a:avLst/>
          </a:prstGeom>
        </p:spPr>
      </p:pic>
      <p:sp>
        <p:nvSpPr>
          <p:cNvPr id="8" name="TextBox 7">
            <a:extLst>
              <a:ext uri="{FF2B5EF4-FFF2-40B4-BE49-F238E27FC236}">
                <a16:creationId xmlns:a16="http://schemas.microsoft.com/office/drawing/2014/main" id="{C3D78B14-6B62-6898-3219-86290A741AC8}"/>
              </a:ext>
            </a:extLst>
          </p:cNvPr>
          <p:cNvSpPr txBox="1"/>
          <p:nvPr/>
        </p:nvSpPr>
        <p:spPr>
          <a:xfrm>
            <a:off x="596349" y="1571312"/>
            <a:ext cx="6142382" cy="2308324"/>
          </a:xfrm>
          <a:prstGeom prst="rect">
            <a:avLst/>
          </a:prstGeom>
          <a:noFill/>
        </p:spPr>
        <p:txBody>
          <a:bodyPr wrap="square" rtlCol="0">
            <a:spAutoFit/>
          </a:bodyPr>
          <a:lstStyle/>
          <a:p>
            <a:pPr marL="342900" indent="-342900">
              <a:buFont typeface="+mj-lt"/>
              <a:buAutoNum type="arabicPeriod"/>
            </a:pPr>
            <a:r>
              <a:rPr lang="en-US" sz="1600" dirty="0">
                <a:latin typeface="Inter" panose="02000503000000020004" pitchFamily="2" charset="0"/>
                <a:ea typeface="Inter" panose="02000503000000020004" pitchFamily="2" charset="0"/>
                <a:cs typeface="Inter" panose="02000503000000020004" pitchFamily="2" charset="0"/>
              </a:rPr>
              <a:t>Production Gap</a:t>
            </a:r>
          </a:p>
          <a:p>
            <a:pPr marL="342900" indent="-342900">
              <a:buFont typeface="+mj-lt"/>
              <a:buAutoNum type="arabicPeriod"/>
            </a:pPr>
            <a:r>
              <a:rPr lang="en-US" sz="1600" dirty="0">
                <a:latin typeface="Inter" panose="02000503000000020004" pitchFamily="2" charset="0"/>
                <a:ea typeface="Inter" panose="02000503000000020004" pitchFamily="2" charset="0"/>
                <a:cs typeface="Inter" panose="02000503000000020004" pitchFamily="2" charset="0"/>
              </a:rPr>
              <a:t>System Workflow &amp; Platform Architecture</a:t>
            </a:r>
          </a:p>
          <a:p>
            <a:pPr marL="342900" indent="-342900">
              <a:buFont typeface="+mj-lt"/>
              <a:buAutoNum type="arabicPeriod"/>
            </a:pPr>
            <a:r>
              <a:rPr lang="en-US" sz="1600" dirty="0">
                <a:latin typeface="Inter" panose="02000503000000020004" pitchFamily="2" charset="0"/>
                <a:ea typeface="Inter" panose="02000503000000020004" pitchFamily="2" charset="0"/>
                <a:cs typeface="Inter" panose="02000503000000020004" pitchFamily="2" charset="0"/>
              </a:rPr>
              <a:t>What Was Delivered</a:t>
            </a:r>
          </a:p>
          <a:p>
            <a:pPr marL="342900" indent="-342900">
              <a:buFont typeface="+mj-lt"/>
              <a:buAutoNum type="arabicPeriod"/>
            </a:pPr>
            <a:r>
              <a:rPr lang="en-US" sz="1600" dirty="0">
                <a:latin typeface="Inter" panose="02000503000000020004" pitchFamily="2" charset="0"/>
                <a:ea typeface="Inter" panose="02000503000000020004" pitchFamily="2" charset="0"/>
                <a:cs typeface="Inter" panose="02000503000000020004" pitchFamily="2" charset="0"/>
              </a:rPr>
              <a:t>UI, Security &amp; API Layer</a:t>
            </a:r>
          </a:p>
          <a:p>
            <a:pPr marL="342900" indent="-342900">
              <a:buFont typeface="+mj-lt"/>
              <a:buAutoNum type="arabicPeriod"/>
            </a:pPr>
            <a:r>
              <a:rPr lang="en-US" sz="1600" dirty="0">
                <a:latin typeface="Inter" panose="02000503000000020004" pitchFamily="2" charset="0"/>
                <a:ea typeface="Inter" panose="02000503000000020004" pitchFamily="2" charset="0"/>
                <a:cs typeface="Inter" panose="02000503000000020004" pitchFamily="2" charset="0"/>
              </a:rPr>
              <a:t>Job Execution &amp; Orchestrator</a:t>
            </a:r>
          </a:p>
          <a:p>
            <a:pPr marL="342900" indent="-342900">
              <a:buFont typeface="+mj-lt"/>
              <a:buAutoNum type="arabicPeriod"/>
            </a:pPr>
            <a:r>
              <a:rPr lang="en-US" sz="1600" dirty="0">
                <a:latin typeface="Inter" panose="02000503000000020004" pitchFamily="2" charset="0"/>
                <a:ea typeface="Inter" panose="02000503000000020004" pitchFamily="2" charset="0"/>
                <a:cs typeface="Inter" panose="02000503000000020004" pitchFamily="2" charset="0"/>
              </a:rPr>
              <a:t>LLM Providers, MCP Tools &amp; Data Layer</a:t>
            </a:r>
          </a:p>
          <a:p>
            <a:pPr marL="342900" indent="-342900">
              <a:buFont typeface="+mj-lt"/>
              <a:buAutoNum type="arabicPeriod"/>
            </a:pPr>
            <a:r>
              <a:rPr lang="en-US" sz="1600" dirty="0">
                <a:latin typeface="Inter" panose="02000503000000020004" pitchFamily="2" charset="0"/>
                <a:ea typeface="Inter" panose="02000503000000020004" pitchFamily="2" charset="0"/>
                <a:cs typeface="Inter" panose="02000503000000020004" pitchFamily="2" charset="0"/>
              </a:rPr>
              <a:t>Background Tasks &amp; Observability</a:t>
            </a:r>
          </a:p>
          <a:p>
            <a:pPr marL="342900" indent="-342900">
              <a:buFont typeface="+mj-lt"/>
              <a:buAutoNum type="arabicPeriod"/>
            </a:pPr>
            <a:r>
              <a:rPr lang="en-US" sz="1600" dirty="0">
                <a:latin typeface="Inter" panose="02000503000000020004" pitchFamily="2" charset="0"/>
                <a:ea typeface="Inter" panose="02000503000000020004" pitchFamily="2" charset="0"/>
                <a:cs typeface="Inter" panose="02000503000000020004" pitchFamily="2" charset="0"/>
              </a:rPr>
              <a:t>Validation, Results &amp; Comparison</a:t>
            </a:r>
          </a:p>
          <a:p>
            <a:pPr marL="342900" indent="-342900">
              <a:buFont typeface="+mj-lt"/>
              <a:buAutoNum type="arabicPeriod"/>
            </a:pPr>
            <a:r>
              <a:rPr lang="en-US" sz="1600" dirty="0">
                <a:latin typeface="Inter" panose="02000503000000020004" pitchFamily="2" charset="0"/>
                <a:ea typeface="Inter" panose="02000503000000020004" pitchFamily="2" charset="0"/>
                <a:cs typeface="Inter" panose="02000503000000020004" pitchFamily="2" charset="0"/>
              </a:rPr>
              <a:t>Conclusion &amp; Future Work</a:t>
            </a:r>
          </a:p>
        </p:txBody>
      </p:sp>
    </p:spTree>
    <p:extLst>
      <p:ext uri="{BB962C8B-B14F-4D97-AF65-F5344CB8AC3E}">
        <p14:creationId xmlns:p14="http://schemas.microsoft.com/office/powerpoint/2010/main" val="39588671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FA35D-2EA2-3155-C083-B8B1502D52A5}"/>
            </a:ext>
          </a:extLst>
        </p:cNvPr>
        <p:cNvGrpSpPr/>
        <p:nvPr/>
      </p:nvGrpSpPr>
      <p:grpSpPr>
        <a:xfrm>
          <a:off x="0" y="0"/>
          <a:ext cx="0" cy="0"/>
          <a:chOff x="0" y="0"/>
          <a:chExt cx="0" cy="0"/>
        </a:xfrm>
      </p:grpSpPr>
      <p:sp>
        <p:nvSpPr>
          <p:cNvPr id="22" name="TextBox 21">
            <a:extLst>
              <a:ext uri="{FF2B5EF4-FFF2-40B4-BE49-F238E27FC236}">
                <a16:creationId xmlns:a16="http://schemas.microsoft.com/office/drawing/2014/main" id="{DC60A1B7-8C17-906E-19A4-B3F4D498EB86}"/>
              </a:ext>
            </a:extLst>
          </p:cNvPr>
          <p:cNvSpPr txBox="1"/>
          <p:nvPr/>
        </p:nvSpPr>
        <p:spPr>
          <a:xfrm>
            <a:off x="596349" y="1571313"/>
            <a:ext cx="10953226" cy="4370427"/>
          </a:xfrm>
          <a:prstGeom prst="rect">
            <a:avLst/>
          </a:prstGeom>
          <a:noFill/>
        </p:spPr>
        <p:txBody>
          <a:bodyPr wrap="square" rtlCol="0">
            <a:spAutoFit/>
          </a:bodyPr>
          <a:lstStyle/>
          <a:p>
            <a:r>
              <a:rPr lang="en-US" b="1" dirty="0">
                <a:latin typeface="Inter" panose="02000503000000020004" pitchFamily="2" charset="0"/>
                <a:ea typeface="Inter" panose="02000503000000020004" pitchFamily="2" charset="0"/>
                <a:cs typeface="Inter" panose="02000503000000020004" pitchFamily="2" charset="0"/>
              </a:rPr>
              <a:t>The problem</a:t>
            </a:r>
          </a:p>
          <a:p>
            <a:pPr marL="285750" indent="-285750">
              <a:buFont typeface="Arial" panose="020B0604020202020204" pitchFamily="34" charset="0"/>
              <a:buChar char="•"/>
            </a:pPr>
            <a:r>
              <a:rPr lang="en-US" sz="1600" i="0" dirty="0">
                <a:effectLst/>
                <a:latin typeface="Inter" panose="02000503000000020004" pitchFamily="2" charset="0"/>
                <a:ea typeface="Inter" panose="02000503000000020004" pitchFamily="2" charset="0"/>
                <a:cs typeface="Inter" panose="02000503000000020004" pitchFamily="2" charset="0"/>
              </a:rPr>
              <a:t>Users need natural-language access to graph data, but current tools are too technical and not secure.</a:t>
            </a:r>
            <a:endParaRPr lang="en-US" sz="1600" dirty="0">
              <a:latin typeface="Inter" panose="02000503000000020004" pitchFamily="2" charset="0"/>
              <a:ea typeface="Inter" panose="02000503000000020004" pitchFamily="2" charset="0"/>
              <a:cs typeface="Inter" panose="02000503000000020004" pitchFamily="2" charset="0"/>
            </a:endParaRP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Most users cannot write Cypher to access Graph data.</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Researchers often depend on developers to access it.</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This creates delays and keeps data locked.</a:t>
            </a:r>
          </a:p>
          <a:p>
            <a:pPr>
              <a:buFont typeface="Arial" panose="020B0604020202020204" pitchFamily="34" charset="0"/>
              <a:buChar char="•"/>
            </a:pPr>
            <a:endParaRPr lang="en-US" sz="1600" dirty="0">
              <a:latin typeface="Inter" panose="02000503000000020004" pitchFamily="2" charset="0"/>
              <a:ea typeface="Inter" panose="02000503000000020004" pitchFamily="2" charset="0"/>
              <a:cs typeface="Inter" panose="02000503000000020004" pitchFamily="2" charset="0"/>
            </a:endParaRPr>
          </a:p>
          <a:p>
            <a:r>
              <a:rPr lang="en-US" b="1" dirty="0">
                <a:latin typeface="Inter" panose="02000503000000020004" pitchFamily="2" charset="0"/>
                <a:ea typeface="Inter" panose="02000503000000020004" pitchFamily="2" charset="0"/>
                <a:cs typeface="Inter" panose="02000503000000020004" pitchFamily="2" charset="0"/>
              </a:rPr>
              <a:t>Simple chatbots lack</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Multi-step execution</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Secure database and tool access</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RBAC and tenant isolation</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Audit logs and reproducible results</a:t>
            </a:r>
          </a:p>
          <a:p>
            <a:endParaRPr lang="en-US" sz="1600" b="1" dirty="0">
              <a:latin typeface="Inter" panose="02000503000000020004" pitchFamily="2" charset="0"/>
              <a:ea typeface="Inter" panose="02000503000000020004" pitchFamily="2" charset="0"/>
              <a:cs typeface="Inter" panose="02000503000000020004" pitchFamily="2" charset="0"/>
            </a:endParaRPr>
          </a:p>
          <a:p>
            <a:endParaRPr lang="en-US" sz="1600" b="1" dirty="0">
              <a:latin typeface="Inter" panose="02000503000000020004" pitchFamily="2" charset="0"/>
              <a:ea typeface="Inter" panose="02000503000000020004" pitchFamily="2" charset="0"/>
              <a:cs typeface="Inter" panose="02000503000000020004" pitchFamily="2" charset="0"/>
            </a:endParaRPr>
          </a:p>
          <a:p>
            <a:endParaRPr lang="en-US" sz="1600" b="1" dirty="0">
              <a:latin typeface="Inter" panose="02000503000000020004" pitchFamily="2" charset="0"/>
              <a:ea typeface="Inter" panose="02000503000000020004" pitchFamily="2" charset="0"/>
              <a:cs typeface="Inter" panose="02000503000000020004" pitchFamily="2" charset="0"/>
            </a:endParaRPr>
          </a:p>
          <a:p>
            <a:r>
              <a:rPr lang="en-US" b="1" dirty="0">
                <a:latin typeface="Inter" panose="02000503000000020004" pitchFamily="2" charset="0"/>
                <a:ea typeface="Inter" panose="02000503000000020004" pitchFamily="2" charset="0"/>
                <a:cs typeface="Inter" panose="02000503000000020004" pitchFamily="2" charset="0"/>
              </a:rPr>
              <a:t>Solution</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CINECA needs a platform that turns natural-language requests into </a:t>
            </a:r>
            <a:r>
              <a:rPr lang="en-US" sz="1600" b="1" dirty="0">
                <a:latin typeface="Inter" panose="02000503000000020004" pitchFamily="2" charset="0"/>
                <a:ea typeface="Inter" panose="02000503000000020004" pitchFamily="2" charset="0"/>
                <a:cs typeface="Inter" panose="02000503000000020004" pitchFamily="2" charset="0"/>
              </a:rPr>
              <a:t>secure, traceable, and reproducible graph actions</a:t>
            </a:r>
            <a:r>
              <a:rPr lang="en-US" sz="1600" dirty="0">
                <a:latin typeface="Inter" panose="02000503000000020004" pitchFamily="2" charset="0"/>
                <a:ea typeface="Inter" panose="02000503000000020004" pitchFamily="2" charset="0"/>
                <a:cs typeface="Inter" panose="02000503000000020004" pitchFamily="2" charset="0"/>
              </a:rPr>
              <a:t>, while staying scalable and flexible across LLM providers.</a:t>
            </a:r>
          </a:p>
        </p:txBody>
      </p:sp>
      <p:pic>
        <p:nvPicPr>
          <p:cNvPr id="4" name="Picture 15" descr="Fondino">
            <a:extLst>
              <a:ext uri="{FF2B5EF4-FFF2-40B4-BE49-F238E27FC236}">
                <a16:creationId xmlns:a16="http://schemas.microsoft.com/office/drawing/2014/main" id="{8A98BC7C-0058-E485-B23B-90819FB4BC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Slide Number Placeholder 11">
            <a:extLst>
              <a:ext uri="{FF2B5EF4-FFF2-40B4-BE49-F238E27FC236}">
                <a16:creationId xmlns:a16="http://schemas.microsoft.com/office/drawing/2014/main" id="{7F22908C-4C61-1F4E-BE95-319914978B71}"/>
              </a:ext>
            </a:extLst>
          </p:cNvPr>
          <p:cNvSpPr>
            <a:spLocks noGrp="1"/>
          </p:cNvSpPr>
          <p:nvPr>
            <p:ph type="sldNum" sz="quarter" idx="12"/>
          </p:nvPr>
        </p:nvSpPr>
        <p:spPr/>
        <p:txBody>
          <a:bodyPr/>
          <a:lstStyle/>
          <a:p>
            <a:fld id="{48F19E39-9933-F648-B2F3-3AC17C0DC986}" type="slidenum">
              <a:rPr lang="en-US" smtClean="0">
                <a:solidFill>
                  <a:schemeClr val="bg1"/>
                </a:solidFill>
              </a:rPr>
              <a:t>3</a:t>
            </a:fld>
            <a:endParaRPr lang="en-US" dirty="0">
              <a:solidFill>
                <a:schemeClr val="bg1"/>
              </a:solidFill>
            </a:endParaRPr>
          </a:p>
        </p:txBody>
      </p:sp>
      <p:sp>
        <p:nvSpPr>
          <p:cNvPr id="15" name="TextBox 14">
            <a:extLst>
              <a:ext uri="{FF2B5EF4-FFF2-40B4-BE49-F238E27FC236}">
                <a16:creationId xmlns:a16="http://schemas.microsoft.com/office/drawing/2014/main" id="{48E3E19D-1CCA-3D35-A993-D4243C8942BA}"/>
              </a:ext>
            </a:extLst>
          </p:cNvPr>
          <p:cNvSpPr txBox="1"/>
          <p:nvPr/>
        </p:nvSpPr>
        <p:spPr>
          <a:xfrm>
            <a:off x="596349" y="374273"/>
            <a:ext cx="10953226" cy="830997"/>
          </a:xfrm>
          <a:prstGeom prst="rect">
            <a:avLst/>
          </a:prstGeom>
          <a:noFill/>
        </p:spPr>
        <p:txBody>
          <a:bodyPr wrap="square" rtlCol="0">
            <a:spAutoFit/>
          </a:bodyPr>
          <a:lstStyle/>
          <a:p>
            <a:pPr algn="just"/>
            <a:r>
              <a:rPr lang="en-US" sz="2800" b="1" dirty="0">
                <a:solidFill>
                  <a:srgbClr val="822334"/>
                </a:solidFill>
                <a:latin typeface="Inter" panose="02000503000000020004" pitchFamily="2" charset="0"/>
                <a:ea typeface="Inter" panose="02000503000000020004" pitchFamily="2" charset="0"/>
                <a:cs typeface="Inter" panose="02000503000000020004" pitchFamily="2" charset="0"/>
              </a:rPr>
              <a:t>PROBLEM &amp; MOTIVATION</a:t>
            </a:r>
          </a:p>
          <a:p>
            <a:pPr algn="l"/>
            <a:r>
              <a:rPr lang="en-US" sz="2000" dirty="0">
                <a:solidFill>
                  <a:srgbClr val="822334"/>
                </a:solidFill>
                <a:latin typeface="Inter" panose="02000503000000020004" pitchFamily="2" charset="0"/>
                <a:ea typeface="Inter" panose="02000503000000020004" pitchFamily="2" charset="0"/>
                <a:cs typeface="Inter" panose="02000503000000020004" pitchFamily="2" charset="0"/>
              </a:rPr>
              <a:t>Production gap</a:t>
            </a:r>
            <a:endParaRPr lang="en-US" sz="2000" i="0" dirty="0">
              <a:solidFill>
                <a:srgbClr val="822334"/>
              </a:solidFill>
              <a:effectLst/>
              <a:latin typeface="Inter" panose="02000503000000020004" pitchFamily="2" charset="0"/>
              <a:ea typeface="Inter" panose="02000503000000020004" pitchFamily="2" charset="0"/>
              <a:cs typeface="Inter" panose="02000503000000020004" pitchFamily="2" charset="0"/>
            </a:endParaRPr>
          </a:p>
        </p:txBody>
      </p:sp>
      <p:sp>
        <p:nvSpPr>
          <p:cNvPr id="8" name="Footer Placeholder 10">
            <a:extLst>
              <a:ext uri="{FF2B5EF4-FFF2-40B4-BE49-F238E27FC236}">
                <a16:creationId xmlns:a16="http://schemas.microsoft.com/office/drawing/2014/main" id="{8F19D6C9-D24B-C2D5-B6AA-DB75AB30AF69}"/>
              </a:ext>
            </a:extLst>
          </p:cNvPr>
          <p:cNvSpPr>
            <a:spLocks noGrp="1"/>
          </p:cNvSpPr>
          <p:nvPr>
            <p:ph type="ftr" sz="quarter" idx="11"/>
          </p:nvPr>
        </p:nvSpPr>
        <p:spPr>
          <a:xfrm>
            <a:off x="4566534" y="6356350"/>
            <a:ext cx="3058931" cy="365125"/>
          </a:xfrm>
        </p:spPr>
        <p:txBody>
          <a:bodyPr/>
          <a:lstStyle/>
          <a:p>
            <a:r>
              <a:rPr lang="en-US" dirty="0" err="1">
                <a:solidFill>
                  <a:schemeClr val="bg1"/>
                </a:solidFill>
                <a:latin typeface="Inter" panose="02000503000000020004" pitchFamily="2" charset="0"/>
                <a:ea typeface="Inter" panose="02000503000000020004" pitchFamily="2" charset="0"/>
                <a:cs typeface="Inter" panose="02000503000000020004" pitchFamily="2" charset="0"/>
              </a:rPr>
              <a:t>Cineca</a:t>
            </a:r>
            <a:r>
              <a:rPr lang="en-US" dirty="0">
                <a:solidFill>
                  <a:schemeClr val="bg1"/>
                </a:solidFill>
                <a:latin typeface="Inter" panose="02000503000000020004" pitchFamily="2" charset="0"/>
                <a:ea typeface="Inter" panose="02000503000000020004" pitchFamily="2" charset="0"/>
                <a:cs typeface="Inter" panose="02000503000000020004" pitchFamily="2" charset="0"/>
              </a:rPr>
              <a:t> Agentic Platform – Arman Feili</a:t>
            </a:r>
          </a:p>
        </p:txBody>
      </p:sp>
      <p:pic>
        <p:nvPicPr>
          <p:cNvPr id="9" name="Picture 8">
            <a:extLst>
              <a:ext uri="{FF2B5EF4-FFF2-40B4-BE49-F238E27FC236}">
                <a16:creationId xmlns:a16="http://schemas.microsoft.com/office/drawing/2014/main" id="{24C0B707-862D-A61B-C394-7554C87FABB2}"/>
              </a:ext>
            </a:extLst>
          </p:cNvPr>
          <p:cNvPicPr>
            <a:picLocks noChangeAspect="1"/>
          </p:cNvPicPr>
          <p:nvPr/>
        </p:nvPicPr>
        <p:blipFill>
          <a:blip r:embed="rId3"/>
          <a:stretch>
            <a:fillRect/>
          </a:stretch>
        </p:blipFill>
        <p:spPr>
          <a:xfrm>
            <a:off x="321777" y="6315552"/>
            <a:ext cx="435345" cy="435345"/>
          </a:xfrm>
          <a:prstGeom prst="rect">
            <a:avLst/>
          </a:prstGeom>
        </p:spPr>
      </p:pic>
      <p:pic>
        <p:nvPicPr>
          <p:cNvPr id="13" name="Picture 12">
            <a:extLst>
              <a:ext uri="{FF2B5EF4-FFF2-40B4-BE49-F238E27FC236}">
                <a16:creationId xmlns:a16="http://schemas.microsoft.com/office/drawing/2014/main" id="{ACC899B8-6D8F-5653-1863-8AB9D5023434}"/>
              </a:ext>
            </a:extLst>
          </p:cNvPr>
          <p:cNvPicPr>
            <a:picLocks noChangeAspect="1"/>
          </p:cNvPicPr>
          <p:nvPr/>
        </p:nvPicPr>
        <p:blipFill>
          <a:blip r:embed="rId4"/>
          <a:stretch>
            <a:fillRect/>
          </a:stretch>
        </p:blipFill>
        <p:spPr>
          <a:xfrm>
            <a:off x="866134" y="6362629"/>
            <a:ext cx="1093241" cy="365125"/>
          </a:xfrm>
          <a:prstGeom prst="rect">
            <a:avLst/>
          </a:prstGeom>
        </p:spPr>
      </p:pic>
      <p:pic>
        <p:nvPicPr>
          <p:cNvPr id="19" name="Picture 18">
            <a:extLst>
              <a:ext uri="{FF2B5EF4-FFF2-40B4-BE49-F238E27FC236}">
                <a16:creationId xmlns:a16="http://schemas.microsoft.com/office/drawing/2014/main" id="{B9B65959-E80D-9F15-FDF3-3584F3797EB2}"/>
              </a:ext>
            </a:extLst>
          </p:cNvPr>
          <p:cNvPicPr>
            <a:picLocks noChangeAspect="1"/>
          </p:cNvPicPr>
          <p:nvPr/>
        </p:nvPicPr>
        <p:blipFill>
          <a:blip r:embed="rId5"/>
          <a:srcRect l="3331" t="22835" r="2294" b="28343"/>
          <a:stretch/>
        </p:blipFill>
        <p:spPr>
          <a:xfrm>
            <a:off x="6194288" y="2820954"/>
            <a:ext cx="4832623" cy="1873875"/>
          </a:xfrm>
          <a:prstGeom prst="rect">
            <a:avLst/>
          </a:prstGeom>
        </p:spPr>
      </p:pic>
    </p:spTree>
    <p:extLst>
      <p:ext uri="{BB962C8B-B14F-4D97-AF65-F5344CB8AC3E}">
        <p14:creationId xmlns:p14="http://schemas.microsoft.com/office/powerpoint/2010/main" val="31116517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F93B4-7EFF-6877-4A92-7FD6C5B4ECB2}"/>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BADCE589-CEC0-7F75-6C75-5210D1899D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Slide Number Placeholder 11">
            <a:extLst>
              <a:ext uri="{FF2B5EF4-FFF2-40B4-BE49-F238E27FC236}">
                <a16:creationId xmlns:a16="http://schemas.microsoft.com/office/drawing/2014/main" id="{17F384E7-5592-3B39-2800-8891C760FCE7}"/>
              </a:ext>
            </a:extLst>
          </p:cNvPr>
          <p:cNvSpPr>
            <a:spLocks noGrp="1"/>
          </p:cNvSpPr>
          <p:nvPr>
            <p:ph type="sldNum" sz="quarter" idx="12"/>
          </p:nvPr>
        </p:nvSpPr>
        <p:spPr/>
        <p:txBody>
          <a:bodyPr/>
          <a:lstStyle/>
          <a:p>
            <a:fld id="{48F19E39-9933-F648-B2F3-3AC17C0DC986}" type="slidenum">
              <a:rPr lang="en-US" smtClean="0">
                <a:solidFill>
                  <a:schemeClr val="bg1"/>
                </a:solidFill>
              </a:rPr>
              <a:t>4</a:t>
            </a:fld>
            <a:endParaRPr lang="en-US" dirty="0">
              <a:solidFill>
                <a:schemeClr val="bg1"/>
              </a:solidFill>
            </a:endParaRPr>
          </a:p>
        </p:txBody>
      </p:sp>
      <p:sp>
        <p:nvSpPr>
          <p:cNvPr id="2" name="TextBox 1">
            <a:extLst>
              <a:ext uri="{FF2B5EF4-FFF2-40B4-BE49-F238E27FC236}">
                <a16:creationId xmlns:a16="http://schemas.microsoft.com/office/drawing/2014/main" id="{885F3E51-9D2C-E0AD-1F09-D1FA984FB33A}"/>
              </a:ext>
            </a:extLst>
          </p:cNvPr>
          <p:cNvSpPr txBox="1"/>
          <p:nvPr/>
        </p:nvSpPr>
        <p:spPr>
          <a:xfrm>
            <a:off x="596348" y="374273"/>
            <a:ext cx="11038604" cy="830997"/>
          </a:xfrm>
          <a:prstGeom prst="rect">
            <a:avLst/>
          </a:prstGeom>
          <a:noFill/>
        </p:spPr>
        <p:txBody>
          <a:bodyPr wrap="square" rtlCol="0">
            <a:spAutoFit/>
          </a:bodyPr>
          <a:lstStyle/>
          <a:p>
            <a:pPr algn="just"/>
            <a:r>
              <a:rPr lang="en-US" sz="2800" b="1" dirty="0">
                <a:solidFill>
                  <a:srgbClr val="822334"/>
                </a:solidFill>
                <a:latin typeface="Inter" panose="02000503000000020004" pitchFamily="2" charset="0"/>
                <a:ea typeface="Inter" panose="02000503000000020004" pitchFamily="2" charset="0"/>
                <a:cs typeface="Inter" panose="02000503000000020004" pitchFamily="2" charset="0"/>
              </a:rPr>
              <a:t>SYSTEM WORKFLOW</a:t>
            </a:r>
          </a:p>
          <a:p>
            <a:pPr algn="just"/>
            <a:r>
              <a:rPr lang="en-US" sz="2000" dirty="0">
                <a:solidFill>
                  <a:srgbClr val="822334"/>
                </a:solidFill>
                <a:latin typeface="Inter" panose="02000503000000020004" pitchFamily="2" charset="0"/>
                <a:ea typeface="Inter" panose="02000503000000020004" pitchFamily="2" charset="0"/>
                <a:cs typeface="Inter" panose="02000503000000020004" pitchFamily="2" charset="0"/>
              </a:rPr>
              <a:t>Platform Architecture</a:t>
            </a:r>
          </a:p>
        </p:txBody>
      </p:sp>
      <p:sp>
        <p:nvSpPr>
          <p:cNvPr id="14" name="Footer Placeholder 10">
            <a:extLst>
              <a:ext uri="{FF2B5EF4-FFF2-40B4-BE49-F238E27FC236}">
                <a16:creationId xmlns:a16="http://schemas.microsoft.com/office/drawing/2014/main" id="{D544D7FD-8E19-60AC-F1F5-CA4F904BEA22}"/>
              </a:ext>
            </a:extLst>
          </p:cNvPr>
          <p:cNvSpPr>
            <a:spLocks noGrp="1"/>
          </p:cNvSpPr>
          <p:nvPr>
            <p:ph type="ftr" sz="quarter" idx="11"/>
          </p:nvPr>
        </p:nvSpPr>
        <p:spPr>
          <a:xfrm>
            <a:off x="4566534" y="6356350"/>
            <a:ext cx="3058931" cy="365125"/>
          </a:xfrm>
        </p:spPr>
        <p:txBody>
          <a:bodyPr/>
          <a:lstStyle/>
          <a:p>
            <a:r>
              <a:rPr lang="en-US" dirty="0" err="1">
                <a:solidFill>
                  <a:schemeClr val="bg1"/>
                </a:solidFill>
                <a:latin typeface="Inter" panose="02000503000000020004" pitchFamily="2" charset="0"/>
                <a:ea typeface="Inter" panose="02000503000000020004" pitchFamily="2" charset="0"/>
                <a:cs typeface="Inter" panose="02000503000000020004" pitchFamily="2" charset="0"/>
              </a:rPr>
              <a:t>Cineca</a:t>
            </a:r>
            <a:r>
              <a:rPr lang="en-US" dirty="0">
                <a:solidFill>
                  <a:schemeClr val="bg1"/>
                </a:solidFill>
                <a:latin typeface="Inter" panose="02000503000000020004" pitchFamily="2" charset="0"/>
                <a:ea typeface="Inter" panose="02000503000000020004" pitchFamily="2" charset="0"/>
                <a:cs typeface="Inter" panose="02000503000000020004" pitchFamily="2" charset="0"/>
              </a:rPr>
              <a:t> Agentic Platform – Arman Feili</a:t>
            </a:r>
          </a:p>
        </p:txBody>
      </p:sp>
      <p:pic>
        <p:nvPicPr>
          <p:cNvPr id="15" name="Picture 14">
            <a:extLst>
              <a:ext uri="{FF2B5EF4-FFF2-40B4-BE49-F238E27FC236}">
                <a16:creationId xmlns:a16="http://schemas.microsoft.com/office/drawing/2014/main" id="{E7AB31E3-4AF7-0EDC-F3A8-1B20E82EEBA3}"/>
              </a:ext>
            </a:extLst>
          </p:cNvPr>
          <p:cNvPicPr>
            <a:picLocks noChangeAspect="1"/>
          </p:cNvPicPr>
          <p:nvPr/>
        </p:nvPicPr>
        <p:blipFill>
          <a:blip r:embed="rId3"/>
          <a:stretch>
            <a:fillRect/>
          </a:stretch>
        </p:blipFill>
        <p:spPr>
          <a:xfrm>
            <a:off x="321777" y="6315552"/>
            <a:ext cx="435345" cy="435345"/>
          </a:xfrm>
          <a:prstGeom prst="rect">
            <a:avLst/>
          </a:prstGeom>
        </p:spPr>
      </p:pic>
      <p:pic>
        <p:nvPicPr>
          <p:cNvPr id="16" name="Picture 15">
            <a:extLst>
              <a:ext uri="{FF2B5EF4-FFF2-40B4-BE49-F238E27FC236}">
                <a16:creationId xmlns:a16="http://schemas.microsoft.com/office/drawing/2014/main" id="{03A6B193-CFEF-D05D-2C79-32C0F84E54B3}"/>
              </a:ext>
            </a:extLst>
          </p:cNvPr>
          <p:cNvPicPr>
            <a:picLocks noChangeAspect="1"/>
          </p:cNvPicPr>
          <p:nvPr/>
        </p:nvPicPr>
        <p:blipFill>
          <a:blip r:embed="rId4"/>
          <a:stretch>
            <a:fillRect/>
          </a:stretch>
        </p:blipFill>
        <p:spPr>
          <a:xfrm>
            <a:off x="866134" y="6362629"/>
            <a:ext cx="1093241" cy="365125"/>
          </a:xfrm>
          <a:prstGeom prst="rect">
            <a:avLst/>
          </a:prstGeom>
        </p:spPr>
      </p:pic>
      <p:pic>
        <p:nvPicPr>
          <p:cNvPr id="22" name="Picture 21">
            <a:extLst>
              <a:ext uri="{FF2B5EF4-FFF2-40B4-BE49-F238E27FC236}">
                <a16:creationId xmlns:a16="http://schemas.microsoft.com/office/drawing/2014/main" id="{713EF9A7-712A-546F-E6C5-3403219EE175}"/>
              </a:ext>
            </a:extLst>
          </p:cNvPr>
          <p:cNvPicPr>
            <a:picLocks noChangeAspect="1"/>
          </p:cNvPicPr>
          <p:nvPr/>
        </p:nvPicPr>
        <p:blipFill>
          <a:blip r:embed="rId5"/>
          <a:stretch>
            <a:fillRect/>
          </a:stretch>
        </p:blipFill>
        <p:spPr>
          <a:xfrm>
            <a:off x="596348" y="1658562"/>
            <a:ext cx="11005431" cy="3540876"/>
          </a:xfrm>
          <a:prstGeom prst="rect">
            <a:avLst/>
          </a:prstGeom>
        </p:spPr>
      </p:pic>
    </p:spTree>
    <p:extLst>
      <p:ext uri="{BB962C8B-B14F-4D97-AF65-F5344CB8AC3E}">
        <p14:creationId xmlns:p14="http://schemas.microsoft.com/office/powerpoint/2010/main" val="4009916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79F2C-13A6-DA3F-981D-D1617CB0F7BB}"/>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73C84BF9-0925-EBEC-B180-3431DA1893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Slide Number Placeholder 11">
            <a:extLst>
              <a:ext uri="{FF2B5EF4-FFF2-40B4-BE49-F238E27FC236}">
                <a16:creationId xmlns:a16="http://schemas.microsoft.com/office/drawing/2014/main" id="{2EE020B3-E6EF-8C3D-6561-9145603A5D80}"/>
              </a:ext>
            </a:extLst>
          </p:cNvPr>
          <p:cNvSpPr>
            <a:spLocks noGrp="1"/>
          </p:cNvSpPr>
          <p:nvPr>
            <p:ph type="sldNum" sz="quarter" idx="12"/>
          </p:nvPr>
        </p:nvSpPr>
        <p:spPr/>
        <p:txBody>
          <a:bodyPr/>
          <a:lstStyle/>
          <a:p>
            <a:fld id="{48F19E39-9933-F648-B2F3-3AC17C0DC986}" type="slidenum">
              <a:rPr lang="en-US" smtClean="0">
                <a:solidFill>
                  <a:schemeClr val="bg1"/>
                </a:solidFill>
              </a:rPr>
              <a:t>5</a:t>
            </a:fld>
            <a:endParaRPr lang="en-US" dirty="0">
              <a:solidFill>
                <a:schemeClr val="bg1"/>
              </a:solidFill>
            </a:endParaRPr>
          </a:p>
        </p:txBody>
      </p:sp>
      <p:sp>
        <p:nvSpPr>
          <p:cNvPr id="15" name="TextBox 14">
            <a:extLst>
              <a:ext uri="{FF2B5EF4-FFF2-40B4-BE49-F238E27FC236}">
                <a16:creationId xmlns:a16="http://schemas.microsoft.com/office/drawing/2014/main" id="{8EDAE21E-077C-16A9-51C9-EF38FBE4247F}"/>
              </a:ext>
            </a:extLst>
          </p:cNvPr>
          <p:cNvSpPr txBox="1"/>
          <p:nvPr/>
        </p:nvSpPr>
        <p:spPr>
          <a:xfrm>
            <a:off x="596349" y="374273"/>
            <a:ext cx="10953226" cy="830997"/>
          </a:xfrm>
          <a:prstGeom prst="rect">
            <a:avLst/>
          </a:prstGeom>
          <a:noFill/>
        </p:spPr>
        <p:txBody>
          <a:bodyPr wrap="square" rtlCol="0">
            <a:spAutoFit/>
          </a:bodyPr>
          <a:lstStyle/>
          <a:p>
            <a:pPr algn="just"/>
            <a:r>
              <a:rPr lang="en-US" sz="2800" b="1" dirty="0">
                <a:solidFill>
                  <a:srgbClr val="822334"/>
                </a:solidFill>
                <a:latin typeface="Inter" panose="02000503000000020004" pitchFamily="2" charset="0"/>
                <a:ea typeface="Inter" panose="02000503000000020004" pitchFamily="2" charset="0"/>
                <a:cs typeface="Inter" panose="02000503000000020004" pitchFamily="2" charset="0"/>
              </a:rPr>
              <a:t>WHAT WAS DELIVERED</a:t>
            </a:r>
          </a:p>
          <a:p>
            <a:pPr algn="just"/>
            <a:r>
              <a:rPr lang="en-US" sz="2000" dirty="0">
                <a:solidFill>
                  <a:srgbClr val="822334"/>
                </a:solidFill>
                <a:latin typeface="Inter" panose="02000503000000020004" pitchFamily="2" charset="0"/>
                <a:ea typeface="Inter" panose="02000503000000020004" pitchFamily="2" charset="0"/>
                <a:cs typeface="Inter" panose="02000503000000020004" pitchFamily="2" charset="0"/>
              </a:rPr>
              <a:t>A production-ready agentic platform for secure natural-language access to graph data.</a:t>
            </a:r>
          </a:p>
        </p:txBody>
      </p:sp>
      <p:sp>
        <p:nvSpPr>
          <p:cNvPr id="2" name="Footer Placeholder 10">
            <a:extLst>
              <a:ext uri="{FF2B5EF4-FFF2-40B4-BE49-F238E27FC236}">
                <a16:creationId xmlns:a16="http://schemas.microsoft.com/office/drawing/2014/main" id="{68135B46-E0F3-B6D0-C423-7CBF07FCF9D9}"/>
              </a:ext>
            </a:extLst>
          </p:cNvPr>
          <p:cNvSpPr>
            <a:spLocks noGrp="1"/>
          </p:cNvSpPr>
          <p:nvPr>
            <p:ph type="ftr" sz="quarter" idx="11"/>
          </p:nvPr>
        </p:nvSpPr>
        <p:spPr>
          <a:xfrm>
            <a:off x="4566534" y="6356350"/>
            <a:ext cx="3058931" cy="365125"/>
          </a:xfrm>
        </p:spPr>
        <p:txBody>
          <a:bodyPr/>
          <a:lstStyle/>
          <a:p>
            <a:r>
              <a:rPr lang="en-US" dirty="0" err="1">
                <a:solidFill>
                  <a:schemeClr val="bg1"/>
                </a:solidFill>
                <a:latin typeface="Inter" panose="02000503000000020004" pitchFamily="2" charset="0"/>
                <a:ea typeface="Inter" panose="02000503000000020004" pitchFamily="2" charset="0"/>
                <a:cs typeface="Inter" panose="02000503000000020004" pitchFamily="2" charset="0"/>
              </a:rPr>
              <a:t>Cineca</a:t>
            </a:r>
            <a:r>
              <a:rPr lang="en-US" dirty="0">
                <a:solidFill>
                  <a:schemeClr val="bg1"/>
                </a:solidFill>
                <a:latin typeface="Inter" panose="02000503000000020004" pitchFamily="2" charset="0"/>
                <a:ea typeface="Inter" panose="02000503000000020004" pitchFamily="2" charset="0"/>
                <a:cs typeface="Inter" panose="02000503000000020004" pitchFamily="2" charset="0"/>
              </a:rPr>
              <a:t> Agentic Platform – Arman Feili</a:t>
            </a:r>
          </a:p>
        </p:txBody>
      </p:sp>
      <p:pic>
        <p:nvPicPr>
          <p:cNvPr id="3" name="Picture 2">
            <a:extLst>
              <a:ext uri="{FF2B5EF4-FFF2-40B4-BE49-F238E27FC236}">
                <a16:creationId xmlns:a16="http://schemas.microsoft.com/office/drawing/2014/main" id="{F3BF56AF-83A4-76AF-1586-EAC985603048}"/>
              </a:ext>
            </a:extLst>
          </p:cNvPr>
          <p:cNvPicPr>
            <a:picLocks noChangeAspect="1"/>
          </p:cNvPicPr>
          <p:nvPr/>
        </p:nvPicPr>
        <p:blipFill>
          <a:blip r:embed="rId3"/>
          <a:stretch>
            <a:fillRect/>
          </a:stretch>
        </p:blipFill>
        <p:spPr>
          <a:xfrm>
            <a:off x="321777" y="6315552"/>
            <a:ext cx="435345" cy="435345"/>
          </a:xfrm>
          <a:prstGeom prst="rect">
            <a:avLst/>
          </a:prstGeom>
        </p:spPr>
      </p:pic>
      <p:pic>
        <p:nvPicPr>
          <p:cNvPr id="5" name="Picture 4">
            <a:extLst>
              <a:ext uri="{FF2B5EF4-FFF2-40B4-BE49-F238E27FC236}">
                <a16:creationId xmlns:a16="http://schemas.microsoft.com/office/drawing/2014/main" id="{6A6F4535-4161-4B3A-8709-B39FA9464B0F}"/>
              </a:ext>
            </a:extLst>
          </p:cNvPr>
          <p:cNvPicPr>
            <a:picLocks noChangeAspect="1"/>
          </p:cNvPicPr>
          <p:nvPr/>
        </p:nvPicPr>
        <p:blipFill>
          <a:blip r:embed="rId4"/>
          <a:stretch>
            <a:fillRect/>
          </a:stretch>
        </p:blipFill>
        <p:spPr>
          <a:xfrm>
            <a:off x="866134" y="6362629"/>
            <a:ext cx="1093241" cy="365125"/>
          </a:xfrm>
          <a:prstGeom prst="rect">
            <a:avLst/>
          </a:prstGeom>
        </p:spPr>
      </p:pic>
      <p:pic>
        <p:nvPicPr>
          <p:cNvPr id="24" name="Picture 23">
            <a:extLst>
              <a:ext uri="{FF2B5EF4-FFF2-40B4-BE49-F238E27FC236}">
                <a16:creationId xmlns:a16="http://schemas.microsoft.com/office/drawing/2014/main" id="{86F60582-E53E-8D31-7A2B-83BFF2ED01E4}"/>
              </a:ext>
            </a:extLst>
          </p:cNvPr>
          <p:cNvPicPr>
            <a:picLocks noChangeAspect="1"/>
          </p:cNvPicPr>
          <p:nvPr/>
        </p:nvPicPr>
        <p:blipFill>
          <a:blip r:embed="rId5"/>
          <a:srcRect l="3832" r="3695" b="3195"/>
          <a:stretch/>
        </p:blipFill>
        <p:spPr>
          <a:xfrm>
            <a:off x="4622606" y="1854747"/>
            <a:ext cx="3934986" cy="4119333"/>
          </a:xfrm>
          <a:prstGeom prst="rect">
            <a:avLst/>
          </a:prstGeom>
        </p:spPr>
      </p:pic>
      <p:sp>
        <p:nvSpPr>
          <p:cNvPr id="25" name="TextBox 24">
            <a:extLst>
              <a:ext uri="{FF2B5EF4-FFF2-40B4-BE49-F238E27FC236}">
                <a16:creationId xmlns:a16="http://schemas.microsoft.com/office/drawing/2014/main" id="{37C6B726-0E69-635A-877B-9276371D6E6B}"/>
              </a:ext>
            </a:extLst>
          </p:cNvPr>
          <p:cNvSpPr txBox="1"/>
          <p:nvPr/>
        </p:nvSpPr>
        <p:spPr>
          <a:xfrm>
            <a:off x="2723542" y="2227618"/>
            <a:ext cx="2136280" cy="338554"/>
          </a:xfrm>
          <a:prstGeom prst="rect">
            <a:avLst/>
          </a:prstGeom>
          <a:noFill/>
        </p:spPr>
        <p:txBody>
          <a:bodyPr wrap="square" rtlCol="0">
            <a:spAutoFit/>
          </a:bodyPr>
          <a:lstStyle/>
          <a:p>
            <a:r>
              <a:rPr lang="en-US" sz="1600" dirty="0">
                <a:latin typeface="Inter" panose="02000503000000020004" pitchFamily="2" charset="0"/>
                <a:ea typeface="Inter" panose="02000503000000020004" pitchFamily="2" charset="0"/>
                <a:cs typeface="Inter" panose="02000503000000020004" pitchFamily="2" charset="0"/>
              </a:rPr>
              <a:t>Full-stack platform </a:t>
            </a:r>
          </a:p>
        </p:txBody>
      </p:sp>
      <p:sp>
        <p:nvSpPr>
          <p:cNvPr id="26" name="TextBox 25">
            <a:extLst>
              <a:ext uri="{FF2B5EF4-FFF2-40B4-BE49-F238E27FC236}">
                <a16:creationId xmlns:a16="http://schemas.microsoft.com/office/drawing/2014/main" id="{90C1D283-EAAC-3A7A-7656-D36B7A19AA42}"/>
              </a:ext>
            </a:extLst>
          </p:cNvPr>
          <p:cNvSpPr txBox="1"/>
          <p:nvPr/>
        </p:nvSpPr>
        <p:spPr>
          <a:xfrm>
            <a:off x="5414165" y="1542599"/>
            <a:ext cx="2336882" cy="338554"/>
          </a:xfrm>
          <a:prstGeom prst="rect">
            <a:avLst/>
          </a:prstGeom>
          <a:noFill/>
        </p:spPr>
        <p:txBody>
          <a:bodyPr wrap="square" rtlCol="0">
            <a:spAutoFit/>
          </a:bodyPr>
          <a:lstStyle/>
          <a:p>
            <a:r>
              <a:rPr lang="en-US" sz="1600" dirty="0">
                <a:latin typeface="Inter" panose="02000503000000020004" pitchFamily="2" charset="0"/>
                <a:ea typeface="Inter" panose="02000503000000020004" pitchFamily="2" charset="0"/>
                <a:cs typeface="Inter" panose="02000503000000020004" pitchFamily="2" charset="0"/>
              </a:rPr>
              <a:t>4-phase orchestration </a:t>
            </a:r>
          </a:p>
        </p:txBody>
      </p:sp>
      <p:sp>
        <p:nvSpPr>
          <p:cNvPr id="27" name="TextBox 26">
            <a:extLst>
              <a:ext uri="{FF2B5EF4-FFF2-40B4-BE49-F238E27FC236}">
                <a16:creationId xmlns:a16="http://schemas.microsoft.com/office/drawing/2014/main" id="{1D4DC594-968F-7705-BB5A-BC98720931B1}"/>
              </a:ext>
            </a:extLst>
          </p:cNvPr>
          <p:cNvSpPr txBox="1"/>
          <p:nvPr/>
        </p:nvSpPr>
        <p:spPr>
          <a:xfrm>
            <a:off x="8442286" y="2305628"/>
            <a:ext cx="2237492" cy="338554"/>
          </a:xfrm>
          <a:prstGeom prst="rect">
            <a:avLst/>
          </a:prstGeom>
          <a:noFill/>
        </p:spPr>
        <p:txBody>
          <a:bodyPr wrap="square" rtlCol="0">
            <a:spAutoFit/>
          </a:bodyPr>
          <a:lstStyle/>
          <a:p>
            <a:r>
              <a:rPr lang="en-US" sz="1600" dirty="0">
                <a:latin typeface="Inter" panose="02000503000000020004" pitchFamily="2" charset="0"/>
                <a:ea typeface="Inter" panose="02000503000000020004" pitchFamily="2" charset="0"/>
                <a:cs typeface="Inter" panose="02000503000000020004" pitchFamily="2" charset="0"/>
              </a:rPr>
              <a:t>Secure </a:t>
            </a:r>
            <a:r>
              <a:rPr lang="en-US" sz="1600" dirty="0" err="1">
                <a:latin typeface="Inter" panose="02000503000000020004" pitchFamily="2" charset="0"/>
                <a:ea typeface="Inter" panose="02000503000000020004" pitchFamily="2" charset="0"/>
                <a:cs typeface="Inter" panose="02000503000000020004" pitchFamily="2" charset="0"/>
              </a:rPr>
              <a:t>NL→Cypher</a:t>
            </a:r>
            <a:endParaRPr lang="en-US" sz="1600" dirty="0">
              <a:latin typeface="Inter" panose="02000503000000020004" pitchFamily="2" charset="0"/>
              <a:ea typeface="Inter" panose="02000503000000020004" pitchFamily="2" charset="0"/>
              <a:cs typeface="Inter" panose="02000503000000020004" pitchFamily="2" charset="0"/>
            </a:endParaRPr>
          </a:p>
        </p:txBody>
      </p:sp>
      <p:sp>
        <p:nvSpPr>
          <p:cNvPr id="28" name="TextBox 27">
            <a:extLst>
              <a:ext uri="{FF2B5EF4-FFF2-40B4-BE49-F238E27FC236}">
                <a16:creationId xmlns:a16="http://schemas.microsoft.com/office/drawing/2014/main" id="{21797004-42F4-1C68-0AED-48CA1FB09FDE}"/>
              </a:ext>
            </a:extLst>
          </p:cNvPr>
          <p:cNvSpPr txBox="1"/>
          <p:nvPr/>
        </p:nvSpPr>
        <p:spPr>
          <a:xfrm>
            <a:off x="1863218" y="3762295"/>
            <a:ext cx="2996604" cy="338554"/>
          </a:xfrm>
          <a:prstGeom prst="rect">
            <a:avLst/>
          </a:prstGeom>
          <a:noFill/>
        </p:spPr>
        <p:txBody>
          <a:bodyPr wrap="square" rtlCol="0">
            <a:spAutoFit/>
          </a:bodyPr>
          <a:lstStyle/>
          <a:p>
            <a:r>
              <a:rPr lang="en-US" sz="1600" dirty="0">
                <a:latin typeface="Inter" panose="02000503000000020004" pitchFamily="2" charset="0"/>
                <a:ea typeface="Inter" panose="02000503000000020004" pitchFamily="2" charset="0"/>
                <a:cs typeface="Inter" panose="02000503000000020004" pitchFamily="2" charset="0"/>
              </a:rPr>
              <a:t>Resilience and observability</a:t>
            </a:r>
          </a:p>
        </p:txBody>
      </p:sp>
      <p:sp>
        <p:nvSpPr>
          <p:cNvPr id="29" name="TextBox 28">
            <a:extLst>
              <a:ext uri="{FF2B5EF4-FFF2-40B4-BE49-F238E27FC236}">
                <a16:creationId xmlns:a16="http://schemas.microsoft.com/office/drawing/2014/main" id="{3C431779-84E9-5944-7D9D-7213120FF9D1}"/>
              </a:ext>
            </a:extLst>
          </p:cNvPr>
          <p:cNvSpPr txBox="1"/>
          <p:nvPr/>
        </p:nvSpPr>
        <p:spPr>
          <a:xfrm>
            <a:off x="8610600" y="3263081"/>
            <a:ext cx="2996604" cy="338554"/>
          </a:xfrm>
          <a:prstGeom prst="rect">
            <a:avLst/>
          </a:prstGeom>
          <a:noFill/>
        </p:spPr>
        <p:txBody>
          <a:bodyPr wrap="square" rtlCol="0">
            <a:spAutoFit/>
          </a:bodyPr>
          <a:lstStyle/>
          <a:p>
            <a:r>
              <a:rPr lang="en-US" sz="1600" dirty="0">
                <a:latin typeface="Inter" panose="02000503000000020004" pitchFamily="2" charset="0"/>
                <a:ea typeface="Inter" panose="02000503000000020004" pitchFamily="2" charset="0"/>
                <a:cs typeface="Inter" panose="02000503000000020004" pitchFamily="2" charset="0"/>
              </a:rPr>
              <a:t>Multi-tenant governance</a:t>
            </a:r>
          </a:p>
        </p:txBody>
      </p:sp>
      <p:sp>
        <p:nvSpPr>
          <p:cNvPr id="30" name="TextBox 29">
            <a:extLst>
              <a:ext uri="{FF2B5EF4-FFF2-40B4-BE49-F238E27FC236}">
                <a16:creationId xmlns:a16="http://schemas.microsoft.com/office/drawing/2014/main" id="{9E1907A8-3BB2-1272-E818-B21850D1B7F4}"/>
              </a:ext>
            </a:extLst>
          </p:cNvPr>
          <p:cNvSpPr txBox="1"/>
          <p:nvPr/>
        </p:nvSpPr>
        <p:spPr>
          <a:xfrm>
            <a:off x="8442286" y="4044542"/>
            <a:ext cx="2996604" cy="338554"/>
          </a:xfrm>
          <a:prstGeom prst="rect">
            <a:avLst/>
          </a:prstGeom>
          <a:noFill/>
        </p:spPr>
        <p:txBody>
          <a:bodyPr wrap="square" rtlCol="0">
            <a:spAutoFit/>
          </a:bodyPr>
          <a:lstStyle/>
          <a:p>
            <a:r>
              <a:rPr lang="en-US" sz="1600" dirty="0">
                <a:latin typeface="Inter" panose="02000503000000020004" pitchFamily="2" charset="0"/>
                <a:ea typeface="Inter" panose="02000503000000020004" pitchFamily="2" charset="0"/>
                <a:cs typeface="Inter" panose="02000503000000020004" pitchFamily="2" charset="0"/>
              </a:rPr>
              <a:t>Model-agnostic LLM support</a:t>
            </a:r>
          </a:p>
        </p:txBody>
      </p:sp>
      <p:sp>
        <p:nvSpPr>
          <p:cNvPr id="31" name="TextBox 30">
            <a:extLst>
              <a:ext uri="{FF2B5EF4-FFF2-40B4-BE49-F238E27FC236}">
                <a16:creationId xmlns:a16="http://schemas.microsoft.com/office/drawing/2014/main" id="{7FEE8977-63FB-4B4F-CA38-0DF1700205F3}"/>
              </a:ext>
            </a:extLst>
          </p:cNvPr>
          <p:cNvSpPr txBox="1"/>
          <p:nvPr/>
        </p:nvSpPr>
        <p:spPr>
          <a:xfrm>
            <a:off x="8442286" y="4383096"/>
            <a:ext cx="2556798" cy="338554"/>
          </a:xfrm>
          <a:prstGeom prst="rect">
            <a:avLst/>
          </a:prstGeom>
          <a:noFill/>
        </p:spPr>
        <p:txBody>
          <a:bodyPr wrap="square" rtlCol="0">
            <a:spAutoFit/>
          </a:bodyPr>
          <a:lstStyle/>
          <a:p>
            <a:r>
              <a:rPr lang="en-US" sz="1600" dirty="0">
                <a:latin typeface="Inter" panose="02000503000000020004" pitchFamily="2" charset="0"/>
                <a:ea typeface="Inter" panose="02000503000000020004" pitchFamily="2" charset="0"/>
                <a:cs typeface="Inter" panose="02000503000000020004" pitchFamily="2" charset="0"/>
              </a:rPr>
              <a:t>Async jobs and workers</a:t>
            </a:r>
          </a:p>
        </p:txBody>
      </p:sp>
      <p:sp>
        <p:nvSpPr>
          <p:cNvPr id="35" name="TextBox 34">
            <a:extLst>
              <a:ext uri="{FF2B5EF4-FFF2-40B4-BE49-F238E27FC236}">
                <a16:creationId xmlns:a16="http://schemas.microsoft.com/office/drawing/2014/main" id="{CEE62AE9-D068-E6CA-3089-28DC1429E101}"/>
              </a:ext>
            </a:extLst>
          </p:cNvPr>
          <p:cNvSpPr txBox="1"/>
          <p:nvPr/>
        </p:nvSpPr>
        <p:spPr>
          <a:xfrm>
            <a:off x="596349" y="1529016"/>
            <a:ext cx="3626331" cy="4585871"/>
          </a:xfrm>
          <a:prstGeom prst="rect">
            <a:avLst/>
          </a:prstGeom>
          <a:noFill/>
        </p:spPr>
        <p:txBody>
          <a:bodyPr wrap="square" rtlCol="0">
            <a:spAutoFit/>
          </a:bodyPr>
          <a:lstStyle/>
          <a:p>
            <a:r>
              <a:rPr lang="en-US" b="1" dirty="0">
                <a:latin typeface="Inter" panose="02000503000000020004" pitchFamily="2" charset="0"/>
                <a:ea typeface="Inter" panose="02000503000000020004" pitchFamily="2" charset="0"/>
                <a:cs typeface="Inter" panose="02000503000000020004" pitchFamily="2" charset="0"/>
              </a:rPr>
              <a:t>Core Delivery</a:t>
            </a:r>
          </a:p>
          <a:p>
            <a:endParaRPr lang="en-US" sz="1600" dirty="0">
              <a:latin typeface="Inter" panose="02000503000000020004" pitchFamily="2" charset="0"/>
              <a:ea typeface="Inter" panose="02000503000000020004" pitchFamily="2" charset="0"/>
              <a:cs typeface="Inter" panose="02000503000000020004" pitchFamily="2" charset="0"/>
            </a:endParaRPr>
          </a:p>
          <a:p>
            <a:endParaRPr lang="en-US" sz="1600" dirty="0">
              <a:latin typeface="Inter" panose="02000503000000020004" pitchFamily="2" charset="0"/>
              <a:ea typeface="Inter" panose="02000503000000020004" pitchFamily="2" charset="0"/>
              <a:cs typeface="Inter" panose="02000503000000020004" pitchFamily="2" charset="0"/>
            </a:endParaRPr>
          </a:p>
          <a:p>
            <a:endParaRPr lang="en-US" sz="1600" dirty="0">
              <a:latin typeface="Inter" panose="02000503000000020004" pitchFamily="2" charset="0"/>
              <a:ea typeface="Inter" panose="02000503000000020004" pitchFamily="2" charset="0"/>
              <a:cs typeface="Inter" panose="02000503000000020004" pitchFamily="2" charset="0"/>
            </a:endParaRPr>
          </a:p>
          <a:p>
            <a:endParaRPr lang="en-US" sz="1600" dirty="0">
              <a:latin typeface="Inter" panose="02000503000000020004" pitchFamily="2" charset="0"/>
              <a:ea typeface="Inter" panose="02000503000000020004" pitchFamily="2" charset="0"/>
              <a:cs typeface="Inter" panose="02000503000000020004" pitchFamily="2" charset="0"/>
            </a:endParaRPr>
          </a:p>
          <a:p>
            <a:endParaRPr lang="en-US" sz="1600" dirty="0">
              <a:latin typeface="Inter" panose="02000503000000020004" pitchFamily="2" charset="0"/>
              <a:ea typeface="Inter" panose="02000503000000020004" pitchFamily="2" charset="0"/>
              <a:cs typeface="Inter" panose="02000503000000020004" pitchFamily="2" charset="0"/>
            </a:endParaRPr>
          </a:p>
          <a:p>
            <a:endParaRPr lang="en-US" sz="1600" dirty="0">
              <a:latin typeface="Inter" panose="02000503000000020004" pitchFamily="2" charset="0"/>
              <a:ea typeface="Inter" panose="02000503000000020004" pitchFamily="2" charset="0"/>
              <a:cs typeface="Inter" panose="02000503000000020004" pitchFamily="2" charset="0"/>
            </a:endParaRPr>
          </a:p>
          <a:p>
            <a:endParaRPr lang="en-US" sz="1600" dirty="0">
              <a:latin typeface="Inter" panose="02000503000000020004" pitchFamily="2" charset="0"/>
              <a:ea typeface="Inter" panose="02000503000000020004" pitchFamily="2" charset="0"/>
              <a:cs typeface="Inter" panose="02000503000000020004" pitchFamily="2" charset="0"/>
            </a:endParaRPr>
          </a:p>
          <a:p>
            <a:endParaRPr lang="en-US" sz="1600" dirty="0">
              <a:latin typeface="Inter" panose="02000503000000020004" pitchFamily="2" charset="0"/>
              <a:ea typeface="Inter" panose="02000503000000020004" pitchFamily="2" charset="0"/>
              <a:cs typeface="Inter" panose="02000503000000020004" pitchFamily="2" charset="0"/>
            </a:endParaRPr>
          </a:p>
          <a:p>
            <a:endParaRPr lang="en-US" sz="1600" dirty="0">
              <a:latin typeface="Inter" panose="02000503000000020004" pitchFamily="2" charset="0"/>
              <a:ea typeface="Inter" panose="02000503000000020004" pitchFamily="2" charset="0"/>
              <a:cs typeface="Inter" panose="02000503000000020004" pitchFamily="2" charset="0"/>
            </a:endParaRPr>
          </a:p>
          <a:p>
            <a:endParaRPr lang="en-US" sz="1600" dirty="0">
              <a:latin typeface="Inter" panose="02000503000000020004" pitchFamily="2" charset="0"/>
              <a:ea typeface="Inter" panose="02000503000000020004" pitchFamily="2" charset="0"/>
              <a:cs typeface="Inter" panose="02000503000000020004" pitchFamily="2" charset="0"/>
            </a:endParaRPr>
          </a:p>
          <a:p>
            <a:endParaRPr lang="en-US" sz="1600" dirty="0">
              <a:latin typeface="Inter" panose="02000503000000020004" pitchFamily="2" charset="0"/>
              <a:ea typeface="Inter" panose="02000503000000020004" pitchFamily="2" charset="0"/>
              <a:cs typeface="Inter" panose="02000503000000020004" pitchFamily="2" charset="0"/>
            </a:endParaRPr>
          </a:p>
          <a:p>
            <a:r>
              <a:rPr lang="en-US" b="1" dirty="0">
                <a:latin typeface="Inter" panose="02000503000000020004" pitchFamily="2" charset="0"/>
                <a:ea typeface="Inter" panose="02000503000000020004" pitchFamily="2" charset="0"/>
                <a:cs typeface="Inter" panose="02000503000000020004" pitchFamily="2" charset="0"/>
              </a:rPr>
              <a:t>Production Evidence</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16+ components </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76 endpoints </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34 MCP tools / 12 categories </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1,000+ tests </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~411,700 LOC</a:t>
            </a:r>
          </a:p>
        </p:txBody>
      </p:sp>
    </p:spTree>
    <p:extLst>
      <p:ext uri="{BB962C8B-B14F-4D97-AF65-F5344CB8AC3E}">
        <p14:creationId xmlns:p14="http://schemas.microsoft.com/office/powerpoint/2010/main" val="10467508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65288-3215-C5AA-B682-DDC22EB9FE9F}"/>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12695705-FAE5-FCCB-07A6-04628299CC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Slide Number Placeholder 11">
            <a:extLst>
              <a:ext uri="{FF2B5EF4-FFF2-40B4-BE49-F238E27FC236}">
                <a16:creationId xmlns:a16="http://schemas.microsoft.com/office/drawing/2014/main" id="{58A0B9F0-364D-7066-320D-0F084EB8974A}"/>
              </a:ext>
            </a:extLst>
          </p:cNvPr>
          <p:cNvSpPr>
            <a:spLocks noGrp="1"/>
          </p:cNvSpPr>
          <p:nvPr>
            <p:ph type="sldNum" sz="quarter" idx="12"/>
          </p:nvPr>
        </p:nvSpPr>
        <p:spPr/>
        <p:txBody>
          <a:bodyPr/>
          <a:lstStyle/>
          <a:p>
            <a:fld id="{48F19E39-9933-F648-B2F3-3AC17C0DC986}" type="slidenum">
              <a:rPr lang="en-US" smtClean="0">
                <a:solidFill>
                  <a:schemeClr val="bg1"/>
                </a:solidFill>
              </a:rPr>
              <a:t>6</a:t>
            </a:fld>
            <a:endParaRPr lang="en-US" dirty="0">
              <a:solidFill>
                <a:schemeClr val="bg1"/>
              </a:solidFill>
            </a:endParaRPr>
          </a:p>
        </p:txBody>
      </p:sp>
      <p:sp>
        <p:nvSpPr>
          <p:cNvPr id="15" name="TextBox 14">
            <a:extLst>
              <a:ext uri="{FF2B5EF4-FFF2-40B4-BE49-F238E27FC236}">
                <a16:creationId xmlns:a16="http://schemas.microsoft.com/office/drawing/2014/main" id="{69BBD39C-E47B-FC1E-81F0-A55582D4D824}"/>
              </a:ext>
            </a:extLst>
          </p:cNvPr>
          <p:cNvSpPr txBox="1"/>
          <p:nvPr/>
        </p:nvSpPr>
        <p:spPr>
          <a:xfrm>
            <a:off x="596349" y="374273"/>
            <a:ext cx="10953226" cy="830997"/>
          </a:xfrm>
          <a:prstGeom prst="rect">
            <a:avLst/>
          </a:prstGeom>
          <a:noFill/>
        </p:spPr>
        <p:txBody>
          <a:bodyPr wrap="square" rtlCol="0">
            <a:spAutoFit/>
          </a:bodyPr>
          <a:lstStyle/>
          <a:p>
            <a:pPr algn="just"/>
            <a:r>
              <a:rPr lang="en-US" sz="2800" b="1" dirty="0">
                <a:solidFill>
                  <a:srgbClr val="822334"/>
                </a:solidFill>
                <a:latin typeface="Inter" panose="02000503000000020004" pitchFamily="2" charset="0"/>
                <a:ea typeface="Inter" panose="02000503000000020004" pitchFamily="2" charset="0"/>
                <a:cs typeface="Inter" panose="02000503000000020004" pitchFamily="2" charset="0"/>
              </a:rPr>
              <a:t>UI</a:t>
            </a:r>
          </a:p>
          <a:p>
            <a:pPr algn="just"/>
            <a:r>
              <a:rPr lang="en-US" sz="2000" dirty="0">
                <a:solidFill>
                  <a:srgbClr val="822334"/>
                </a:solidFill>
                <a:latin typeface="Inter" panose="02000503000000020004" pitchFamily="2" charset="0"/>
                <a:ea typeface="Inter" panose="02000503000000020004" pitchFamily="2" charset="0"/>
                <a:cs typeface="Inter" panose="02000503000000020004" pitchFamily="2" charset="0"/>
              </a:rPr>
              <a:t>Admin &amp; User chatbot UI</a:t>
            </a:r>
            <a:endParaRPr lang="en-US" sz="2000" b="1" dirty="0">
              <a:solidFill>
                <a:srgbClr val="822334"/>
              </a:solidFill>
              <a:latin typeface="Inter" panose="02000503000000020004" pitchFamily="2" charset="0"/>
              <a:ea typeface="Inter" panose="02000503000000020004" pitchFamily="2" charset="0"/>
              <a:cs typeface="Inter" panose="02000503000000020004" pitchFamily="2" charset="0"/>
            </a:endParaRPr>
          </a:p>
        </p:txBody>
      </p:sp>
      <p:pic>
        <p:nvPicPr>
          <p:cNvPr id="5" name="Picture 4">
            <a:extLst>
              <a:ext uri="{FF2B5EF4-FFF2-40B4-BE49-F238E27FC236}">
                <a16:creationId xmlns:a16="http://schemas.microsoft.com/office/drawing/2014/main" id="{164C1954-8B01-AC26-DCDB-C72D2C2FEED1}"/>
              </a:ext>
            </a:extLst>
          </p:cNvPr>
          <p:cNvPicPr>
            <a:picLocks noChangeAspect="1"/>
          </p:cNvPicPr>
          <p:nvPr/>
        </p:nvPicPr>
        <p:blipFill>
          <a:blip r:embed="rId3"/>
          <a:stretch>
            <a:fillRect/>
          </a:stretch>
        </p:blipFill>
        <p:spPr>
          <a:xfrm>
            <a:off x="8610600" y="1477911"/>
            <a:ext cx="2106446" cy="455976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7" name="Footer Placeholder 10">
            <a:extLst>
              <a:ext uri="{FF2B5EF4-FFF2-40B4-BE49-F238E27FC236}">
                <a16:creationId xmlns:a16="http://schemas.microsoft.com/office/drawing/2014/main" id="{E55BDCC8-4E08-3737-B787-4AED91CC69F2}"/>
              </a:ext>
            </a:extLst>
          </p:cNvPr>
          <p:cNvSpPr>
            <a:spLocks noGrp="1"/>
          </p:cNvSpPr>
          <p:nvPr>
            <p:ph type="ftr" sz="quarter" idx="11"/>
          </p:nvPr>
        </p:nvSpPr>
        <p:spPr>
          <a:xfrm>
            <a:off x="4566534" y="6356350"/>
            <a:ext cx="3058931" cy="365125"/>
          </a:xfrm>
        </p:spPr>
        <p:txBody>
          <a:bodyPr/>
          <a:lstStyle/>
          <a:p>
            <a:r>
              <a:rPr lang="en-US" dirty="0" err="1">
                <a:solidFill>
                  <a:schemeClr val="bg1"/>
                </a:solidFill>
                <a:latin typeface="Inter" panose="02000503000000020004" pitchFamily="2" charset="0"/>
                <a:ea typeface="Inter" panose="02000503000000020004" pitchFamily="2" charset="0"/>
                <a:cs typeface="Inter" panose="02000503000000020004" pitchFamily="2" charset="0"/>
              </a:rPr>
              <a:t>Cineca</a:t>
            </a:r>
            <a:r>
              <a:rPr lang="en-US" dirty="0">
                <a:solidFill>
                  <a:schemeClr val="bg1"/>
                </a:solidFill>
                <a:latin typeface="Inter" panose="02000503000000020004" pitchFamily="2" charset="0"/>
                <a:ea typeface="Inter" panose="02000503000000020004" pitchFamily="2" charset="0"/>
                <a:cs typeface="Inter" panose="02000503000000020004" pitchFamily="2" charset="0"/>
              </a:rPr>
              <a:t> Agentic Platform – Arman Feili</a:t>
            </a:r>
          </a:p>
        </p:txBody>
      </p:sp>
      <p:pic>
        <p:nvPicPr>
          <p:cNvPr id="8" name="Picture 7">
            <a:extLst>
              <a:ext uri="{FF2B5EF4-FFF2-40B4-BE49-F238E27FC236}">
                <a16:creationId xmlns:a16="http://schemas.microsoft.com/office/drawing/2014/main" id="{88E17EF4-1D3D-B23E-841D-C3139B8B1A2B}"/>
              </a:ext>
            </a:extLst>
          </p:cNvPr>
          <p:cNvPicPr>
            <a:picLocks noChangeAspect="1"/>
          </p:cNvPicPr>
          <p:nvPr/>
        </p:nvPicPr>
        <p:blipFill>
          <a:blip r:embed="rId4"/>
          <a:stretch>
            <a:fillRect/>
          </a:stretch>
        </p:blipFill>
        <p:spPr>
          <a:xfrm>
            <a:off x="321777" y="6315552"/>
            <a:ext cx="435345" cy="435345"/>
          </a:xfrm>
          <a:prstGeom prst="rect">
            <a:avLst/>
          </a:prstGeom>
        </p:spPr>
      </p:pic>
      <p:pic>
        <p:nvPicPr>
          <p:cNvPr id="9" name="Picture 8">
            <a:extLst>
              <a:ext uri="{FF2B5EF4-FFF2-40B4-BE49-F238E27FC236}">
                <a16:creationId xmlns:a16="http://schemas.microsoft.com/office/drawing/2014/main" id="{CFCD187E-A96E-F79D-E2C2-854654FEAAFD}"/>
              </a:ext>
            </a:extLst>
          </p:cNvPr>
          <p:cNvPicPr>
            <a:picLocks noChangeAspect="1"/>
          </p:cNvPicPr>
          <p:nvPr/>
        </p:nvPicPr>
        <p:blipFill>
          <a:blip r:embed="rId5"/>
          <a:stretch>
            <a:fillRect/>
          </a:stretch>
        </p:blipFill>
        <p:spPr>
          <a:xfrm>
            <a:off x="866134" y="6362629"/>
            <a:ext cx="1093241" cy="365125"/>
          </a:xfrm>
          <a:prstGeom prst="rect">
            <a:avLst/>
          </a:prstGeom>
        </p:spPr>
      </p:pic>
      <p:graphicFrame>
        <p:nvGraphicFramePr>
          <p:cNvPr id="27" name="Table 26">
            <a:extLst>
              <a:ext uri="{FF2B5EF4-FFF2-40B4-BE49-F238E27FC236}">
                <a16:creationId xmlns:a16="http://schemas.microsoft.com/office/drawing/2014/main" id="{A72729E9-8FED-1C53-162B-264ABBD27183}"/>
              </a:ext>
            </a:extLst>
          </p:cNvPr>
          <p:cNvGraphicFramePr>
            <a:graphicFrameLocks noGrp="1"/>
          </p:cNvGraphicFramePr>
          <p:nvPr>
            <p:extLst>
              <p:ext uri="{D42A27DB-BD31-4B8C-83A1-F6EECF244321}">
                <p14:modId xmlns:p14="http://schemas.microsoft.com/office/powerpoint/2010/main" val="4155783080"/>
              </p:ext>
            </p:extLst>
          </p:nvPr>
        </p:nvGraphicFramePr>
        <p:xfrm>
          <a:off x="995911" y="5207069"/>
          <a:ext cx="5945216" cy="868680"/>
        </p:xfrm>
        <a:graphic>
          <a:graphicData uri="http://schemas.openxmlformats.org/drawingml/2006/table">
            <a:tbl>
              <a:tblPr>
                <a:tableStyleId>{21E4AEA4-8DFA-4A89-87EB-49C32662AFE0}</a:tableStyleId>
              </a:tblPr>
              <a:tblGrid>
                <a:gridCol w="832745">
                  <a:extLst>
                    <a:ext uri="{9D8B030D-6E8A-4147-A177-3AD203B41FA5}">
                      <a16:colId xmlns:a16="http://schemas.microsoft.com/office/drawing/2014/main" val="2901218323"/>
                    </a:ext>
                  </a:extLst>
                </a:gridCol>
                <a:gridCol w="1258587">
                  <a:extLst>
                    <a:ext uri="{9D8B030D-6E8A-4147-A177-3AD203B41FA5}">
                      <a16:colId xmlns:a16="http://schemas.microsoft.com/office/drawing/2014/main" val="377770775"/>
                    </a:ext>
                  </a:extLst>
                </a:gridCol>
                <a:gridCol w="773348">
                  <a:extLst>
                    <a:ext uri="{9D8B030D-6E8A-4147-A177-3AD203B41FA5}">
                      <a16:colId xmlns:a16="http://schemas.microsoft.com/office/drawing/2014/main" val="4033670224"/>
                    </a:ext>
                  </a:extLst>
                </a:gridCol>
                <a:gridCol w="784562">
                  <a:extLst>
                    <a:ext uri="{9D8B030D-6E8A-4147-A177-3AD203B41FA5}">
                      <a16:colId xmlns:a16="http://schemas.microsoft.com/office/drawing/2014/main" val="1996386480"/>
                    </a:ext>
                  </a:extLst>
                </a:gridCol>
                <a:gridCol w="837287">
                  <a:extLst>
                    <a:ext uri="{9D8B030D-6E8A-4147-A177-3AD203B41FA5}">
                      <a16:colId xmlns:a16="http://schemas.microsoft.com/office/drawing/2014/main" val="1490375004"/>
                    </a:ext>
                  </a:extLst>
                </a:gridCol>
                <a:gridCol w="1458687">
                  <a:extLst>
                    <a:ext uri="{9D8B030D-6E8A-4147-A177-3AD203B41FA5}">
                      <a16:colId xmlns:a16="http://schemas.microsoft.com/office/drawing/2014/main" val="1430761344"/>
                    </a:ext>
                  </a:extLst>
                </a:gridCol>
              </a:tblGrid>
              <a:tr h="0">
                <a:tc>
                  <a:txBody>
                    <a:bodyPr/>
                    <a:lstStyle/>
                    <a:p>
                      <a:r>
                        <a:rPr lang="en-US" sz="1400" b="1" dirty="0">
                          <a:effectLst/>
                          <a:latin typeface="Inter" panose="02000503000000020004" pitchFamily="2" charset="0"/>
                          <a:ea typeface="Inter" panose="02000503000000020004" pitchFamily="2" charset="0"/>
                          <a:cs typeface="Inter" panose="02000503000000020004" pitchFamily="2" charset="0"/>
                        </a:rPr>
                        <a:t>Role</a:t>
                      </a:r>
                    </a:p>
                  </a:txBody>
                  <a:tcPr marL="57150" marR="57150" marT="38100" marB="38100" anchor="ctr"/>
                </a:tc>
                <a:tc>
                  <a:txBody>
                    <a:bodyPr/>
                    <a:lstStyle/>
                    <a:p>
                      <a:r>
                        <a:rPr lang="en-US" sz="1400" b="1" dirty="0">
                          <a:effectLst/>
                          <a:latin typeface="Inter" panose="02000503000000020004" pitchFamily="2" charset="0"/>
                          <a:ea typeface="Inter" panose="02000503000000020004" pitchFamily="2" charset="0"/>
                          <a:cs typeface="Inter" panose="02000503000000020004" pitchFamily="2" charset="0"/>
                        </a:rPr>
                        <a:t>agent-runs</a:t>
                      </a:r>
                    </a:p>
                  </a:txBody>
                  <a:tcPr marL="57150" marR="57150" marT="38100" marB="38100" anchor="ctr"/>
                </a:tc>
                <a:tc>
                  <a:txBody>
                    <a:bodyPr/>
                    <a:lstStyle/>
                    <a:p>
                      <a:r>
                        <a:rPr lang="en-US" sz="1400" b="1" dirty="0">
                          <a:effectLst/>
                          <a:latin typeface="Inter" panose="02000503000000020004" pitchFamily="2" charset="0"/>
                          <a:ea typeface="Inter" panose="02000503000000020004" pitchFamily="2" charset="0"/>
                          <a:cs typeface="Inter" panose="02000503000000020004" pitchFamily="2" charset="0"/>
                        </a:rPr>
                        <a:t>jobs</a:t>
                      </a:r>
                    </a:p>
                  </a:txBody>
                  <a:tcPr marL="57150" marR="57150" marT="38100" marB="38100" anchor="ctr"/>
                </a:tc>
                <a:tc>
                  <a:txBody>
                    <a:bodyPr/>
                    <a:lstStyle/>
                    <a:p>
                      <a:r>
                        <a:rPr lang="en-US" sz="1400" b="1">
                          <a:effectLst/>
                          <a:latin typeface="Inter" panose="02000503000000020004" pitchFamily="2" charset="0"/>
                          <a:ea typeface="Inter" panose="02000503000000020004" pitchFamily="2" charset="0"/>
                          <a:cs typeface="Inter" panose="02000503000000020004" pitchFamily="2" charset="0"/>
                        </a:rPr>
                        <a:t>tools</a:t>
                      </a:r>
                    </a:p>
                  </a:txBody>
                  <a:tcPr marL="57150" marR="57150" marT="38100" marB="38100" anchor="ctr"/>
                </a:tc>
                <a:tc>
                  <a:txBody>
                    <a:bodyPr/>
                    <a:lstStyle/>
                    <a:p>
                      <a:r>
                        <a:rPr lang="en-US" sz="1400" b="1" dirty="0">
                          <a:effectLst/>
                          <a:latin typeface="Inter" panose="02000503000000020004" pitchFamily="2" charset="0"/>
                          <a:ea typeface="Inter" panose="02000503000000020004" pitchFamily="2" charset="0"/>
                          <a:cs typeface="Inter" panose="02000503000000020004" pitchFamily="2" charset="0"/>
                        </a:rPr>
                        <a:t>tenants</a:t>
                      </a:r>
                    </a:p>
                  </a:txBody>
                  <a:tcPr marL="57150" marR="57150" marT="38100" marB="38100" anchor="ctr"/>
                </a:tc>
                <a:tc>
                  <a:txBody>
                    <a:bodyPr/>
                    <a:lstStyle/>
                    <a:p>
                      <a:r>
                        <a:rPr lang="en-US" sz="1400" b="1" dirty="0">
                          <a:effectLst/>
                          <a:latin typeface="Inter" panose="02000503000000020004" pitchFamily="2" charset="0"/>
                          <a:ea typeface="Inter" panose="02000503000000020004" pitchFamily="2" charset="0"/>
                          <a:cs typeface="Inter" panose="02000503000000020004" pitchFamily="2" charset="0"/>
                        </a:rPr>
                        <a:t>Graph (write)</a:t>
                      </a:r>
                    </a:p>
                  </a:txBody>
                  <a:tcPr marL="57150" marR="57150" marT="38100" marB="38100" anchor="ctr"/>
                </a:tc>
                <a:extLst>
                  <a:ext uri="{0D108BD9-81ED-4DB2-BD59-A6C34878D82A}">
                    <a16:rowId xmlns:a16="http://schemas.microsoft.com/office/drawing/2014/main" val="3423743289"/>
                  </a:ext>
                </a:extLst>
              </a:tr>
              <a:tr h="0">
                <a:tc>
                  <a:txBody>
                    <a:bodyPr/>
                    <a:lstStyle/>
                    <a:p>
                      <a:r>
                        <a:rPr lang="en-US" sz="1400" dirty="0">
                          <a:effectLst/>
                          <a:latin typeface="Inter" panose="02000503000000020004" pitchFamily="2" charset="0"/>
                          <a:ea typeface="Inter" panose="02000503000000020004" pitchFamily="2" charset="0"/>
                          <a:cs typeface="Inter" panose="02000503000000020004" pitchFamily="2" charset="0"/>
                        </a:rPr>
                        <a:t>admin</a:t>
                      </a:r>
                    </a:p>
                  </a:txBody>
                  <a:tcPr marL="57150" marR="57150" marT="38100" marB="38100" anchor="ctr"/>
                </a:tc>
                <a:tc>
                  <a:txBody>
                    <a:bodyPr/>
                    <a:lstStyle/>
                    <a:p>
                      <a:r>
                        <a:rPr lang="en-US" sz="1400" dirty="0">
                          <a:effectLst/>
                          <a:latin typeface="Inter" panose="02000503000000020004" pitchFamily="2" charset="0"/>
                          <a:ea typeface="Inter" panose="02000503000000020004" pitchFamily="2" charset="0"/>
                          <a:cs typeface="Inter" panose="02000503000000020004" pitchFamily="2" charset="0"/>
                        </a:rPr>
                        <a:t>CRUD</a:t>
                      </a:r>
                    </a:p>
                  </a:txBody>
                  <a:tcPr marL="57150" marR="57150" marT="38100" marB="38100" anchor="ctr"/>
                </a:tc>
                <a:tc>
                  <a:txBody>
                    <a:bodyPr/>
                    <a:lstStyle/>
                    <a:p>
                      <a:r>
                        <a:rPr lang="en-US" sz="1400" dirty="0">
                          <a:effectLst/>
                          <a:latin typeface="Inter" panose="02000503000000020004" pitchFamily="2" charset="0"/>
                          <a:ea typeface="Inter" panose="02000503000000020004" pitchFamily="2" charset="0"/>
                          <a:cs typeface="Inter" panose="02000503000000020004" pitchFamily="2" charset="0"/>
                        </a:rPr>
                        <a:t>CRUD</a:t>
                      </a:r>
                    </a:p>
                  </a:txBody>
                  <a:tcPr marL="57150" marR="57150" marT="38100" marB="38100" anchor="ctr"/>
                </a:tc>
                <a:tc>
                  <a:txBody>
                    <a:bodyPr/>
                    <a:lstStyle/>
                    <a:p>
                      <a:r>
                        <a:rPr lang="en-US" sz="1400">
                          <a:effectLst/>
                          <a:latin typeface="Inter" panose="02000503000000020004" pitchFamily="2" charset="0"/>
                          <a:ea typeface="Inter" panose="02000503000000020004" pitchFamily="2" charset="0"/>
                          <a:cs typeface="Inter" panose="02000503000000020004" pitchFamily="2" charset="0"/>
                        </a:rPr>
                        <a:t>CRUD</a:t>
                      </a:r>
                    </a:p>
                  </a:txBody>
                  <a:tcPr marL="57150" marR="57150" marT="38100" marB="38100" anchor="ctr"/>
                </a:tc>
                <a:tc>
                  <a:txBody>
                    <a:bodyPr/>
                    <a:lstStyle/>
                    <a:p>
                      <a:r>
                        <a:rPr lang="en-US" sz="1400">
                          <a:effectLst/>
                          <a:latin typeface="Inter" panose="02000503000000020004" pitchFamily="2" charset="0"/>
                          <a:ea typeface="Inter" panose="02000503000000020004" pitchFamily="2" charset="0"/>
                          <a:cs typeface="Inter" panose="02000503000000020004" pitchFamily="2" charset="0"/>
                        </a:rPr>
                        <a:t>CRUD</a:t>
                      </a:r>
                    </a:p>
                  </a:txBody>
                  <a:tcPr marL="57150" marR="57150" marT="38100" marB="38100" anchor="ctr"/>
                </a:tc>
                <a:tc>
                  <a:txBody>
                    <a:bodyPr/>
                    <a:lstStyle/>
                    <a:p>
                      <a:r>
                        <a:rPr lang="en-US" sz="1400">
                          <a:effectLst/>
                          <a:latin typeface="Inter" panose="02000503000000020004" pitchFamily="2" charset="0"/>
                          <a:ea typeface="Inter" panose="02000503000000020004" pitchFamily="2" charset="0"/>
                          <a:cs typeface="Inter" panose="02000503000000020004" pitchFamily="2" charset="0"/>
                        </a:rPr>
                        <a:t>✓</a:t>
                      </a:r>
                    </a:p>
                  </a:txBody>
                  <a:tcPr marL="57150" marR="57150" marT="38100" marB="38100" anchor="ctr"/>
                </a:tc>
                <a:extLst>
                  <a:ext uri="{0D108BD9-81ED-4DB2-BD59-A6C34878D82A}">
                    <a16:rowId xmlns:a16="http://schemas.microsoft.com/office/drawing/2014/main" val="1509805184"/>
                  </a:ext>
                </a:extLst>
              </a:tr>
              <a:tr h="0">
                <a:tc>
                  <a:txBody>
                    <a:bodyPr/>
                    <a:lstStyle/>
                    <a:p>
                      <a:r>
                        <a:rPr lang="en-US" sz="1400">
                          <a:effectLst/>
                          <a:latin typeface="Inter" panose="02000503000000020004" pitchFamily="2" charset="0"/>
                          <a:ea typeface="Inter" panose="02000503000000020004" pitchFamily="2" charset="0"/>
                          <a:cs typeface="Inter" panose="02000503000000020004" pitchFamily="2" charset="0"/>
                        </a:rPr>
                        <a:t>user</a:t>
                      </a:r>
                    </a:p>
                  </a:txBody>
                  <a:tcPr marL="57150" marR="57150" marT="38100" marB="38100" anchor="ctr"/>
                </a:tc>
                <a:tc>
                  <a:txBody>
                    <a:bodyPr/>
                    <a:lstStyle/>
                    <a:p>
                      <a:r>
                        <a:rPr lang="en-US" sz="1400" dirty="0">
                          <a:effectLst/>
                          <a:latin typeface="Inter" panose="02000503000000020004" pitchFamily="2" charset="0"/>
                          <a:ea typeface="Inter" panose="02000503000000020004" pitchFamily="2" charset="0"/>
                          <a:cs typeface="Inter" panose="02000503000000020004" pitchFamily="2" charset="0"/>
                        </a:rPr>
                        <a:t>CR</a:t>
                      </a:r>
                    </a:p>
                  </a:txBody>
                  <a:tcPr marL="57150" marR="57150" marT="38100" marB="38100" anchor="ctr"/>
                </a:tc>
                <a:tc>
                  <a:txBody>
                    <a:bodyPr/>
                    <a:lstStyle/>
                    <a:p>
                      <a:r>
                        <a:rPr lang="en-US" sz="1400">
                          <a:effectLst/>
                          <a:latin typeface="Inter" panose="02000503000000020004" pitchFamily="2" charset="0"/>
                          <a:ea typeface="Inter" panose="02000503000000020004" pitchFamily="2" charset="0"/>
                          <a:cs typeface="Inter" panose="02000503000000020004" pitchFamily="2" charset="0"/>
                        </a:rPr>
                        <a:t>CRD</a:t>
                      </a:r>
                    </a:p>
                  </a:txBody>
                  <a:tcPr marL="57150" marR="57150" marT="38100" marB="38100" anchor="ctr"/>
                </a:tc>
                <a:tc>
                  <a:txBody>
                    <a:bodyPr/>
                    <a:lstStyle/>
                    <a:p>
                      <a:r>
                        <a:rPr lang="en-US" sz="1400" dirty="0">
                          <a:effectLst/>
                          <a:latin typeface="Inter" panose="02000503000000020004" pitchFamily="2" charset="0"/>
                          <a:ea typeface="Inter" panose="02000503000000020004" pitchFamily="2" charset="0"/>
                          <a:cs typeface="Inter" panose="02000503000000020004" pitchFamily="2" charset="0"/>
                        </a:rPr>
                        <a:t>R</a:t>
                      </a:r>
                    </a:p>
                  </a:txBody>
                  <a:tcPr marL="57150" marR="57150" marT="38100" marB="38100" anchor="ctr"/>
                </a:tc>
                <a:tc>
                  <a:txBody>
                    <a:bodyPr/>
                    <a:lstStyle/>
                    <a:p>
                      <a:r>
                        <a:rPr lang="en-US" sz="1400">
                          <a:effectLst/>
                          <a:latin typeface="Inter" panose="02000503000000020004" pitchFamily="2" charset="0"/>
                          <a:ea typeface="Inter" panose="02000503000000020004" pitchFamily="2" charset="0"/>
                          <a:cs typeface="Inter" panose="02000503000000020004" pitchFamily="2" charset="0"/>
                        </a:rPr>
                        <a:t>✗</a:t>
                      </a:r>
                    </a:p>
                  </a:txBody>
                  <a:tcPr marL="57150" marR="57150" marT="38100" marB="38100" anchor="ctr"/>
                </a:tc>
                <a:tc>
                  <a:txBody>
                    <a:bodyPr/>
                    <a:lstStyle/>
                    <a:p>
                      <a:r>
                        <a:rPr lang="en-US" sz="1400" dirty="0">
                          <a:effectLst/>
                          <a:latin typeface="Inter" panose="02000503000000020004" pitchFamily="2" charset="0"/>
                          <a:ea typeface="Inter" panose="02000503000000020004" pitchFamily="2" charset="0"/>
                          <a:cs typeface="Inter" panose="02000503000000020004" pitchFamily="2" charset="0"/>
                        </a:rPr>
                        <a:t>✗</a:t>
                      </a:r>
                    </a:p>
                  </a:txBody>
                  <a:tcPr marL="57150" marR="57150" marT="38100" marB="38100" anchor="ctr"/>
                </a:tc>
                <a:extLst>
                  <a:ext uri="{0D108BD9-81ED-4DB2-BD59-A6C34878D82A}">
                    <a16:rowId xmlns:a16="http://schemas.microsoft.com/office/drawing/2014/main" val="3055337032"/>
                  </a:ext>
                </a:extLst>
              </a:tr>
            </a:tbl>
          </a:graphicData>
        </a:graphic>
      </p:graphicFrame>
      <p:sp>
        <p:nvSpPr>
          <p:cNvPr id="28" name="TextBox 27">
            <a:extLst>
              <a:ext uri="{FF2B5EF4-FFF2-40B4-BE49-F238E27FC236}">
                <a16:creationId xmlns:a16="http://schemas.microsoft.com/office/drawing/2014/main" id="{2AE05C3E-E6C8-647F-7E07-E044A2B43212}"/>
              </a:ext>
            </a:extLst>
          </p:cNvPr>
          <p:cNvSpPr txBox="1"/>
          <p:nvPr/>
        </p:nvSpPr>
        <p:spPr>
          <a:xfrm>
            <a:off x="596349" y="1507504"/>
            <a:ext cx="6344778" cy="3631763"/>
          </a:xfrm>
          <a:prstGeom prst="rect">
            <a:avLst/>
          </a:prstGeom>
          <a:noFill/>
        </p:spPr>
        <p:txBody>
          <a:bodyPr wrap="square" rtlCol="0">
            <a:spAutoFit/>
          </a:bodyPr>
          <a:lstStyle/>
          <a:p>
            <a:pPr algn="just"/>
            <a:r>
              <a:rPr lang="en-US" b="1" dirty="0">
                <a:latin typeface="Inter" panose="02000503000000020004" pitchFamily="2" charset="0"/>
                <a:ea typeface="Inter" panose="02000503000000020004" pitchFamily="2" charset="0"/>
                <a:cs typeface="Inter" panose="02000503000000020004" pitchFamily="2" charset="0"/>
              </a:rPr>
              <a:t>Main Flow</a:t>
            </a:r>
          </a:p>
          <a:p>
            <a:pPr algn="just"/>
            <a:r>
              <a:rPr lang="en-US" sz="1600" dirty="0">
                <a:latin typeface="Inter" panose="02000503000000020004" pitchFamily="2" charset="0"/>
                <a:ea typeface="Inter" panose="02000503000000020004" pitchFamily="2" charset="0"/>
                <a:cs typeface="Inter" panose="02000503000000020004" pitchFamily="2" charset="0"/>
              </a:rPr>
              <a:t>Users sign in through an identity provider, receive a JWT, and access the platform through a secure gateway.</a:t>
            </a:r>
            <a:endParaRPr lang="en-US" sz="1600" b="1" dirty="0">
              <a:latin typeface="Inter" panose="02000503000000020004" pitchFamily="2" charset="0"/>
              <a:ea typeface="Inter" panose="02000503000000020004" pitchFamily="2" charset="0"/>
              <a:cs typeface="Inter" panose="02000503000000020004" pitchFamily="2" charset="0"/>
            </a:endParaRPr>
          </a:p>
          <a:p>
            <a:pPr algn="just"/>
            <a:endParaRPr lang="en-US" sz="1600" b="1" dirty="0">
              <a:latin typeface="Inter" panose="02000503000000020004" pitchFamily="2" charset="0"/>
              <a:ea typeface="Inter" panose="02000503000000020004" pitchFamily="2" charset="0"/>
              <a:cs typeface="Inter" panose="02000503000000020004" pitchFamily="2" charset="0"/>
            </a:endParaRPr>
          </a:p>
          <a:p>
            <a:pPr algn="just"/>
            <a:r>
              <a:rPr lang="en-US" b="1" dirty="0">
                <a:latin typeface="Inter" panose="02000503000000020004" pitchFamily="2" charset="0"/>
                <a:ea typeface="Inter" panose="02000503000000020004" pitchFamily="2" charset="0"/>
                <a:cs typeface="Inter" panose="02000503000000020004" pitchFamily="2" charset="0"/>
              </a:rPr>
              <a:t>Agent Chat UI</a:t>
            </a:r>
          </a:p>
          <a:p>
            <a:pPr marL="285750" indent="-285750" algn="just">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Built with </a:t>
            </a:r>
            <a:r>
              <a:rPr lang="en-US" sz="1600" dirty="0" err="1">
                <a:latin typeface="Inter" panose="02000503000000020004" pitchFamily="2" charset="0"/>
                <a:ea typeface="Inter" panose="02000503000000020004" pitchFamily="2" charset="0"/>
                <a:cs typeface="Inter" panose="02000503000000020004" pitchFamily="2" charset="0"/>
              </a:rPr>
              <a:t>Next.js</a:t>
            </a:r>
            <a:endParaRPr lang="en-US" sz="1600" dirty="0">
              <a:latin typeface="Inter" panose="02000503000000020004" pitchFamily="2" charset="0"/>
              <a:ea typeface="Inter" panose="02000503000000020004" pitchFamily="2" charset="0"/>
              <a:cs typeface="Inter" panose="02000503000000020004" pitchFamily="2" charset="0"/>
            </a:endParaRPr>
          </a:p>
          <a:p>
            <a:pPr marL="285750" indent="-285750" algn="just">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Natural-language interaction</a:t>
            </a:r>
          </a:p>
          <a:p>
            <a:pPr marL="285750" indent="-285750" algn="just">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Authenticated backend requests</a:t>
            </a:r>
          </a:p>
          <a:p>
            <a:pPr marL="285750" indent="-285750" algn="just">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Live progress and execution steps</a:t>
            </a:r>
          </a:p>
          <a:p>
            <a:pPr marL="285750" indent="-285750" algn="just">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Final results and selected model</a:t>
            </a:r>
          </a:p>
          <a:p>
            <a:pPr algn="just"/>
            <a:endParaRPr lang="en-US" sz="1600" b="1" dirty="0">
              <a:latin typeface="Inter" panose="02000503000000020004" pitchFamily="2" charset="0"/>
              <a:ea typeface="Inter" panose="02000503000000020004" pitchFamily="2" charset="0"/>
              <a:cs typeface="Inter" panose="02000503000000020004" pitchFamily="2" charset="0"/>
            </a:endParaRPr>
          </a:p>
          <a:p>
            <a:pPr algn="just"/>
            <a:r>
              <a:rPr lang="en-US" b="1" dirty="0">
                <a:latin typeface="Inter" panose="02000503000000020004" pitchFamily="2" charset="0"/>
                <a:ea typeface="Inter" panose="02000503000000020004" pitchFamily="2" charset="0"/>
                <a:cs typeface="Inter" panose="02000503000000020004" pitchFamily="2" charset="0"/>
              </a:rPr>
              <a:t>Identity &amp; Access</a:t>
            </a:r>
          </a:p>
          <a:p>
            <a:pPr marL="285750" indent="-285750" algn="just">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OAuth 2.0 login &amp; JWT-based authentication</a:t>
            </a:r>
          </a:p>
          <a:p>
            <a:pPr marL="285750" indent="-285750" algn="just">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Tenant, role, and permission check on every request (RBAC)</a:t>
            </a:r>
          </a:p>
        </p:txBody>
      </p:sp>
      <p:pic>
        <p:nvPicPr>
          <p:cNvPr id="37" name="Picture 36">
            <a:extLst>
              <a:ext uri="{FF2B5EF4-FFF2-40B4-BE49-F238E27FC236}">
                <a16:creationId xmlns:a16="http://schemas.microsoft.com/office/drawing/2014/main" id="{0774041B-61EB-7F7A-1C40-85791E1F0D3F}"/>
              </a:ext>
            </a:extLst>
          </p:cNvPr>
          <p:cNvPicPr>
            <a:picLocks noChangeAspect="1"/>
          </p:cNvPicPr>
          <p:nvPr/>
        </p:nvPicPr>
        <p:blipFill>
          <a:blip r:embed="rId6"/>
          <a:stretch>
            <a:fillRect/>
          </a:stretch>
        </p:blipFill>
        <p:spPr>
          <a:xfrm>
            <a:off x="5822070" y="467406"/>
            <a:ext cx="5931544" cy="644732"/>
          </a:xfrm>
          <a:prstGeom prst="rect">
            <a:avLst/>
          </a:prstGeom>
        </p:spPr>
      </p:pic>
    </p:spTree>
    <p:extLst>
      <p:ext uri="{BB962C8B-B14F-4D97-AF65-F5344CB8AC3E}">
        <p14:creationId xmlns:p14="http://schemas.microsoft.com/office/powerpoint/2010/main" val="13105519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8BA11-4F2B-BA85-253C-79735EC98171}"/>
            </a:ext>
          </a:extLst>
        </p:cNvPr>
        <p:cNvGrpSpPr/>
        <p:nvPr/>
      </p:nvGrpSpPr>
      <p:grpSpPr>
        <a:xfrm>
          <a:off x="0" y="0"/>
          <a:ext cx="0" cy="0"/>
          <a:chOff x="0" y="0"/>
          <a:chExt cx="0" cy="0"/>
        </a:xfrm>
      </p:grpSpPr>
      <p:pic>
        <p:nvPicPr>
          <p:cNvPr id="33" name="Picture 32">
            <a:extLst>
              <a:ext uri="{FF2B5EF4-FFF2-40B4-BE49-F238E27FC236}">
                <a16:creationId xmlns:a16="http://schemas.microsoft.com/office/drawing/2014/main" id="{6039D34E-1ACC-7549-96D5-2084D3B0E854}"/>
              </a:ext>
            </a:extLst>
          </p:cNvPr>
          <p:cNvPicPr>
            <a:picLocks noChangeAspect="1"/>
          </p:cNvPicPr>
          <p:nvPr/>
        </p:nvPicPr>
        <p:blipFill>
          <a:blip r:embed="rId2"/>
          <a:srcRect t="10835" b="19910"/>
          <a:stretch/>
        </p:blipFill>
        <p:spPr>
          <a:xfrm>
            <a:off x="3968830" y="1345244"/>
            <a:ext cx="3871582" cy="4828335"/>
          </a:xfrm>
          <a:prstGeom prst="rect">
            <a:avLst/>
          </a:prstGeom>
        </p:spPr>
      </p:pic>
      <p:pic>
        <p:nvPicPr>
          <p:cNvPr id="4" name="Picture 15" descr="Fondino">
            <a:extLst>
              <a:ext uri="{FF2B5EF4-FFF2-40B4-BE49-F238E27FC236}">
                <a16:creationId xmlns:a16="http://schemas.microsoft.com/office/drawing/2014/main" id="{9B42AAFC-D967-DBE5-8FC1-19A34DC684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Slide Number Placeholder 11">
            <a:extLst>
              <a:ext uri="{FF2B5EF4-FFF2-40B4-BE49-F238E27FC236}">
                <a16:creationId xmlns:a16="http://schemas.microsoft.com/office/drawing/2014/main" id="{E90ED0DA-BA7F-7112-C336-89DD4BC82710}"/>
              </a:ext>
            </a:extLst>
          </p:cNvPr>
          <p:cNvSpPr>
            <a:spLocks noGrp="1"/>
          </p:cNvSpPr>
          <p:nvPr>
            <p:ph type="sldNum" sz="quarter" idx="12"/>
          </p:nvPr>
        </p:nvSpPr>
        <p:spPr/>
        <p:txBody>
          <a:bodyPr/>
          <a:lstStyle/>
          <a:p>
            <a:fld id="{48F19E39-9933-F648-B2F3-3AC17C0DC986}" type="slidenum">
              <a:rPr lang="en-US" smtClean="0">
                <a:solidFill>
                  <a:schemeClr val="bg1"/>
                </a:solidFill>
              </a:rPr>
              <a:t>7</a:t>
            </a:fld>
            <a:endParaRPr lang="en-US" dirty="0">
              <a:solidFill>
                <a:schemeClr val="bg1"/>
              </a:solidFill>
            </a:endParaRPr>
          </a:p>
        </p:txBody>
      </p:sp>
      <p:sp>
        <p:nvSpPr>
          <p:cNvPr id="16" name="TextBox 15">
            <a:extLst>
              <a:ext uri="{FF2B5EF4-FFF2-40B4-BE49-F238E27FC236}">
                <a16:creationId xmlns:a16="http://schemas.microsoft.com/office/drawing/2014/main" id="{E53A3490-A33B-2B62-1423-8EC3C96A8DE6}"/>
              </a:ext>
            </a:extLst>
          </p:cNvPr>
          <p:cNvSpPr txBox="1"/>
          <p:nvPr/>
        </p:nvSpPr>
        <p:spPr>
          <a:xfrm>
            <a:off x="596349" y="374273"/>
            <a:ext cx="10953226" cy="830997"/>
          </a:xfrm>
          <a:prstGeom prst="rect">
            <a:avLst/>
          </a:prstGeom>
          <a:noFill/>
        </p:spPr>
        <p:txBody>
          <a:bodyPr wrap="square" rtlCol="0">
            <a:spAutoFit/>
          </a:bodyPr>
          <a:lstStyle/>
          <a:p>
            <a:pPr algn="just"/>
            <a:r>
              <a:rPr lang="en-US" sz="2800" b="1" dirty="0">
                <a:solidFill>
                  <a:srgbClr val="822334"/>
                </a:solidFill>
                <a:latin typeface="Inter" panose="02000503000000020004" pitchFamily="2" charset="0"/>
                <a:ea typeface="Inter" panose="02000503000000020004" pitchFamily="2" charset="0"/>
                <a:cs typeface="Inter" panose="02000503000000020004" pitchFamily="2" charset="0"/>
              </a:rPr>
              <a:t>SECURITY LAYER</a:t>
            </a:r>
          </a:p>
          <a:p>
            <a:pPr algn="just"/>
            <a:r>
              <a:rPr lang="en-US" sz="2000" dirty="0">
                <a:solidFill>
                  <a:srgbClr val="822334"/>
                </a:solidFill>
                <a:latin typeface="Inter" panose="02000503000000020004" pitchFamily="2" charset="0"/>
                <a:ea typeface="Inter" panose="02000503000000020004" pitchFamily="2" charset="0"/>
                <a:cs typeface="Inter" panose="02000503000000020004" pitchFamily="2" charset="0"/>
              </a:rPr>
              <a:t>8 protection layers before business logic</a:t>
            </a:r>
            <a:endParaRPr lang="en-US" sz="2000" i="0" dirty="0">
              <a:effectLst/>
              <a:latin typeface="Inter" panose="02000503000000020004" pitchFamily="2" charset="0"/>
              <a:ea typeface="Inter" panose="02000503000000020004" pitchFamily="2" charset="0"/>
              <a:cs typeface="Inter" panose="02000503000000020004" pitchFamily="2" charset="0"/>
            </a:endParaRPr>
          </a:p>
        </p:txBody>
      </p:sp>
      <p:sp>
        <p:nvSpPr>
          <p:cNvPr id="8" name="Footer Placeholder 10">
            <a:extLst>
              <a:ext uri="{FF2B5EF4-FFF2-40B4-BE49-F238E27FC236}">
                <a16:creationId xmlns:a16="http://schemas.microsoft.com/office/drawing/2014/main" id="{A021106B-1956-AED4-35FE-8A0FB00565FD}"/>
              </a:ext>
            </a:extLst>
          </p:cNvPr>
          <p:cNvSpPr>
            <a:spLocks noGrp="1"/>
          </p:cNvSpPr>
          <p:nvPr>
            <p:ph type="ftr" sz="quarter" idx="11"/>
          </p:nvPr>
        </p:nvSpPr>
        <p:spPr>
          <a:xfrm>
            <a:off x="4566534" y="6356350"/>
            <a:ext cx="3058931" cy="365125"/>
          </a:xfrm>
        </p:spPr>
        <p:txBody>
          <a:bodyPr/>
          <a:lstStyle/>
          <a:p>
            <a:r>
              <a:rPr lang="en-US" dirty="0" err="1">
                <a:solidFill>
                  <a:schemeClr val="bg1"/>
                </a:solidFill>
                <a:latin typeface="Inter" panose="02000503000000020004" pitchFamily="2" charset="0"/>
                <a:ea typeface="Inter" panose="02000503000000020004" pitchFamily="2" charset="0"/>
                <a:cs typeface="Inter" panose="02000503000000020004" pitchFamily="2" charset="0"/>
              </a:rPr>
              <a:t>Cineca</a:t>
            </a:r>
            <a:r>
              <a:rPr lang="en-US" dirty="0">
                <a:solidFill>
                  <a:schemeClr val="bg1"/>
                </a:solidFill>
                <a:latin typeface="Inter" panose="02000503000000020004" pitchFamily="2" charset="0"/>
                <a:ea typeface="Inter" panose="02000503000000020004" pitchFamily="2" charset="0"/>
                <a:cs typeface="Inter" panose="02000503000000020004" pitchFamily="2" charset="0"/>
              </a:rPr>
              <a:t> Agentic Platform – Arman Feili</a:t>
            </a:r>
          </a:p>
        </p:txBody>
      </p:sp>
      <p:pic>
        <p:nvPicPr>
          <p:cNvPr id="9" name="Picture 8">
            <a:extLst>
              <a:ext uri="{FF2B5EF4-FFF2-40B4-BE49-F238E27FC236}">
                <a16:creationId xmlns:a16="http://schemas.microsoft.com/office/drawing/2014/main" id="{F8F2E9E1-D924-638C-A1AC-CCF8C9B869BD}"/>
              </a:ext>
            </a:extLst>
          </p:cNvPr>
          <p:cNvPicPr>
            <a:picLocks noChangeAspect="1"/>
          </p:cNvPicPr>
          <p:nvPr/>
        </p:nvPicPr>
        <p:blipFill>
          <a:blip r:embed="rId4"/>
          <a:stretch>
            <a:fillRect/>
          </a:stretch>
        </p:blipFill>
        <p:spPr>
          <a:xfrm>
            <a:off x="321777" y="6315552"/>
            <a:ext cx="435345" cy="435345"/>
          </a:xfrm>
          <a:prstGeom prst="rect">
            <a:avLst/>
          </a:prstGeom>
        </p:spPr>
      </p:pic>
      <p:pic>
        <p:nvPicPr>
          <p:cNvPr id="10" name="Picture 9">
            <a:extLst>
              <a:ext uri="{FF2B5EF4-FFF2-40B4-BE49-F238E27FC236}">
                <a16:creationId xmlns:a16="http://schemas.microsoft.com/office/drawing/2014/main" id="{C94343FF-7EE3-BDED-F149-D64B7E3211C3}"/>
              </a:ext>
            </a:extLst>
          </p:cNvPr>
          <p:cNvPicPr>
            <a:picLocks noChangeAspect="1"/>
          </p:cNvPicPr>
          <p:nvPr/>
        </p:nvPicPr>
        <p:blipFill>
          <a:blip r:embed="rId5"/>
          <a:stretch>
            <a:fillRect/>
          </a:stretch>
        </p:blipFill>
        <p:spPr>
          <a:xfrm>
            <a:off x="866134" y="6362629"/>
            <a:ext cx="1093241" cy="365125"/>
          </a:xfrm>
          <a:prstGeom prst="rect">
            <a:avLst/>
          </a:prstGeom>
        </p:spPr>
      </p:pic>
      <p:pic>
        <p:nvPicPr>
          <p:cNvPr id="21" name="Picture 20">
            <a:extLst>
              <a:ext uri="{FF2B5EF4-FFF2-40B4-BE49-F238E27FC236}">
                <a16:creationId xmlns:a16="http://schemas.microsoft.com/office/drawing/2014/main" id="{1EE67B0B-EE69-526E-A423-745CE76492AA}"/>
              </a:ext>
            </a:extLst>
          </p:cNvPr>
          <p:cNvPicPr>
            <a:picLocks noChangeAspect="1"/>
          </p:cNvPicPr>
          <p:nvPr/>
        </p:nvPicPr>
        <p:blipFill>
          <a:blip r:embed="rId6"/>
          <a:stretch>
            <a:fillRect/>
          </a:stretch>
        </p:blipFill>
        <p:spPr>
          <a:xfrm>
            <a:off x="5835717" y="467405"/>
            <a:ext cx="5931545" cy="644733"/>
          </a:xfrm>
          <a:prstGeom prst="rect">
            <a:avLst/>
          </a:prstGeom>
        </p:spPr>
      </p:pic>
      <p:sp>
        <p:nvSpPr>
          <p:cNvPr id="32" name="TextBox 31">
            <a:extLst>
              <a:ext uri="{FF2B5EF4-FFF2-40B4-BE49-F238E27FC236}">
                <a16:creationId xmlns:a16="http://schemas.microsoft.com/office/drawing/2014/main" id="{CD937663-02CF-CA64-6DFC-F3F6954B9F46}"/>
              </a:ext>
            </a:extLst>
          </p:cNvPr>
          <p:cNvSpPr txBox="1"/>
          <p:nvPr/>
        </p:nvSpPr>
        <p:spPr>
          <a:xfrm>
            <a:off x="8070871" y="3183689"/>
            <a:ext cx="4243099" cy="2800767"/>
          </a:xfrm>
          <a:prstGeom prst="rect">
            <a:avLst/>
          </a:prstGeom>
          <a:noFill/>
        </p:spPr>
        <p:txBody>
          <a:bodyPr wrap="square" rtlCol="0">
            <a:spAutoFit/>
          </a:bodyPr>
          <a:lstStyle/>
          <a:p>
            <a:r>
              <a:rPr lang="en-US" sz="1600" b="1" dirty="0">
                <a:latin typeface="Inter" panose="02000503000000020004" pitchFamily="2" charset="0"/>
                <a:ea typeface="Inter" panose="02000503000000020004" pitchFamily="2" charset="0"/>
                <a:cs typeface="Inter" panose="02000503000000020004" pitchFamily="2" charset="0"/>
              </a:rPr>
              <a:t>5. Tenant Resolver</a:t>
            </a:r>
            <a:br>
              <a:rPr lang="en-US" sz="1600" dirty="0">
                <a:latin typeface="Inter" panose="02000503000000020004" pitchFamily="2" charset="0"/>
                <a:ea typeface="Inter" panose="02000503000000020004" pitchFamily="2" charset="0"/>
                <a:cs typeface="Inter" panose="02000503000000020004" pitchFamily="2" charset="0"/>
              </a:rPr>
            </a:br>
            <a:r>
              <a:rPr lang="en-US" sz="1600" dirty="0">
                <a:latin typeface="Inter" panose="02000503000000020004" pitchFamily="2" charset="0"/>
                <a:ea typeface="Inter" panose="02000503000000020004" pitchFamily="2" charset="0"/>
                <a:cs typeface="Inter" panose="02000503000000020004" pitchFamily="2" charset="0"/>
              </a:rPr>
              <a:t>Multi-tenant data isolation</a:t>
            </a:r>
          </a:p>
          <a:p>
            <a:endParaRPr lang="en-US" sz="1600" b="1" dirty="0">
              <a:latin typeface="Inter" panose="02000503000000020004" pitchFamily="2" charset="0"/>
              <a:ea typeface="Inter" panose="02000503000000020004" pitchFamily="2" charset="0"/>
              <a:cs typeface="Inter" panose="02000503000000020004" pitchFamily="2" charset="0"/>
            </a:endParaRPr>
          </a:p>
          <a:p>
            <a:r>
              <a:rPr lang="en-US" sz="1600" b="1" dirty="0">
                <a:latin typeface="Inter" panose="02000503000000020004" pitchFamily="2" charset="0"/>
                <a:ea typeface="Inter" panose="02000503000000020004" pitchFamily="2" charset="0"/>
                <a:cs typeface="Inter" panose="02000503000000020004" pitchFamily="2" charset="0"/>
              </a:rPr>
              <a:t>6. Input Guard</a:t>
            </a:r>
            <a:br>
              <a:rPr lang="en-US" sz="1600" dirty="0">
                <a:latin typeface="Inter" panose="02000503000000020004" pitchFamily="2" charset="0"/>
                <a:ea typeface="Inter" panose="02000503000000020004" pitchFamily="2" charset="0"/>
                <a:cs typeface="Inter" panose="02000503000000020004" pitchFamily="2" charset="0"/>
              </a:rPr>
            </a:br>
            <a:r>
              <a:rPr lang="en-US" sz="1600" dirty="0">
                <a:latin typeface="Inter" panose="02000503000000020004" pitchFamily="2" charset="0"/>
                <a:ea typeface="Inter" panose="02000503000000020004" pitchFamily="2" charset="0"/>
                <a:cs typeface="Inter" panose="02000503000000020004" pitchFamily="2" charset="0"/>
              </a:rPr>
              <a:t>Request validation and injection blocking</a:t>
            </a:r>
          </a:p>
          <a:p>
            <a:endParaRPr lang="en-US" sz="1600" b="1" dirty="0">
              <a:latin typeface="Inter" panose="02000503000000020004" pitchFamily="2" charset="0"/>
              <a:ea typeface="Inter" panose="02000503000000020004" pitchFamily="2" charset="0"/>
              <a:cs typeface="Inter" panose="02000503000000020004" pitchFamily="2" charset="0"/>
            </a:endParaRPr>
          </a:p>
          <a:p>
            <a:r>
              <a:rPr lang="en-US" sz="1600" b="1" dirty="0">
                <a:latin typeface="Inter" panose="02000503000000020004" pitchFamily="2" charset="0"/>
                <a:ea typeface="Inter" panose="02000503000000020004" pitchFamily="2" charset="0"/>
                <a:cs typeface="Inter" panose="02000503000000020004" pitchFamily="2" charset="0"/>
              </a:rPr>
              <a:t>7.  Output Guard</a:t>
            </a:r>
            <a:br>
              <a:rPr lang="en-US" sz="1600" dirty="0">
                <a:latin typeface="Inter" panose="02000503000000020004" pitchFamily="2" charset="0"/>
                <a:ea typeface="Inter" panose="02000503000000020004" pitchFamily="2" charset="0"/>
                <a:cs typeface="Inter" panose="02000503000000020004" pitchFamily="2" charset="0"/>
              </a:rPr>
            </a:br>
            <a:r>
              <a:rPr lang="en-US" sz="1600" dirty="0">
                <a:latin typeface="Inter" panose="02000503000000020004" pitchFamily="2" charset="0"/>
                <a:ea typeface="Inter" panose="02000503000000020004" pitchFamily="2" charset="0"/>
                <a:cs typeface="Inter" panose="02000503000000020004" pitchFamily="2" charset="0"/>
              </a:rPr>
              <a:t>Response sanitization and PII redaction</a:t>
            </a:r>
          </a:p>
          <a:p>
            <a:endParaRPr lang="en-US" sz="1600" b="1" dirty="0">
              <a:latin typeface="Inter" panose="02000503000000020004" pitchFamily="2" charset="0"/>
              <a:ea typeface="Inter" panose="02000503000000020004" pitchFamily="2" charset="0"/>
              <a:cs typeface="Inter" panose="02000503000000020004" pitchFamily="2" charset="0"/>
            </a:endParaRPr>
          </a:p>
          <a:p>
            <a:r>
              <a:rPr lang="en-US" sz="1600" b="1" dirty="0">
                <a:latin typeface="Inter" panose="02000503000000020004" pitchFamily="2" charset="0"/>
                <a:ea typeface="Inter" panose="02000503000000020004" pitchFamily="2" charset="0"/>
                <a:cs typeface="Inter" panose="02000503000000020004" pitchFamily="2" charset="0"/>
              </a:rPr>
              <a:t>8. Error Handler</a:t>
            </a:r>
            <a:br>
              <a:rPr lang="en-US" sz="1600" dirty="0">
                <a:latin typeface="Inter" panose="02000503000000020004" pitchFamily="2" charset="0"/>
                <a:ea typeface="Inter" panose="02000503000000020004" pitchFamily="2" charset="0"/>
                <a:cs typeface="Inter" panose="02000503000000020004" pitchFamily="2" charset="0"/>
              </a:rPr>
            </a:br>
            <a:r>
              <a:rPr lang="en-US" sz="1600" dirty="0">
                <a:latin typeface="Inter" panose="02000503000000020004" pitchFamily="2" charset="0"/>
                <a:ea typeface="Inter" panose="02000503000000020004" pitchFamily="2" charset="0"/>
                <a:cs typeface="Inter" panose="02000503000000020004" pitchFamily="2" charset="0"/>
              </a:rPr>
              <a:t>Safe, standardized error responses</a:t>
            </a:r>
          </a:p>
        </p:txBody>
      </p:sp>
      <p:sp>
        <p:nvSpPr>
          <p:cNvPr id="34" name="TextBox 33">
            <a:extLst>
              <a:ext uri="{FF2B5EF4-FFF2-40B4-BE49-F238E27FC236}">
                <a16:creationId xmlns:a16="http://schemas.microsoft.com/office/drawing/2014/main" id="{2C25A8F8-DFAE-BEBA-ABF5-3F86D79611C5}"/>
              </a:ext>
            </a:extLst>
          </p:cNvPr>
          <p:cNvSpPr txBox="1"/>
          <p:nvPr/>
        </p:nvSpPr>
        <p:spPr>
          <a:xfrm>
            <a:off x="233289" y="2008695"/>
            <a:ext cx="3448198" cy="2800767"/>
          </a:xfrm>
          <a:prstGeom prst="rect">
            <a:avLst/>
          </a:prstGeom>
          <a:noFill/>
        </p:spPr>
        <p:txBody>
          <a:bodyPr wrap="square" rtlCol="0">
            <a:spAutoFit/>
          </a:bodyPr>
          <a:lstStyle/>
          <a:p>
            <a:pPr algn="r"/>
            <a:r>
              <a:rPr lang="en-US" sz="1600" b="1" dirty="0">
                <a:latin typeface="Inter" panose="02000503000000020004" pitchFamily="2" charset="0"/>
                <a:ea typeface="Inter" panose="02000503000000020004" pitchFamily="2" charset="0"/>
                <a:cs typeface="Inter" panose="02000503000000020004" pitchFamily="2" charset="0"/>
              </a:rPr>
              <a:t>1. CORS Handler</a:t>
            </a:r>
            <a:br>
              <a:rPr lang="en-US" sz="1600" dirty="0">
                <a:latin typeface="Inter" panose="02000503000000020004" pitchFamily="2" charset="0"/>
                <a:ea typeface="Inter" panose="02000503000000020004" pitchFamily="2" charset="0"/>
                <a:cs typeface="Inter" panose="02000503000000020004" pitchFamily="2" charset="0"/>
              </a:rPr>
            </a:br>
            <a:r>
              <a:rPr lang="en-US" sz="1600" dirty="0">
                <a:latin typeface="Inter" panose="02000503000000020004" pitchFamily="2" charset="0"/>
                <a:ea typeface="Inter" panose="02000503000000020004" pitchFamily="2" charset="0"/>
                <a:cs typeface="Inter" panose="02000503000000020004" pitchFamily="2" charset="0"/>
              </a:rPr>
              <a:t>Trusted origins only</a:t>
            </a:r>
            <a:endParaRPr lang="en-US" sz="1600" b="1" dirty="0">
              <a:latin typeface="Inter" panose="02000503000000020004" pitchFamily="2" charset="0"/>
              <a:ea typeface="Inter" panose="02000503000000020004" pitchFamily="2" charset="0"/>
              <a:cs typeface="Inter" panose="02000503000000020004" pitchFamily="2" charset="0"/>
            </a:endParaRPr>
          </a:p>
          <a:p>
            <a:pPr algn="r"/>
            <a:endParaRPr lang="en-US" sz="1600" b="1" dirty="0">
              <a:latin typeface="Inter" panose="02000503000000020004" pitchFamily="2" charset="0"/>
              <a:ea typeface="Inter" panose="02000503000000020004" pitchFamily="2" charset="0"/>
              <a:cs typeface="Inter" panose="02000503000000020004" pitchFamily="2" charset="0"/>
            </a:endParaRPr>
          </a:p>
          <a:p>
            <a:pPr algn="r"/>
            <a:r>
              <a:rPr lang="en-US" sz="1600" b="1" dirty="0">
                <a:latin typeface="Inter" panose="02000503000000020004" pitchFamily="2" charset="0"/>
                <a:ea typeface="Inter" panose="02000503000000020004" pitchFamily="2" charset="0"/>
                <a:cs typeface="Inter" panose="02000503000000020004" pitchFamily="2" charset="0"/>
              </a:rPr>
              <a:t>2. Trace Context</a:t>
            </a:r>
            <a:br>
              <a:rPr lang="en-US" sz="1600" dirty="0">
                <a:latin typeface="Inter" panose="02000503000000020004" pitchFamily="2" charset="0"/>
                <a:ea typeface="Inter" panose="02000503000000020004" pitchFamily="2" charset="0"/>
                <a:cs typeface="Inter" panose="02000503000000020004" pitchFamily="2" charset="0"/>
              </a:rPr>
            </a:br>
            <a:r>
              <a:rPr lang="en-US" sz="1600" dirty="0">
                <a:latin typeface="Inter" panose="02000503000000020004" pitchFamily="2" charset="0"/>
                <a:ea typeface="Inter" panose="02000503000000020004" pitchFamily="2" charset="0"/>
                <a:cs typeface="Inter" panose="02000503000000020004" pitchFamily="2" charset="0"/>
              </a:rPr>
              <a:t>End-to-end request tracking</a:t>
            </a:r>
          </a:p>
          <a:p>
            <a:pPr algn="r"/>
            <a:endParaRPr lang="en-US" sz="1600" b="1" dirty="0">
              <a:latin typeface="Inter" panose="02000503000000020004" pitchFamily="2" charset="0"/>
              <a:ea typeface="Inter" panose="02000503000000020004" pitchFamily="2" charset="0"/>
              <a:cs typeface="Inter" panose="02000503000000020004" pitchFamily="2" charset="0"/>
            </a:endParaRPr>
          </a:p>
          <a:p>
            <a:pPr algn="r"/>
            <a:r>
              <a:rPr lang="en-US" sz="1600" b="1" dirty="0">
                <a:latin typeface="Inter" panose="02000503000000020004" pitchFamily="2" charset="0"/>
                <a:ea typeface="Inter" panose="02000503000000020004" pitchFamily="2" charset="0"/>
                <a:cs typeface="Inter" panose="02000503000000020004" pitchFamily="2" charset="0"/>
              </a:rPr>
              <a:t>3. JWT Auth + RBAC</a:t>
            </a:r>
            <a:br>
              <a:rPr lang="en-US" sz="1600" dirty="0">
                <a:latin typeface="Inter" panose="02000503000000020004" pitchFamily="2" charset="0"/>
                <a:ea typeface="Inter" panose="02000503000000020004" pitchFamily="2" charset="0"/>
                <a:cs typeface="Inter" panose="02000503000000020004" pitchFamily="2" charset="0"/>
              </a:rPr>
            </a:br>
            <a:r>
              <a:rPr lang="en-US" sz="1600" dirty="0">
                <a:latin typeface="Inter" panose="02000503000000020004" pitchFamily="2" charset="0"/>
                <a:ea typeface="Inter" panose="02000503000000020004" pitchFamily="2" charset="0"/>
                <a:cs typeface="Inter" panose="02000503000000020004" pitchFamily="2" charset="0"/>
              </a:rPr>
              <a:t>Verified identity and permissions</a:t>
            </a:r>
          </a:p>
          <a:p>
            <a:pPr algn="r"/>
            <a:endParaRPr lang="en-US" sz="1600" b="1" dirty="0">
              <a:latin typeface="Inter" panose="02000503000000020004" pitchFamily="2" charset="0"/>
              <a:ea typeface="Inter" panose="02000503000000020004" pitchFamily="2" charset="0"/>
              <a:cs typeface="Inter" panose="02000503000000020004" pitchFamily="2" charset="0"/>
            </a:endParaRPr>
          </a:p>
          <a:p>
            <a:pPr algn="r"/>
            <a:r>
              <a:rPr lang="en-US" sz="1600" b="1" dirty="0">
                <a:latin typeface="Inter" panose="02000503000000020004" pitchFamily="2" charset="0"/>
                <a:ea typeface="Inter" panose="02000503000000020004" pitchFamily="2" charset="0"/>
                <a:cs typeface="Inter" panose="02000503000000020004" pitchFamily="2" charset="0"/>
              </a:rPr>
              <a:t>4. Rate Limiter</a:t>
            </a:r>
            <a:br>
              <a:rPr lang="en-US" sz="1600" dirty="0">
                <a:latin typeface="Inter" panose="02000503000000020004" pitchFamily="2" charset="0"/>
                <a:ea typeface="Inter" panose="02000503000000020004" pitchFamily="2" charset="0"/>
                <a:cs typeface="Inter" panose="02000503000000020004" pitchFamily="2" charset="0"/>
              </a:rPr>
            </a:br>
            <a:r>
              <a:rPr lang="en-US" sz="1600" dirty="0">
                <a:latin typeface="Inter" panose="02000503000000020004" pitchFamily="2" charset="0"/>
                <a:ea typeface="Inter" panose="02000503000000020004" pitchFamily="2" charset="0"/>
                <a:cs typeface="Inter" panose="02000503000000020004" pitchFamily="2" charset="0"/>
              </a:rPr>
              <a:t>Abuse and overload protection</a:t>
            </a:r>
          </a:p>
        </p:txBody>
      </p:sp>
      <p:sp>
        <p:nvSpPr>
          <p:cNvPr id="35" name="TextBox 34">
            <a:extLst>
              <a:ext uri="{FF2B5EF4-FFF2-40B4-BE49-F238E27FC236}">
                <a16:creationId xmlns:a16="http://schemas.microsoft.com/office/drawing/2014/main" id="{592FE674-72A7-E1D0-A721-16BF6570FD21}"/>
              </a:ext>
            </a:extLst>
          </p:cNvPr>
          <p:cNvSpPr txBox="1"/>
          <p:nvPr/>
        </p:nvSpPr>
        <p:spPr>
          <a:xfrm>
            <a:off x="596348" y="1527785"/>
            <a:ext cx="3602275" cy="369332"/>
          </a:xfrm>
          <a:prstGeom prst="rect">
            <a:avLst/>
          </a:prstGeom>
          <a:noFill/>
        </p:spPr>
        <p:txBody>
          <a:bodyPr wrap="square" rtlCol="0">
            <a:spAutoFit/>
          </a:bodyPr>
          <a:lstStyle/>
          <a:p>
            <a:r>
              <a:rPr lang="en-US" b="1" dirty="0">
                <a:latin typeface="Inter" panose="02000503000000020004" pitchFamily="2" charset="0"/>
                <a:ea typeface="Inter" panose="02000503000000020004" pitchFamily="2" charset="0"/>
                <a:cs typeface="Inter" panose="02000503000000020004" pitchFamily="2" charset="0"/>
              </a:rPr>
              <a:t>Request Protection Layers</a:t>
            </a:r>
          </a:p>
        </p:txBody>
      </p:sp>
      <p:sp>
        <p:nvSpPr>
          <p:cNvPr id="36" name="Right Brace 35">
            <a:extLst>
              <a:ext uri="{FF2B5EF4-FFF2-40B4-BE49-F238E27FC236}">
                <a16:creationId xmlns:a16="http://schemas.microsoft.com/office/drawing/2014/main" id="{063CED1C-0735-29D4-747B-1F306C216594}"/>
              </a:ext>
            </a:extLst>
          </p:cNvPr>
          <p:cNvSpPr/>
          <p:nvPr/>
        </p:nvSpPr>
        <p:spPr>
          <a:xfrm flipH="1">
            <a:off x="3751163" y="1527785"/>
            <a:ext cx="278691" cy="2189756"/>
          </a:xfrm>
          <a:prstGeom prst="rightBrace">
            <a:avLst/>
          </a:prstGeom>
          <a:ln>
            <a:solidFill>
              <a:srgbClr val="822334"/>
            </a:solidFill>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sp>
        <p:nvSpPr>
          <p:cNvPr id="37" name="Right Brace 36">
            <a:extLst>
              <a:ext uri="{FF2B5EF4-FFF2-40B4-BE49-F238E27FC236}">
                <a16:creationId xmlns:a16="http://schemas.microsoft.com/office/drawing/2014/main" id="{0B619801-9AE4-CC06-E38A-EF4E8983D96B}"/>
              </a:ext>
            </a:extLst>
          </p:cNvPr>
          <p:cNvSpPr/>
          <p:nvPr/>
        </p:nvSpPr>
        <p:spPr>
          <a:xfrm>
            <a:off x="7738714" y="3717541"/>
            <a:ext cx="275034" cy="2266915"/>
          </a:xfrm>
          <a:prstGeom prst="rightBrace">
            <a:avLst>
              <a:gd name="adj1" fmla="val 8333"/>
              <a:gd name="adj2" fmla="val 38999"/>
            </a:avLst>
          </a:prstGeom>
          <a:ln>
            <a:solidFill>
              <a:srgbClr val="822334"/>
            </a:solidFill>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sp>
        <p:nvSpPr>
          <p:cNvPr id="48" name="Right Brace 47">
            <a:extLst>
              <a:ext uri="{FF2B5EF4-FFF2-40B4-BE49-F238E27FC236}">
                <a16:creationId xmlns:a16="http://schemas.microsoft.com/office/drawing/2014/main" id="{160763CE-0E76-7375-D8D9-9E85B0A6E2ED}"/>
              </a:ext>
            </a:extLst>
          </p:cNvPr>
          <p:cNvSpPr/>
          <p:nvPr/>
        </p:nvSpPr>
        <p:spPr>
          <a:xfrm rot="10800000">
            <a:off x="7876231" y="3245539"/>
            <a:ext cx="275034" cy="2738916"/>
          </a:xfrm>
          <a:prstGeom prst="rightBrace">
            <a:avLst>
              <a:gd name="adj1" fmla="val 8333"/>
              <a:gd name="adj2" fmla="val 50448"/>
            </a:avLst>
          </a:prstGeom>
          <a:ln>
            <a:solidFill>
              <a:srgbClr val="822334"/>
            </a:solidFill>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sp>
        <p:nvSpPr>
          <p:cNvPr id="49" name="Right Brace 48">
            <a:extLst>
              <a:ext uri="{FF2B5EF4-FFF2-40B4-BE49-F238E27FC236}">
                <a16:creationId xmlns:a16="http://schemas.microsoft.com/office/drawing/2014/main" id="{6E79B40E-03B6-EC5C-1D7D-782B026C5CCB}"/>
              </a:ext>
            </a:extLst>
          </p:cNvPr>
          <p:cNvSpPr/>
          <p:nvPr/>
        </p:nvSpPr>
        <p:spPr>
          <a:xfrm rot="10800000" flipH="1">
            <a:off x="3593968" y="2079658"/>
            <a:ext cx="290706" cy="2729804"/>
          </a:xfrm>
          <a:prstGeom prst="rightBrace">
            <a:avLst>
              <a:gd name="adj1" fmla="val 8333"/>
              <a:gd name="adj2" fmla="val 80148"/>
            </a:avLst>
          </a:prstGeom>
          <a:ln>
            <a:solidFill>
              <a:srgbClr val="822334"/>
            </a:solidFill>
          </a:ln>
        </p:spPr>
        <p:style>
          <a:lnRef idx="3">
            <a:schemeClr val="accent2"/>
          </a:lnRef>
          <a:fillRef idx="0">
            <a:schemeClr val="accent2"/>
          </a:fillRef>
          <a:effectRef idx="2">
            <a:schemeClr val="accent2"/>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12248243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B1921-F852-997B-2449-E6F2E989782E}"/>
            </a:ext>
          </a:extLst>
        </p:cNvPr>
        <p:cNvGrpSpPr/>
        <p:nvPr/>
      </p:nvGrpSpPr>
      <p:grpSpPr>
        <a:xfrm>
          <a:off x="0" y="0"/>
          <a:ext cx="0" cy="0"/>
          <a:chOff x="0" y="0"/>
          <a:chExt cx="0" cy="0"/>
        </a:xfrm>
      </p:grpSpPr>
      <p:sp>
        <p:nvSpPr>
          <p:cNvPr id="28" name="TextBox 27">
            <a:extLst>
              <a:ext uri="{FF2B5EF4-FFF2-40B4-BE49-F238E27FC236}">
                <a16:creationId xmlns:a16="http://schemas.microsoft.com/office/drawing/2014/main" id="{3A79C3A9-0A40-750F-275A-A166CF07B3A0}"/>
              </a:ext>
            </a:extLst>
          </p:cNvPr>
          <p:cNvSpPr txBox="1"/>
          <p:nvPr/>
        </p:nvSpPr>
        <p:spPr>
          <a:xfrm>
            <a:off x="596348" y="1513049"/>
            <a:ext cx="10757452" cy="4370427"/>
          </a:xfrm>
          <a:prstGeom prst="rect">
            <a:avLst/>
          </a:prstGeom>
          <a:noFill/>
        </p:spPr>
        <p:txBody>
          <a:bodyPr wrap="square" rtlCol="0">
            <a:spAutoFit/>
          </a:bodyPr>
          <a:lstStyle/>
          <a:p>
            <a:r>
              <a:rPr lang="en-US" b="1" dirty="0">
                <a:latin typeface="Inter" panose="02000503000000020004" pitchFamily="2" charset="0"/>
                <a:ea typeface="Inter" panose="02000503000000020004" pitchFamily="2" charset="0"/>
                <a:cs typeface="Inter" panose="02000503000000020004" pitchFamily="2" charset="0"/>
              </a:rPr>
              <a:t>Core Platform APIs</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Health checks</a:t>
            </a:r>
            <a:r>
              <a:rPr lang="en-US" sz="1600" dirty="0">
                <a:latin typeface="Inter" panose="02000503000000020004" pitchFamily="2" charset="0"/>
                <a:ea typeface="Inter" panose="02000503000000020004" pitchFamily="2" charset="0"/>
                <a:cs typeface="Inter" panose="02000503000000020004" pitchFamily="2" charset="0"/>
              </a:rPr>
              <a:t> — service and dependency status</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Authentication</a:t>
            </a:r>
            <a:r>
              <a:rPr lang="en-US" sz="1600" dirty="0">
                <a:latin typeface="Inter" panose="02000503000000020004" pitchFamily="2" charset="0"/>
                <a:ea typeface="Inter" panose="02000503000000020004" pitchFamily="2" charset="0"/>
                <a:cs typeface="Inter" panose="02000503000000020004" pitchFamily="2" charset="0"/>
              </a:rPr>
              <a:t> — token validation and user identity</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Agents</a:t>
            </a:r>
            <a:r>
              <a:rPr lang="en-US" sz="1600" dirty="0">
                <a:latin typeface="Inter" panose="02000503000000020004" pitchFamily="2" charset="0"/>
                <a:ea typeface="Inter" panose="02000503000000020004" pitchFamily="2" charset="0"/>
                <a:cs typeface="Inter" panose="02000503000000020004" pitchFamily="2" charset="0"/>
              </a:rPr>
              <a:t> — agent definitions and configuration</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Tenants</a:t>
            </a:r>
            <a:r>
              <a:rPr lang="en-US" sz="1600" dirty="0">
                <a:latin typeface="Inter" panose="02000503000000020004" pitchFamily="2" charset="0"/>
                <a:ea typeface="Inter" panose="02000503000000020004" pitchFamily="2" charset="0"/>
                <a:cs typeface="Inter" panose="02000503000000020004" pitchFamily="2" charset="0"/>
              </a:rPr>
              <a:t> — tenant settings, limits, and feature control</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Models</a:t>
            </a:r>
            <a:r>
              <a:rPr lang="en-US" sz="1600" dirty="0">
                <a:latin typeface="Inter" panose="02000503000000020004" pitchFamily="2" charset="0"/>
                <a:ea typeface="Inter" panose="02000503000000020004" pitchFamily="2" charset="0"/>
                <a:cs typeface="Inter" panose="02000503000000020004" pitchFamily="2" charset="0"/>
              </a:rPr>
              <a:t> — LLM provider and model management</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Tools</a:t>
            </a:r>
            <a:r>
              <a:rPr lang="en-US" sz="1600" dirty="0">
                <a:latin typeface="Inter" panose="02000503000000020004" pitchFamily="2" charset="0"/>
                <a:ea typeface="Inter" panose="02000503000000020004" pitchFamily="2" charset="0"/>
                <a:cs typeface="Inter" panose="02000503000000020004" pitchFamily="2" charset="0"/>
              </a:rPr>
              <a:t> — MCP tool discovery and invocation</a:t>
            </a:r>
          </a:p>
          <a:p>
            <a:endParaRPr lang="en-US" sz="1600" b="1" dirty="0">
              <a:latin typeface="Inter" panose="02000503000000020004" pitchFamily="2" charset="0"/>
              <a:ea typeface="Inter" panose="02000503000000020004" pitchFamily="2" charset="0"/>
              <a:cs typeface="Inter" panose="02000503000000020004" pitchFamily="2" charset="0"/>
            </a:endParaRPr>
          </a:p>
          <a:p>
            <a:r>
              <a:rPr lang="en-US" b="1" dirty="0">
                <a:latin typeface="Inter" panose="02000503000000020004" pitchFamily="2" charset="0"/>
                <a:ea typeface="Inter" panose="02000503000000020004" pitchFamily="2" charset="0"/>
                <a:cs typeface="Inter" panose="02000503000000020004" pitchFamily="2" charset="0"/>
              </a:rPr>
              <a:t>Execution APIs</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Jobs</a:t>
            </a:r>
            <a:r>
              <a:rPr lang="en-US" sz="1600" dirty="0">
                <a:latin typeface="Inter" panose="02000503000000020004" pitchFamily="2" charset="0"/>
                <a:ea typeface="Inter" panose="02000503000000020004" pitchFamily="2" charset="0"/>
                <a:cs typeface="Inter" panose="02000503000000020004" pitchFamily="2" charset="0"/>
              </a:rPr>
              <a:t> — async tasks, progress streaming, cancellation</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Agent runs</a:t>
            </a:r>
            <a:r>
              <a:rPr lang="en-US" sz="1600" dirty="0">
                <a:latin typeface="Inter" panose="02000503000000020004" pitchFamily="2" charset="0"/>
                <a:ea typeface="Inter" panose="02000503000000020004" pitchFamily="2" charset="0"/>
                <a:cs typeface="Inter" panose="02000503000000020004" pitchFamily="2" charset="0"/>
              </a:rPr>
              <a:t> — run lifecycle, status, results, cancellation</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Graph</a:t>
            </a:r>
            <a:r>
              <a:rPr lang="en-US" sz="1600" dirty="0">
                <a:latin typeface="Inter" panose="02000503000000020004" pitchFamily="2" charset="0"/>
                <a:ea typeface="Inter" panose="02000503000000020004" pitchFamily="2" charset="0"/>
                <a:cs typeface="Inter" panose="02000503000000020004" pitchFamily="2" charset="0"/>
              </a:rPr>
              <a:t> — Cypher and </a:t>
            </a:r>
            <a:r>
              <a:rPr lang="en-US" sz="1600" dirty="0" err="1">
                <a:latin typeface="Inter" panose="02000503000000020004" pitchFamily="2" charset="0"/>
                <a:ea typeface="Inter" panose="02000503000000020004" pitchFamily="2" charset="0"/>
                <a:cs typeface="Inter" panose="02000503000000020004" pitchFamily="2" charset="0"/>
              </a:rPr>
              <a:t>NL→Cypher</a:t>
            </a:r>
            <a:r>
              <a:rPr lang="en-US" sz="1600" dirty="0">
                <a:latin typeface="Inter" panose="02000503000000020004" pitchFamily="2" charset="0"/>
                <a:ea typeface="Inter" panose="02000503000000020004" pitchFamily="2" charset="0"/>
                <a:cs typeface="Inter" panose="02000503000000020004" pitchFamily="2" charset="0"/>
              </a:rPr>
              <a:t> execution</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Sessions</a:t>
            </a:r>
            <a:r>
              <a:rPr lang="en-US" sz="1600" dirty="0">
                <a:latin typeface="Inter" panose="02000503000000020004" pitchFamily="2" charset="0"/>
                <a:ea typeface="Inter" panose="02000503000000020004" pitchFamily="2" charset="0"/>
                <a:cs typeface="Inter" panose="02000503000000020004" pitchFamily="2" charset="0"/>
              </a:rPr>
              <a:t> — conversation and runtime context</a:t>
            </a:r>
          </a:p>
          <a:p>
            <a:endParaRPr lang="en-US" sz="1600" b="1" dirty="0">
              <a:latin typeface="Inter" panose="02000503000000020004" pitchFamily="2" charset="0"/>
              <a:ea typeface="Inter" panose="02000503000000020004" pitchFamily="2" charset="0"/>
              <a:cs typeface="Inter" panose="02000503000000020004" pitchFamily="2" charset="0"/>
            </a:endParaRPr>
          </a:p>
          <a:p>
            <a:r>
              <a:rPr lang="en-US" b="1" dirty="0">
                <a:latin typeface="Inter" panose="02000503000000020004" pitchFamily="2" charset="0"/>
                <a:ea typeface="Inter" panose="02000503000000020004" pitchFamily="2" charset="0"/>
                <a:cs typeface="Inter" panose="02000503000000020004" pitchFamily="2" charset="0"/>
              </a:rPr>
              <a:t>Operational APIs</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Admin</a:t>
            </a:r>
            <a:r>
              <a:rPr lang="en-US" sz="1600" dirty="0">
                <a:latin typeface="Inter" panose="02000503000000020004" pitchFamily="2" charset="0"/>
                <a:ea typeface="Inter" panose="02000503000000020004" pitchFamily="2" charset="0"/>
                <a:cs typeface="Inter" panose="02000503000000020004" pitchFamily="2" charset="0"/>
              </a:rPr>
              <a:t> — maintenance, cache control, system stats</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Export</a:t>
            </a:r>
            <a:r>
              <a:rPr lang="en-US" sz="1600" dirty="0">
                <a:latin typeface="Inter" panose="02000503000000020004" pitchFamily="2" charset="0"/>
                <a:ea typeface="Inter" panose="02000503000000020004" pitchFamily="2" charset="0"/>
                <a:cs typeface="Inter" panose="02000503000000020004" pitchFamily="2" charset="0"/>
              </a:rPr>
              <a:t> — runs, job results, and audit logs</a:t>
            </a:r>
          </a:p>
        </p:txBody>
      </p:sp>
      <p:pic>
        <p:nvPicPr>
          <p:cNvPr id="4" name="Picture 15" descr="Fondino">
            <a:extLst>
              <a:ext uri="{FF2B5EF4-FFF2-40B4-BE49-F238E27FC236}">
                <a16:creationId xmlns:a16="http://schemas.microsoft.com/office/drawing/2014/main" id="{67D0C9B3-4465-3094-11BE-7EC7F5D64C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Slide Number Placeholder 11">
            <a:extLst>
              <a:ext uri="{FF2B5EF4-FFF2-40B4-BE49-F238E27FC236}">
                <a16:creationId xmlns:a16="http://schemas.microsoft.com/office/drawing/2014/main" id="{88D984C8-D02D-ED04-492F-F3B42981E989}"/>
              </a:ext>
            </a:extLst>
          </p:cNvPr>
          <p:cNvSpPr>
            <a:spLocks noGrp="1"/>
          </p:cNvSpPr>
          <p:nvPr>
            <p:ph type="sldNum" sz="quarter" idx="12"/>
          </p:nvPr>
        </p:nvSpPr>
        <p:spPr/>
        <p:txBody>
          <a:bodyPr/>
          <a:lstStyle/>
          <a:p>
            <a:fld id="{48F19E39-9933-F648-B2F3-3AC17C0DC986}" type="slidenum">
              <a:rPr lang="en-US" smtClean="0">
                <a:solidFill>
                  <a:schemeClr val="bg1"/>
                </a:solidFill>
              </a:rPr>
              <a:t>8</a:t>
            </a:fld>
            <a:endParaRPr lang="en-US" dirty="0">
              <a:solidFill>
                <a:schemeClr val="bg1"/>
              </a:solidFill>
            </a:endParaRPr>
          </a:p>
        </p:txBody>
      </p:sp>
      <p:sp>
        <p:nvSpPr>
          <p:cNvPr id="2" name="TextBox 1">
            <a:extLst>
              <a:ext uri="{FF2B5EF4-FFF2-40B4-BE49-F238E27FC236}">
                <a16:creationId xmlns:a16="http://schemas.microsoft.com/office/drawing/2014/main" id="{0C1E64A0-FC83-0A8D-D24B-8A3CDEB5D6B6}"/>
              </a:ext>
            </a:extLst>
          </p:cNvPr>
          <p:cNvSpPr txBox="1"/>
          <p:nvPr/>
        </p:nvSpPr>
        <p:spPr>
          <a:xfrm>
            <a:off x="596349" y="374273"/>
            <a:ext cx="10953226" cy="830997"/>
          </a:xfrm>
          <a:prstGeom prst="rect">
            <a:avLst/>
          </a:prstGeom>
          <a:noFill/>
        </p:spPr>
        <p:txBody>
          <a:bodyPr wrap="square" rtlCol="0">
            <a:spAutoFit/>
          </a:bodyPr>
          <a:lstStyle/>
          <a:p>
            <a:pPr algn="just"/>
            <a:r>
              <a:rPr lang="en-US" sz="2800" b="1" dirty="0">
                <a:solidFill>
                  <a:srgbClr val="822334"/>
                </a:solidFill>
                <a:latin typeface="Inter" panose="02000503000000020004" pitchFamily="2" charset="0"/>
                <a:ea typeface="Inter" panose="02000503000000020004" pitchFamily="2" charset="0"/>
                <a:cs typeface="Inter" panose="02000503000000020004" pitchFamily="2" charset="0"/>
              </a:rPr>
              <a:t>API LAYER - ROUTERS</a:t>
            </a:r>
          </a:p>
          <a:p>
            <a:r>
              <a:rPr lang="en-US" sz="2000" dirty="0">
                <a:solidFill>
                  <a:srgbClr val="822334"/>
                </a:solidFill>
                <a:latin typeface="Inter" panose="02000503000000020004" pitchFamily="2" charset="0"/>
                <a:ea typeface="Inter" panose="02000503000000020004" pitchFamily="2" charset="0"/>
                <a:cs typeface="Inter" panose="02000503000000020004" pitchFamily="2" charset="0"/>
              </a:rPr>
              <a:t>76 endpoints</a:t>
            </a:r>
          </a:p>
        </p:txBody>
      </p:sp>
      <p:sp>
        <p:nvSpPr>
          <p:cNvPr id="3" name="Footer Placeholder 10">
            <a:extLst>
              <a:ext uri="{FF2B5EF4-FFF2-40B4-BE49-F238E27FC236}">
                <a16:creationId xmlns:a16="http://schemas.microsoft.com/office/drawing/2014/main" id="{FC9DCE86-8121-3F55-7C2C-3051C16CAFFE}"/>
              </a:ext>
            </a:extLst>
          </p:cNvPr>
          <p:cNvSpPr>
            <a:spLocks noGrp="1"/>
          </p:cNvSpPr>
          <p:nvPr>
            <p:ph type="ftr" sz="quarter" idx="11"/>
          </p:nvPr>
        </p:nvSpPr>
        <p:spPr>
          <a:xfrm>
            <a:off x="4566534" y="6356350"/>
            <a:ext cx="3058931" cy="365125"/>
          </a:xfrm>
        </p:spPr>
        <p:txBody>
          <a:bodyPr/>
          <a:lstStyle/>
          <a:p>
            <a:r>
              <a:rPr lang="en-US" dirty="0" err="1">
                <a:solidFill>
                  <a:schemeClr val="bg1"/>
                </a:solidFill>
                <a:latin typeface="Inter" panose="02000503000000020004" pitchFamily="2" charset="0"/>
                <a:ea typeface="Inter" panose="02000503000000020004" pitchFamily="2" charset="0"/>
                <a:cs typeface="Inter" panose="02000503000000020004" pitchFamily="2" charset="0"/>
              </a:rPr>
              <a:t>Cineca</a:t>
            </a:r>
            <a:r>
              <a:rPr lang="en-US" dirty="0">
                <a:solidFill>
                  <a:schemeClr val="bg1"/>
                </a:solidFill>
                <a:latin typeface="Inter" panose="02000503000000020004" pitchFamily="2" charset="0"/>
                <a:ea typeface="Inter" panose="02000503000000020004" pitchFamily="2" charset="0"/>
                <a:cs typeface="Inter" panose="02000503000000020004" pitchFamily="2" charset="0"/>
              </a:rPr>
              <a:t> Agentic Platform – Arman Feili</a:t>
            </a:r>
          </a:p>
        </p:txBody>
      </p:sp>
      <p:pic>
        <p:nvPicPr>
          <p:cNvPr id="7" name="Picture 6">
            <a:extLst>
              <a:ext uri="{FF2B5EF4-FFF2-40B4-BE49-F238E27FC236}">
                <a16:creationId xmlns:a16="http://schemas.microsoft.com/office/drawing/2014/main" id="{DA5A1A20-5975-7C3B-D104-7EA29DD136AE}"/>
              </a:ext>
            </a:extLst>
          </p:cNvPr>
          <p:cNvPicPr>
            <a:picLocks noChangeAspect="1"/>
          </p:cNvPicPr>
          <p:nvPr/>
        </p:nvPicPr>
        <p:blipFill>
          <a:blip r:embed="rId3"/>
          <a:stretch>
            <a:fillRect/>
          </a:stretch>
        </p:blipFill>
        <p:spPr>
          <a:xfrm>
            <a:off x="321777" y="6315552"/>
            <a:ext cx="435345" cy="435345"/>
          </a:xfrm>
          <a:prstGeom prst="rect">
            <a:avLst/>
          </a:prstGeom>
        </p:spPr>
      </p:pic>
      <p:pic>
        <p:nvPicPr>
          <p:cNvPr id="9" name="Picture 8">
            <a:extLst>
              <a:ext uri="{FF2B5EF4-FFF2-40B4-BE49-F238E27FC236}">
                <a16:creationId xmlns:a16="http://schemas.microsoft.com/office/drawing/2014/main" id="{102D1F58-9C4C-30E0-9DCA-E40220D359BA}"/>
              </a:ext>
            </a:extLst>
          </p:cNvPr>
          <p:cNvPicPr>
            <a:picLocks noChangeAspect="1"/>
          </p:cNvPicPr>
          <p:nvPr/>
        </p:nvPicPr>
        <p:blipFill>
          <a:blip r:embed="rId4"/>
          <a:stretch>
            <a:fillRect/>
          </a:stretch>
        </p:blipFill>
        <p:spPr>
          <a:xfrm>
            <a:off x="866134" y="6362629"/>
            <a:ext cx="1093241" cy="365125"/>
          </a:xfrm>
          <a:prstGeom prst="rect">
            <a:avLst/>
          </a:prstGeom>
        </p:spPr>
      </p:pic>
      <p:pic>
        <p:nvPicPr>
          <p:cNvPr id="16" name="Picture 15">
            <a:extLst>
              <a:ext uri="{FF2B5EF4-FFF2-40B4-BE49-F238E27FC236}">
                <a16:creationId xmlns:a16="http://schemas.microsoft.com/office/drawing/2014/main" id="{26DB4FE3-3122-DF24-B191-5456F5F79E1C}"/>
              </a:ext>
            </a:extLst>
          </p:cNvPr>
          <p:cNvPicPr>
            <a:picLocks noChangeAspect="1"/>
          </p:cNvPicPr>
          <p:nvPr/>
        </p:nvPicPr>
        <p:blipFill>
          <a:blip r:embed="rId5"/>
          <a:stretch>
            <a:fillRect/>
          </a:stretch>
        </p:blipFill>
        <p:spPr>
          <a:xfrm>
            <a:off x="5835718" y="467405"/>
            <a:ext cx="5931545" cy="644732"/>
          </a:xfrm>
          <a:prstGeom prst="rect">
            <a:avLst/>
          </a:prstGeom>
        </p:spPr>
      </p:pic>
      <p:pic>
        <p:nvPicPr>
          <p:cNvPr id="27" name="Picture 26">
            <a:extLst>
              <a:ext uri="{FF2B5EF4-FFF2-40B4-BE49-F238E27FC236}">
                <a16:creationId xmlns:a16="http://schemas.microsoft.com/office/drawing/2014/main" id="{550E246F-F948-0F84-D2B5-94EB10C6E225}"/>
              </a:ext>
            </a:extLst>
          </p:cNvPr>
          <p:cNvPicPr>
            <a:picLocks noChangeAspect="1"/>
          </p:cNvPicPr>
          <p:nvPr/>
        </p:nvPicPr>
        <p:blipFill>
          <a:blip r:embed="rId6"/>
          <a:stretch>
            <a:fillRect/>
          </a:stretch>
        </p:blipFill>
        <p:spPr>
          <a:xfrm>
            <a:off x="6620191" y="1225324"/>
            <a:ext cx="4896992" cy="4896992"/>
          </a:xfrm>
          <a:prstGeom prst="rect">
            <a:avLst/>
          </a:prstGeom>
        </p:spPr>
      </p:pic>
      <p:sp>
        <p:nvSpPr>
          <p:cNvPr id="29" name="TextBox 28">
            <a:extLst>
              <a:ext uri="{FF2B5EF4-FFF2-40B4-BE49-F238E27FC236}">
                <a16:creationId xmlns:a16="http://schemas.microsoft.com/office/drawing/2014/main" id="{0121D5E8-7661-FAAA-B08D-EFE3F9C4CBA2}"/>
              </a:ext>
            </a:extLst>
          </p:cNvPr>
          <p:cNvSpPr txBox="1"/>
          <p:nvPr/>
        </p:nvSpPr>
        <p:spPr>
          <a:xfrm>
            <a:off x="7261030" y="2724112"/>
            <a:ext cx="728870" cy="307777"/>
          </a:xfrm>
          <a:prstGeom prst="rect">
            <a:avLst/>
          </a:prstGeom>
          <a:noFill/>
        </p:spPr>
        <p:txBody>
          <a:bodyPr wrap="square">
            <a:spAutoFit/>
          </a:bodyPr>
          <a:lstStyle/>
          <a:p>
            <a:r>
              <a:rPr lang="en-US" sz="1400" b="1" dirty="0">
                <a:solidFill>
                  <a:schemeClr val="bg1"/>
                </a:solidFill>
                <a:latin typeface="Inter" panose="02000503000000020004" pitchFamily="2" charset="0"/>
                <a:ea typeface="Inter" panose="02000503000000020004" pitchFamily="2" charset="0"/>
                <a:cs typeface="Inter" panose="02000503000000020004" pitchFamily="2" charset="0"/>
              </a:rPr>
              <a:t>Core</a:t>
            </a:r>
            <a:endParaRPr lang="en-US" sz="1400" dirty="0">
              <a:solidFill>
                <a:schemeClr val="bg1"/>
              </a:solidFill>
            </a:endParaRPr>
          </a:p>
        </p:txBody>
      </p:sp>
      <p:sp>
        <p:nvSpPr>
          <p:cNvPr id="30" name="TextBox 29">
            <a:extLst>
              <a:ext uri="{FF2B5EF4-FFF2-40B4-BE49-F238E27FC236}">
                <a16:creationId xmlns:a16="http://schemas.microsoft.com/office/drawing/2014/main" id="{E1995060-1B45-0D91-6D12-CF1A3267CACB}"/>
              </a:ext>
            </a:extLst>
          </p:cNvPr>
          <p:cNvSpPr txBox="1"/>
          <p:nvPr/>
        </p:nvSpPr>
        <p:spPr>
          <a:xfrm>
            <a:off x="8720808" y="2724112"/>
            <a:ext cx="1076016" cy="307777"/>
          </a:xfrm>
          <a:prstGeom prst="rect">
            <a:avLst/>
          </a:prstGeom>
          <a:noFill/>
        </p:spPr>
        <p:txBody>
          <a:bodyPr wrap="square">
            <a:spAutoFit/>
          </a:bodyPr>
          <a:lstStyle/>
          <a:p>
            <a:r>
              <a:rPr lang="en-US" sz="1400" b="1" dirty="0">
                <a:solidFill>
                  <a:schemeClr val="bg1"/>
                </a:solidFill>
                <a:latin typeface="Inter" panose="02000503000000020004" pitchFamily="2" charset="0"/>
                <a:ea typeface="Inter" panose="02000503000000020004" pitchFamily="2" charset="0"/>
                <a:cs typeface="Inter" panose="02000503000000020004" pitchFamily="2" charset="0"/>
              </a:rPr>
              <a:t>Execution</a:t>
            </a:r>
            <a:endParaRPr lang="en-US" sz="1400" dirty="0">
              <a:solidFill>
                <a:schemeClr val="bg1"/>
              </a:solidFill>
            </a:endParaRPr>
          </a:p>
        </p:txBody>
      </p:sp>
      <p:sp>
        <p:nvSpPr>
          <p:cNvPr id="31" name="TextBox 30">
            <a:extLst>
              <a:ext uri="{FF2B5EF4-FFF2-40B4-BE49-F238E27FC236}">
                <a16:creationId xmlns:a16="http://schemas.microsoft.com/office/drawing/2014/main" id="{308AF10D-686A-8389-6588-2250AC9BAB53}"/>
              </a:ext>
            </a:extLst>
          </p:cNvPr>
          <p:cNvSpPr txBox="1"/>
          <p:nvPr/>
        </p:nvSpPr>
        <p:spPr>
          <a:xfrm>
            <a:off x="10098701" y="2735584"/>
            <a:ext cx="1255099" cy="307777"/>
          </a:xfrm>
          <a:prstGeom prst="rect">
            <a:avLst/>
          </a:prstGeom>
          <a:noFill/>
        </p:spPr>
        <p:txBody>
          <a:bodyPr wrap="square">
            <a:spAutoFit/>
          </a:bodyPr>
          <a:lstStyle/>
          <a:p>
            <a:r>
              <a:rPr lang="en-US" sz="1400" b="1" dirty="0">
                <a:solidFill>
                  <a:schemeClr val="bg1"/>
                </a:solidFill>
                <a:latin typeface="Inter" panose="02000503000000020004" pitchFamily="2" charset="0"/>
                <a:ea typeface="Inter" panose="02000503000000020004" pitchFamily="2" charset="0"/>
                <a:cs typeface="Inter" panose="02000503000000020004" pitchFamily="2" charset="0"/>
              </a:rPr>
              <a:t>Operational</a:t>
            </a:r>
            <a:endParaRPr lang="en-US" sz="1400" dirty="0">
              <a:solidFill>
                <a:schemeClr val="bg1"/>
              </a:solidFill>
            </a:endParaRPr>
          </a:p>
        </p:txBody>
      </p:sp>
    </p:spTree>
    <p:extLst>
      <p:ext uri="{BB962C8B-B14F-4D97-AF65-F5344CB8AC3E}">
        <p14:creationId xmlns:p14="http://schemas.microsoft.com/office/powerpoint/2010/main" val="38987497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07383-8871-1EE2-166A-B589E1CB40D5}"/>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CC69C75C-4A01-EF6E-E80E-25ED610402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Slide Number Placeholder 11">
            <a:extLst>
              <a:ext uri="{FF2B5EF4-FFF2-40B4-BE49-F238E27FC236}">
                <a16:creationId xmlns:a16="http://schemas.microsoft.com/office/drawing/2014/main" id="{416E3709-B6DA-1869-5D4C-B684FCEA70F7}"/>
              </a:ext>
            </a:extLst>
          </p:cNvPr>
          <p:cNvSpPr>
            <a:spLocks noGrp="1"/>
          </p:cNvSpPr>
          <p:nvPr>
            <p:ph type="sldNum" sz="quarter" idx="12"/>
          </p:nvPr>
        </p:nvSpPr>
        <p:spPr/>
        <p:txBody>
          <a:bodyPr/>
          <a:lstStyle/>
          <a:p>
            <a:fld id="{48F19E39-9933-F648-B2F3-3AC17C0DC986}" type="slidenum">
              <a:rPr lang="en-US" smtClean="0">
                <a:solidFill>
                  <a:schemeClr val="bg1"/>
                </a:solidFill>
              </a:rPr>
              <a:t>9</a:t>
            </a:fld>
            <a:endParaRPr lang="en-US" dirty="0">
              <a:solidFill>
                <a:schemeClr val="bg1"/>
              </a:solidFill>
            </a:endParaRPr>
          </a:p>
        </p:txBody>
      </p:sp>
      <p:sp>
        <p:nvSpPr>
          <p:cNvPr id="5" name="TextBox 4">
            <a:extLst>
              <a:ext uri="{FF2B5EF4-FFF2-40B4-BE49-F238E27FC236}">
                <a16:creationId xmlns:a16="http://schemas.microsoft.com/office/drawing/2014/main" id="{2817CA2A-2BBF-DDB2-3CCE-957C1C692365}"/>
              </a:ext>
            </a:extLst>
          </p:cNvPr>
          <p:cNvSpPr txBox="1"/>
          <p:nvPr/>
        </p:nvSpPr>
        <p:spPr>
          <a:xfrm>
            <a:off x="596349" y="374273"/>
            <a:ext cx="10999302" cy="830997"/>
          </a:xfrm>
          <a:prstGeom prst="rect">
            <a:avLst/>
          </a:prstGeom>
          <a:noFill/>
        </p:spPr>
        <p:txBody>
          <a:bodyPr wrap="square" rtlCol="0">
            <a:spAutoFit/>
          </a:bodyPr>
          <a:lstStyle/>
          <a:p>
            <a:pPr algn="just"/>
            <a:r>
              <a:rPr lang="en-US" sz="2800" b="1" dirty="0">
                <a:solidFill>
                  <a:srgbClr val="822334"/>
                </a:solidFill>
                <a:latin typeface="Inter" panose="02000503000000020004" pitchFamily="2" charset="0"/>
                <a:ea typeface="Inter" panose="02000503000000020004" pitchFamily="2" charset="0"/>
                <a:cs typeface="Inter" panose="02000503000000020004" pitchFamily="2" charset="0"/>
              </a:rPr>
              <a:t>JOB CREATION</a:t>
            </a:r>
          </a:p>
          <a:p>
            <a:pPr algn="just"/>
            <a:r>
              <a:rPr lang="en-US" sz="2000" dirty="0">
                <a:solidFill>
                  <a:srgbClr val="822334"/>
                </a:solidFill>
                <a:latin typeface="Inter" panose="02000503000000020004" pitchFamily="2" charset="0"/>
                <a:ea typeface="Inter" panose="02000503000000020004" pitchFamily="2" charset="0"/>
                <a:cs typeface="Inter" panose="02000503000000020004" pitchFamily="2" charset="0"/>
              </a:rPr>
              <a:t>Safe intake for long-running tasks</a:t>
            </a:r>
          </a:p>
        </p:txBody>
      </p:sp>
      <p:pic>
        <p:nvPicPr>
          <p:cNvPr id="8" name="Picture 7">
            <a:extLst>
              <a:ext uri="{FF2B5EF4-FFF2-40B4-BE49-F238E27FC236}">
                <a16:creationId xmlns:a16="http://schemas.microsoft.com/office/drawing/2014/main" id="{5446CBCC-5237-3424-D5C2-57726B26F903}"/>
              </a:ext>
            </a:extLst>
          </p:cNvPr>
          <p:cNvPicPr>
            <a:picLocks noChangeAspect="1"/>
          </p:cNvPicPr>
          <p:nvPr/>
        </p:nvPicPr>
        <p:blipFill>
          <a:blip r:embed="rId3"/>
          <a:stretch>
            <a:fillRect/>
          </a:stretch>
        </p:blipFill>
        <p:spPr>
          <a:xfrm>
            <a:off x="1665020" y="3910838"/>
            <a:ext cx="8861959" cy="1726105"/>
          </a:xfrm>
          <a:prstGeom prst="rect">
            <a:avLst/>
          </a:prstGeom>
        </p:spPr>
      </p:pic>
      <p:sp>
        <p:nvSpPr>
          <p:cNvPr id="6" name="Footer Placeholder 10">
            <a:extLst>
              <a:ext uri="{FF2B5EF4-FFF2-40B4-BE49-F238E27FC236}">
                <a16:creationId xmlns:a16="http://schemas.microsoft.com/office/drawing/2014/main" id="{589D20A6-30AB-470B-ACB3-A3D3D92E82FA}"/>
              </a:ext>
            </a:extLst>
          </p:cNvPr>
          <p:cNvSpPr>
            <a:spLocks noGrp="1"/>
          </p:cNvSpPr>
          <p:nvPr>
            <p:ph type="ftr" sz="quarter" idx="11"/>
          </p:nvPr>
        </p:nvSpPr>
        <p:spPr>
          <a:xfrm>
            <a:off x="4566534" y="6356350"/>
            <a:ext cx="3058931" cy="365125"/>
          </a:xfrm>
        </p:spPr>
        <p:txBody>
          <a:bodyPr/>
          <a:lstStyle/>
          <a:p>
            <a:r>
              <a:rPr lang="en-US" dirty="0" err="1">
                <a:solidFill>
                  <a:schemeClr val="bg1"/>
                </a:solidFill>
                <a:latin typeface="Inter" panose="02000503000000020004" pitchFamily="2" charset="0"/>
                <a:ea typeface="Inter" panose="02000503000000020004" pitchFamily="2" charset="0"/>
                <a:cs typeface="Inter" panose="02000503000000020004" pitchFamily="2" charset="0"/>
              </a:rPr>
              <a:t>Cineca</a:t>
            </a:r>
            <a:r>
              <a:rPr lang="en-US" dirty="0">
                <a:solidFill>
                  <a:schemeClr val="bg1"/>
                </a:solidFill>
                <a:latin typeface="Inter" panose="02000503000000020004" pitchFamily="2" charset="0"/>
                <a:ea typeface="Inter" panose="02000503000000020004" pitchFamily="2" charset="0"/>
                <a:cs typeface="Inter" panose="02000503000000020004" pitchFamily="2" charset="0"/>
              </a:rPr>
              <a:t> Agentic Platform – Arman Feili</a:t>
            </a:r>
          </a:p>
        </p:txBody>
      </p:sp>
      <p:pic>
        <p:nvPicPr>
          <p:cNvPr id="7" name="Picture 6">
            <a:extLst>
              <a:ext uri="{FF2B5EF4-FFF2-40B4-BE49-F238E27FC236}">
                <a16:creationId xmlns:a16="http://schemas.microsoft.com/office/drawing/2014/main" id="{5B166F74-4B2F-AADB-9EF5-5E1C2B829990}"/>
              </a:ext>
            </a:extLst>
          </p:cNvPr>
          <p:cNvPicPr>
            <a:picLocks noChangeAspect="1"/>
          </p:cNvPicPr>
          <p:nvPr/>
        </p:nvPicPr>
        <p:blipFill>
          <a:blip r:embed="rId4"/>
          <a:stretch>
            <a:fillRect/>
          </a:stretch>
        </p:blipFill>
        <p:spPr>
          <a:xfrm>
            <a:off x="321777" y="6315552"/>
            <a:ext cx="435345" cy="435345"/>
          </a:xfrm>
          <a:prstGeom prst="rect">
            <a:avLst/>
          </a:prstGeom>
        </p:spPr>
      </p:pic>
      <p:pic>
        <p:nvPicPr>
          <p:cNvPr id="9" name="Picture 8">
            <a:extLst>
              <a:ext uri="{FF2B5EF4-FFF2-40B4-BE49-F238E27FC236}">
                <a16:creationId xmlns:a16="http://schemas.microsoft.com/office/drawing/2014/main" id="{0945B2D3-B46C-6281-B7A9-1F75F21C8B5E}"/>
              </a:ext>
            </a:extLst>
          </p:cNvPr>
          <p:cNvPicPr>
            <a:picLocks noChangeAspect="1"/>
          </p:cNvPicPr>
          <p:nvPr/>
        </p:nvPicPr>
        <p:blipFill>
          <a:blip r:embed="rId5"/>
          <a:stretch>
            <a:fillRect/>
          </a:stretch>
        </p:blipFill>
        <p:spPr>
          <a:xfrm>
            <a:off x="866134" y="6362629"/>
            <a:ext cx="1093241" cy="365125"/>
          </a:xfrm>
          <a:prstGeom prst="rect">
            <a:avLst/>
          </a:prstGeom>
        </p:spPr>
      </p:pic>
      <p:sp>
        <p:nvSpPr>
          <p:cNvPr id="26" name="TextBox 25">
            <a:extLst>
              <a:ext uri="{FF2B5EF4-FFF2-40B4-BE49-F238E27FC236}">
                <a16:creationId xmlns:a16="http://schemas.microsoft.com/office/drawing/2014/main" id="{5FD2FA65-4A9D-2679-84EA-2C960250738B}"/>
              </a:ext>
            </a:extLst>
          </p:cNvPr>
          <p:cNvSpPr txBox="1"/>
          <p:nvPr/>
        </p:nvSpPr>
        <p:spPr>
          <a:xfrm>
            <a:off x="596349" y="1511997"/>
            <a:ext cx="10999302" cy="1846659"/>
          </a:xfrm>
          <a:prstGeom prst="rect">
            <a:avLst/>
          </a:prstGeom>
          <a:noFill/>
        </p:spPr>
        <p:txBody>
          <a:bodyPr wrap="square" rtlCol="0">
            <a:spAutoFit/>
          </a:bodyPr>
          <a:lstStyle/>
          <a:p>
            <a:r>
              <a:rPr lang="en-US" b="1" dirty="0">
                <a:latin typeface="Inter" panose="02000503000000020004" pitchFamily="2" charset="0"/>
                <a:ea typeface="Inter" panose="02000503000000020004" pitchFamily="2" charset="0"/>
                <a:cs typeface="Inter" panose="02000503000000020004" pitchFamily="2" charset="0"/>
              </a:rPr>
              <a:t>Creation Flow</a:t>
            </a:r>
          </a:p>
          <a:p>
            <a:pPr marL="342900" indent="-342900">
              <a:buFont typeface="+mj-lt"/>
              <a:buAutoNum type="arabicPeriod"/>
            </a:pPr>
            <a:r>
              <a:rPr lang="en-US" sz="1600" b="1" dirty="0">
                <a:latin typeface="Inter" panose="02000503000000020004" pitchFamily="2" charset="0"/>
                <a:ea typeface="Inter" panose="02000503000000020004" pitchFamily="2" charset="0"/>
                <a:cs typeface="Inter" panose="02000503000000020004" pitchFamily="2" charset="0"/>
              </a:rPr>
              <a:t>Request validation</a:t>
            </a:r>
            <a:r>
              <a:rPr lang="en-US" sz="1600" dirty="0">
                <a:latin typeface="Inter" panose="02000503000000020004" pitchFamily="2" charset="0"/>
                <a:ea typeface="Inter" panose="02000503000000020004" pitchFamily="2" charset="0"/>
                <a:cs typeface="Inter" panose="02000503000000020004" pitchFamily="2" charset="0"/>
              </a:rPr>
              <a:t> — required fields and payload structure</a:t>
            </a:r>
          </a:p>
          <a:p>
            <a:pPr marL="342900" indent="-342900">
              <a:buFont typeface="+mj-lt"/>
              <a:buAutoNum type="arabicPeriod"/>
            </a:pPr>
            <a:r>
              <a:rPr lang="en-US" sz="1600" b="1" dirty="0">
                <a:latin typeface="Inter" panose="02000503000000020004" pitchFamily="2" charset="0"/>
                <a:ea typeface="Inter" panose="02000503000000020004" pitchFamily="2" charset="0"/>
                <a:cs typeface="Inter" panose="02000503000000020004" pitchFamily="2" charset="0"/>
              </a:rPr>
              <a:t>Idempotency check</a:t>
            </a:r>
            <a:r>
              <a:rPr lang="en-US" sz="1600" dirty="0">
                <a:latin typeface="Inter" panose="02000503000000020004" pitchFamily="2" charset="0"/>
                <a:ea typeface="Inter" panose="02000503000000020004" pitchFamily="2" charset="0"/>
                <a:cs typeface="Inter" panose="02000503000000020004" pitchFamily="2" charset="0"/>
              </a:rPr>
              <a:t> — duplicate prevention on retries</a:t>
            </a:r>
          </a:p>
          <a:p>
            <a:pPr marL="342900" indent="-342900">
              <a:buFont typeface="+mj-lt"/>
              <a:buAutoNum type="arabicPeriod"/>
            </a:pPr>
            <a:r>
              <a:rPr lang="en-US" sz="1600" b="1" dirty="0">
                <a:latin typeface="Inter" panose="02000503000000020004" pitchFamily="2" charset="0"/>
                <a:ea typeface="Inter" panose="02000503000000020004" pitchFamily="2" charset="0"/>
                <a:cs typeface="Inter" panose="02000503000000020004" pitchFamily="2" charset="0"/>
              </a:rPr>
              <a:t>Durable job record</a:t>
            </a:r>
            <a:r>
              <a:rPr lang="en-US" sz="1600" dirty="0">
                <a:latin typeface="Inter" panose="02000503000000020004" pitchFamily="2" charset="0"/>
                <a:ea typeface="Inter" panose="02000503000000020004" pitchFamily="2" charset="0"/>
                <a:cs typeface="Inter" panose="02000503000000020004" pitchFamily="2" charset="0"/>
              </a:rPr>
              <a:t> — PostgreSQL job with status = queued</a:t>
            </a:r>
          </a:p>
          <a:p>
            <a:pPr marL="342900" indent="-342900">
              <a:buFont typeface="+mj-lt"/>
              <a:buAutoNum type="arabicPeriod"/>
            </a:pPr>
            <a:r>
              <a:rPr lang="en-US" sz="1600" b="1" dirty="0">
                <a:latin typeface="Inter" panose="02000503000000020004" pitchFamily="2" charset="0"/>
                <a:ea typeface="Inter" panose="02000503000000020004" pitchFamily="2" charset="0"/>
                <a:cs typeface="Inter" panose="02000503000000020004" pitchFamily="2" charset="0"/>
              </a:rPr>
              <a:t>Redis queueing</a:t>
            </a:r>
            <a:r>
              <a:rPr lang="en-US" sz="1600" dirty="0">
                <a:latin typeface="Inter" panose="02000503000000020004" pitchFamily="2" charset="0"/>
                <a:ea typeface="Inter" panose="02000503000000020004" pitchFamily="2" charset="0"/>
                <a:cs typeface="Inter" panose="02000503000000020004" pitchFamily="2" charset="0"/>
              </a:rPr>
              <a:t> — job ID pushed for worker execution</a:t>
            </a:r>
          </a:p>
          <a:p>
            <a:pPr marL="342900" indent="-342900">
              <a:buFont typeface="+mj-lt"/>
              <a:buAutoNum type="arabicPeriod"/>
            </a:pPr>
            <a:r>
              <a:rPr lang="en-US" sz="1600" b="1" dirty="0">
                <a:latin typeface="Inter" panose="02000503000000020004" pitchFamily="2" charset="0"/>
                <a:ea typeface="Inter" panose="02000503000000020004" pitchFamily="2" charset="0"/>
                <a:cs typeface="Inter" panose="02000503000000020004" pitchFamily="2" charset="0"/>
              </a:rPr>
              <a:t>Fast retry cache</a:t>
            </a:r>
            <a:r>
              <a:rPr lang="en-US" sz="1600" dirty="0">
                <a:latin typeface="Inter" panose="02000503000000020004" pitchFamily="2" charset="0"/>
                <a:ea typeface="Inter" panose="02000503000000020004" pitchFamily="2" charset="0"/>
                <a:cs typeface="Inter" panose="02000503000000020004" pitchFamily="2" charset="0"/>
              </a:rPr>
              <a:t> — idempotency key → job ID</a:t>
            </a:r>
          </a:p>
          <a:p>
            <a:pPr marL="342900" indent="-342900">
              <a:buFont typeface="+mj-lt"/>
              <a:buAutoNum type="arabicPeriod"/>
            </a:pPr>
            <a:r>
              <a:rPr lang="en-US" sz="1600" b="1" dirty="0">
                <a:latin typeface="Inter" panose="02000503000000020004" pitchFamily="2" charset="0"/>
                <a:ea typeface="Inter" panose="02000503000000020004" pitchFamily="2" charset="0"/>
                <a:cs typeface="Inter" panose="02000503000000020004" pitchFamily="2" charset="0"/>
              </a:rPr>
              <a:t>Async response</a:t>
            </a:r>
            <a:r>
              <a:rPr lang="en-US" sz="1600" dirty="0">
                <a:latin typeface="Inter" panose="02000503000000020004" pitchFamily="2" charset="0"/>
                <a:ea typeface="Inter" panose="02000503000000020004" pitchFamily="2" charset="0"/>
                <a:cs typeface="Inter" panose="02000503000000020004" pitchFamily="2" charset="0"/>
              </a:rPr>
              <a:t> — HTTP 202 Accepted with job ID and status</a:t>
            </a:r>
          </a:p>
        </p:txBody>
      </p:sp>
      <p:pic>
        <p:nvPicPr>
          <p:cNvPr id="29" name="Picture 28">
            <a:extLst>
              <a:ext uri="{FF2B5EF4-FFF2-40B4-BE49-F238E27FC236}">
                <a16:creationId xmlns:a16="http://schemas.microsoft.com/office/drawing/2014/main" id="{7784830B-E812-8449-9100-C5F78FE42FC1}"/>
              </a:ext>
            </a:extLst>
          </p:cNvPr>
          <p:cNvPicPr>
            <a:picLocks noChangeAspect="1"/>
          </p:cNvPicPr>
          <p:nvPr/>
        </p:nvPicPr>
        <p:blipFill>
          <a:blip r:embed="rId6"/>
          <a:stretch>
            <a:fillRect/>
          </a:stretch>
        </p:blipFill>
        <p:spPr>
          <a:xfrm>
            <a:off x="5835717" y="471486"/>
            <a:ext cx="5931546" cy="644732"/>
          </a:xfrm>
          <a:prstGeom prst="rect">
            <a:avLst/>
          </a:prstGeom>
        </p:spPr>
      </p:pic>
    </p:spTree>
    <p:extLst>
      <p:ext uri="{BB962C8B-B14F-4D97-AF65-F5344CB8AC3E}">
        <p14:creationId xmlns:p14="http://schemas.microsoft.com/office/powerpoint/2010/main" val="28900059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022E4-21DB-0138-0DDA-924AB2FA3B43}"/>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0993AADE-1D92-5EAC-23F4-ED1BCB9BC6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Slide Number Placeholder 11">
            <a:extLst>
              <a:ext uri="{FF2B5EF4-FFF2-40B4-BE49-F238E27FC236}">
                <a16:creationId xmlns:a16="http://schemas.microsoft.com/office/drawing/2014/main" id="{FE7802B7-55CA-7398-3826-9098013730A6}"/>
              </a:ext>
            </a:extLst>
          </p:cNvPr>
          <p:cNvSpPr>
            <a:spLocks noGrp="1"/>
          </p:cNvSpPr>
          <p:nvPr>
            <p:ph type="sldNum" sz="quarter" idx="12"/>
          </p:nvPr>
        </p:nvSpPr>
        <p:spPr/>
        <p:txBody>
          <a:bodyPr/>
          <a:lstStyle/>
          <a:p>
            <a:fld id="{48F19E39-9933-F648-B2F3-3AC17C0DC986}" type="slidenum">
              <a:rPr lang="en-US" smtClean="0">
                <a:solidFill>
                  <a:schemeClr val="bg1"/>
                </a:solidFill>
              </a:rPr>
              <a:t>10</a:t>
            </a:fld>
            <a:endParaRPr lang="en-US" dirty="0">
              <a:solidFill>
                <a:schemeClr val="bg1"/>
              </a:solidFill>
            </a:endParaRPr>
          </a:p>
        </p:txBody>
      </p:sp>
      <p:sp>
        <p:nvSpPr>
          <p:cNvPr id="9" name="TextBox 8">
            <a:extLst>
              <a:ext uri="{FF2B5EF4-FFF2-40B4-BE49-F238E27FC236}">
                <a16:creationId xmlns:a16="http://schemas.microsoft.com/office/drawing/2014/main" id="{0B9B25CF-026F-8D71-0A81-93B753F81566}"/>
              </a:ext>
            </a:extLst>
          </p:cNvPr>
          <p:cNvSpPr txBox="1"/>
          <p:nvPr/>
        </p:nvSpPr>
        <p:spPr>
          <a:xfrm>
            <a:off x="596349" y="374273"/>
            <a:ext cx="10999302" cy="830997"/>
          </a:xfrm>
          <a:prstGeom prst="rect">
            <a:avLst/>
          </a:prstGeom>
          <a:noFill/>
        </p:spPr>
        <p:txBody>
          <a:bodyPr wrap="square" rtlCol="0">
            <a:spAutoFit/>
          </a:bodyPr>
          <a:lstStyle/>
          <a:p>
            <a:r>
              <a:rPr lang="en-US" sz="2800" b="1" i="0" dirty="0">
                <a:solidFill>
                  <a:srgbClr val="822334"/>
                </a:solidFill>
                <a:effectLst/>
                <a:latin typeface="Inter" panose="02000503000000020004" pitchFamily="2" charset="0"/>
                <a:ea typeface="Inter" panose="02000503000000020004" pitchFamily="2" charset="0"/>
                <a:cs typeface="Inter" panose="02000503000000020004" pitchFamily="2" charset="0"/>
              </a:rPr>
              <a:t>WORKERS</a:t>
            </a:r>
          </a:p>
          <a:p>
            <a:r>
              <a:rPr lang="en-US" sz="2000" i="0" dirty="0">
                <a:solidFill>
                  <a:srgbClr val="822334"/>
                </a:solidFill>
                <a:effectLst/>
                <a:latin typeface="Inter" panose="02000503000000020004" pitchFamily="2" charset="0"/>
                <a:ea typeface="Inter" panose="02000503000000020004" pitchFamily="2" charset="0"/>
                <a:cs typeface="Inter" panose="02000503000000020004" pitchFamily="2" charset="0"/>
              </a:rPr>
              <a:t>Reliable job execution</a:t>
            </a:r>
          </a:p>
        </p:txBody>
      </p:sp>
      <p:pic>
        <p:nvPicPr>
          <p:cNvPr id="19" name="Picture 18">
            <a:extLst>
              <a:ext uri="{FF2B5EF4-FFF2-40B4-BE49-F238E27FC236}">
                <a16:creationId xmlns:a16="http://schemas.microsoft.com/office/drawing/2014/main" id="{EDC66AEF-B1D9-D758-23FF-3960C51CB560}"/>
              </a:ext>
            </a:extLst>
          </p:cNvPr>
          <p:cNvPicPr>
            <a:picLocks noChangeAspect="1"/>
          </p:cNvPicPr>
          <p:nvPr/>
        </p:nvPicPr>
        <p:blipFill>
          <a:blip r:embed="rId3"/>
          <a:stretch>
            <a:fillRect/>
          </a:stretch>
        </p:blipFill>
        <p:spPr>
          <a:xfrm>
            <a:off x="2778208" y="3623127"/>
            <a:ext cx="6115013" cy="2535907"/>
          </a:xfrm>
          <a:prstGeom prst="rect">
            <a:avLst/>
          </a:prstGeom>
        </p:spPr>
      </p:pic>
      <p:sp>
        <p:nvSpPr>
          <p:cNvPr id="3" name="Footer Placeholder 10">
            <a:extLst>
              <a:ext uri="{FF2B5EF4-FFF2-40B4-BE49-F238E27FC236}">
                <a16:creationId xmlns:a16="http://schemas.microsoft.com/office/drawing/2014/main" id="{0B26941F-A5AF-43F2-C484-9C8864E547AD}"/>
              </a:ext>
            </a:extLst>
          </p:cNvPr>
          <p:cNvSpPr>
            <a:spLocks noGrp="1"/>
          </p:cNvSpPr>
          <p:nvPr>
            <p:ph type="ftr" sz="quarter" idx="11"/>
          </p:nvPr>
        </p:nvSpPr>
        <p:spPr>
          <a:xfrm>
            <a:off x="4566534" y="6356350"/>
            <a:ext cx="3058931" cy="365125"/>
          </a:xfrm>
        </p:spPr>
        <p:txBody>
          <a:bodyPr/>
          <a:lstStyle/>
          <a:p>
            <a:r>
              <a:rPr lang="en-US" dirty="0" err="1">
                <a:solidFill>
                  <a:schemeClr val="bg1"/>
                </a:solidFill>
                <a:latin typeface="Inter" panose="02000503000000020004" pitchFamily="2" charset="0"/>
                <a:ea typeface="Inter" panose="02000503000000020004" pitchFamily="2" charset="0"/>
                <a:cs typeface="Inter" panose="02000503000000020004" pitchFamily="2" charset="0"/>
              </a:rPr>
              <a:t>Cineca</a:t>
            </a:r>
            <a:r>
              <a:rPr lang="en-US" dirty="0">
                <a:solidFill>
                  <a:schemeClr val="bg1"/>
                </a:solidFill>
                <a:latin typeface="Inter" panose="02000503000000020004" pitchFamily="2" charset="0"/>
                <a:ea typeface="Inter" panose="02000503000000020004" pitchFamily="2" charset="0"/>
                <a:cs typeface="Inter" panose="02000503000000020004" pitchFamily="2" charset="0"/>
              </a:rPr>
              <a:t> Agentic Platform – Arman Feili</a:t>
            </a:r>
          </a:p>
        </p:txBody>
      </p:sp>
      <p:pic>
        <p:nvPicPr>
          <p:cNvPr id="5" name="Picture 4">
            <a:extLst>
              <a:ext uri="{FF2B5EF4-FFF2-40B4-BE49-F238E27FC236}">
                <a16:creationId xmlns:a16="http://schemas.microsoft.com/office/drawing/2014/main" id="{78E483F7-F82E-6DE8-F7D0-9A6A4715C791}"/>
              </a:ext>
            </a:extLst>
          </p:cNvPr>
          <p:cNvPicPr>
            <a:picLocks noChangeAspect="1"/>
          </p:cNvPicPr>
          <p:nvPr/>
        </p:nvPicPr>
        <p:blipFill>
          <a:blip r:embed="rId4"/>
          <a:stretch>
            <a:fillRect/>
          </a:stretch>
        </p:blipFill>
        <p:spPr>
          <a:xfrm>
            <a:off x="321777" y="6315552"/>
            <a:ext cx="435345" cy="435345"/>
          </a:xfrm>
          <a:prstGeom prst="rect">
            <a:avLst/>
          </a:prstGeom>
        </p:spPr>
      </p:pic>
      <p:pic>
        <p:nvPicPr>
          <p:cNvPr id="6" name="Picture 5">
            <a:extLst>
              <a:ext uri="{FF2B5EF4-FFF2-40B4-BE49-F238E27FC236}">
                <a16:creationId xmlns:a16="http://schemas.microsoft.com/office/drawing/2014/main" id="{26838B9B-72B8-90D3-4DA6-7A11BDEA85B3}"/>
              </a:ext>
            </a:extLst>
          </p:cNvPr>
          <p:cNvPicPr>
            <a:picLocks noChangeAspect="1"/>
          </p:cNvPicPr>
          <p:nvPr/>
        </p:nvPicPr>
        <p:blipFill>
          <a:blip r:embed="rId5"/>
          <a:stretch>
            <a:fillRect/>
          </a:stretch>
        </p:blipFill>
        <p:spPr>
          <a:xfrm>
            <a:off x="866134" y="6362629"/>
            <a:ext cx="1093241" cy="365125"/>
          </a:xfrm>
          <a:prstGeom prst="rect">
            <a:avLst/>
          </a:prstGeom>
        </p:spPr>
      </p:pic>
      <p:sp>
        <p:nvSpPr>
          <p:cNvPr id="26" name="TextBox 25">
            <a:extLst>
              <a:ext uri="{FF2B5EF4-FFF2-40B4-BE49-F238E27FC236}">
                <a16:creationId xmlns:a16="http://schemas.microsoft.com/office/drawing/2014/main" id="{A6169038-0AD1-CBA1-5AFB-90AD77EEB369}"/>
              </a:ext>
            </a:extLst>
          </p:cNvPr>
          <p:cNvSpPr txBox="1"/>
          <p:nvPr/>
        </p:nvSpPr>
        <p:spPr>
          <a:xfrm>
            <a:off x="596349" y="1511996"/>
            <a:ext cx="5650071" cy="1600438"/>
          </a:xfrm>
          <a:prstGeom prst="rect">
            <a:avLst/>
          </a:prstGeom>
          <a:noFill/>
        </p:spPr>
        <p:txBody>
          <a:bodyPr wrap="square" rtlCol="0">
            <a:spAutoFit/>
          </a:bodyPr>
          <a:lstStyle/>
          <a:p>
            <a:r>
              <a:rPr lang="en-US" b="1" dirty="0">
                <a:latin typeface="Inter" panose="02000503000000020004" pitchFamily="2" charset="0"/>
                <a:ea typeface="Inter" panose="02000503000000020004" pitchFamily="2" charset="0"/>
                <a:cs typeface="Inter" panose="02000503000000020004" pitchFamily="2" charset="0"/>
              </a:rPr>
              <a:t>Worker Lifecycle</a:t>
            </a:r>
          </a:p>
          <a:p>
            <a:r>
              <a:rPr lang="en-US" sz="1600" b="1" dirty="0">
                <a:latin typeface="Inter" panose="02000503000000020004" pitchFamily="2" charset="0"/>
                <a:ea typeface="Inter" panose="02000503000000020004" pitchFamily="2" charset="0"/>
                <a:cs typeface="Inter" panose="02000503000000020004" pitchFamily="2" charset="0"/>
              </a:rPr>
              <a:t>1. Acquire queued job</a:t>
            </a:r>
            <a:r>
              <a:rPr lang="en-US" sz="1600" dirty="0">
                <a:latin typeface="Inter" panose="02000503000000020004" pitchFamily="2" charset="0"/>
                <a:ea typeface="Inter" panose="02000503000000020004" pitchFamily="2" charset="0"/>
                <a:cs typeface="Inter" panose="02000503000000020004" pitchFamily="2" charset="0"/>
              </a:rPr>
              <a:t> </a:t>
            </a:r>
            <a:r>
              <a:rPr lang="en-US" sz="1600" dirty="0"/>
              <a:t>→</a:t>
            </a:r>
            <a:r>
              <a:rPr lang="en-US" sz="1600" dirty="0">
                <a:latin typeface="Inter" panose="02000503000000020004" pitchFamily="2" charset="0"/>
                <a:ea typeface="Inter" panose="02000503000000020004" pitchFamily="2" charset="0"/>
                <a:cs typeface="Inter" panose="02000503000000020004" pitchFamily="2" charset="0"/>
              </a:rPr>
              <a:t> exclusive Redis ownership</a:t>
            </a:r>
          </a:p>
          <a:p>
            <a:r>
              <a:rPr lang="en-US" sz="1600" b="1" dirty="0">
                <a:latin typeface="Inter" panose="02000503000000020004" pitchFamily="2" charset="0"/>
                <a:ea typeface="Inter" panose="02000503000000020004" pitchFamily="2" charset="0"/>
                <a:cs typeface="Inter" panose="02000503000000020004" pitchFamily="2" charset="0"/>
              </a:rPr>
              <a:t>2. Load job metadata</a:t>
            </a:r>
            <a:r>
              <a:rPr lang="en-US" sz="1600" dirty="0">
                <a:latin typeface="Inter" panose="02000503000000020004" pitchFamily="2" charset="0"/>
                <a:ea typeface="Inter" panose="02000503000000020004" pitchFamily="2" charset="0"/>
                <a:cs typeface="Inter" panose="02000503000000020004" pitchFamily="2" charset="0"/>
              </a:rPr>
              <a:t> </a:t>
            </a:r>
            <a:r>
              <a:rPr lang="en-US" sz="1600" dirty="0"/>
              <a:t>→</a:t>
            </a:r>
            <a:r>
              <a:rPr lang="en-US" sz="1600" dirty="0">
                <a:latin typeface="Inter" panose="02000503000000020004" pitchFamily="2" charset="0"/>
                <a:ea typeface="Inter" panose="02000503000000020004" pitchFamily="2" charset="0"/>
                <a:cs typeface="Inter" panose="02000503000000020004" pitchFamily="2" charset="0"/>
              </a:rPr>
              <a:t> PostgreSQL as source of truth</a:t>
            </a:r>
          </a:p>
          <a:p>
            <a:r>
              <a:rPr lang="en-US" sz="1600" b="1" dirty="0">
                <a:latin typeface="Inter" panose="02000503000000020004" pitchFamily="2" charset="0"/>
                <a:ea typeface="Inter" panose="02000503000000020004" pitchFamily="2" charset="0"/>
                <a:cs typeface="Inter" panose="02000503000000020004" pitchFamily="2" charset="0"/>
              </a:rPr>
              <a:t>3. Check cancellation</a:t>
            </a:r>
            <a:r>
              <a:rPr lang="en-US" sz="1600" dirty="0">
                <a:latin typeface="Inter" panose="02000503000000020004" pitchFamily="2" charset="0"/>
                <a:ea typeface="Inter" panose="02000503000000020004" pitchFamily="2" charset="0"/>
                <a:cs typeface="Inter" panose="02000503000000020004" pitchFamily="2" charset="0"/>
              </a:rPr>
              <a:t> </a:t>
            </a:r>
            <a:r>
              <a:rPr lang="en-US" sz="1600" dirty="0"/>
              <a:t>→</a:t>
            </a:r>
            <a:r>
              <a:rPr lang="en-US" sz="1600" dirty="0">
                <a:latin typeface="Inter" panose="02000503000000020004" pitchFamily="2" charset="0"/>
                <a:ea typeface="Inter" panose="02000503000000020004" pitchFamily="2" charset="0"/>
                <a:cs typeface="Inter" panose="02000503000000020004" pitchFamily="2" charset="0"/>
              </a:rPr>
              <a:t> skip safely if already cancelled</a:t>
            </a:r>
          </a:p>
          <a:p>
            <a:r>
              <a:rPr lang="en-US" sz="1600" b="1" dirty="0">
                <a:latin typeface="Inter" panose="02000503000000020004" pitchFamily="2" charset="0"/>
                <a:ea typeface="Inter" panose="02000503000000020004" pitchFamily="2" charset="0"/>
                <a:cs typeface="Inter" panose="02000503000000020004" pitchFamily="2" charset="0"/>
              </a:rPr>
              <a:t>4. Mark as running</a:t>
            </a:r>
            <a:r>
              <a:rPr lang="en-US" sz="1600" dirty="0">
                <a:latin typeface="Inter" panose="02000503000000020004" pitchFamily="2" charset="0"/>
                <a:ea typeface="Inter" panose="02000503000000020004" pitchFamily="2" charset="0"/>
                <a:cs typeface="Inter" panose="02000503000000020004" pitchFamily="2" charset="0"/>
              </a:rPr>
              <a:t> </a:t>
            </a:r>
            <a:r>
              <a:rPr lang="en-US" sz="1600" dirty="0"/>
              <a:t>→</a:t>
            </a:r>
            <a:r>
              <a:rPr lang="en-US" sz="1600" dirty="0">
                <a:latin typeface="Inter" panose="02000503000000020004" pitchFamily="2" charset="0"/>
                <a:ea typeface="Inter" panose="02000503000000020004" pitchFamily="2" charset="0"/>
                <a:cs typeface="Inter" panose="02000503000000020004" pitchFamily="2" charset="0"/>
              </a:rPr>
              <a:t> auditable status transition</a:t>
            </a:r>
          </a:p>
          <a:p>
            <a:r>
              <a:rPr lang="en-US" sz="1600" b="1" dirty="0">
                <a:latin typeface="Inter" panose="02000503000000020004" pitchFamily="2" charset="0"/>
                <a:ea typeface="Inter" panose="02000503000000020004" pitchFamily="2" charset="0"/>
                <a:cs typeface="Inter" panose="02000503000000020004" pitchFamily="2" charset="0"/>
              </a:rPr>
              <a:t>5. Start heartbeat</a:t>
            </a:r>
            <a:r>
              <a:rPr lang="en-US" sz="1600" dirty="0">
                <a:latin typeface="Inter" panose="02000503000000020004" pitchFamily="2" charset="0"/>
                <a:ea typeface="Inter" panose="02000503000000020004" pitchFamily="2" charset="0"/>
                <a:cs typeface="Inter" panose="02000503000000020004" pitchFamily="2" charset="0"/>
              </a:rPr>
              <a:t> </a:t>
            </a:r>
            <a:r>
              <a:rPr lang="en-US" sz="1600" dirty="0"/>
              <a:t>→</a:t>
            </a:r>
            <a:r>
              <a:rPr lang="en-US" sz="1600" dirty="0">
                <a:latin typeface="Inter" panose="02000503000000020004" pitchFamily="2" charset="0"/>
                <a:ea typeface="Inter" panose="02000503000000020004" pitchFamily="2" charset="0"/>
                <a:cs typeface="Inter" panose="02000503000000020004" pitchFamily="2" charset="0"/>
              </a:rPr>
              <a:t> stuck-worker detection</a:t>
            </a:r>
          </a:p>
        </p:txBody>
      </p:sp>
      <p:sp>
        <p:nvSpPr>
          <p:cNvPr id="27" name="TextBox 26">
            <a:extLst>
              <a:ext uri="{FF2B5EF4-FFF2-40B4-BE49-F238E27FC236}">
                <a16:creationId xmlns:a16="http://schemas.microsoft.com/office/drawing/2014/main" id="{977D9F64-489D-F860-7B8C-59422C0A995E}"/>
              </a:ext>
            </a:extLst>
          </p:cNvPr>
          <p:cNvSpPr txBox="1"/>
          <p:nvPr/>
        </p:nvSpPr>
        <p:spPr>
          <a:xfrm>
            <a:off x="6246420" y="1535762"/>
            <a:ext cx="5650071" cy="1600438"/>
          </a:xfrm>
          <a:prstGeom prst="rect">
            <a:avLst/>
          </a:prstGeom>
          <a:noFill/>
        </p:spPr>
        <p:txBody>
          <a:bodyPr wrap="square" rtlCol="0">
            <a:spAutoFit/>
          </a:bodyPr>
          <a:lstStyle/>
          <a:p>
            <a:r>
              <a:rPr lang="en-US" b="1" dirty="0">
                <a:latin typeface="Inter" panose="02000503000000020004" pitchFamily="2" charset="0"/>
                <a:ea typeface="Inter" panose="02000503000000020004" pitchFamily="2" charset="0"/>
                <a:cs typeface="Inter" panose="02000503000000020004" pitchFamily="2" charset="0"/>
              </a:rPr>
              <a:t>Agent Run Execution</a:t>
            </a:r>
          </a:p>
          <a:p>
            <a:r>
              <a:rPr lang="en-US" sz="1600" b="1" dirty="0">
                <a:latin typeface="Inter" panose="02000503000000020004" pitchFamily="2" charset="0"/>
                <a:ea typeface="Inter" panose="02000503000000020004" pitchFamily="2" charset="0"/>
                <a:cs typeface="Inter" panose="02000503000000020004" pitchFamily="2" charset="0"/>
              </a:rPr>
              <a:t>6. Initialize </a:t>
            </a:r>
            <a:r>
              <a:rPr lang="en-US" sz="1600" b="1" dirty="0" err="1">
                <a:latin typeface="Inter" panose="02000503000000020004" pitchFamily="2" charset="0"/>
                <a:ea typeface="Inter" panose="02000503000000020004" pitchFamily="2" charset="0"/>
                <a:cs typeface="Inter" panose="02000503000000020004" pitchFamily="2" charset="0"/>
              </a:rPr>
              <a:t>AgentRun</a:t>
            </a:r>
            <a:r>
              <a:rPr lang="en-US" sz="1600" dirty="0">
                <a:latin typeface="Inter" panose="02000503000000020004" pitchFamily="2" charset="0"/>
                <a:ea typeface="Inter" panose="02000503000000020004" pitchFamily="2" charset="0"/>
                <a:cs typeface="Inter" panose="02000503000000020004" pitchFamily="2" charset="0"/>
              </a:rPr>
              <a:t> </a:t>
            </a:r>
            <a:r>
              <a:rPr lang="en-US" sz="1600" dirty="0"/>
              <a:t>→</a:t>
            </a:r>
            <a:r>
              <a:rPr lang="en-US" sz="1600" dirty="0">
                <a:latin typeface="Inter" panose="02000503000000020004" pitchFamily="2" charset="0"/>
                <a:ea typeface="Inter" panose="02000503000000020004" pitchFamily="2" charset="0"/>
                <a:cs typeface="Inter" panose="02000503000000020004" pitchFamily="2" charset="0"/>
              </a:rPr>
              <a:t> link job and run records</a:t>
            </a:r>
          </a:p>
          <a:p>
            <a:r>
              <a:rPr lang="en-US" sz="1600" b="1" dirty="0">
                <a:latin typeface="Inter" panose="02000503000000020004" pitchFamily="2" charset="0"/>
                <a:ea typeface="Inter" panose="02000503000000020004" pitchFamily="2" charset="0"/>
                <a:cs typeface="Inter" panose="02000503000000020004" pitchFamily="2" charset="0"/>
              </a:rPr>
              <a:t>7. Run orchestrator</a:t>
            </a:r>
            <a:r>
              <a:rPr lang="en-US" sz="1600" dirty="0">
                <a:latin typeface="Inter" panose="02000503000000020004" pitchFamily="2" charset="0"/>
                <a:ea typeface="Inter" panose="02000503000000020004" pitchFamily="2" charset="0"/>
                <a:cs typeface="Inter" panose="02000503000000020004" pitchFamily="2" charset="0"/>
              </a:rPr>
              <a:t> </a:t>
            </a:r>
            <a:r>
              <a:rPr lang="en-US" sz="1600" dirty="0"/>
              <a:t>→</a:t>
            </a:r>
            <a:r>
              <a:rPr lang="en-US" sz="1600" dirty="0">
                <a:latin typeface="Inter" panose="02000503000000020004" pitchFamily="2" charset="0"/>
                <a:ea typeface="Inter" panose="02000503000000020004" pitchFamily="2" charset="0"/>
                <a:cs typeface="Inter" panose="02000503000000020004" pitchFamily="2" charset="0"/>
              </a:rPr>
              <a:t> step-by-step workflow execution</a:t>
            </a:r>
          </a:p>
          <a:p>
            <a:r>
              <a:rPr lang="en-US" sz="1600" b="1" dirty="0">
                <a:latin typeface="Inter" panose="02000503000000020004" pitchFamily="2" charset="0"/>
                <a:ea typeface="Inter" panose="02000503000000020004" pitchFamily="2" charset="0"/>
                <a:cs typeface="Inter" panose="02000503000000020004" pitchFamily="2" charset="0"/>
              </a:rPr>
              <a:t>8. Execute and persist LLM / tool / graph steps</a:t>
            </a:r>
            <a:endParaRPr lang="en-US" sz="1600" dirty="0">
              <a:latin typeface="Inter" panose="02000503000000020004" pitchFamily="2" charset="0"/>
              <a:ea typeface="Inter" panose="02000503000000020004" pitchFamily="2" charset="0"/>
              <a:cs typeface="Inter" panose="02000503000000020004" pitchFamily="2" charset="0"/>
            </a:endParaRPr>
          </a:p>
          <a:p>
            <a:r>
              <a:rPr lang="en-US" sz="1600" b="1" dirty="0">
                <a:latin typeface="Inter" panose="02000503000000020004" pitchFamily="2" charset="0"/>
                <a:ea typeface="Inter" panose="02000503000000020004" pitchFamily="2" charset="0"/>
                <a:cs typeface="Inter" panose="02000503000000020004" pitchFamily="2" charset="0"/>
              </a:rPr>
              <a:t>9. Stream live updates</a:t>
            </a:r>
            <a:r>
              <a:rPr lang="en-US" sz="1600" dirty="0">
                <a:latin typeface="Inter" panose="02000503000000020004" pitchFamily="2" charset="0"/>
                <a:ea typeface="Inter" panose="02000503000000020004" pitchFamily="2" charset="0"/>
                <a:cs typeface="Inter" panose="02000503000000020004" pitchFamily="2" charset="0"/>
              </a:rPr>
              <a:t> </a:t>
            </a:r>
            <a:r>
              <a:rPr lang="en-US" sz="1600" dirty="0"/>
              <a:t>→</a:t>
            </a:r>
            <a:r>
              <a:rPr lang="en-US" sz="1600" dirty="0">
                <a:latin typeface="Inter" panose="02000503000000020004" pitchFamily="2" charset="0"/>
                <a:ea typeface="Inter" panose="02000503000000020004" pitchFamily="2" charset="0"/>
                <a:cs typeface="Inter" panose="02000503000000020004" pitchFamily="2" charset="0"/>
              </a:rPr>
              <a:t> progress events to the UI</a:t>
            </a:r>
          </a:p>
          <a:p>
            <a:r>
              <a:rPr lang="en-US" sz="1600" b="1" dirty="0">
                <a:latin typeface="Inter" panose="02000503000000020004" pitchFamily="2" charset="0"/>
                <a:ea typeface="Inter" panose="02000503000000020004" pitchFamily="2" charset="0"/>
                <a:cs typeface="Inter" panose="02000503000000020004" pitchFamily="2" charset="0"/>
              </a:rPr>
              <a:t>10. Finalize safely</a:t>
            </a:r>
            <a:r>
              <a:rPr lang="en-US" sz="1600" dirty="0">
                <a:latin typeface="Inter" panose="02000503000000020004" pitchFamily="2" charset="0"/>
                <a:ea typeface="Inter" panose="02000503000000020004" pitchFamily="2" charset="0"/>
                <a:cs typeface="Inter" panose="02000503000000020004" pitchFamily="2" charset="0"/>
              </a:rPr>
              <a:t> </a:t>
            </a:r>
            <a:r>
              <a:rPr lang="en-US" sz="1600" dirty="0"/>
              <a:t>→</a:t>
            </a:r>
            <a:r>
              <a:rPr lang="en-US" sz="1600" dirty="0">
                <a:latin typeface="Inter" panose="02000503000000020004" pitchFamily="2" charset="0"/>
                <a:ea typeface="Inter" panose="02000503000000020004" pitchFamily="2" charset="0"/>
                <a:cs typeface="Inter" panose="02000503000000020004" pitchFamily="2" charset="0"/>
              </a:rPr>
              <a:t> output guards, metrics, final status</a:t>
            </a:r>
          </a:p>
        </p:txBody>
      </p:sp>
      <p:pic>
        <p:nvPicPr>
          <p:cNvPr id="31" name="Picture 30">
            <a:extLst>
              <a:ext uri="{FF2B5EF4-FFF2-40B4-BE49-F238E27FC236}">
                <a16:creationId xmlns:a16="http://schemas.microsoft.com/office/drawing/2014/main" id="{2C501C9C-153F-AC28-A7C7-FFF0D984918F}"/>
              </a:ext>
            </a:extLst>
          </p:cNvPr>
          <p:cNvPicPr>
            <a:picLocks noChangeAspect="1"/>
          </p:cNvPicPr>
          <p:nvPr/>
        </p:nvPicPr>
        <p:blipFill>
          <a:blip r:embed="rId6"/>
          <a:stretch>
            <a:fillRect/>
          </a:stretch>
        </p:blipFill>
        <p:spPr>
          <a:xfrm>
            <a:off x="5835716" y="481052"/>
            <a:ext cx="5931547" cy="644733"/>
          </a:xfrm>
          <a:prstGeom prst="rect">
            <a:avLst/>
          </a:prstGeom>
        </p:spPr>
      </p:pic>
    </p:spTree>
    <p:extLst>
      <p:ext uri="{BB962C8B-B14F-4D97-AF65-F5344CB8AC3E}">
        <p14:creationId xmlns:p14="http://schemas.microsoft.com/office/powerpoint/2010/main" val="6919667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4C9E9-0966-4274-C2AB-F4F7C6413354}"/>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DD2F55D2-ABA6-818A-3C0A-0FAC1B224F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Slide Number Placeholder 11">
            <a:extLst>
              <a:ext uri="{FF2B5EF4-FFF2-40B4-BE49-F238E27FC236}">
                <a16:creationId xmlns:a16="http://schemas.microsoft.com/office/drawing/2014/main" id="{BD7840C2-B9E0-1BA0-F184-A949C1B7FA48}"/>
              </a:ext>
            </a:extLst>
          </p:cNvPr>
          <p:cNvSpPr>
            <a:spLocks noGrp="1"/>
          </p:cNvSpPr>
          <p:nvPr>
            <p:ph type="sldNum" sz="quarter" idx="12"/>
          </p:nvPr>
        </p:nvSpPr>
        <p:spPr/>
        <p:txBody>
          <a:bodyPr/>
          <a:lstStyle/>
          <a:p>
            <a:fld id="{48F19E39-9933-F648-B2F3-3AC17C0DC986}" type="slidenum">
              <a:rPr lang="en-US" smtClean="0">
                <a:solidFill>
                  <a:schemeClr val="bg1"/>
                </a:solidFill>
              </a:rPr>
              <a:t>11</a:t>
            </a:fld>
            <a:endParaRPr lang="en-US" dirty="0">
              <a:solidFill>
                <a:schemeClr val="bg1"/>
              </a:solidFill>
            </a:endParaRPr>
          </a:p>
        </p:txBody>
      </p:sp>
      <p:sp>
        <p:nvSpPr>
          <p:cNvPr id="6" name="TextBox 5">
            <a:extLst>
              <a:ext uri="{FF2B5EF4-FFF2-40B4-BE49-F238E27FC236}">
                <a16:creationId xmlns:a16="http://schemas.microsoft.com/office/drawing/2014/main" id="{075B4C02-7078-0545-7EBE-7804B14FA6D9}"/>
              </a:ext>
            </a:extLst>
          </p:cNvPr>
          <p:cNvSpPr txBox="1"/>
          <p:nvPr/>
        </p:nvSpPr>
        <p:spPr>
          <a:xfrm>
            <a:off x="596348" y="374273"/>
            <a:ext cx="11127823" cy="830997"/>
          </a:xfrm>
          <a:prstGeom prst="rect">
            <a:avLst/>
          </a:prstGeom>
          <a:noFill/>
        </p:spPr>
        <p:txBody>
          <a:bodyPr wrap="square" rtlCol="0">
            <a:spAutoFit/>
          </a:bodyPr>
          <a:lstStyle/>
          <a:p>
            <a:r>
              <a:rPr lang="en-US" sz="2800" b="1" dirty="0">
                <a:solidFill>
                  <a:srgbClr val="822334"/>
                </a:solidFill>
                <a:latin typeface="Inter" panose="02000503000000020004" pitchFamily="2" charset="0"/>
                <a:ea typeface="Inter" panose="02000503000000020004" pitchFamily="2" charset="0"/>
                <a:cs typeface="Inter" panose="02000503000000020004" pitchFamily="2" charset="0"/>
              </a:rPr>
              <a:t>ORCHESTRATOR (Part 1/3)</a:t>
            </a:r>
          </a:p>
          <a:p>
            <a:r>
              <a:rPr lang="en-US" sz="2000" dirty="0">
                <a:solidFill>
                  <a:srgbClr val="822334"/>
                </a:solidFill>
                <a:latin typeface="Inter" panose="02000503000000020004" pitchFamily="2" charset="0"/>
                <a:ea typeface="Inter" panose="02000503000000020004" pitchFamily="2" charset="0"/>
                <a:cs typeface="Inter" panose="02000503000000020004" pitchFamily="2" charset="0"/>
              </a:rPr>
              <a:t>Intent detection &amp; Multi-step planning</a:t>
            </a:r>
          </a:p>
        </p:txBody>
      </p:sp>
      <p:sp>
        <p:nvSpPr>
          <p:cNvPr id="13" name="Footer Placeholder 10">
            <a:extLst>
              <a:ext uri="{FF2B5EF4-FFF2-40B4-BE49-F238E27FC236}">
                <a16:creationId xmlns:a16="http://schemas.microsoft.com/office/drawing/2014/main" id="{EF5CC4A6-4F12-F3B3-798C-7BDF118C16C7}"/>
              </a:ext>
            </a:extLst>
          </p:cNvPr>
          <p:cNvSpPr>
            <a:spLocks noGrp="1"/>
          </p:cNvSpPr>
          <p:nvPr>
            <p:ph type="ftr" sz="quarter" idx="11"/>
          </p:nvPr>
        </p:nvSpPr>
        <p:spPr>
          <a:xfrm>
            <a:off x="4566534" y="6356350"/>
            <a:ext cx="3058931" cy="365125"/>
          </a:xfrm>
        </p:spPr>
        <p:txBody>
          <a:bodyPr/>
          <a:lstStyle/>
          <a:p>
            <a:r>
              <a:rPr lang="en-US" dirty="0" err="1">
                <a:solidFill>
                  <a:schemeClr val="bg1"/>
                </a:solidFill>
                <a:latin typeface="Inter" panose="02000503000000020004" pitchFamily="2" charset="0"/>
                <a:ea typeface="Inter" panose="02000503000000020004" pitchFamily="2" charset="0"/>
                <a:cs typeface="Inter" panose="02000503000000020004" pitchFamily="2" charset="0"/>
              </a:rPr>
              <a:t>Cineca</a:t>
            </a:r>
            <a:r>
              <a:rPr lang="en-US" dirty="0">
                <a:solidFill>
                  <a:schemeClr val="bg1"/>
                </a:solidFill>
                <a:latin typeface="Inter" panose="02000503000000020004" pitchFamily="2" charset="0"/>
                <a:ea typeface="Inter" panose="02000503000000020004" pitchFamily="2" charset="0"/>
                <a:cs typeface="Inter" panose="02000503000000020004" pitchFamily="2" charset="0"/>
              </a:rPr>
              <a:t> Agentic Platform – Arman Feili</a:t>
            </a:r>
          </a:p>
        </p:txBody>
      </p:sp>
      <p:pic>
        <p:nvPicPr>
          <p:cNvPr id="16" name="Picture 15">
            <a:extLst>
              <a:ext uri="{FF2B5EF4-FFF2-40B4-BE49-F238E27FC236}">
                <a16:creationId xmlns:a16="http://schemas.microsoft.com/office/drawing/2014/main" id="{01EE9C6C-0C8F-10CF-EDAF-83BA2FCC9B88}"/>
              </a:ext>
            </a:extLst>
          </p:cNvPr>
          <p:cNvPicPr>
            <a:picLocks noChangeAspect="1"/>
          </p:cNvPicPr>
          <p:nvPr/>
        </p:nvPicPr>
        <p:blipFill>
          <a:blip r:embed="rId3"/>
          <a:stretch>
            <a:fillRect/>
          </a:stretch>
        </p:blipFill>
        <p:spPr>
          <a:xfrm>
            <a:off x="321777" y="6315552"/>
            <a:ext cx="435345" cy="435345"/>
          </a:xfrm>
          <a:prstGeom prst="rect">
            <a:avLst/>
          </a:prstGeom>
        </p:spPr>
      </p:pic>
      <p:pic>
        <p:nvPicPr>
          <p:cNvPr id="17" name="Picture 16">
            <a:extLst>
              <a:ext uri="{FF2B5EF4-FFF2-40B4-BE49-F238E27FC236}">
                <a16:creationId xmlns:a16="http://schemas.microsoft.com/office/drawing/2014/main" id="{013B6E7C-EAC3-059E-2133-3DED7BBF17A8}"/>
              </a:ext>
            </a:extLst>
          </p:cNvPr>
          <p:cNvPicPr>
            <a:picLocks noChangeAspect="1"/>
          </p:cNvPicPr>
          <p:nvPr/>
        </p:nvPicPr>
        <p:blipFill>
          <a:blip r:embed="rId4"/>
          <a:stretch>
            <a:fillRect/>
          </a:stretch>
        </p:blipFill>
        <p:spPr>
          <a:xfrm>
            <a:off x="866134" y="6362629"/>
            <a:ext cx="1093241" cy="365125"/>
          </a:xfrm>
          <a:prstGeom prst="rect">
            <a:avLst/>
          </a:prstGeom>
        </p:spPr>
      </p:pic>
      <p:pic>
        <p:nvPicPr>
          <p:cNvPr id="32" name="Picture 31">
            <a:extLst>
              <a:ext uri="{FF2B5EF4-FFF2-40B4-BE49-F238E27FC236}">
                <a16:creationId xmlns:a16="http://schemas.microsoft.com/office/drawing/2014/main" id="{16A5F55B-A85C-D0B1-1B68-AA8043CE58CC}"/>
              </a:ext>
            </a:extLst>
          </p:cNvPr>
          <p:cNvPicPr>
            <a:picLocks noChangeAspect="1"/>
          </p:cNvPicPr>
          <p:nvPr/>
        </p:nvPicPr>
        <p:blipFill>
          <a:blip r:embed="rId5"/>
          <a:stretch>
            <a:fillRect/>
          </a:stretch>
        </p:blipFill>
        <p:spPr>
          <a:xfrm>
            <a:off x="5792623" y="374273"/>
            <a:ext cx="5931548" cy="985152"/>
          </a:xfrm>
          <a:prstGeom prst="rect">
            <a:avLst/>
          </a:prstGeom>
        </p:spPr>
      </p:pic>
      <p:sp>
        <p:nvSpPr>
          <p:cNvPr id="34" name="TextBox 33">
            <a:extLst>
              <a:ext uri="{FF2B5EF4-FFF2-40B4-BE49-F238E27FC236}">
                <a16:creationId xmlns:a16="http://schemas.microsoft.com/office/drawing/2014/main" id="{64F8CB52-E6CE-EA9F-5DFC-9CCD5104D502}"/>
              </a:ext>
            </a:extLst>
          </p:cNvPr>
          <p:cNvSpPr txBox="1"/>
          <p:nvPr/>
        </p:nvSpPr>
        <p:spPr>
          <a:xfrm>
            <a:off x="596352" y="1560649"/>
            <a:ext cx="5499648" cy="2339102"/>
          </a:xfrm>
          <a:prstGeom prst="rect">
            <a:avLst/>
          </a:prstGeom>
          <a:noFill/>
        </p:spPr>
        <p:txBody>
          <a:bodyPr wrap="square" rtlCol="0">
            <a:spAutoFit/>
          </a:bodyPr>
          <a:lstStyle/>
          <a:p>
            <a:r>
              <a:rPr lang="en-US" b="1" dirty="0">
                <a:latin typeface="Inter" panose="02000503000000020004" pitchFamily="2" charset="0"/>
                <a:ea typeface="Inter" panose="02000503000000020004" pitchFamily="2" charset="0"/>
                <a:cs typeface="Inter" panose="02000503000000020004" pitchFamily="2" charset="0"/>
              </a:rPr>
              <a:t>Phase 1 — Intent Classification</a:t>
            </a:r>
            <a:endParaRPr lang="en-US" sz="1600" dirty="0">
              <a:latin typeface="Inter" panose="02000503000000020004" pitchFamily="2" charset="0"/>
              <a:ea typeface="Inter" panose="02000503000000020004" pitchFamily="2" charset="0"/>
              <a:cs typeface="Inter" panose="02000503000000020004" pitchFamily="2" charset="0"/>
            </a:endParaRP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1 LLM call for classification</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Intent Types:</a:t>
            </a:r>
          </a:p>
          <a:p>
            <a:pPr marL="742950" lvl="1"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CHAT</a:t>
            </a:r>
            <a:r>
              <a:rPr lang="en-US" sz="1600" dirty="0">
                <a:latin typeface="Inter" panose="02000503000000020004" pitchFamily="2" charset="0"/>
                <a:ea typeface="Inter" panose="02000503000000020004" pitchFamily="2" charset="0"/>
                <a:cs typeface="Inter" panose="02000503000000020004" pitchFamily="2" charset="0"/>
              </a:rPr>
              <a:t> — conversational response</a:t>
            </a:r>
          </a:p>
          <a:p>
            <a:pPr marL="742950" lvl="1"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GRAPH</a:t>
            </a:r>
            <a:r>
              <a:rPr lang="en-US" sz="1600" dirty="0">
                <a:latin typeface="Inter" panose="02000503000000020004" pitchFamily="2" charset="0"/>
                <a:ea typeface="Inter" panose="02000503000000020004" pitchFamily="2" charset="0"/>
                <a:cs typeface="Inter" panose="02000503000000020004" pitchFamily="2" charset="0"/>
              </a:rPr>
              <a:t> — </a:t>
            </a:r>
            <a:r>
              <a:rPr lang="en-US" sz="1600" dirty="0" err="1">
                <a:latin typeface="Inter" panose="02000503000000020004" pitchFamily="2" charset="0"/>
                <a:ea typeface="Inter" panose="02000503000000020004" pitchFamily="2" charset="0"/>
                <a:cs typeface="Inter" panose="02000503000000020004" pitchFamily="2" charset="0"/>
              </a:rPr>
              <a:t>NL→Cypher</a:t>
            </a:r>
            <a:r>
              <a:rPr lang="en-US" sz="1600" dirty="0">
                <a:latin typeface="Inter" panose="02000503000000020004" pitchFamily="2" charset="0"/>
                <a:ea typeface="Inter" panose="02000503000000020004" pitchFamily="2" charset="0"/>
                <a:cs typeface="Inter" panose="02000503000000020004" pitchFamily="2" charset="0"/>
              </a:rPr>
              <a:t> query</a:t>
            </a:r>
          </a:p>
          <a:p>
            <a:pPr marL="742950" lvl="1"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SECURITY</a:t>
            </a:r>
            <a:r>
              <a:rPr lang="en-US" sz="1600" dirty="0">
                <a:latin typeface="Inter" panose="02000503000000020004" pitchFamily="2" charset="0"/>
                <a:ea typeface="Inter" panose="02000503000000020004" pitchFamily="2" charset="0"/>
                <a:cs typeface="Inter" panose="02000503000000020004" pitchFamily="2" charset="0"/>
              </a:rPr>
              <a:t> — permission and access questions</a:t>
            </a:r>
          </a:p>
          <a:p>
            <a:pPr marL="742950" lvl="1"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ADMIN</a:t>
            </a:r>
            <a:r>
              <a:rPr lang="en-US" sz="1600" dirty="0">
                <a:latin typeface="Inter" panose="02000503000000020004" pitchFamily="2" charset="0"/>
                <a:ea typeface="Inter" panose="02000503000000020004" pitchFamily="2" charset="0"/>
                <a:cs typeface="Inter" panose="02000503000000020004" pitchFamily="2" charset="0"/>
              </a:rPr>
              <a:t> — administrative actions</a:t>
            </a:r>
          </a:p>
          <a:p>
            <a:pPr marL="742950" lvl="1"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DANGEROUS</a:t>
            </a:r>
            <a:r>
              <a:rPr lang="en-US" sz="1600" dirty="0">
                <a:latin typeface="Inter" panose="02000503000000020004" pitchFamily="2" charset="0"/>
                <a:ea typeface="Inter" panose="02000503000000020004" pitchFamily="2" charset="0"/>
                <a:cs typeface="Inter" panose="02000503000000020004" pitchFamily="2" charset="0"/>
              </a:rPr>
              <a:t> — refused safely</a:t>
            </a:r>
          </a:p>
          <a:p>
            <a:pPr marL="742950" lvl="1"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EXPLAIN</a:t>
            </a:r>
            <a:r>
              <a:rPr lang="en-US" sz="1600" dirty="0">
                <a:latin typeface="Inter" panose="02000503000000020004" pitchFamily="2" charset="0"/>
                <a:ea typeface="Inter" panose="02000503000000020004" pitchFamily="2" charset="0"/>
                <a:cs typeface="Inter" panose="02000503000000020004" pitchFamily="2" charset="0"/>
              </a:rPr>
              <a:t> — analysis without execution</a:t>
            </a:r>
          </a:p>
        </p:txBody>
      </p:sp>
      <p:pic>
        <p:nvPicPr>
          <p:cNvPr id="43" name="Picture 42">
            <a:extLst>
              <a:ext uri="{FF2B5EF4-FFF2-40B4-BE49-F238E27FC236}">
                <a16:creationId xmlns:a16="http://schemas.microsoft.com/office/drawing/2014/main" id="{08299120-931F-BFF6-5931-9E0D90339EC6}"/>
              </a:ext>
            </a:extLst>
          </p:cNvPr>
          <p:cNvPicPr>
            <a:picLocks noChangeAspect="1"/>
          </p:cNvPicPr>
          <p:nvPr/>
        </p:nvPicPr>
        <p:blipFill>
          <a:blip r:embed="rId6"/>
          <a:stretch>
            <a:fillRect/>
          </a:stretch>
        </p:blipFill>
        <p:spPr>
          <a:xfrm>
            <a:off x="3900715" y="3970125"/>
            <a:ext cx="4519087" cy="2128255"/>
          </a:xfrm>
          <a:prstGeom prst="rect">
            <a:avLst/>
          </a:prstGeom>
        </p:spPr>
      </p:pic>
      <p:sp>
        <p:nvSpPr>
          <p:cNvPr id="44" name="TextBox 43">
            <a:extLst>
              <a:ext uri="{FF2B5EF4-FFF2-40B4-BE49-F238E27FC236}">
                <a16:creationId xmlns:a16="http://schemas.microsoft.com/office/drawing/2014/main" id="{B697662D-1BF3-EB22-FDBD-BC9AB5242117}"/>
              </a:ext>
            </a:extLst>
          </p:cNvPr>
          <p:cNvSpPr txBox="1"/>
          <p:nvPr/>
        </p:nvSpPr>
        <p:spPr>
          <a:xfrm>
            <a:off x="6441094" y="1560648"/>
            <a:ext cx="5499648" cy="1600438"/>
          </a:xfrm>
          <a:prstGeom prst="rect">
            <a:avLst/>
          </a:prstGeom>
          <a:noFill/>
        </p:spPr>
        <p:txBody>
          <a:bodyPr wrap="square" rtlCol="0">
            <a:spAutoFit/>
          </a:bodyPr>
          <a:lstStyle/>
          <a:p>
            <a:r>
              <a:rPr lang="en-US" b="1" dirty="0">
                <a:latin typeface="Inter" panose="02000503000000020004" pitchFamily="2" charset="0"/>
                <a:ea typeface="Inter" panose="02000503000000020004" pitchFamily="2" charset="0"/>
                <a:cs typeface="Inter" panose="02000503000000020004" pitchFamily="2" charset="0"/>
              </a:rPr>
              <a:t>Phase 2 — TODO Planning</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Multi-step task decomposition</a:t>
            </a:r>
            <a:endParaRPr lang="en-US" sz="1600" dirty="0">
              <a:latin typeface="Inter" panose="02000503000000020004" pitchFamily="2" charset="0"/>
              <a:ea typeface="Inter" panose="02000503000000020004" pitchFamily="2" charset="0"/>
              <a:cs typeface="Inter" panose="02000503000000020004" pitchFamily="2" charset="0"/>
            </a:endParaRP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Context-aware planning</a:t>
            </a:r>
            <a:endParaRPr lang="en-US" sz="1600" dirty="0">
              <a:latin typeface="Inter" panose="02000503000000020004" pitchFamily="2" charset="0"/>
              <a:ea typeface="Inter" panose="02000503000000020004" pitchFamily="2" charset="0"/>
              <a:cs typeface="Inter" panose="02000503000000020004" pitchFamily="2" charset="0"/>
            </a:endParaRP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Schema and tool awareness</a:t>
            </a:r>
            <a:endParaRPr lang="en-US" sz="1600" dirty="0">
              <a:latin typeface="Inter" panose="02000503000000020004" pitchFamily="2" charset="0"/>
              <a:ea typeface="Inter" panose="02000503000000020004" pitchFamily="2" charset="0"/>
              <a:cs typeface="Inter" panose="02000503000000020004" pitchFamily="2" charset="0"/>
            </a:endParaRP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Structured action sequence</a:t>
            </a:r>
            <a:endParaRPr lang="en-US" sz="1600" dirty="0">
              <a:latin typeface="Inter" panose="02000503000000020004" pitchFamily="2" charset="0"/>
              <a:ea typeface="Inter" panose="02000503000000020004" pitchFamily="2" charset="0"/>
              <a:cs typeface="Inter" panose="02000503000000020004" pitchFamily="2" charset="0"/>
            </a:endParaRP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Example flow:</a:t>
            </a:r>
            <a:r>
              <a:rPr lang="en-US" sz="1600" dirty="0">
                <a:latin typeface="Inter" panose="02000503000000020004" pitchFamily="2" charset="0"/>
                <a:ea typeface="Inter" panose="02000503000000020004" pitchFamily="2" charset="0"/>
                <a:cs typeface="Inter" panose="02000503000000020004" pitchFamily="2" charset="0"/>
              </a:rPr>
              <a:t> query → analyze → summarize</a:t>
            </a:r>
          </a:p>
        </p:txBody>
      </p:sp>
    </p:spTree>
    <p:extLst>
      <p:ext uri="{BB962C8B-B14F-4D97-AF65-F5344CB8AC3E}">
        <p14:creationId xmlns:p14="http://schemas.microsoft.com/office/powerpoint/2010/main" val="23022326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113B1-646D-BDAC-EFDA-F497752581E5}"/>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C60D2C65-8C2B-A7DE-B7BB-9FD2BD0EC5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Slide Number Placeholder 11">
            <a:extLst>
              <a:ext uri="{FF2B5EF4-FFF2-40B4-BE49-F238E27FC236}">
                <a16:creationId xmlns:a16="http://schemas.microsoft.com/office/drawing/2014/main" id="{B2D84275-470B-F467-2786-543AE781C48B}"/>
              </a:ext>
            </a:extLst>
          </p:cNvPr>
          <p:cNvSpPr>
            <a:spLocks noGrp="1"/>
          </p:cNvSpPr>
          <p:nvPr>
            <p:ph type="sldNum" sz="quarter" idx="12"/>
          </p:nvPr>
        </p:nvSpPr>
        <p:spPr/>
        <p:txBody>
          <a:bodyPr/>
          <a:lstStyle/>
          <a:p>
            <a:fld id="{48F19E39-9933-F648-B2F3-3AC17C0DC986}" type="slidenum">
              <a:rPr lang="en-US" smtClean="0">
                <a:solidFill>
                  <a:schemeClr val="bg1"/>
                </a:solidFill>
              </a:rPr>
              <a:t>12</a:t>
            </a:fld>
            <a:endParaRPr lang="en-US" dirty="0">
              <a:solidFill>
                <a:schemeClr val="bg1"/>
              </a:solidFill>
            </a:endParaRPr>
          </a:p>
        </p:txBody>
      </p:sp>
      <p:sp>
        <p:nvSpPr>
          <p:cNvPr id="3" name="TextBox 2">
            <a:extLst>
              <a:ext uri="{FF2B5EF4-FFF2-40B4-BE49-F238E27FC236}">
                <a16:creationId xmlns:a16="http://schemas.microsoft.com/office/drawing/2014/main" id="{92F78B4B-D69A-CAD6-6006-44A0B966CE79}"/>
              </a:ext>
            </a:extLst>
          </p:cNvPr>
          <p:cNvSpPr txBox="1"/>
          <p:nvPr/>
        </p:nvSpPr>
        <p:spPr>
          <a:xfrm>
            <a:off x="596348" y="374273"/>
            <a:ext cx="11127823" cy="830997"/>
          </a:xfrm>
          <a:prstGeom prst="rect">
            <a:avLst/>
          </a:prstGeom>
          <a:noFill/>
        </p:spPr>
        <p:txBody>
          <a:bodyPr wrap="square" rtlCol="0">
            <a:spAutoFit/>
          </a:bodyPr>
          <a:lstStyle/>
          <a:p>
            <a:r>
              <a:rPr lang="en-US" sz="2800" b="1" dirty="0">
                <a:solidFill>
                  <a:srgbClr val="822334"/>
                </a:solidFill>
                <a:latin typeface="Inter" panose="02000503000000020004" pitchFamily="2" charset="0"/>
                <a:ea typeface="Inter" panose="02000503000000020004" pitchFamily="2" charset="0"/>
                <a:cs typeface="Inter" panose="02000503000000020004" pitchFamily="2" charset="0"/>
              </a:rPr>
              <a:t>ORCHESTRATOR (Part 2/3)</a:t>
            </a:r>
          </a:p>
          <a:p>
            <a:r>
              <a:rPr lang="en-US" sz="2000" dirty="0">
                <a:solidFill>
                  <a:srgbClr val="822334"/>
                </a:solidFill>
                <a:latin typeface="Inter" panose="02000503000000020004" pitchFamily="2" charset="0"/>
                <a:ea typeface="Inter" panose="02000503000000020004" pitchFamily="2" charset="0"/>
                <a:cs typeface="Inter" panose="02000503000000020004" pitchFamily="2" charset="0"/>
              </a:rPr>
              <a:t>Step Execution</a:t>
            </a:r>
          </a:p>
        </p:txBody>
      </p:sp>
      <p:sp>
        <p:nvSpPr>
          <p:cNvPr id="9" name="Footer Placeholder 10">
            <a:extLst>
              <a:ext uri="{FF2B5EF4-FFF2-40B4-BE49-F238E27FC236}">
                <a16:creationId xmlns:a16="http://schemas.microsoft.com/office/drawing/2014/main" id="{A9384DC0-A150-CAAB-F082-358789DF070D}"/>
              </a:ext>
            </a:extLst>
          </p:cNvPr>
          <p:cNvSpPr>
            <a:spLocks noGrp="1"/>
          </p:cNvSpPr>
          <p:nvPr>
            <p:ph type="ftr" sz="quarter" idx="11"/>
          </p:nvPr>
        </p:nvSpPr>
        <p:spPr>
          <a:xfrm>
            <a:off x="4566534" y="6356350"/>
            <a:ext cx="3058931" cy="365125"/>
          </a:xfrm>
        </p:spPr>
        <p:txBody>
          <a:bodyPr/>
          <a:lstStyle/>
          <a:p>
            <a:r>
              <a:rPr lang="en-US" dirty="0" err="1">
                <a:solidFill>
                  <a:schemeClr val="bg1"/>
                </a:solidFill>
                <a:latin typeface="Inter" panose="02000503000000020004" pitchFamily="2" charset="0"/>
                <a:ea typeface="Inter" panose="02000503000000020004" pitchFamily="2" charset="0"/>
                <a:cs typeface="Inter" panose="02000503000000020004" pitchFamily="2" charset="0"/>
              </a:rPr>
              <a:t>Cineca</a:t>
            </a:r>
            <a:r>
              <a:rPr lang="en-US" dirty="0">
                <a:solidFill>
                  <a:schemeClr val="bg1"/>
                </a:solidFill>
                <a:latin typeface="Inter" panose="02000503000000020004" pitchFamily="2" charset="0"/>
                <a:ea typeface="Inter" panose="02000503000000020004" pitchFamily="2" charset="0"/>
                <a:cs typeface="Inter" panose="02000503000000020004" pitchFamily="2" charset="0"/>
              </a:rPr>
              <a:t> Agentic Platform – Arman Feili</a:t>
            </a:r>
          </a:p>
        </p:txBody>
      </p:sp>
      <p:pic>
        <p:nvPicPr>
          <p:cNvPr id="10" name="Picture 9">
            <a:extLst>
              <a:ext uri="{FF2B5EF4-FFF2-40B4-BE49-F238E27FC236}">
                <a16:creationId xmlns:a16="http://schemas.microsoft.com/office/drawing/2014/main" id="{92CFA33C-EA92-5547-83E5-7257942F3E86}"/>
              </a:ext>
            </a:extLst>
          </p:cNvPr>
          <p:cNvPicPr>
            <a:picLocks noChangeAspect="1"/>
          </p:cNvPicPr>
          <p:nvPr/>
        </p:nvPicPr>
        <p:blipFill>
          <a:blip r:embed="rId3"/>
          <a:stretch>
            <a:fillRect/>
          </a:stretch>
        </p:blipFill>
        <p:spPr>
          <a:xfrm>
            <a:off x="321777" y="6315552"/>
            <a:ext cx="435345" cy="435345"/>
          </a:xfrm>
          <a:prstGeom prst="rect">
            <a:avLst/>
          </a:prstGeom>
        </p:spPr>
      </p:pic>
      <p:pic>
        <p:nvPicPr>
          <p:cNvPr id="13" name="Picture 12">
            <a:extLst>
              <a:ext uri="{FF2B5EF4-FFF2-40B4-BE49-F238E27FC236}">
                <a16:creationId xmlns:a16="http://schemas.microsoft.com/office/drawing/2014/main" id="{1CE57E9B-6DCC-83A1-F597-4F356B699934}"/>
              </a:ext>
            </a:extLst>
          </p:cNvPr>
          <p:cNvPicPr>
            <a:picLocks noChangeAspect="1"/>
          </p:cNvPicPr>
          <p:nvPr/>
        </p:nvPicPr>
        <p:blipFill>
          <a:blip r:embed="rId4"/>
          <a:stretch>
            <a:fillRect/>
          </a:stretch>
        </p:blipFill>
        <p:spPr>
          <a:xfrm>
            <a:off x="866134" y="6362629"/>
            <a:ext cx="1093241" cy="365125"/>
          </a:xfrm>
          <a:prstGeom prst="rect">
            <a:avLst/>
          </a:prstGeom>
        </p:spPr>
      </p:pic>
      <p:pic>
        <p:nvPicPr>
          <p:cNvPr id="35" name="Picture 34">
            <a:extLst>
              <a:ext uri="{FF2B5EF4-FFF2-40B4-BE49-F238E27FC236}">
                <a16:creationId xmlns:a16="http://schemas.microsoft.com/office/drawing/2014/main" id="{510E5F4A-55E5-FED0-3C2E-70272A0D527A}"/>
              </a:ext>
            </a:extLst>
          </p:cNvPr>
          <p:cNvPicPr>
            <a:picLocks noChangeAspect="1"/>
          </p:cNvPicPr>
          <p:nvPr/>
        </p:nvPicPr>
        <p:blipFill>
          <a:blip r:embed="rId5"/>
          <a:stretch>
            <a:fillRect/>
          </a:stretch>
        </p:blipFill>
        <p:spPr>
          <a:xfrm>
            <a:off x="5806271" y="374272"/>
            <a:ext cx="5931548" cy="985153"/>
          </a:xfrm>
          <a:prstGeom prst="rect">
            <a:avLst/>
          </a:prstGeom>
        </p:spPr>
      </p:pic>
      <p:sp>
        <p:nvSpPr>
          <p:cNvPr id="38" name="TextBox 37">
            <a:extLst>
              <a:ext uri="{FF2B5EF4-FFF2-40B4-BE49-F238E27FC236}">
                <a16:creationId xmlns:a16="http://schemas.microsoft.com/office/drawing/2014/main" id="{284CB047-11CE-3F14-5BFC-86D37BAD1813}"/>
              </a:ext>
            </a:extLst>
          </p:cNvPr>
          <p:cNvSpPr txBox="1"/>
          <p:nvPr/>
        </p:nvSpPr>
        <p:spPr>
          <a:xfrm>
            <a:off x="596351" y="1559448"/>
            <a:ext cx="7188406" cy="4062651"/>
          </a:xfrm>
          <a:prstGeom prst="rect">
            <a:avLst/>
          </a:prstGeom>
          <a:noFill/>
        </p:spPr>
        <p:txBody>
          <a:bodyPr wrap="square" rtlCol="0">
            <a:spAutoFit/>
          </a:bodyPr>
          <a:lstStyle/>
          <a:p>
            <a:r>
              <a:rPr lang="en-US" b="1" dirty="0">
                <a:latin typeface="Inter" panose="02000503000000020004" pitchFamily="2" charset="0"/>
                <a:ea typeface="Inter" panose="02000503000000020004" pitchFamily="2" charset="0"/>
                <a:cs typeface="Inter" panose="02000503000000020004" pitchFamily="2" charset="0"/>
              </a:rPr>
              <a:t>Phase 3: Step-by-Step Execution</a:t>
            </a:r>
          </a:p>
          <a:p>
            <a:r>
              <a:rPr lang="en-US" sz="1600" b="1" dirty="0">
                <a:latin typeface="Inter" panose="02000503000000020004" pitchFamily="2" charset="0"/>
                <a:ea typeface="Inter" panose="02000503000000020004" pitchFamily="2" charset="0"/>
                <a:cs typeface="Inter" panose="02000503000000020004" pitchFamily="2" charset="0"/>
              </a:rPr>
              <a:t>1. Call LLM providers</a:t>
            </a:r>
          </a:p>
          <a:p>
            <a:pPr marL="342900" indent="-34290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Planning, checking, and response generation</a:t>
            </a:r>
          </a:p>
          <a:p>
            <a:pPr marL="342900" indent="-34290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Retries, fallbacks, and circuit breakers</a:t>
            </a:r>
          </a:p>
          <a:p>
            <a:endParaRPr lang="en-US" sz="1600" b="1" dirty="0">
              <a:latin typeface="Inter" panose="02000503000000020004" pitchFamily="2" charset="0"/>
              <a:ea typeface="Inter" panose="02000503000000020004" pitchFamily="2" charset="0"/>
              <a:cs typeface="Inter" panose="02000503000000020004" pitchFamily="2" charset="0"/>
            </a:endParaRPr>
          </a:p>
          <a:p>
            <a:r>
              <a:rPr lang="en-US" sz="1600" b="1" dirty="0">
                <a:latin typeface="Inter" panose="02000503000000020004" pitchFamily="2" charset="0"/>
                <a:ea typeface="Inter" panose="02000503000000020004" pitchFamily="2" charset="0"/>
                <a:cs typeface="Inter" panose="02000503000000020004" pitchFamily="2" charset="0"/>
              </a:rPr>
              <a:t>2. Invoke MCP tools</a:t>
            </a:r>
          </a:p>
          <a:p>
            <a:pPr marL="342900" indent="-34290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Graph, security, cache, export, and system actions</a:t>
            </a:r>
          </a:p>
          <a:p>
            <a:pPr marL="342900" indent="-34290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Session-aware tool execution</a:t>
            </a:r>
          </a:p>
          <a:p>
            <a:pPr marL="342900" indent="-34290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Permission checks and runtime context</a:t>
            </a:r>
          </a:p>
          <a:p>
            <a:endParaRPr lang="en-US" sz="1600" b="1" dirty="0">
              <a:latin typeface="Inter" panose="02000503000000020004" pitchFamily="2" charset="0"/>
              <a:ea typeface="Inter" panose="02000503000000020004" pitchFamily="2" charset="0"/>
              <a:cs typeface="Inter" panose="02000503000000020004" pitchFamily="2" charset="0"/>
            </a:endParaRPr>
          </a:p>
          <a:p>
            <a:r>
              <a:rPr lang="en-US" sz="1600" b="1" dirty="0">
                <a:latin typeface="Inter" panose="02000503000000020004" pitchFamily="2" charset="0"/>
                <a:ea typeface="Inter" panose="02000503000000020004" pitchFamily="2" charset="0"/>
                <a:cs typeface="Inter" panose="02000503000000020004" pitchFamily="2" charset="0"/>
              </a:rPr>
              <a:t>3. Graph pipeline</a:t>
            </a:r>
          </a:p>
          <a:p>
            <a:pPr marL="285750" indent="-285750">
              <a:buFont typeface="Arial" panose="020B0604020202020204" pitchFamily="34" charset="0"/>
              <a:buChar char="•"/>
            </a:pPr>
            <a:r>
              <a:rPr lang="en-US" sz="1600" dirty="0" err="1">
                <a:latin typeface="Inter" panose="02000503000000020004" pitchFamily="2" charset="0"/>
                <a:ea typeface="Inter" panose="02000503000000020004" pitchFamily="2" charset="0"/>
                <a:cs typeface="Inter" panose="02000503000000020004" pitchFamily="2" charset="0"/>
              </a:rPr>
              <a:t>NL→Cypher</a:t>
            </a:r>
            <a:r>
              <a:rPr lang="en-US" sz="1600" dirty="0">
                <a:latin typeface="Inter" panose="02000503000000020004" pitchFamily="2" charset="0"/>
                <a:ea typeface="Inter" panose="02000503000000020004" pitchFamily="2" charset="0"/>
                <a:cs typeface="Inter" panose="02000503000000020004" pitchFamily="2" charset="0"/>
              </a:rPr>
              <a:t> generation, validation, execution, and summarization</a:t>
            </a:r>
          </a:p>
          <a:p>
            <a:pPr marL="342900" indent="-342900">
              <a:buFont typeface="+mj-lt"/>
              <a:buAutoNum type="arabicPeriod"/>
            </a:pPr>
            <a:endParaRPr lang="en-US" sz="1600" b="1" dirty="0">
              <a:latin typeface="Inter" panose="02000503000000020004" pitchFamily="2" charset="0"/>
              <a:ea typeface="Inter" panose="02000503000000020004" pitchFamily="2" charset="0"/>
              <a:cs typeface="Inter" panose="02000503000000020004" pitchFamily="2" charset="0"/>
            </a:endParaRPr>
          </a:p>
          <a:p>
            <a:r>
              <a:rPr lang="en-US" sz="1600" b="1" dirty="0">
                <a:latin typeface="Inter" panose="02000503000000020004" pitchFamily="2" charset="0"/>
                <a:ea typeface="Inter" panose="02000503000000020004" pitchFamily="2" charset="0"/>
                <a:cs typeface="Inter" panose="02000503000000020004" pitchFamily="2" charset="0"/>
              </a:rPr>
              <a:t>4. Progress persistence</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PostgreSQL for traceability and recovery </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Redis for caching, runtime coordination, and cancellation checks</a:t>
            </a:r>
          </a:p>
        </p:txBody>
      </p:sp>
      <p:pic>
        <p:nvPicPr>
          <p:cNvPr id="47" name="Picture 46">
            <a:extLst>
              <a:ext uri="{FF2B5EF4-FFF2-40B4-BE49-F238E27FC236}">
                <a16:creationId xmlns:a16="http://schemas.microsoft.com/office/drawing/2014/main" id="{7B4B3BDB-4939-D039-6506-120C597E09BC}"/>
              </a:ext>
            </a:extLst>
          </p:cNvPr>
          <p:cNvPicPr>
            <a:picLocks noChangeAspect="1"/>
          </p:cNvPicPr>
          <p:nvPr/>
        </p:nvPicPr>
        <p:blipFill>
          <a:blip r:embed="rId6"/>
          <a:srcRect l="8651" t="1806" r="10371" b="2554"/>
          <a:stretch/>
        </p:blipFill>
        <p:spPr>
          <a:xfrm>
            <a:off x="8039294" y="1667972"/>
            <a:ext cx="3556355" cy="4200348"/>
          </a:xfrm>
          <a:prstGeom prst="rect">
            <a:avLst/>
          </a:prstGeom>
        </p:spPr>
      </p:pic>
    </p:spTree>
    <p:extLst>
      <p:ext uri="{BB962C8B-B14F-4D97-AF65-F5344CB8AC3E}">
        <p14:creationId xmlns:p14="http://schemas.microsoft.com/office/powerpoint/2010/main" val="5773906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96E72-CC04-20ED-B570-098810579196}"/>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D99CB6F2-947C-36BD-C793-7F10237BE5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Slide Number Placeholder 11">
            <a:extLst>
              <a:ext uri="{FF2B5EF4-FFF2-40B4-BE49-F238E27FC236}">
                <a16:creationId xmlns:a16="http://schemas.microsoft.com/office/drawing/2014/main" id="{E5C8EECF-56FF-6EA8-EA49-8FE642CD5F2D}"/>
              </a:ext>
            </a:extLst>
          </p:cNvPr>
          <p:cNvSpPr>
            <a:spLocks noGrp="1"/>
          </p:cNvSpPr>
          <p:nvPr>
            <p:ph type="sldNum" sz="quarter" idx="12"/>
          </p:nvPr>
        </p:nvSpPr>
        <p:spPr/>
        <p:txBody>
          <a:bodyPr/>
          <a:lstStyle/>
          <a:p>
            <a:fld id="{48F19E39-9933-F648-B2F3-3AC17C0DC986}" type="slidenum">
              <a:rPr lang="en-US" smtClean="0">
                <a:solidFill>
                  <a:schemeClr val="bg1"/>
                </a:solidFill>
              </a:rPr>
              <a:t>13</a:t>
            </a:fld>
            <a:endParaRPr lang="en-US" dirty="0">
              <a:solidFill>
                <a:schemeClr val="bg1"/>
              </a:solidFill>
            </a:endParaRPr>
          </a:p>
        </p:txBody>
      </p:sp>
      <p:sp>
        <p:nvSpPr>
          <p:cNvPr id="33" name="TextBox 32">
            <a:extLst>
              <a:ext uri="{FF2B5EF4-FFF2-40B4-BE49-F238E27FC236}">
                <a16:creationId xmlns:a16="http://schemas.microsoft.com/office/drawing/2014/main" id="{6265C696-1D52-E60F-CC06-A6ACAC93F5E7}"/>
              </a:ext>
            </a:extLst>
          </p:cNvPr>
          <p:cNvSpPr txBox="1"/>
          <p:nvPr/>
        </p:nvSpPr>
        <p:spPr>
          <a:xfrm>
            <a:off x="2797390" y="4381894"/>
            <a:ext cx="7067663" cy="1815882"/>
          </a:xfrm>
          <a:prstGeom prst="rect">
            <a:avLst/>
          </a:prstGeom>
          <a:noFill/>
        </p:spPr>
        <p:txBody>
          <a:bodyPr wrap="square">
            <a:spAutoFit/>
          </a:bodyPr>
          <a:lstStyle/>
          <a:p>
            <a:r>
              <a:rPr lang="en-US" sz="1600" b="0" dirty="0">
                <a:solidFill>
                  <a:srgbClr val="000000"/>
                </a:solidFill>
                <a:effectLst/>
                <a:latin typeface="Menlo" panose="020B0609030804020204" pitchFamily="49" charset="0"/>
              </a:rPr>
              <a:t>{</a:t>
            </a:r>
          </a:p>
          <a:p>
            <a:pPr lvl="1"/>
            <a:r>
              <a:rPr lang="en-US" sz="1600" b="0" dirty="0">
                <a:solidFill>
                  <a:srgbClr val="0451A5"/>
                </a:solidFill>
                <a:effectLst/>
                <a:latin typeface="Menlo" panose="020B0609030804020204" pitchFamily="49" charset="0"/>
              </a:rPr>
              <a:t>"goal"</a:t>
            </a:r>
            <a:r>
              <a:rPr lang="en-US" sz="1600" b="0" dirty="0">
                <a:solidFill>
                  <a:srgbClr val="000000"/>
                </a:solidFill>
                <a:effectLst/>
                <a:latin typeface="Menlo" panose="020B0609030804020204" pitchFamily="49" charset="0"/>
              </a:rPr>
              <a:t>: </a:t>
            </a:r>
            <a:r>
              <a:rPr lang="en-US" sz="1600" b="0" dirty="0">
                <a:solidFill>
                  <a:srgbClr val="A31515"/>
                </a:solidFill>
                <a:effectLst/>
                <a:latin typeface="Menlo" panose="020B0609030804020204" pitchFamily="49" charset="0"/>
              </a:rPr>
              <a:t>"Find collaborating institutions"</a:t>
            </a:r>
            <a:r>
              <a:rPr lang="en-US" sz="1600" b="0" dirty="0">
                <a:solidFill>
                  <a:srgbClr val="000000"/>
                </a:solidFill>
                <a:effectLst/>
                <a:latin typeface="Menlo" panose="020B0609030804020204" pitchFamily="49" charset="0"/>
              </a:rPr>
              <a:t>,</a:t>
            </a:r>
          </a:p>
          <a:p>
            <a:pPr lvl="1"/>
            <a:r>
              <a:rPr lang="en-US" sz="1600" b="0" dirty="0">
                <a:solidFill>
                  <a:srgbClr val="0451A5"/>
                </a:solidFill>
                <a:effectLst/>
                <a:latin typeface="Menlo" panose="020B0609030804020204" pitchFamily="49" charset="0"/>
              </a:rPr>
              <a:t>"steps"</a:t>
            </a:r>
            <a:r>
              <a:rPr lang="en-US" sz="1600" b="0" dirty="0">
                <a:solidFill>
                  <a:srgbClr val="000000"/>
                </a:solidFill>
                <a:effectLst/>
                <a:latin typeface="Menlo" panose="020B0609030804020204" pitchFamily="49" charset="0"/>
              </a:rPr>
              <a:t>: [</a:t>
            </a:r>
            <a:r>
              <a:rPr lang="en-US" sz="1600" b="0" dirty="0">
                <a:solidFill>
                  <a:srgbClr val="CD3131"/>
                </a:solidFill>
                <a:effectLst/>
                <a:latin typeface="Menlo" panose="020B0609030804020204" pitchFamily="49" charset="0"/>
              </a:rPr>
              <a:t>step1</a:t>
            </a:r>
            <a:r>
              <a:rPr lang="en-US" sz="1600" b="0" dirty="0">
                <a:solidFill>
                  <a:srgbClr val="000000"/>
                </a:solidFill>
                <a:effectLst/>
                <a:latin typeface="Menlo" panose="020B0609030804020204" pitchFamily="49" charset="0"/>
              </a:rPr>
              <a:t>, </a:t>
            </a:r>
            <a:r>
              <a:rPr lang="en-US" sz="1600" b="0" dirty="0">
                <a:solidFill>
                  <a:srgbClr val="CD3131"/>
                </a:solidFill>
                <a:effectLst/>
                <a:latin typeface="Menlo" panose="020B0609030804020204" pitchFamily="49" charset="0"/>
              </a:rPr>
              <a:t>step2</a:t>
            </a:r>
            <a:r>
              <a:rPr lang="en-US" sz="1600" b="0" dirty="0">
                <a:solidFill>
                  <a:srgbClr val="000000"/>
                </a:solidFill>
                <a:effectLst/>
                <a:latin typeface="Menlo" panose="020B0609030804020204" pitchFamily="49" charset="0"/>
              </a:rPr>
              <a:t>, </a:t>
            </a:r>
            <a:r>
              <a:rPr lang="en-US" sz="1600" b="0" dirty="0">
                <a:solidFill>
                  <a:srgbClr val="CD3131"/>
                </a:solidFill>
                <a:effectLst/>
                <a:latin typeface="Menlo" panose="020B0609030804020204" pitchFamily="49" charset="0"/>
              </a:rPr>
              <a:t>step3</a:t>
            </a:r>
            <a:r>
              <a:rPr lang="en-US" sz="1600" b="0" dirty="0">
                <a:solidFill>
                  <a:srgbClr val="000000"/>
                </a:solidFill>
                <a:effectLst/>
                <a:latin typeface="Menlo" panose="020B0609030804020204" pitchFamily="49" charset="0"/>
              </a:rPr>
              <a:t>],</a:t>
            </a:r>
          </a:p>
          <a:p>
            <a:pPr lvl="1"/>
            <a:r>
              <a:rPr lang="en-US" sz="1600" b="0" dirty="0">
                <a:solidFill>
                  <a:srgbClr val="0451A5"/>
                </a:solidFill>
                <a:effectLst/>
                <a:latin typeface="Menlo" panose="020B0609030804020204" pitchFamily="49" charset="0"/>
              </a:rPr>
              <a:t>"outputs"</a:t>
            </a:r>
            <a:r>
              <a:rPr lang="en-US" sz="1600" b="0" dirty="0">
                <a:solidFill>
                  <a:srgbClr val="000000"/>
                </a:solidFill>
                <a:effectLst/>
                <a:latin typeface="Menlo" panose="020B0609030804020204" pitchFamily="49" charset="0"/>
              </a:rPr>
              <a:t>: [</a:t>
            </a:r>
            <a:r>
              <a:rPr lang="en-US" sz="1600" b="0" dirty="0">
                <a:solidFill>
                  <a:srgbClr val="A31515"/>
                </a:solidFill>
                <a:effectLst/>
                <a:latin typeface="Menlo" panose="020B0609030804020204" pitchFamily="49" charset="0"/>
              </a:rPr>
              <a:t>"Found 5 institutions..."</a:t>
            </a:r>
            <a:r>
              <a:rPr lang="en-US" sz="1600" b="0" dirty="0">
                <a:solidFill>
                  <a:srgbClr val="000000"/>
                </a:solidFill>
                <a:effectLst/>
                <a:latin typeface="Menlo" panose="020B0609030804020204" pitchFamily="49" charset="0"/>
              </a:rPr>
              <a:t>],</a:t>
            </a:r>
          </a:p>
          <a:p>
            <a:pPr lvl="1"/>
            <a:r>
              <a:rPr lang="en-US" sz="1600" b="0" dirty="0">
                <a:solidFill>
                  <a:srgbClr val="0451A5"/>
                </a:solidFill>
                <a:effectLst/>
                <a:latin typeface="Menlo" panose="020B0609030804020204" pitchFamily="49" charset="0"/>
              </a:rPr>
              <a:t>"</a:t>
            </a:r>
            <a:r>
              <a:rPr lang="en-US" sz="1600" b="0" dirty="0" err="1">
                <a:solidFill>
                  <a:srgbClr val="0451A5"/>
                </a:solidFill>
                <a:effectLst/>
                <a:latin typeface="Menlo" panose="020B0609030804020204" pitchFamily="49" charset="0"/>
              </a:rPr>
              <a:t>todos</a:t>
            </a:r>
            <a:r>
              <a:rPr lang="en-US" sz="1600" b="0" dirty="0">
                <a:solidFill>
                  <a:srgbClr val="0451A5"/>
                </a:solidFill>
                <a:effectLst/>
                <a:latin typeface="Menlo" panose="020B0609030804020204" pitchFamily="49" charset="0"/>
              </a:rPr>
              <a:t>"</a:t>
            </a:r>
            <a:r>
              <a:rPr lang="en-US" sz="1600" b="0" dirty="0">
                <a:solidFill>
                  <a:srgbClr val="000000"/>
                </a:solidFill>
                <a:effectLst/>
                <a:latin typeface="Menlo" panose="020B0609030804020204" pitchFamily="49" charset="0"/>
              </a:rPr>
              <a:t>: [</a:t>
            </a:r>
            <a:r>
              <a:rPr lang="en-US" sz="1600" b="0" dirty="0">
                <a:solidFill>
                  <a:srgbClr val="CD3131"/>
                </a:solidFill>
                <a:effectLst/>
                <a:latin typeface="Menlo" panose="020B0609030804020204" pitchFamily="49" charset="0"/>
              </a:rPr>
              <a:t>completed_todo1</a:t>
            </a:r>
            <a:r>
              <a:rPr lang="en-US" sz="1600" b="0" dirty="0">
                <a:solidFill>
                  <a:srgbClr val="000000"/>
                </a:solidFill>
                <a:effectLst/>
                <a:latin typeface="Menlo" panose="020B0609030804020204" pitchFamily="49" charset="0"/>
              </a:rPr>
              <a:t>, </a:t>
            </a:r>
            <a:r>
              <a:rPr lang="en-US" sz="1600" b="0" dirty="0">
                <a:solidFill>
                  <a:srgbClr val="CD3131"/>
                </a:solidFill>
                <a:effectLst/>
                <a:latin typeface="Menlo" panose="020B0609030804020204" pitchFamily="49" charset="0"/>
              </a:rPr>
              <a:t>completed_todo2</a:t>
            </a:r>
            <a:r>
              <a:rPr lang="en-US" sz="1600" b="0" dirty="0">
                <a:solidFill>
                  <a:srgbClr val="000000"/>
                </a:solidFill>
                <a:effectLst/>
                <a:latin typeface="Menlo" panose="020B0609030804020204" pitchFamily="49" charset="0"/>
              </a:rPr>
              <a:t>],</a:t>
            </a:r>
          </a:p>
          <a:p>
            <a:pPr lvl="1"/>
            <a:r>
              <a:rPr lang="en-US" sz="1600" b="0" dirty="0">
                <a:solidFill>
                  <a:srgbClr val="0451A5"/>
                </a:solidFill>
                <a:effectLst/>
                <a:latin typeface="Menlo" panose="020B0609030804020204" pitchFamily="49" charset="0"/>
              </a:rPr>
              <a:t>"metrics"</a:t>
            </a:r>
            <a:r>
              <a:rPr lang="en-US" sz="1600" b="0" dirty="0">
                <a:solidFill>
                  <a:srgbClr val="000000"/>
                </a:solidFill>
                <a:effectLst/>
                <a:latin typeface="Menlo" panose="020B0609030804020204" pitchFamily="49" charset="0"/>
              </a:rPr>
              <a:t>: { </a:t>
            </a:r>
            <a:r>
              <a:rPr lang="en-US" sz="1600" b="0" dirty="0">
                <a:solidFill>
                  <a:srgbClr val="0451A5"/>
                </a:solidFill>
                <a:effectLst/>
                <a:latin typeface="Menlo" panose="020B0609030804020204" pitchFamily="49" charset="0"/>
              </a:rPr>
              <a:t>"</a:t>
            </a:r>
            <a:r>
              <a:rPr lang="en-US" sz="1600" b="0" dirty="0" err="1">
                <a:solidFill>
                  <a:srgbClr val="0451A5"/>
                </a:solidFill>
                <a:effectLst/>
                <a:latin typeface="Menlo" panose="020B0609030804020204" pitchFamily="49" charset="0"/>
              </a:rPr>
              <a:t>duration_ms</a:t>
            </a:r>
            <a:r>
              <a:rPr lang="en-US" sz="1600" b="0" dirty="0">
                <a:solidFill>
                  <a:srgbClr val="0451A5"/>
                </a:solidFill>
                <a:effectLst/>
                <a:latin typeface="Menlo" panose="020B0609030804020204" pitchFamily="49" charset="0"/>
              </a:rPr>
              <a:t>"</a:t>
            </a:r>
            <a:r>
              <a:rPr lang="en-US" sz="1600" b="0" dirty="0">
                <a:solidFill>
                  <a:srgbClr val="000000"/>
                </a:solidFill>
                <a:effectLst/>
                <a:latin typeface="Menlo" panose="020B0609030804020204" pitchFamily="49" charset="0"/>
              </a:rPr>
              <a:t>: </a:t>
            </a:r>
            <a:r>
              <a:rPr lang="en-US" sz="1600" b="0" dirty="0">
                <a:solidFill>
                  <a:srgbClr val="098658"/>
                </a:solidFill>
                <a:effectLst/>
                <a:latin typeface="Menlo" panose="020B0609030804020204" pitchFamily="49" charset="0"/>
              </a:rPr>
              <a:t>2340</a:t>
            </a:r>
            <a:r>
              <a:rPr lang="en-US" sz="1600" b="0" dirty="0">
                <a:solidFill>
                  <a:srgbClr val="000000"/>
                </a:solidFill>
                <a:effectLst/>
                <a:latin typeface="Menlo" panose="020B0609030804020204" pitchFamily="49" charset="0"/>
              </a:rPr>
              <a:t>, </a:t>
            </a:r>
            <a:r>
              <a:rPr lang="en-US" sz="1600" b="0" dirty="0">
                <a:solidFill>
                  <a:srgbClr val="0451A5"/>
                </a:solidFill>
                <a:effectLst/>
                <a:latin typeface="Menlo" panose="020B0609030804020204" pitchFamily="49" charset="0"/>
              </a:rPr>
              <a:t>"tokens"</a:t>
            </a:r>
            <a:r>
              <a:rPr lang="en-US" sz="1600" b="0" dirty="0">
                <a:solidFill>
                  <a:srgbClr val="000000"/>
                </a:solidFill>
                <a:effectLst/>
                <a:latin typeface="Menlo" panose="020B0609030804020204" pitchFamily="49" charset="0"/>
              </a:rPr>
              <a:t>: </a:t>
            </a:r>
            <a:r>
              <a:rPr lang="en-US" sz="1600" b="0" dirty="0">
                <a:solidFill>
                  <a:srgbClr val="098658"/>
                </a:solidFill>
                <a:effectLst/>
                <a:latin typeface="Menlo" panose="020B0609030804020204" pitchFamily="49" charset="0"/>
              </a:rPr>
              <a:t>1850</a:t>
            </a:r>
            <a:r>
              <a:rPr lang="en-US" sz="1600" b="0" dirty="0">
                <a:solidFill>
                  <a:srgbClr val="000000"/>
                </a:solidFill>
                <a:effectLst/>
                <a:latin typeface="Menlo" panose="020B0609030804020204" pitchFamily="49" charset="0"/>
              </a:rPr>
              <a:t> }</a:t>
            </a:r>
          </a:p>
          <a:p>
            <a:r>
              <a:rPr lang="en-US" sz="1600" b="0" dirty="0">
                <a:solidFill>
                  <a:srgbClr val="000000"/>
                </a:solidFill>
                <a:effectLst/>
                <a:latin typeface="Menlo" panose="020B0609030804020204" pitchFamily="49" charset="0"/>
              </a:rPr>
              <a:t>}</a:t>
            </a:r>
            <a:endParaRPr lang="en-US" sz="1600" b="1" i="0" dirty="0">
              <a:solidFill>
                <a:srgbClr val="000000"/>
              </a:solidFill>
              <a:effectLst/>
              <a:latin typeface="Courier New" panose="02070309020205020404" pitchFamily="49" charset="0"/>
              <a:ea typeface="Inter" panose="02000503000000020004" pitchFamily="2" charset="0"/>
              <a:cs typeface="Inter" panose="02000503000000020004" pitchFamily="2" charset="0"/>
            </a:endParaRPr>
          </a:p>
        </p:txBody>
      </p:sp>
      <p:sp>
        <p:nvSpPr>
          <p:cNvPr id="5" name="TextBox 4">
            <a:extLst>
              <a:ext uri="{FF2B5EF4-FFF2-40B4-BE49-F238E27FC236}">
                <a16:creationId xmlns:a16="http://schemas.microsoft.com/office/drawing/2014/main" id="{9BFA6887-54EA-3E17-982F-3373D962D820}"/>
              </a:ext>
            </a:extLst>
          </p:cNvPr>
          <p:cNvSpPr txBox="1"/>
          <p:nvPr/>
        </p:nvSpPr>
        <p:spPr>
          <a:xfrm>
            <a:off x="596348" y="374273"/>
            <a:ext cx="11127823" cy="830997"/>
          </a:xfrm>
          <a:prstGeom prst="rect">
            <a:avLst/>
          </a:prstGeom>
          <a:noFill/>
        </p:spPr>
        <p:txBody>
          <a:bodyPr wrap="square" rtlCol="0">
            <a:spAutoFit/>
          </a:bodyPr>
          <a:lstStyle/>
          <a:p>
            <a:r>
              <a:rPr lang="en-US" sz="2800" b="1" dirty="0">
                <a:solidFill>
                  <a:srgbClr val="822334"/>
                </a:solidFill>
                <a:latin typeface="Inter" panose="02000503000000020004" pitchFamily="2" charset="0"/>
                <a:ea typeface="Inter" panose="02000503000000020004" pitchFamily="2" charset="0"/>
                <a:cs typeface="Inter" panose="02000503000000020004" pitchFamily="2" charset="0"/>
              </a:rPr>
              <a:t>ORCHESTRATOR (Part 3/3)</a:t>
            </a:r>
            <a:br>
              <a:rPr lang="en-US" sz="2800" b="1" dirty="0">
                <a:solidFill>
                  <a:srgbClr val="822334"/>
                </a:solidFill>
                <a:latin typeface="Inter" panose="02000503000000020004" pitchFamily="2" charset="0"/>
                <a:ea typeface="Inter" panose="02000503000000020004" pitchFamily="2" charset="0"/>
                <a:cs typeface="Inter" panose="02000503000000020004" pitchFamily="2" charset="0"/>
              </a:rPr>
            </a:br>
            <a:r>
              <a:rPr lang="en-US" sz="2000" dirty="0">
                <a:solidFill>
                  <a:srgbClr val="822334"/>
                </a:solidFill>
                <a:latin typeface="Inter" panose="02000503000000020004" pitchFamily="2" charset="0"/>
                <a:ea typeface="Inter" panose="02000503000000020004" pitchFamily="2" charset="0"/>
                <a:cs typeface="Inter" panose="02000503000000020004" pitchFamily="2" charset="0"/>
              </a:rPr>
              <a:t>Finalization &amp; Safe Response Generation</a:t>
            </a:r>
          </a:p>
        </p:txBody>
      </p:sp>
      <p:sp>
        <p:nvSpPr>
          <p:cNvPr id="10" name="Footer Placeholder 10">
            <a:extLst>
              <a:ext uri="{FF2B5EF4-FFF2-40B4-BE49-F238E27FC236}">
                <a16:creationId xmlns:a16="http://schemas.microsoft.com/office/drawing/2014/main" id="{9C545915-4BAF-CE83-D11D-B396C2299DBB}"/>
              </a:ext>
            </a:extLst>
          </p:cNvPr>
          <p:cNvSpPr>
            <a:spLocks noGrp="1"/>
          </p:cNvSpPr>
          <p:nvPr>
            <p:ph type="ftr" sz="quarter" idx="11"/>
          </p:nvPr>
        </p:nvSpPr>
        <p:spPr>
          <a:xfrm>
            <a:off x="4566534" y="6356350"/>
            <a:ext cx="3058931" cy="365125"/>
          </a:xfrm>
        </p:spPr>
        <p:txBody>
          <a:bodyPr/>
          <a:lstStyle/>
          <a:p>
            <a:r>
              <a:rPr lang="en-US" dirty="0" err="1">
                <a:solidFill>
                  <a:schemeClr val="bg1"/>
                </a:solidFill>
                <a:latin typeface="Inter" panose="02000503000000020004" pitchFamily="2" charset="0"/>
                <a:ea typeface="Inter" panose="02000503000000020004" pitchFamily="2" charset="0"/>
                <a:cs typeface="Inter" panose="02000503000000020004" pitchFamily="2" charset="0"/>
              </a:rPr>
              <a:t>Cineca</a:t>
            </a:r>
            <a:r>
              <a:rPr lang="en-US" dirty="0">
                <a:solidFill>
                  <a:schemeClr val="bg1"/>
                </a:solidFill>
                <a:latin typeface="Inter" panose="02000503000000020004" pitchFamily="2" charset="0"/>
                <a:ea typeface="Inter" panose="02000503000000020004" pitchFamily="2" charset="0"/>
                <a:cs typeface="Inter" panose="02000503000000020004" pitchFamily="2" charset="0"/>
              </a:rPr>
              <a:t> Agentic Platform – Arman Feili</a:t>
            </a:r>
          </a:p>
        </p:txBody>
      </p:sp>
      <p:pic>
        <p:nvPicPr>
          <p:cNvPr id="13" name="Picture 12">
            <a:extLst>
              <a:ext uri="{FF2B5EF4-FFF2-40B4-BE49-F238E27FC236}">
                <a16:creationId xmlns:a16="http://schemas.microsoft.com/office/drawing/2014/main" id="{5824F412-2974-30E9-E7D8-33D535BFA785}"/>
              </a:ext>
            </a:extLst>
          </p:cNvPr>
          <p:cNvPicPr>
            <a:picLocks noChangeAspect="1"/>
          </p:cNvPicPr>
          <p:nvPr/>
        </p:nvPicPr>
        <p:blipFill>
          <a:blip r:embed="rId3"/>
          <a:stretch>
            <a:fillRect/>
          </a:stretch>
        </p:blipFill>
        <p:spPr>
          <a:xfrm>
            <a:off x="321777" y="6315552"/>
            <a:ext cx="435345" cy="435345"/>
          </a:xfrm>
          <a:prstGeom prst="rect">
            <a:avLst/>
          </a:prstGeom>
        </p:spPr>
      </p:pic>
      <p:pic>
        <p:nvPicPr>
          <p:cNvPr id="14" name="Picture 13">
            <a:extLst>
              <a:ext uri="{FF2B5EF4-FFF2-40B4-BE49-F238E27FC236}">
                <a16:creationId xmlns:a16="http://schemas.microsoft.com/office/drawing/2014/main" id="{DC1046B5-8A17-9C1A-2287-502560AE2042}"/>
              </a:ext>
            </a:extLst>
          </p:cNvPr>
          <p:cNvPicPr>
            <a:picLocks noChangeAspect="1"/>
          </p:cNvPicPr>
          <p:nvPr/>
        </p:nvPicPr>
        <p:blipFill>
          <a:blip r:embed="rId4"/>
          <a:stretch>
            <a:fillRect/>
          </a:stretch>
        </p:blipFill>
        <p:spPr>
          <a:xfrm>
            <a:off x="866134" y="6362629"/>
            <a:ext cx="1093241" cy="365125"/>
          </a:xfrm>
          <a:prstGeom prst="rect">
            <a:avLst/>
          </a:prstGeom>
        </p:spPr>
      </p:pic>
      <p:pic>
        <p:nvPicPr>
          <p:cNvPr id="21" name="Picture 20">
            <a:extLst>
              <a:ext uri="{FF2B5EF4-FFF2-40B4-BE49-F238E27FC236}">
                <a16:creationId xmlns:a16="http://schemas.microsoft.com/office/drawing/2014/main" id="{D2D3C107-15BC-2345-95EA-BD3C6CFEFACC}"/>
              </a:ext>
            </a:extLst>
          </p:cNvPr>
          <p:cNvPicPr>
            <a:picLocks noChangeAspect="1"/>
          </p:cNvPicPr>
          <p:nvPr/>
        </p:nvPicPr>
        <p:blipFill>
          <a:blip r:embed="rId5"/>
          <a:stretch>
            <a:fillRect/>
          </a:stretch>
        </p:blipFill>
        <p:spPr>
          <a:xfrm>
            <a:off x="5806271" y="374271"/>
            <a:ext cx="5931548" cy="985153"/>
          </a:xfrm>
          <a:prstGeom prst="rect">
            <a:avLst/>
          </a:prstGeom>
        </p:spPr>
      </p:pic>
      <p:sp>
        <p:nvSpPr>
          <p:cNvPr id="23" name="TextBox 22">
            <a:extLst>
              <a:ext uri="{FF2B5EF4-FFF2-40B4-BE49-F238E27FC236}">
                <a16:creationId xmlns:a16="http://schemas.microsoft.com/office/drawing/2014/main" id="{D09C05EC-A984-07A6-3D35-35F5BEC6DCDD}"/>
              </a:ext>
            </a:extLst>
          </p:cNvPr>
          <p:cNvSpPr txBox="1"/>
          <p:nvPr/>
        </p:nvSpPr>
        <p:spPr>
          <a:xfrm>
            <a:off x="596347" y="1564655"/>
            <a:ext cx="11127819" cy="2585323"/>
          </a:xfrm>
          <a:prstGeom prst="rect">
            <a:avLst/>
          </a:prstGeom>
          <a:noFill/>
        </p:spPr>
        <p:txBody>
          <a:bodyPr wrap="square" rtlCol="0">
            <a:spAutoFit/>
          </a:bodyPr>
          <a:lstStyle/>
          <a:p>
            <a:r>
              <a:rPr lang="en-US" b="1" dirty="0">
                <a:latin typeface="Inter" panose="02000503000000020004" pitchFamily="2" charset="0"/>
                <a:ea typeface="Inter" panose="02000503000000020004" pitchFamily="2" charset="0"/>
                <a:cs typeface="Inter" panose="02000503000000020004" pitchFamily="2" charset="0"/>
              </a:rPr>
              <a:t>Phase 4: Final Output Pipeline - structured, persisted, safe, and observable</a:t>
            </a:r>
          </a:p>
          <a:p>
            <a:pPr marL="285750" indent="-285750">
              <a:buFont typeface="Arial" panose="020B0604020202020204" pitchFamily="34" charset="0"/>
              <a:buChar char="•"/>
            </a:pPr>
            <a:endParaRPr lang="en-US" sz="1600" b="1" dirty="0">
              <a:latin typeface="Inter" panose="02000503000000020004" pitchFamily="2" charset="0"/>
              <a:ea typeface="Inter" panose="02000503000000020004" pitchFamily="2" charset="0"/>
              <a:cs typeface="Inter" panose="02000503000000020004" pitchFamily="2" charset="0"/>
            </a:endParaRP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Response assembly</a:t>
            </a:r>
            <a:br>
              <a:rPr lang="en-US" sz="1600" dirty="0">
                <a:latin typeface="Inter" panose="02000503000000020004" pitchFamily="2" charset="0"/>
                <a:ea typeface="Inter" panose="02000503000000020004" pitchFamily="2" charset="0"/>
                <a:cs typeface="Inter" panose="02000503000000020004" pitchFamily="2" charset="0"/>
              </a:rPr>
            </a:br>
            <a:r>
              <a:rPr lang="en-US" sz="1600" dirty="0">
                <a:latin typeface="Inter" panose="02000503000000020004" pitchFamily="2" charset="0"/>
                <a:ea typeface="Inter" panose="02000503000000020004" pitchFamily="2" charset="0"/>
                <a:cs typeface="Inter" panose="02000503000000020004" pitchFamily="2" charset="0"/>
              </a:rPr>
              <a:t>Completed step outputs combined into one answer</a:t>
            </a:r>
          </a:p>
          <a:p>
            <a:pPr marL="285750" indent="-285750">
              <a:buFont typeface="Arial" panose="020B0604020202020204" pitchFamily="34" charset="0"/>
              <a:buChar char="•"/>
            </a:pPr>
            <a:endParaRPr lang="en-US" sz="1600" b="1" dirty="0">
              <a:latin typeface="Inter" panose="02000503000000020004" pitchFamily="2" charset="0"/>
              <a:ea typeface="Inter" panose="02000503000000020004" pitchFamily="2" charset="0"/>
              <a:cs typeface="Inter" panose="02000503000000020004" pitchFamily="2" charset="0"/>
            </a:endParaRP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Fallback handling</a:t>
            </a:r>
            <a:br>
              <a:rPr lang="en-US" sz="1600" dirty="0">
                <a:latin typeface="Inter" panose="02000503000000020004" pitchFamily="2" charset="0"/>
                <a:ea typeface="Inter" panose="02000503000000020004" pitchFamily="2" charset="0"/>
                <a:cs typeface="Inter" panose="02000503000000020004" pitchFamily="2" charset="0"/>
              </a:rPr>
            </a:br>
            <a:r>
              <a:rPr lang="en-US" sz="1600" dirty="0">
                <a:latin typeface="Inter" panose="02000503000000020004" pitchFamily="2" charset="0"/>
                <a:ea typeface="Inter" panose="02000503000000020004" pitchFamily="2" charset="0"/>
                <a:cs typeface="Inter" panose="02000503000000020004" pitchFamily="2" charset="0"/>
              </a:rPr>
              <a:t>Cached or default response when needed</a:t>
            </a:r>
          </a:p>
          <a:p>
            <a:pPr marL="285750" indent="-285750">
              <a:buFont typeface="Arial" panose="020B0604020202020204" pitchFamily="34" charset="0"/>
              <a:buChar char="•"/>
            </a:pPr>
            <a:endParaRPr lang="en-US" sz="1600" b="1" dirty="0">
              <a:latin typeface="Inter" panose="02000503000000020004" pitchFamily="2" charset="0"/>
              <a:ea typeface="Inter" panose="02000503000000020004" pitchFamily="2" charset="0"/>
              <a:cs typeface="Inter" panose="02000503000000020004" pitchFamily="2" charset="0"/>
            </a:endParaRP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Output normalization</a:t>
            </a:r>
            <a:br>
              <a:rPr lang="en-US" sz="1600" dirty="0">
                <a:latin typeface="Inter" panose="02000503000000020004" pitchFamily="2" charset="0"/>
                <a:ea typeface="Inter" panose="02000503000000020004" pitchFamily="2" charset="0"/>
                <a:cs typeface="Inter" panose="02000503000000020004" pitchFamily="2" charset="0"/>
              </a:rPr>
            </a:br>
            <a:r>
              <a:rPr lang="en-US" sz="1600" dirty="0">
                <a:latin typeface="Inter" panose="02000503000000020004" pitchFamily="2" charset="0"/>
                <a:ea typeface="Inter" panose="02000503000000020004" pitchFamily="2" charset="0"/>
                <a:cs typeface="Inter" panose="02000503000000020004" pitchFamily="2" charset="0"/>
              </a:rPr>
              <a:t>Consistent text and optional JSON format</a:t>
            </a:r>
          </a:p>
        </p:txBody>
      </p:sp>
      <p:sp>
        <p:nvSpPr>
          <p:cNvPr id="24" name="TextBox 23">
            <a:extLst>
              <a:ext uri="{FF2B5EF4-FFF2-40B4-BE49-F238E27FC236}">
                <a16:creationId xmlns:a16="http://schemas.microsoft.com/office/drawing/2014/main" id="{67593128-167B-A81A-CEBD-CCF3B57C1195}"/>
              </a:ext>
            </a:extLst>
          </p:cNvPr>
          <p:cNvSpPr txBox="1"/>
          <p:nvPr/>
        </p:nvSpPr>
        <p:spPr>
          <a:xfrm>
            <a:off x="6331222" y="1563454"/>
            <a:ext cx="5392945" cy="2800767"/>
          </a:xfrm>
          <a:prstGeom prst="rect">
            <a:avLst/>
          </a:prstGeom>
          <a:noFill/>
        </p:spPr>
        <p:txBody>
          <a:bodyPr wrap="square" rtlCol="0">
            <a:spAutoFit/>
          </a:bodyPr>
          <a:lstStyle/>
          <a:p>
            <a:endParaRPr lang="en-US" sz="1600" b="1" dirty="0">
              <a:latin typeface="Inter" panose="02000503000000020004" pitchFamily="2" charset="0"/>
              <a:ea typeface="Inter" panose="02000503000000020004" pitchFamily="2" charset="0"/>
              <a:cs typeface="Inter" panose="02000503000000020004" pitchFamily="2" charset="0"/>
            </a:endParaRPr>
          </a:p>
          <a:p>
            <a:pPr marL="285750" indent="-285750">
              <a:buFont typeface="Arial" panose="020B0604020202020204" pitchFamily="34" charset="0"/>
              <a:buChar char="•"/>
            </a:pPr>
            <a:endParaRPr lang="en-US" sz="1600" b="1" dirty="0">
              <a:latin typeface="Inter" panose="02000503000000020004" pitchFamily="2" charset="0"/>
              <a:ea typeface="Inter" panose="02000503000000020004" pitchFamily="2" charset="0"/>
              <a:cs typeface="Inter" panose="02000503000000020004" pitchFamily="2" charset="0"/>
            </a:endParaRP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Safety checks</a:t>
            </a:r>
            <a:br>
              <a:rPr lang="en-US" sz="1600" dirty="0">
                <a:latin typeface="Inter" panose="02000503000000020004" pitchFamily="2" charset="0"/>
                <a:ea typeface="Inter" panose="02000503000000020004" pitchFamily="2" charset="0"/>
                <a:cs typeface="Inter" panose="02000503000000020004" pitchFamily="2" charset="0"/>
              </a:rPr>
            </a:br>
            <a:r>
              <a:rPr lang="en-US" sz="1600" dirty="0">
                <a:latin typeface="Inter" panose="02000503000000020004" pitchFamily="2" charset="0"/>
                <a:ea typeface="Inter" panose="02000503000000020004" pitchFamily="2" charset="0"/>
                <a:cs typeface="Inter" panose="02000503000000020004" pitchFamily="2" charset="0"/>
              </a:rPr>
              <a:t>Sensitive data removal and unsafe content filtering</a:t>
            </a:r>
          </a:p>
          <a:p>
            <a:pPr marL="285750" indent="-285750">
              <a:buFont typeface="Arial" panose="020B0604020202020204" pitchFamily="34" charset="0"/>
              <a:buChar char="•"/>
            </a:pPr>
            <a:endParaRPr lang="en-US" sz="1600" b="1" dirty="0">
              <a:latin typeface="Inter" panose="02000503000000020004" pitchFamily="2" charset="0"/>
              <a:ea typeface="Inter" panose="02000503000000020004" pitchFamily="2" charset="0"/>
              <a:cs typeface="Inter" panose="02000503000000020004" pitchFamily="2" charset="0"/>
            </a:endParaRP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Final state persistence</a:t>
            </a:r>
            <a:br>
              <a:rPr lang="en-US" sz="1600" dirty="0">
                <a:latin typeface="Inter" panose="02000503000000020004" pitchFamily="2" charset="0"/>
                <a:ea typeface="Inter" panose="02000503000000020004" pitchFamily="2" charset="0"/>
                <a:cs typeface="Inter" panose="02000503000000020004" pitchFamily="2" charset="0"/>
              </a:rPr>
            </a:br>
            <a:r>
              <a:rPr lang="en-US" sz="1600" dirty="0">
                <a:latin typeface="Inter" panose="02000503000000020004" pitchFamily="2" charset="0"/>
                <a:ea typeface="Inter" panose="02000503000000020004" pitchFamily="2" charset="0"/>
                <a:cs typeface="Inter" panose="02000503000000020004" pitchFamily="2" charset="0"/>
              </a:rPr>
              <a:t>Status, output, and metrics saved to PostgreSQL</a:t>
            </a:r>
          </a:p>
          <a:p>
            <a:pPr marL="285750" indent="-285750">
              <a:buFont typeface="Arial" panose="020B0604020202020204" pitchFamily="34" charset="0"/>
              <a:buChar char="•"/>
            </a:pPr>
            <a:endParaRPr lang="en-US" sz="1600" b="1" dirty="0">
              <a:latin typeface="Inter" panose="02000503000000020004" pitchFamily="2" charset="0"/>
              <a:ea typeface="Inter" panose="02000503000000020004" pitchFamily="2" charset="0"/>
              <a:cs typeface="Inter" panose="02000503000000020004" pitchFamily="2" charset="0"/>
            </a:endParaRP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Observability data</a:t>
            </a:r>
            <a:br>
              <a:rPr lang="en-US" sz="1600" dirty="0">
                <a:latin typeface="Inter" panose="02000503000000020004" pitchFamily="2" charset="0"/>
                <a:ea typeface="Inter" panose="02000503000000020004" pitchFamily="2" charset="0"/>
                <a:cs typeface="Inter" panose="02000503000000020004" pitchFamily="2" charset="0"/>
              </a:rPr>
            </a:br>
            <a:r>
              <a:rPr lang="en-US" sz="1600" dirty="0">
                <a:latin typeface="Inter" panose="02000503000000020004" pitchFamily="2" charset="0"/>
                <a:ea typeface="Inter" panose="02000503000000020004" pitchFamily="2" charset="0"/>
                <a:cs typeface="Inter" panose="02000503000000020004" pitchFamily="2" charset="0"/>
              </a:rPr>
              <a:t>Metrics and traces for dashboards, debugging, and monitoring</a:t>
            </a:r>
          </a:p>
        </p:txBody>
      </p:sp>
    </p:spTree>
    <p:extLst>
      <p:ext uri="{BB962C8B-B14F-4D97-AF65-F5344CB8AC3E}">
        <p14:creationId xmlns:p14="http://schemas.microsoft.com/office/powerpoint/2010/main" val="29566853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DC375-2693-AC3F-6178-40CF605B35E7}"/>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255B66C3-29CA-9161-A2CB-AA9DE5CF64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Slide Number Placeholder 11">
            <a:extLst>
              <a:ext uri="{FF2B5EF4-FFF2-40B4-BE49-F238E27FC236}">
                <a16:creationId xmlns:a16="http://schemas.microsoft.com/office/drawing/2014/main" id="{36A20E72-19E8-7D50-A503-CBC45740C8E6}"/>
              </a:ext>
            </a:extLst>
          </p:cNvPr>
          <p:cNvSpPr>
            <a:spLocks noGrp="1"/>
          </p:cNvSpPr>
          <p:nvPr>
            <p:ph type="sldNum" sz="quarter" idx="12"/>
          </p:nvPr>
        </p:nvSpPr>
        <p:spPr/>
        <p:txBody>
          <a:bodyPr/>
          <a:lstStyle/>
          <a:p>
            <a:fld id="{48F19E39-9933-F648-B2F3-3AC17C0DC986}" type="slidenum">
              <a:rPr lang="en-US" smtClean="0">
                <a:solidFill>
                  <a:schemeClr val="bg1"/>
                </a:solidFill>
              </a:rPr>
              <a:t>14</a:t>
            </a:fld>
            <a:endParaRPr lang="en-US" dirty="0">
              <a:solidFill>
                <a:schemeClr val="bg1"/>
              </a:solidFill>
            </a:endParaRPr>
          </a:p>
        </p:txBody>
      </p:sp>
      <p:sp>
        <p:nvSpPr>
          <p:cNvPr id="5" name="TextBox 4">
            <a:extLst>
              <a:ext uri="{FF2B5EF4-FFF2-40B4-BE49-F238E27FC236}">
                <a16:creationId xmlns:a16="http://schemas.microsoft.com/office/drawing/2014/main" id="{7E99C776-7756-855C-3AF2-1CEE6EC622A5}"/>
              </a:ext>
            </a:extLst>
          </p:cNvPr>
          <p:cNvSpPr txBox="1"/>
          <p:nvPr/>
        </p:nvSpPr>
        <p:spPr>
          <a:xfrm>
            <a:off x="596348" y="374273"/>
            <a:ext cx="11127823" cy="830997"/>
          </a:xfrm>
          <a:prstGeom prst="rect">
            <a:avLst/>
          </a:prstGeom>
          <a:noFill/>
        </p:spPr>
        <p:txBody>
          <a:bodyPr wrap="square" rtlCol="0">
            <a:spAutoFit/>
          </a:bodyPr>
          <a:lstStyle/>
          <a:p>
            <a:r>
              <a:rPr lang="en-US" sz="2800" b="1" dirty="0">
                <a:solidFill>
                  <a:srgbClr val="822334"/>
                </a:solidFill>
                <a:latin typeface="Inter" panose="02000503000000020004" pitchFamily="2" charset="0"/>
                <a:ea typeface="Inter" panose="02000503000000020004" pitchFamily="2" charset="0"/>
                <a:cs typeface="Inter" panose="02000503000000020004" pitchFamily="2" charset="0"/>
              </a:rPr>
              <a:t>LLM PROVIDERS</a:t>
            </a:r>
            <a:br>
              <a:rPr lang="en-US" sz="2800" b="1" dirty="0">
                <a:solidFill>
                  <a:srgbClr val="822334"/>
                </a:solidFill>
                <a:latin typeface="Inter" panose="02000503000000020004" pitchFamily="2" charset="0"/>
                <a:ea typeface="Inter" panose="02000503000000020004" pitchFamily="2" charset="0"/>
                <a:cs typeface="Inter" panose="02000503000000020004" pitchFamily="2" charset="0"/>
              </a:rPr>
            </a:br>
            <a:r>
              <a:rPr lang="en-US" sz="2000" dirty="0">
                <a:solidFill>
                  <a:srgbClr val="822334"/>
                </a:solidFill>
                <a:latin typeface="Inter" panose="02000503000000020004" pitchFamily="2" charset="0"/>
                <a:ea typeface="Inter" panose="02000503000000020004" pitchFamily="2" charset="0"/>
                <a:cs typeface="Inter" panose="02000503000000020004" pitchFamily="2" charset="0"/>
              </a:rPr>
              <a:t>Model Selection</a:t>
            </a:r>
          </a:p>
        </p:txBody>
      </p:sp>
      <p:sp>
        <p:nvSpPr>
          <p:cNvPr id="9" name="Footer Placeholder 10">
            <a:extLst>
              <a:ext uri="{FF2B5EF4-FFF2-40B4-BE49-F238E27FC236}">
                <a16:creationId xmlns:a16="http://schemas.microsoft.com/office/drawing/2014/main" id="{3B3A8A6E-20FE-4067-F8DA-1BA6522C5AE8}"/>
              </a:ext>
            </a:extLst>
          </p:cNvPr>
          <p:cNvSpPr>
            <a:spLocks noGrp="1"/>
          </p:cNvSpPr>
          <p:nvPr>
            <p:ph type="ftr" sz="quarter" idx="11"/>
          </p:nvPr>
        </p:nvSpPr>
        <p:spPr>
          <a:xfrm>
            <a:off x="4566534" y="6356350"/>
            <a:ext cx="3058931" cy="365125"/>
          </a:xfrm>
        </p:spPr>
        <p:txBody>
          <a:bodyPr/>
          <a:lstStyle/>
          <a:p>
            <a:r>
              <a:rPr lang="en-US" dirty="0" err="1">
                <a:solidFill>
                  <a:schemeClr val="bg1"/>
                </a:solidFill>
                <a:latin typeface="Inter" panose="02000503000000020004" pitchFamily="2" charset="0"/>
                <a:ea typeface="Inter" panose="02000503000000020004" pitchFamily="2" charset="0"/>
                <a:cs typeface="Inter" panose="02000503000000020004" pitchFamily="2" charset="0"/>
              </a:rPr>
              <a:t>Cineca</a:t>
            </a:r>
            <a:r>
              <a:rPr lang="en-US" dirty="0">
                <a:solidFill>
                  <a:schemeClr val="bg1"/>
                </a:solidFill>
                <a:latin typeface="Inter" panose="02000503000000020004" pitchFamily="2" charset="0"/>
                <a:ea typeface="Inter" panose="02000503000000020004" pitchFamily="2" charset="0"/>
                <a:cs typeface="Inter" panose="02000503000000020004" pitchFamily="2" charset="0"/>
              </a:rPr>
              <a:t> Agentic Platform – Arman Feili</a:t>
            </a:r>
          </a:p>
        </p:txBody>
      </p:sp>
      <p:pic>
        <p:nvPicPr>
          <p:cNvPr id="10" name="Picture 9">
            <a:extLst>
              <a:ext uri="{FF2B5EF4-FFF2-40B4-BE49-F238E27FC236}">
                <a16:creationId xmlns:a16="http://schemas.microsoft.com/office/drawing/2014/main" id="{49C8B747-F184-53EE-2C13-94B14807CB2B}"/>
              </a:ext>
            </a:extLst>
          </p:cNvPr>
          <p:cNvPicPr>
            <a:picLocks noChangeAspect="1"/>
          </p:cNvPicPr>
          <p:nvPr/>
        </p:nvPicPr>
        <p:blipFill>
          <a:blip r:embed="rId3"/>
          <a:stretch>
            <a:fillRect/>
          </a:stretch>
        </p:blipFill>
        <p:spPr>
          <a:xfrm>
            <a:off x="321777" y="6315552"/>
            <a:ext cx="435345" cy="435345"/>
          </a:xfrm>
          <a:prstGeom prst="rect">
            <a:avLst/>
          </a:prstGeom>
        </p:spPr>
      </p:pic>
      <p:pic>
        <p:nvPicPr>
          <p:cNvPr id="13" name="Picture 12">
            <a:extLst>
              <a:ext uri="{FF2B5EF4-FFF2-40B4-BE49-F238E27FC236}">
                <a16:creationId xmlns:a16="http://schemas.microsoft.com/office/drawing/2014/main" id="{851ECD14-A778-A59C-45B2-419A85E94499}"/>
              </a:ext>
            </a:extLst>
          </p:cNvPr>
          <p:cNvPicPr>
            <a:picLocks noChangeAspect="1"/>
          </p:cNvPicPr>
          <p:nvPr/>
        </p:nvPicPr>
        <p:blipFill>
          <a:blip r:embed="rId4"/>
          <a:stretch>
            <a:fillRect/>
          </a:stretch>
        </p:blipFill>
        <p:spPr>
          <a:xfrm>
            <a:off x="866134" y="6362629"/>
            <a:ext cx="1093241" cy="365125"/>
          </a:xfrm>
          <a:prstGeom prst="rect">
            <a:avLst/>
          </a:prstGeom>
        </p:spPr>
      </p:pic>
      <p:pic>
        <p:nvPicPr>
          <p:cNvPr id="20" name="Picture 19">
            <a:extLst>
              <a:ext uri="{FF2B5EF4-FFF2-40B4-BE49-F238E27FC236}">
                <a16:creationId xmlns:a16="http://schemas.microsoft.com/office/drawing/2014/main" id="{B6D182A8-C2B7-10E6-B1B1-5FADEFCACD77}"/>
              </a:ext>
            </a:extLst>
          </p:cNvPr>
          <p:cNvPicPr>
            <a:picLocks noChangeAspect="1"/>
          </p:cNvPicPr>
          <p:nvPr/>
        </p:nvPicPr>
        <p:blipFill>
          <a:blip r:embed="rId5"/>
          <a:stretch>
            <a:fillRect/>
          </a:stretch>
        </p:blipFill>
        <p:spPr>
          <a:xfrm>
            <a:off x="5806271" y="374272"/>
            <a:ext cx="5931547" cy="985152"/>
          </a:xfrm>
          <a:prstGeom prst="rect">
            <a:avLst/>
          </a:prstGeom>
        </p:spPr>
      </p:pic>
      <p:sp>
        <p:nvSpPr>
          <p:cNvPr id="22" name="TextBox 21">
            <a:extLst>
              <a:ext uri="{FF2B5EF4-FFF2-40B4-BE49-F238E27FC236}">
                <a16:creationId xmlns:a16="http://schemas.microsoft.com/office/drawing/2014/main" id="{7A2A2DB3-1662-5271-BA20-580A5A280E3E}"/>
              </a:ext>
            </a:extLst>
          </p:cNvPr>
          <p:cNvSpPr txBox="1"/>
          <p:nvPr/>
        </p:nvSpPr>
        <p:spPr>
          <a:xfrm>
            <a:off x="596345" y="1563454"/>
            <a:ext cx="5499651" cy="4093428"/>
          </a:xfrm>
          <a:prstGeom prst="rect">
            <a:avLst/>
          </a:prstGeom>
          <a:noFill/>
        </p:spPr>
        <p:txBody>
          <a:bodyPr wrap="square" rtlCol="0">
            <a:spAutoFit/>
          </a:bodyPr>
          <a:lstStyle/>
          <a:p>
            <a:r>
              <a:rPr lang="en-US" b="1" dirty="0">
                <a:latin typeface="Inter" panose="02000503000000020004" pitchFamily="2" charset="0"/>
                <a:ea typeface="Inter" panose="02000503000000020004" pitchFamily="2" charset="0"/>
                <a:cs typeface="Inter" panose="02000503000000020004" pitchFamily="2" charset="0"/>
              </a:rPr>
              <a:t>Provider Options</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Local models</a:t>
            </a:r>
            <a:r>
              <a:rPr lang="en-US" sz="1600" dirty="0">
                <a:latin typeface="Inter" panose="02000503000000020004" pitchFamily="2" charset="0"/>
                <a:ea typeface="Inter" panose="02000503000000020004" pitchFamily="2" charset="0"/>
                <a:cs typeface="Inter" panose="02000503000000020004" pitchFamily="2" charset="0"/>
              </a:rPr>
              <a:t> — </a:t>
            </a:r>
            <a:r>
              <a:rPr lang="en-US" sz="1600" dirty="0" err="1">
                <a:latin typeface="Inter" panose="02000503000000020004" pitchFamily="2" charset="0"/>
                <a:ea typeface="Inter" panose="02000503000000020004" pitchFamily="2" charset="0"/>
                <a:cs typeface="Inter" panose="02000503000000020004" pitchFamily="2" charset="0"/>
              </a:rPr>
              <a:t>Ollama</a:t>
            </a:r>
            <a:r>
              <a:rPr lang="en-US" sz="1600" dirty="0">
                <a:latin typeface="Inter" panose="02000503000000020004" pitchFamily="2" charset="0"/>
                <a:ea typeface="Inter" panose="02000503000000020004" pitchFamily="2" charset="0"/>
                <a:cs typeface="Inter" panose="02000503000000020004" pitchFamily="2" charset="0"/>
              </a:rPr>
              <a:t>, self-hosted open models</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Cloud models</a:t>
            </a:r>
            <a:r>
              <a:rPr lang="en-US" sz="1600" dirty="0">
                <a:latin typeface="Inter" panose="02000503000000020004" pitchFamily="2" charset="0"/>
                <a:ea typeface="Inter" panose="02000503000000020004" pitchFamily="2" charset="0"/>
                <a:cs typeface="Inter" panose="02000503000000020004" pitchFamily="2" charset="0"/>
              </a:rPr>
              <a:t> — OpenAI, Azure OpenAI, compatible providers</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Provider flexibility</a:t>
            </a:r>
            <a:r>
              <a:rPr lang="en-US" sz="1600" dirty="0">
                <a:latin typeface="Inter" panose="02000503000000020004" pitchFamily="2" charset="0"/>
                <a:ea typeface="Inter" panose="02000503000000020004" pitchFamily="2" charset="0"/>
                <a:cs typeface="Inter" panose="02000503000000020004" pitchFamily="2" charset="0"/>
              </a:rPr>
              <a:t> — same platform logic, different model backends</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No vendor lock-in</a:t>
            </a:r>
            <a:r>
              <a:rPr lang="en-US" sz="1600" dirty="0">
                <a:latin typeface="Inter" panose="02000503000000020004" pitchFamily="2" charset="0"/>
                <a:ea typeface="Inter" panose="02000503000000020004" pitchFamily="2" charset="0"/>
                <a:cs typeface="Inter" panose="02000503000000020004" pitchFamily="2" charset="0"/>
              </a:rPr>
              <a:t> — switch providers without changing orchestration logic</a:t>
            </a:r>
          </a:p>
          <a:p>
            <a:endParaRPr lang="en-US" sz="1600" b="1" dirty="0">
              <a:latin typeface="Inter" panose="02000503000000020004" pitchFamily="2" charset="0"/>
              <a:ea typeface="Inter" panose="02000503000000020004" pitchFamily="2" charset="0"/>
              <a:cs typeface="Inter" panose="02000503000000020004" pitchFamily="2" charset="0"/>
            </a:endParaRPr>
          </a:p>
          <a:p>
            <a:r>
              <a:rPr lang="en-US" b="1" dirty="0">
                <a:latin typeface="Inter" panose="02000503000000020004" pitchFamily="2" charset="0"/>
                <a:ea typeface="Inter" panose="02000503000000020004" pitchFamily="2" charset="0"/>
                <a:cs typeface="Inter" panose="02000503000000020004" pitchFamily="2" charset="0"/>
              </a:rPr>
              <a:t>Why It Matters</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Data control</a:t>
            </a:r>
            <a:endParaRPr lang="en-US" sz="1600" dirty="0">
              <a:latin typeface="Inter" panose="02000503000000020004" pitchFamily="2" charset="0"/>
              <a:ea typeface="Inter" panose="02000503000000020004" pitchFamily="2" charset="0"/>
              <a:cs typeface="Inter" panose="02000503000000020004" pitchFamily="2" charset="0"/>
            </a:endParaRP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Lower cost options</a:t>
            </a:r>
            <a:endParaRPr lang="en-US" sz="1600" dirty="0">
              <a:latin typeface="Inter" panose="02000503000000020004" pitchFamily="2" charset="0"/>
              <a:ea typeface="Inter" panose="02000503000000020004" pitchFamily="2" charset="0"/>
              <a:cs typeface="Inter" panose="02000503000000020004" pitchFamily="2" charset="0"/>
            </a:endParaRP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Offline or private deployment</a:t>
            </a:r>
            <a:endParaRPr lang="en-US" sz="1600" dirty="0">
              <a:latin typeface="Inter" panose="02000503000000020004" pitchFamily="2" charset="0"/>
              <a:ea typeface="Inter" panose="02000503000000020004" pitchFamily="2" charset="0"/>
              <a:cs typeface="Inter" panose="02000503000000020004" pitchFamily="2" charset="0"/>
            </a:endParaRP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Managed cloud quality</a:t>
            </a:r>
            <a:endParaRPr lang="en-US" sz="1600" dirty="0">
              <a:latin typeface="Inter" panose="02000503000000020004" pitchFamily="2" charset="0"/>
              <a:ea typeface="Inter" panose="02000503000000020004" pitchFamily="2" charset="0"/>
              <a:cs typeface="Inter" panose="02000503000000020004" pitchFamily="2" charset="0"/>
            </a:endParaRP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Enterprise compliance</a:t>
            </a:r>
            <a:endParaRPr lang="en-US" sz="1600" dirty="0">
              <a:latin typeface="Inter" panose="02000503000000020004" pitchFamily="2" charset="0"/>
              <a:ea typeface="Inter" panose="02000503000000020004" pitchFamily="2" charset="0"/>
              <a:cs typeface="Inter" panose="02000503000000020004" pitchFamily="2" charset="0"/>
            </a:endParaRP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Regional hosting</a:t>
            </a:r>
            <a:endParaRPr lang="en-US" sz="1600" dirty="0">
              <a:latin typeface="Inter" panose="02000503000000020004" pitchFamily="2" charset="0"/>
              <a:ea typeface="Inter" panose="02000503000000020004" pitchFamily="2" charset="0"/>
              <a:cs typeface="Inter" panose="02000503000000020004" pitchFamily="2" charset="0"/>
            </a:endParaRPr>
          </a:p>
        </p:txBody>
      </p:sp>
      <p:sp>
        <p:nvSpPr>
          <p:cNvPr id="23" name="TextBox 22">
            <a:extLst>
              <a:ext uri="{FF2B5EF4-FFF2-40B4-BE49-F238E27FC236}">
                <a16:creationId xmlns:a16="http://schemas.microsoft.com/office/drawing/2014/main" id="{D717F01B-ECF4-BD05-3356-AAAB78BA1063}"/>
              </a:ext>
            </a:extLst>
          </p:cNvPr>
          <p:cNvSpPr txBox="1"/>
          <p:nvPr/>
        </p:nvSpPr>
        <p:spPr>
          <a:xfrm>
            <a:off x="6510126" y="1562253"/>
            <a:ext cx="5214041" cy="2339102"/>
          </a:xfrm>
          <a:prstGeom prst="rect">
            <a:avLst/>
          </a:prstGeom>
          <a:noFill/>
        </p:spPr>
        <p:txBody>
          <a:bodyPr wrap="square" rtlCol="0">
            <a:spAutoFit/>
          </a:bodyPr>
          <a:lstStyle/>
          <a:p>
            <a:r>
              <a:rPr lang="en-US" b="1" dirty="0">
                <a:latin typeface="Inter" panose="02000503000000020004" pitchFamily="2" charset="0"/>
                <a:ea typeface="Inter" panose="02000503000000020004" pitchFamily="2" charset="0"/>
                <a:cs typeface="Inter" panose="02000503000000020004" pitchFamily="2" charset="0"/>
              </a:rPr>
              <a:t>Model Selection Hierarchy:</a:t>
            </a:r>
          </a:p>
          <a:p>
            <a:pPr lvl="1"/>
            <a:r>
              <a:rPr lang="en-US" sz="1600" dirty="0">
                <a:latin typeface="Inter" panose="02000503000000020004" pitchFamily="2" charset="0"/>
                <a:ea typeface="Inter" panose="02000503000000020004" pitchFamily="2" charset="0"/>
                <a:cs typeface="Inter" panose="02000503000000020004" pitchFamily="2" charset="0"/>
              </a:rPr>
              <a:t>Request-level override</a:t>
            </a:r>
          </a:p>
          <a:p>
            <a:pPr lvl="1"/>
            <a:r>
              <a:rPr lang="en-US" sz="1600" dirty="0">
                <a:latin typeface="Inter" panose="02000503000000020004" pitchFamily="2" charset="0"/>
                <a:ea typeface="Inter" panose="02000503000000020004" pitchFamily="2" charset="0"/>
                <a:cs typeface="Inter" panose="02000503000000020004" pitchFamily="2" charset="0"/>
              </a:rPr>
              <a:t>↓ (if not set)</a:t>
            </a:r>
          </a:p>
          <a:p>
            <a:pPr lvl="1"/>
            <a:r>
              <a:rPr lang="en-US" sz="1600" dirty="0">
                <a:latin typeface="Inter" panose="02000503000000020004" pitchFamily="2" charset="0"/>
                <a:ea typeface="Inter" panose="02000503000000020004" pitchFamily="2" charset="0"/>
                <a:cs typeface="Inter" panose="02000503000000020004" pitchFamily="2" charset="0"/>
              </a:rPr>
              <a:t>Session-level default</a:t>
            </a:r>
          </a:p>
          <a:p>
            <a:pPr lvl="1"/>
            <a:r>
              <a:rPr lang="en-US" sz="1600" dirty="0">
                <a:latin typeface="Inter" panose="02000503000000020004" pitchFamily="2" charset="0"/>
                <a:ea typeface="Inter" panose="02000503000000020004" pitchFamily="2" charset="0"/>
                <a:cs typeface="Inter" panose="02000503000000020004" pitchFamily="2" charset="0"/>
              </a:rPr>
              <a:t>↓ (if not set)</a:t>
            </a:r>
          </a:p>
          <a:p>
            <a:pPr lvl="1"/>
            <a:r>
              <a:rPr lang="en-US" sz="1600" dirty="0">
                <a:latin typeface="Inter" panose="02000503000000020004" pitchFamily="2" charset="0"/>
                <a:ea typeface="Inter" panose="02000503000000020004" pitchFamily="2" charset="0"/>
                <a:cs typeface="Inter" panose="02000503000000020004" pitchFamily="2" charset="0"/>
              </a:rPr>
              <a:t>Tenant-level default</a:t>
            </a:r>
          </a:p>
          <a:p>
            <a:pPr lvl="1"/>
            <a:r>
              <a:rPr lang="en-US" sz="1600" dirty="0">
                <a:latin typeface="Inter" panose="02000503000000020004" pitchFamily="2" charset="0"/>
                <a:ea typeface="Inter" panose="02000503000000020004" pitchFamily="2" charset="0"/>
                <a:cs typeface="Inter" panose="02000503000000020004" pitchFamily="2" charset="0"/>
              </a:rPr>
              <a:t>↓ (if not set)</a:t>
            </a:r>
          </a:p>
          <a:p>
            <a:pPr lvl="1"/>
            <a:r>
              <a:rPr lang="en-US" sz="1600" dirty="0">
                <a:latin typeface="Inter" panose="02000503000000020004" pitchFamily="2" charset="0"/>
                <a:ea typeface="Inter" panose="02000503000000020004" pitchFamily="2" charset="0"/>
                <a:cs typeface="Inter" panose="02000503000000020004" pitchFamily="2" charset="0"/>
              </a:rPr>
              <a:t>Global platform default</a:t>
            </a:r>
          </a:p>
          <a:p>
            <a:endParaRPr lang="en-US" sz="1600" dirty="0">
              <a:latin typeface="Inter" panose="02000503000000020004" pitchFamily="2" charset="0"/>
              <a:ea typeface="Inter" panose="02000503000000020004" pitchFamily="2" charset="0"/>
              <a:cs typeface="Inter" panose="02000503000000020004" pitchFamily="2" charset="0"/>
            </a:endParaRPr>
          </a:p>
        </p:txBody>
      </p:sp>
      <p:pic>
        <p:nvPicPr>
          <p:cNvPr id="28" name="Picture 27">
            <a:extLst>
              <a:ext uri="{FF2B5EF4-FFF2-40B4-BE49-F238E27FC236}">
                <a16:creationId xmlns:a16="http://schemas.microsoft.com/office/drawing/2014/main" id="{A9DAB6DF-0B47-8EB7-028E-71086D3E7670}"/>
              </a:ext>
            </a:extLst>
          </p:cNvPr>
          <p:cNvPicPr>
            <a:picLocks noChangeAspect="1"/>
          </p:cNvPicPr>
          <p:nvPr/>
        </p:nvPicPr>
        <p:blipFill>
          <a:blip r:embed="rId6"/>
          <a:srcRect t="8110" b="50000"/>
          <a:stretch/>
        </p:blipFill>
        <p:spPr>
          <a:xfrm>
            <a:off x="5806271" y="3907158"/>
            <a:ext cx="4843674" cy="2029007"/>
          </a:xfrm>
          <a:prstGeom prst="rect">
            <a:avLst/>
          </a:prstGeom>
        </p:spPr>
      </p:pic>
    </p:spTree>
    <p:extLst>
      <p:ext uri="{BB962C8B-B14F-4D97-AF65-F5344CB8AC3E}">
        <p14:creationId xmlns:p14="http://schemas.microsoft.com/office/powerpoint/2010/main" val="6781055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BA807-84CE-D6AC-900B-D4F539A7F13D}"/>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3D4670CE-7461-2AA2-CDC9-FF7CDB1E24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Slide Number Placeholder 11">
            <a:extLst>
              <a:ext uri="{FF2B5EF4-FFF2-40B4-BE49-F238E27FC236}">
                <a16:creationId xmlns:a16="http://schemas.microsoft.com/office/drawing/2014/main" id="{F0314469-F425-9B54-49DF-BE7CAD5E526F}"/>
              </a:ext>
            </a:extLst>
          </p:cNvPr>
          <p:cNvSpPr>
            <a:spLocks noGrp="1"/>
          </p:cNvSpPr>
          <p:nvPr>
            <p:ph type="sldNum" sz="quarter" idx="12"/>
          </p:nvPr>
        </p:nvSpPr>
        <p:spPr/>
        <p:txBody>
          <a:bodyPr/>
          <a:lstStyle/>
          <a:p>
            <a:fld id="{48F19E39-9933-F648-B2F3-3AC17C0DC986}" type="slidenum">
              <a:rPr lang="en-US" smtClean="0">
                <a:solidFill>
                  <a:schemeClr val="bg1"/>
                </a:solidFill>
              </a:rPr>
              <a:t>15</a:t>
            </a:fld>
            <a:endParaRPr lang="en-US" dirty="0">
              <a:solidFill>
                <a:schemeClr val="bg1"/>
              </a:solidFill>
            </a:endParaRPr>
          </a:p>
        </p:txBody>
      </p:sp>
      <p:sp>
        <p:nvSpPr>
          <p:cNvPr id="5" name="TextBox 4">
            <a:extLst>
              <a:ext uri="{FF2B5EF4-FFF2-40B4-BE49-F238E27FC236}">
                <a16:creationId xmlns:a16="http://schemas.microsoft.com/office/drawing/2014/main" id="{9CABCAB4-FD08-AE46-D879-F0F54DF4FA44}"/>
              </a:ext>
            </a:extLst>
          </p:cNvPr>
          <p:cNvSpPr txBox="1"/>
          <p:nvPr/>
        </p:nvSpPr>
        <p:spPr>
          <a:xfrm>
            <a:off x="596348" y="374273"/>
            <a:ext cx="11127823" cy="830997"/>
          </a:xfrm>
          <a:prstGeom prst="rect">
            <a:avLst/>
          </a:prstGeom>
          <a:noFill/>
        </p:spPr>
        <p:txBody>
          <a:bodyPr wrap="square" rtlCol="0">
            <a:spAutoFit/>
          </a:bodyPr>
          <a:lstStyle/>
          <a:p>
            <a:r>
              <a:rPr lang="en-US" sz="2800" b="1" dirty="0">
                <a:solidFill>
                  <a:srgbClr val="822334"/>
                </a:solidFill>
                <a:latin typeface="Inter" panose="02000503000000020004" pitchFamily="2" charset="0"/>
                <a:ea typeface="Inter" panose="02000503000000020004" pitchFamily="2" charset="0"/>
                <a:cs typeface="Inter" panose="02000503000000020004" pitchFamily="2" charset="0"/>
              </a:rPr>
              <a:t>MCP RUNTIME &amp; TOOLS</a:t>
            </a:r>
            <a:b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br>
            <a:r>
              <a:rPr lang="en-US" sz="2000" i="0" dirty="0">
                <a:solidFill>
                  <a:srgbClr val="822334"/>
                </a:solidFill>
                <a:effectLst/>
                <a:latin typeface="Inter" panose="02000503000000020004" pitchFamily="2" charset="0"/>
                <a:ea typeface="Inter" panose="02000503000000020004" pitchFamily="2" charset="0"/>
                <a:cs typeface="Inter" panose="02000503000000020004" pitchFamily="2" charset="0"/>
              </a:rPr>
              <a:t>34 tools across 12 categories</a:t>
            </a:r>
          </a:p>
        </p:txBody>
      </p:sp>
      <p:sp>
        <p:nvSpPr>
          <p:cNvPr id="3" name="Footer Placeholder 10">
            <a:extLst>
              <a:ext uri="{FF2B5EF4-FFF2-40B4-BE49-F238E27FC236}">
                <a16:creationId xmlns:a16="http://schemas.microsoft.com/office/drawing/2014/main" id="{B17EC90F-3B4D-9C33-CB2A-9249CED03EB1}"/>
              </a:ext>
            </a:extLst>
          </p:cNvPr>
          <p:cNvSpPr>
            <a:spLocks noGrp="1"/>
          </p:cNvSpPr>
          <p:nvPr>
            <p:ph type="ftr" sz="quarter" idx="11"/>
          </p:nvPr>
        </p:nvSpPr>
        <p:spPr>
          <a:xfrm>
            <a:off x="4566534" y="6356350"/>
            <a:ext cx="3058931" cy="365125"/>
          </a:xfrm>
        </p:spPr>
        <p:txBody>
          <a:bodyPr/>
          <a:lstStyle/>
          <a:p>
            <a:r>
              <a:rPr lang="en-US" dirty="0" err="1">
                <a:solidFill>
                  <a:schemeClr val="bg1"/>
                </a:solidFill>
                <a:latin typeface="Inter" panose="02000503000000020004" pitchFamily="2" charset="0"/>
                <a:ea typeface="Inter" panose="02000503000000020004" pitchFamily="2" charset="0"/>
                <a:cs typeface="Inter" panose="02000503000000020004" pitchFamily="2" charset="0"/>
              </a:rPr>
              <a:t>Cineca</a:t>
            </a:r>
            <a:r>
              <a:rPr lang="en-US" dirty="0">
                <a:solidFill>
                  <a:schemeClr val="bg1"/>
                </a:solidFill>
                <a:latin typeface="Inter" panose="02000503000000020004" pitchFamily="2" charset="0"/>
                <a:ea typeface="Inter" panose="02000503000000020004" pitchFamily="2" charset="0"/>
                <a:cs typeface="Inter" panose="02000503000000020004" pitchFamily="2" charset="0"/>
              </a:rPr>
              <a:t> Agentic Platform – Arman Feili</a:t>
            </a:r>
          </a:p>
        </p:txBody>
      </p:sp>
      <p:pic>
        <p:nvPicPr>
          <p:cNvPr id="6" name="Picture 5">
            <a:extLst>
              <a:ext uri="{FF2B5EF4-FFF2-40B4-BE49-F238E27FC236}">
                <a16:creationId xmlns:a16="http://schemas.microsoft.com/office/drawing/2014/main" id="{3C807F7A-BA39-F171-34B1-7650B5F137AD}"/>
              </a:ext>
            </a:extLst>
          </p:cNvPr>
          <p:cNvPicPr>
            <a:picLocks noChangeAspect="1"/>
          </p:cNvPicPr>
          <p:nvPr/>
        </p:nvPicPr>
        <p:blipFill>
          <a:blip r:embed="rId3"/>
          <a:stretch>
            <a:fillRect/>
          </a:stretch>
        </p:blipFill>
        <p:spPr>
          <a:xfrm>
            <a:off x="321777" y="6315552"/>
            <a:ext cx="435345" cy="435345"/>
          </a:xfrm>
          <a:prstGeom prst="rect">
            <a:avLst/>
          </a:prstGeom>
        </p:spPr>
      </p:pic>
      <p:pic>
        <p:nvPicPr>
          <p:cNvPr id="7" name="Picture 6">
            <a:extLst>
              <a:ext uri="{FF2B5EF4-FFF2-40B4-BE49-F238E27FC236}">
                <a16:creationId xmlns:a16="http://schemas.microsoft.com/office/drawing/2014/main" id="{252DD293-05FE-044A-599E-48A7E0C6612F}"/>
              </a:ext>
            </a:extLst>
          </p:cNvPr>
          <p:cNvPicPr>
            <a:picLocks noChangeAspect="1"/>
          </p:cNvPicPr>
          <p:nvPr/>
        </p:nvPicPr>
        <p:blipFill>
          <a:blip r:embed="rId4"/>
          <a:stretch>
            <a:fillRect/>
          </a:stretch>
        </p:blipFill>
        <p:spPr>
          <a:xfrm>
            <a:off x="866134" y="6362629"/>
            <a:ext cx="1093241" cy="365125"/>
          </a:xfrm>
          <a:prstGeom prst="rect">
            <a:avLst/>
          </a:prstGeom>
        </p:spPr>
      </p:pic>
      <p:pic>
        <p:nvPicPr>
          <p:cNvPr id="14" name="Picture 13">
            <a:extLst>
              <a:ext uri="{FF2B5EF4-FFF2-40B4-BE49-F238E27FC236}">
                <a16:creationId xmlns:a16="http://schemas.microsoft.com/office/drawing/2014/main" id="{E832818A-9518-9C40-0173-A73AF98717B2}"/>
              </a:ext>
            </a:extLst>
          </p:cNvPr>
          <p:cNvPicPr>
            <a:picLocks noChangeAspect="1"/>
          </p:cNvPicPr>
          <p:nvPr/>
        </p:nvPicPr>
        <p:blipFill>
          <a:blip r:embed="rId5"/>
          <a:stretch>
            <a:fillRect/>
          </a:stretch>
        </p:blipFill>
        <p:spPr>
          <a:xfrm>
            <a:off x="5806271" y="371963"/>
            <a:ext cx="5931547" cy="985152"/>
          </a:xfrm>
          <a:prstGeom prst="rect">
            <a:avLst/>
          </a:prstGeom>
        </p:spPr>
      </p:pic>
      <p:sp>
        <p:nvSpPr>
          <p:cNvPr id="16" name="TextBox 15">
            <a:extLst>
              <a:ext uri="{FF2B5EF4-FFF2-40B4-BE49-F238E27FC236}">
                <a16:creationId xmlns:a16="http://schemas.microsoft.com/office/drawing/2014/main" id="{8EC7D015-1184-5E0B-2595-C47BBDC18CB6}"/>
              </a:ext>
            </a:extLst>
          </p:cNvPr>
          <p:cNvSpPr txBox="1"/>
          <p:nvPr/>
        </p:nvSpPr>
        <p:spPr>
          <a:xfrm>
            <a:off x="596348" y="1562253"/>
            <a:ext cx="5499652" cy="2862322"/>
          </a:xfrm>
          <a:prstGeom prst="rect">
            <a:avLst/>
          </a:prstGeom>
          <a:noFill/>
        </p:spPr>
        <p:txBody>
          <a:bodyPr wrap="square" rtlCol="0">
            <a:spAutoFit/>
          </a:bodyPr>
          <a:lstStyle/>
          <a:p>
            <a:r>
              <a:rPr lang="en-US" b="1" dirty="0">
                <a:latin typeface="Inter" panose="02000503000000020004" pitchFamily="2" charset="0"/>
                <a:ea typeface="Inter" panose="02000503000000020004" pitchFamily="2" charset="0"/>
                <a:cs typeface="Inter" panose="02000503000000020004" pitchFamily="2" charset="0"/>
              </a:rPr>
              <a:t>Core Runtime Ideas</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Tool registry</a:t>
            </a:r>
            <a:r>
              <a:rPr lang="en-US" sz="1600" dirty="0">
                <a:latin typeface="Inter" panose="02000503000000020004" pitchFamily="2" charset="0"/>
                <a:ea typeface="Inter" panose="02000503000000020004" pitchFamily="2" charset="0"/>
                <a:cs typeface="Inter" panose="02000503000000020004" pitchFamily="2" charset="0"/>
              </a:rPr>
              <a:t> — schemas, scopes, limits</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Permission checks</a:t>
            </a:r>
            <a:r>
              <a:rPr lang="en-US" sz="1600" dirty="0">
                <a:latin typeface="Inter" panose="02000503000000020004" pitchFamily="2" charset="0"/>
                <a:ea typeface="Inter" panose="02000503000000020004" pitchFamily="2" charset="0"/>
                <a:cs typeface="Inter" panose="02000503000000020004" pitchFamily="2" charset="0"/>
              </a:rPr>
              <a:t> — RBAC before execution</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Schema validation</a:t>
            </a:r>
            <a:r>
              <a:rPr lang="en-US" sz="1600" dirty="0">
                <a:latin typeface="Inter" panose="02000503000000020004" pitchFamily="2" charset="0"/>
                <a:ea typeface="Inter" panose="02000503000000020004" pitchFamily="2" charset="0"/>
                <a:cs typeface="Inter" panose="02000503000000020004" pitchFamily="2" charset="0"/>
              </a:rPr>
              <a:t> — structured and safe inputs</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Audited execution</a:t>
            </a:r>
            <a:r>
              <a:rPr lang="en-US" sz="1600" dirty="0">
                <a:latin typeface="Inter" panose="02000503000000020004" pitchFamily="2" charset="0"/>
                <a:ea typeface="Inter" panose="02000503000000020004" pitchFamily="2" charset="0"/>
                <a:cs typeface="Inter" panose="02000503000000020004" pitchFamily="2" charset="0"/>
              </a:rPr>
              <a:t> — every tool call recorded</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Controlled results</a:t>
            </a:r>
            <a:r>
              <a:rPr lang="en-US" sz="1600" dirty="0">
                <a:latin typeface="Inter" panose="02000503000000020004" pitchFamily="2" charset="0"/>
                <a:ea typeface="Inter" panose="02000503000000020004" pitchFamily="2" charset="0"/>
                <a:cs typeface="Inter" panose="02000503000000020004" pitchFamily="2" charset="0"/>
              </a:rPr>
              <a:t> — safe outputs returned to the agent</a:t>
            </a:r>
          </a:p>
          <a:p>
            <a:endParaRPr lang="en-US" sz="1600" b="1" dirty="0">
              <a:latin typeface="Inter" panose="02000503000000020004" pitchFamily="2" charset="0"/>
              <a:ea typeface="Inter" panose="02000503000000020004" pitchFamily="2" charset="0"/>
              <a:cs typeface="Inter" panose="02000503000000020004" pitchFamily="2" charset="0"/>
            </a:endParaRPr>
          </a:p>
          <a:p>
            <a:r>
              <a:rPr lang="en-US" b="1" dirty="0">
                <a:latin typeface="Inter" panose="02000503000000020004" pitchFamily="2" charset="0"/>
                <a:ea typeface="Inter" panose="02000503000000020004" pitchFamily="2" charset="0"/>
                <a:cs typeface="Inter" panose="02000503000000020004" pitchFamily="2" charset="0"/>
              </a:rPr>
              <a:t>Tool Invocation Flow</a:t>
            </a:r>
          </a:p>
          <a:p>
            <a:r>
              <a:rPr lang="en-US" sz="1600" dirty="0">
                <a:latin typeface="Inter" panose="02000503000000020004" pitchFamily="2" charset="0"/>
                <a:ea typeface="Inter" panose="02000503000000020004" pitchFamily="2" charset="0"/>
                <a:cs typeface="Inter" panose="02000503000000020004" pitchFamily="2" charset="0"/>
              </a:rPr>
              <a:t>Request → Validate → Authorize → Execute → Audit → Return</a:t>
            </a:r>
          </a:p>
        </p:txBody>
      </p:sp>
      <p:sp>
        <p:nvSpPr>
          <p:cNvPr id="29" name="TextBox 28">
            <a:extLst>
              <a:ext uri="{FF2B5EF4-FFF2-40B4-BE49-F238E27FC236}">
                <a16:creationId xmlns:a16="http://schemas.microsoft.com/office/drawing/2014/main" id="{4FEFD32C-9034-8256-1474-1825EE4294F4}"/>
              </a:ext>
            </a:extLst>
          </p:cNvPr>
          <p:cNvSpPr txBox="1"/>
          <p:nvPr/>
        </p:nvSpPr>
        <p:spPr>
          <a:xfrm>
            <a:off x="6370571" y="1562253"/>
            <a:ext cx="5499652" cy="2585323"/>
          </a:xfrm>
          <a:prstGeom prst="rect">
            <a:avLst/>
          </a:prstGeom>
          <a:noFill/>
        </p:spPr>
        <p:txBody>
          <a:bodyPr wrap="square" rtlCol="0">
            <a:spAutoFit/>
          </a:bodyPr>
          <a:lstStyle/>
          <a:p>
            <a:r>
              <a:rPr lang="en-US" b="1" dirty="0">
                <a:latin typeface="Inter" panose="02000503000000020004" pitchFamily="2" charset="0"/>
                <a:ea typeface="Inter" panose="02000503000000020004" pitchFamily="2" charset="0"/>
                <a:cs typeface="Inter" panose="02000503000000020004" pitchFamily="2" charset="0"/>
              </a:rPr>
              <a:t>Main Tool Categories</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Graph</a:t>
            </a:r>
            <a:r>
              <a:rPr lang="en-US" sz="1600" dirty="0">
                <a:latin typeface="Inter" panose="02000503000000020004" pitchFamily="2" charset="0"/>
                <a:ea typeface="Inter" panose="02000503000000020004" pitchFamily="2" charset="0"/>
                <a:cs typeface="Inter" panose="02000503000000020004" pitchFamily="2" charset="0"/>
              </a:rPr>
              <a:t> — </a:t>
            </a:r>
            <a:r>
              <a:rPr lang="en-US" sz="1600" dirty="0" err="1">
                <a:latin typeface="Inter" panose="02000503000000020004" pitchFamily="2" charset="0"/>
                <a:ea typeface="Inter" panose="02000503000000020004" pitchFamily="2" charset="0"/>
                <a:cs typeface="Inter" panose="02000503000000020004" pitchFamily="2" charset="0"/>
              </a:rPr>
              <a:t>Memgraph</a:t>
            </a:r>
            <a:r>
              <a:rPr lang="en-US" sz="1600" dirty="0">
                <a:latin typeface="Inter" panose="02000503000000020004" pitchFamily="2" charset="0"/>
                <a:ea typeface="Inter" panose="02000503000000020004" pitchFamily="2" charset="0"/>
                <a:cs typeface="Inter" panose="02000503000000020004" pitchFamily="2" charset="0"/>
              </a:rPr>
              <a:t>, schema, Cypher</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Security</a:t>
            </a:r>
            <a:r>
              <a:rPr lang="en-US" sz="1600" dirty="0">
                <a:latin typeface="Inter" panose="02000503000000020004" pitchFamily="2" charset="0"/>
                <a:ea typeface="Inter" panose="02000503000000020004" pitchFamily="2" charset="0"/>
                <a:cs typeface="Inter" panose="02000503000000020004" pitchFamily="2" charset="0"/>
              </a:rPr>
              <a:t> — identity, permissions, access checks</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System</a:t>
            </a:r>
            <a:r>
              <a:rPr lang="en-US" sz="1600" dirty="0">
                <a:latin typeface="Inter" panose="02000503000000020004" pitchFamily="2" charset="0"/>
                <a:ea typeface="Inter" panose="02000503000000020004" pitchFamily="2" charset="0"/>
                <a:cs typeface="Inter" panose="02000503000000020004" pitchFamily="2" charset="0"/>
              </a:rPr>
              <a:t> — health, metrics, configuration</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Catalog</a:t>
            </a:r>
            <a:r>
              <a:rPr lang="en-US" sz="1600" dirty="0">
                <a:latin typeface="Inter" panose="02000503000000020004" pitchFamily="2" charset="0"/>
                <a:ea typeface="Inter" panose="02000503000000020004" pitchFamily="2" charset="0"/>
                <a:cs typeface="Inter" panose="02000503000000020004" pitchFamily="2" charset="0"/>
              </a:rPr>
              <a:t> — tools, resources, schemas</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Model</a:t>
            </a:r>
            <a:r>
              <a:rPr lang="en-US" sz="1600" dirty="0">
                <a:latin typeface="Inter" panose="02000503000000020004" pitchFamily="2" charset="0"/>
                <a:ea typeface="Inter" panose="02000503000000020004" pitchFamily="2" charset="0"/>
                <a:cs typeface="Inter" panose="02000503000000020004" pitchFamily="2" charset="0"/>
              </a:rPr>
              <a:t> — list, inspect, warm up, switch</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Agent</a:t>
            </a:r>
            <a:r>
              <a:rPr lang="en-US" sz="1600" dirty="0">
                <a:latin typeface="Inter" panose="02000503000000020004" pitchFamily="2" charset="0"/>
                <a:ea typeface="Inter" panose="02000503000000020004" pitchFamily="2" charset="0"/>
                <a:cs typeface="Inter" panose="02000503000000020004" pitchFamily="2" charset="0"/>
              </a:rPr>
              <a:t> — context, history, session state</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Analytics</a:t>
            </a:r>
            <a:r>
              <a:rPr lang="en-US" sz="1600" dirty="0">
                <a:latin typeface="Inter" panose="02000503000000020004" pitchFamily="2" charset="0"/>
                <a:ea typeface="Inter" panose="02000503000000020004" pitchFamily="2" charset="0"/>
                <a:cs typeface="Inter" panose="02000503000000020004" pitchFamily="2" charset="0"/>
              </a:rPr>
              <a:t> — aggregations and visualization data</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Admin</a:t>
            </a:r>
            <a:r>
              <a:rPr lang="en-US" sz="1600" dirty="0">
                <a:latin typeface="Inter" panose="02000503000000020004" pitchFamily="2" charset="0"/>
                <a:ea typeface="Inter" panose="02000503000000020004" pitchFamily="2" charset="0"/>
                <a:cs typeface="Inter" panose="02000503000000020004" pitchFamily="2" charset="0"/>
              </a:rPr>
              <a:t> — restricted operations</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ETL / CRUD / Export</a:t>
            </a:r>
            <a:r>
              <a:rPr lang="en-US" sz="1600" dirty="0">
                <a:latin typeface="Inter" panose="02000503000000020004" pitchFamily="2" charset="0"/>
                <a:ea typeface="Inter" panose="02000503000000020004" pitchFamily="2" charset="0"/>
                <a:cs typeface="Inter" panose="02000503000000020004" pitchFamily="2" charset="0"/>
              </a:rPr>
              <a:t> — import, update, export</a:t>
            </a:r>
          </a:p>
        </p:txBody>
      </p:sp>
      <p:pic>
        <p:nvPicPr>
          <p:cNvPr id="31" name="Picture 30">
            <a:extLst>
              <a:ext uri="{FF2B5EF4-FFF2-40B4-BE49-F238E27FC236}">
                <a16:creationId xmlns:a16="http://schemas.microsoft.com/office/drawing/2014/main" id="{5C77944D-3B2E-8214-0AAF-1D2ED0119B2E}"/>
              </a:ext>
            </a:extLst>
          </p:cNvPr>
          <p:cNvPicPr>
            <a:picLocks noChangeAspect="1"/>
          </p:cNvPicPr>
          <p:nvPr/>
        </p:nvPicPr>
        <p:blipFill>
          <a:blip r:embed="rId6"/>
          <a:stretch>
            <a:fillRect/>
          </a:stretch>
        </p:blipFill>
        <p:spPr>
          <a:xfrm>
            <a:off x="7416651" y="4321936"/>
            <a:ext cx="3407492" cy="1602390"/>
          </a:xfrm>
          <a:prstGeom prst="rect">
            <a:avLst/>
          </a:prstGeom>
        </p:spPr>
      </p:pic>
      <p:pic>
        <p:nvPicPr>
          <p:cNvPr id="33" name="Picture 32">
            <a:extLst>
              <a:ext uri="{FF2B5EF4-FFF2-40B4-BE49-F238E27FC236}">
                <a16:creationId xmlns:a16="http://schemas.microsoft.com/office/drawing/2014/main" id="{35FFC3D9-E984-AC2C-3105-E69FE873A3F2}"/>
              </a:ext>
            </a:extLst>
          </p:cNvPr>
          <p:cNvPicPr>
            <a:picLocks noChangeAspect="1"/>
          </p:cNvPicPr>
          <p:nvPr/>
        </p:nvPicPr>
        <p:blipFill>
          <a:blip r:embed="rId7"/>
          <a:stretch>
            <a:fillRect/>
          </a:stretch>
        </p:blipFill>
        <p:spPr>
          <a:xfrm>
            <a:off x="741212" y="4694740"/>
            <a:ext cx="5209923" cy="856782"/>
          </a:xfrm>
          <a:prstGeom prst="rect">
            <a:avLst/>
          </a:prstGeom>
        </p:spPr>
      </p:pic>
    </p:spTree>
    <p:extLst>
      <p:ext uri="{BB962C8B-B14F-4D97-AF65-F5344CB8AC3E}">
        <p14:creationId xmlns:p14="http://schemas.microsoft.com/office/powerpoint/2010/main" val="17148643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A7BEA-E7B9-B76F-454F-E4F5C7436991}"/>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5EF9E3CE-D71E-C9E7-8B3F-56168250EA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Slide Number Placeholder 11">
            <a:extLst>
              <a:ext uri="{FF2B5EF4-FFF2-40B4-BE49-F238E27FC236}">
                <a16:creationId xmlns:a16="http://schemas.microsoft.com/office/drawing/2014/main" id="{57537ACC-4442-7C1C-ABB2-F2039999E40E}"/>
              </a:ext>
            </a:extLst>
          </p:cNvPr>
          <p:cNvSpPr>
            <a:spLocks noGrp="1"/>
          </p:cNvSpPr>
          <p:nvPr>
            <p:ph type="sldNum" sz="quarter" idx="12"/>
          </p:nvPr>
        </p:nvSpPr>
        <p:spPr/>
        <p:txBody>
          <a:bodyPr/>
          <a:lstStyle/>
          <a:p>
            <a:fld id="{48F19E39-9933-F648-B2F3-3AC17C0DC986}" type="slidenum">
              <a:rPr lang="en-US" smtClean="0">
                <a:solidFill>
                  <a:schemeClr val="bg1"/>
                </a:solidFill>
              </a:rPr>
              <a:t>16</a:t>
            </a:fld>
            <a:endParaRPr lang="en-US" dirty="0">
              <a:solidFill>
                <a:schemeClr val="bg1"/>
              </a:solidFill>
            </a:endParaRPr>
          </a:p>
        </p:txBody>
      </p:sp>
      <p:sp>
        <p:nvSpPr>
          <p:cNvPr id="5" name="TextBox 4">
            <a:extLst>
              <a:ext uri="{FF2B5EF4-FFF2-40B4-BE49-F238E27FC236}">
                <a16:creationId xmlns:a16="http://schemas.microsoft.com/office/drawing/2014/main" id="{2E29D061-5059-9CE8-72F3-A6CA8DEE7A1C}"/>
              </a:ext>
            </a:extLst>
          </p:cNvPr>
          <p:cNvSpPr txBox="1"/>
          <p:nvPr/>
        </p:nvSpPr>
        <p:spPr>
          <a:xfrm>
            <a:off x="596348" y="374273"/>
            <a:ext cx="11127823" cy="830997"/>
          </a:xfrm>
          <a:prstGeom prst="rect">
            <a:avLst/>
          </a:prstGeom>
          <a:noFill/>
        </p:spPr>
        <p:txBody>
          <a:bodyPr wrap="square" rtlCol="0">
            <a:spAutoFit/>
          </a:bodyPr>
          <a:lstStyle/>
          <a:p>
            <a:r>
              <a:rPr lang="en-US" sz="2800" b="1" dirty="0">
                <a:solidFill>
                  <a:srgbClr val="822334"/>
                </a:solidFill>
                <a:latin typeface="Inter" panose="02000503000000020004" pitchFamily="2" charset="0"/>
                <a:ea typeface="Inter" panose="02000503000000020004" pitchFamily="2" charset="0"/>
                <a:cs typeface="Inter" panose="02000503000000020004" pitchFamily="2" charset="0"/>
              </a:rPr>
              <a:t>DATA LAYER</a:t>
            </a:r>
            <a:b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br>
            <a:r>
              <a:rPr lang="en-US" sz="2000" i="0" dirty="0">
                <a:solidFill>
                  <a:srgbClr val="822334"/>
                </a:solidFill>
                <a:effectLst/>
                <a:latin typeface="Inter" panose="02000503000000020004" pitchFamily="2" charset="0"/>
                <a:ea typeface="Inter" panose="02000503000000020004" pitchFamily="2" charset="0"/>
                <a:cs typeface="Inter" panose="02000503000000020004" pitchFamily="2" charset="0"/>
              </a:rPr>
              <a:t>REDIS, POSTGRESQL, MEMGRAPH</a:t>
            </a:r>
          </a:p>
        </p:txBody>
      </p:sp>
      <p:sp>
        <p:nvSpPr>
          <p:cNvPr id="7" name="Footer Placeholder 10">
            <a:extLst>
              <a:ext uri="{FF2B5EF4-FFF2-40B4-BE49-F238E27FC236}">
                <a16:creationId xmlns:a16="http://schemas.microsoft.com/office/drawing/2014/main" id="{B4DE4646-B05A-024D-977B-B0B123CB08DD}"/>
              </a:ext>
            </a:extLst>
          </p:cNvPr>
          <p:cNvSpPr>
            <a:spLocks noGrp="1"/>
          </p:cNvSpPr>
          <p:nvPr>
            <p:ph type="ftr" sz="quarter" idx="11"/>
          </p:nvPr>
        </p:nvSpPr>
        <p:spPr>
          <a:xfrm>
            <a:off x="4566534" y="6356350"/>
            <a:ext cx="3058931" cy="365125"/>
          </a:xfrm>
        </p:spPr>
        <p:txBody>
          <a:bodyPr/>
          <a:lstStyle/>
          <a:p>
            <a:r>
              <a:rPr lang="en-US" dirty="0" err="1">
                <a:solidFill>
                  <a:schemeClr val="bg1"/>
                </a:solidFill>
                <a:latin typeface="Inter" panose="02000503000000020004" pitchFamily="2" charset="0"/>
                <a:ea typeface="Inter" panose="02000503000000020004" pitchFamily="2" charset="0"/>
                <a:cs typeface="Inter" panose="02000503000000020004" pitchFamily="2" charset="0"/>
              </a:rPr>
              <a:t>Cineca</a:t>
            </a:r>
            <a:r>
              <a:rPr lang="en-US" dirty="0">
                <a:solidFill>
                  <a:schemeClr val="bg1"/>
                </a:solidFill>
                <a:latin typeface="Inter" panose="02000503000000020004" pitchFamily="2" charset="0"/>
                <a:ea typeface="Inter" panose="02000503000000020004" pitchFamily="2" charset="0"/>
                <a:cs typeface="Inter" panose="02000503000000020004" pitchFamily="2" charset="0"/>
              </a:rPr>
              <a:t> Agentic Platform – Arman Feili</a:t>
            </a:r>
          </a:p>
        </p:txBody>
      </p:sp>
      <p:pic>
        <p:nvPicPr>
          <p:cNvPr id="8" name="Picture 7">
            <a:extLst>
              <a:ext uri="{FF2B5EF4-FFF2-40B4-BE49-F238E27FC236}">
                <a16:creationId xmlns:a16="http://schemas.microsoft.com/office/drawing/2014/main" id="{0D5DDDF1-4BD4-1FA9-B640-6DEF076085F9}"/>
              </a:ext>
            </a:extLst>
          </p:cNvPr>
          <p:cNvPicPr>
            <a:picLocks noChangeAspect="1"/>
          </p:cNvPicPr>
          <p:nvPr/>
        </p:nvPicPr>
        <p:blipFill>
          <a:blip r:embed="rId3"/>
          <a:stretch>
            <a:fillRect/>
          </a:stretch>
        </p:blipFill>
        <p:spPr>
          <a:xfrm>
            <a:off x="321777" y="6315552"/>
            <a:ext cx="435345" cy="435345"/>
          </a:xfrm>
          <a:prstGeom prst="rect">
            <a:avLst/>
          </a:prstGeom>
        </p:spPr>
      </p:pic>
      <p:pic>
        <p:nvPicPr>
          <p:cNvPr id="13" name="Picture 12">
            <a:extLst>
              <a:ext uri="{FF2B5EF4-FFF2-40B4-BE49-F238E27FC236}">
                <a16:creationId xmlns:a16="http://schemas.microsoft.com/office/drawing/2014/main" id="{495BAA09-7E07-4C99-0950-8ECA82A4EB33}"/>
              </a:ext>
            </a:extLst>
          </p:cNvPr>
          <p:cNvPicPr>
            <a:picLocks noChangeAspect="1"/>
          </p:cNvPicPr>
          <p:nvPr/>
        </p:nvPicPr>
        <p:blipFill>
          <a:blip r:embed="rId4"/>
          <a:stretch>
            <a:fillRect/>
          </a:stretch>
        </p:blipFill>
        <p:spPr>
          <a:xfrm>
            <a:off x="866134" y="6362629"/>
            <a:ext cx="1093241" cy="365125"/>
          </a:xfrm>
          <a:prstGeom prst="rect">
            <a:avLst/>
          </a:prstGeom>
        </p:spPr>
      </p:pic>
      <p:pic>
        <p:nvPicPr>
          <p:cNvPr id="16" name="Picture 15">
            <a:extLst>
              <a:ext uri="{FF2B5EF4-FFF2-40B4-BE49-F238E27FC236}">
                <a16:creationId xmlns:a16="http://schemas.microsoft.com/office/drawing/2014/main" id="{CC622712-804D-022A-0B5E-C9D157E1CC64}"/>
              </a:ext>
            </a:extLst>
          </p:cNvPr>
          <p:cNvPicPr>
            <a:picLocks noChangeAspect="1"/>
          </p:cNvPicPr>
          <p:nvPr/>
        </p:nvPicPr>
        <p:blipFill>
          <a:blip r:embed="rId5"/>
          <a:stretch>
            <a:fillRect/>
          </a:stretch>
        </p:blipFill>
        <p:spPr>
          <a:xfrm>
            <a:off x="5800216" y="377102"/>
            <a:ext cx="5931548" cy="985153"/>
          </a:xfrm>
          <a:prstGeom prst="rect">
            <a:avLst/>
          </a:prstGeom>
        </p:spPr>
      </p:pic>
      <p:sp>
        <p:nvSpPr>
          <p:cNvPr id="17" name="TextBox 16">
            <a:extLst>
              <a:ext uri="{FF2B5EF4-FFF2-40B4-BE49-F238E27FC236}">
                <a16:creationId xmlns:a16="http://schemas.microsoft.com/office/drawing/2014/main" id="{0AAAA507-4998-2AD4-8342-2A7ADCACAF1F}"/>
              </a:ext>
            </a:extLst>
          </p:cNvPr>
          <p:cNvSpPr txBox="1"/>
          <p:nvPr/>
        </p:nvSpPr>
        <p:spPr>
          <a:xfrm>
            <a:off x="596347" y="1576323"/>
            <a:ext cx="5499652" cy="3847207"/>
          </a:xfrm>
          <a:prstGeom prst="rect">
            <a:avLst/>
          </a:prstGeom>
          <a:noFill/>
        </p:spPr>
        <p:txBody>
          <a:bodyPr wrap="square" rtlCol="0">
            <a:spAutoFit/>
          </a:bodyPr>
          <a:lstStyle/>
          <a:p>
            <a:r>
              <a:rPr lang="en-US" b="1" dirty="0">
                <a:latin typeface="Inter" panose="02000503000000020004" pitchFamily="2" charset="0"/>
                <a:ea typeface="Inter" panose="02000503000000020004" pitchFamily="2" charset="0"/>
                <a:cs typeface="Inter" panose="02000503000000020004" pitchFamily="2" charset="0"/>
              </a:rPr>
              <a:t>Redis — Real-Time Runtime State</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Cache and sessions</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Tenant and model defaults</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Rate limits</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Job queues and progress events</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Cancellation and idempotency</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Circuit-breaker state</a:t>
            </a:r>
          </a:p>
          <a:p>
            <a:pPr>
              <a:buFont typeface="Arial" panose="020B0604020202020204" pitchFamily="34" charset="0"/>
              <a:buChar char="•"/>
            </a:pPr>
            <a:endParaRPr lang="en-US" sz="1600" dirty="0">
              <a:latin typeface="Inter" panose="02000503000000020004" pitchFamily="2" charset="0"/>
              <a:ea typeface="Inter" panose="02000503000000020004" pitchFamily="2" charset="0"/>
              <a:cs typeface="Inter" panose="02000503000000020004" pitchFamily="2" charset="0"/>
            </a:endParaRPr>
          </a:p>
          <a:p>
            <a:r>
              <a:rPr lang="en-US" b="1" dirty="0">
                <a:latin typeface="Inter" panose="02000503000000020004" pitchFamily="2" charset="0"/>
                <a:ea typeface="Inter" panose="02000503000000020004" pitchFamily="2" charset="0"/>
                <a:cs typeface="Inter" panose="02000503000000020004" pitchFamily="2" charset="0"/>
              </a:rPr>
              <a:t>PostgreSQL — Durable Platform State</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Tenants, sessions, runs, steps, jobs</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Job events and tool invocations</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Model and provider configuration</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Encrypted secrets</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Audit logs</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Idempotency records</a:t>
            </a:r>
          </a:p>
        </p:txBody>
      </p:sp>
      <p:sp>
        <p:nvSpPr>
          <p:cNvPr id="18" name="TextBox 17">
            <a:extLst>
              <a:ext uri="{FF2B5EF4-FFF2-40B4-BE49-F238E27FC236}">
                <a16:creationId xmlns:a16="http://schemas.microsoft.com/office/drawing/2014/main" id="{86F92460-C3F5-82EF-643C-713ACD5B5527}"/>
              </a:ext>
            </a:extLst>
          </p:cNvPr>
          <p:cNvSpPr txBox="1"/>
          <p:nvPr/>
        </p:nvSpPr>
        <p:spPr>
          <a:xfrm>
            <a:off x="6510129" y="1575836"/>
            <a:ext cx="5499652" cy="1600438"/>
          </a:xfrm>
          <a:prstGeom prst="rect">
            <a:avLst/>
          </a:prstGeom>
          <a:noFill/>
        </p:spPr>
        <p:txBody>
          <a:bodyPr wrap="square" rtlCol="0">
            <a:spAutoFit/>
          </a:bodyPr>
          <a:lstStyle/>
          <a:p>
            <a:r>
              <a:rPr lang="en-US" b="1" dirty="0" err="1">
                <a:latin typeface="Inter" panose="02000503000000020004" pitchFamily="2" charset="0"/>
                <a:ea typeface="Inter" panose="02000503000000020004" pitchFamily="2" charset="0"/>
                <a:cs typeface="Inter" panose="02000503000000020004" pitchFamily="2" charset="0"/>
              </a:rPr>
              <a:t>Memgraph</a:t>
            </a:r>
            <a:r>
              <a:rPr lang="en-US" b="1" dirty="0">
                <a:latin typeface="Inter" panose="02000503000000020004" pitchFamily="2" charset="0"/>
                <a:ea typeface="Inter" panose="02000503000000020004" pitchFamily="2" charset="0"/>
                <a:cs typeface="Inter" panose="02000503000000020004" pitchFamily="2" charset="0"/>
              </a:rPr>
              <a:t> — Bioinformatics Graph State</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Connected graph entities</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Users, institutions, tasks, files, datasets</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Genes, proteins, pathways, workflows, results</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Relationships: WORKS_AT, RUNS, INPUT, OUTPUT</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Cypher queries and graph metadata</a:t>
            </a:r>
          </a:p>
        </p:txBody>
      </p:sp>
      <p:pic>
        <p:nvPicPr>
          <p:cNvPr id="22" name="Picture 21">
            <a:extLst>
              <a:ext uri="{FF2B5EF4-FFF2-40B4-BE49-F238E27FC236}">
                <a16:creationId xmlns:a16="http://schemas.microsoft.com/office/drawing/2014/main" id="{A51BED8A-BD08-D048-EC60-3926908524A7}"/>
              </a:ext>
            </a:extLst>
          </p:cNvPr>
          <p:cNvPicPr>
            <a:picLocks noChangeAspect="1"/>
          </p:cNvPicPr>
          <p:nvPr/>
        </p:nvPicPr>
        <p:blipFill>
          <a:blip r:embed="rId6"/>
          <a:stretch>
            <a:fillRect/>
          </a:stretch>
        </p:blipFill>
        <p:spPr>
          <a:xfrm>
            <a:off x="6510129" y="3636076"/>
            <a:ext cx="5085524" cy="2176477"/>
          </a:xfrm>
          <a:prstGeom prst="rect">
            <a:avLst/>
          </a:prstGeom>
        </p:spPr>
      </p:pic>
    </p:spTree>
    <p:extLst>
      <p:ext uri="{BB962C8B-B14F-4D97-AF65-F5344CB8AC3E}">
        <p14:creationId xmlns:p14="http://schemas.microsoft.com/office/powerpoint/2010/main" val="30896742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A8728-E503-6C23-81A8-5E72E6DEBB05}"/>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CD8FD909-F859-1EB9-60A7-2E97F9FF5D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Slide Number Placeholder 11">
            <a:extLst>
              <a:ext uri="{FF2B5EF4-FFF2-40B4-BE49-F238E27FC236}">
                <a16:creationId xmlns:a16="http://schemas.microsoft.com/office/drawing/2014/main" id="{A7282E1F-2A5C-998B-5A17-F72CA3819CC1}"/>
              </a:ext>
            </a:extLst>
          </p:cNvPr>
          <p:cNvSpPr>
            <a:spLocks noGrp="1"/>
          </p:cNvSpPr>
          <p:nvPr>
            <p:ph type="sldNum" sz="quarter" idx="12"/>
          </p:nvPr>
        </p:nvSpPr>
        <p:spPr/>
        <p:txBody>
          <a:bodyPr/>
          <a:lstStyle/>
          <a:p>
            <a:fld id="{48F19E39-9933-F648-B2F3-3AC17C0DC986}" type="slidenum">
              <a:rPr lang="en-US" smtClean="0">
                <a:solidFill>
                  <a:schemeClr val="bg1"/>
                </a:solidFill>
              </a:rPr>
              <a:t>17</a:t>
            </a:fld>
            <a:endParaRPr lang="en-US" dirty="0">
              <a:solidFill>
                <a:schemeClr val="bg1"/>
              </a:solidFill>
            </a:endParaRPr>
          </a:p>
        </p:txBody>
      </p:sp>
      <p:sp>
        <p:nvSpPr>
          <p:cNvPr id="5" name="TextBox 4">
            <a:extLst>
              <a:ext uri="{FF2B5EF4-FFF2-40B4-BE49-F238E27FC236}">
                <a16:creationId xmlns:a16="http://schemas.microsoft.com/office/drawing/2014/main" id="{94DC69AD-7B7C-1AEE-FDFC-5B2B42BAC9DA}"/>
              </a:ext>
            </a:extLst>
          </p:cNvPr>
          <p:cNvSpPr txBox="1"/>
          <p:nvPr/>
        </p:nvSpPr>
        <p:spPr>
          <a:xfrm>
            <a:off x="596348" y="374273"/>
            <a:ext cx="11127823" cy="830997"/>
          </a:xfrm>
          <a:prstGeom prst="rect">
            <a:avLst/>
          </a:prstGeom>
          <a:noFill/>
        </p:spPr>
        <p:txBody>
          <a:bodyPr wrap="square" rtlCol="0">
            <a:spAutoFit/>
          </a:bodyPr>
          <a:lstStyle/>
          <a:p>
            <a:r>
              <a:rPr lang="en-US" sz="2800" b="1" dirty="0">
                <a:solidFill>
                  <a:srgbClr val="822334"/>
                </a:solidFill>
                <a:latin typeface="Inter" panose="02000503000000020004" pitchFamily="2" charset="0"/>
                <a:ea typeface="Inter" panose="02000503000000020004" pitchFamily="2" charset="0"/>
                <a:cs typeface="Inter" panose="02000503000000020004" pitchFamily="2" charset="0"/>
              </a:rPr>
              <a:t>BACKGROUND TASKS</a:t>
            </a:r>
            <a:b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br>
            <a:r>
              <a:rPr lang="en-US" sz="2000" dirty="0">
                <a:solidFill>
                  <a:srgbClr val="822334"/>
                </a:solidFill>
                <a:latin typeface="Inter" panose="02000503000000020004" pitchFamily="2" charset="0"/>
                <a:ea typeface="Inter" panose="02000503000000020004" pitchFamily="2" charset="0"/>
                <a:cs typeface="Inter" panose="02000503000000020004" pitchFamily="2" charset="0"/>
              </a:rPr>
              <a:t>Monitoring | Backups | Session Cleanup</a:t>
            </a:r>
          </a:p>
        </p:txBody>
      </p:sp>
      <p:sp>
        <p:nvSpPr>
          <p:cNvPr id="7" name="Footer Placeholder 10">
            <a:extLst>
              <a:ext uri="{FF2B5EF4-FFF2-40B4-BE49-F238E27FC236}">
                <a16:creationId xmlns:a16="http://schemas.microsoft.com/office/drawing/2014/main" id="{677CAB26-1C9F-136D-6A2D-C2E3B623E931}"/>
              </a:ext>
            </a:extLst>
          </p:cNvPr>
          <p:cNvSpPr>
            <a:spLocks noGrp="1"/>
          </p:cNvSpPr>
          <p:nvPr>
            <p:ph type="ftr" sz="quarter" idx="11"/>
          </p:nvPr>
        </p:nvSpPr>
        <p:spPr>
          <a:xfrm>
            <a:off x="4566534" y="6356350"/>
            <a:ext cx="3058931" cy="365125"/>
          </a:xfrm>
        </p:spPr>
        <p:txBody>
          <a:bodyPr/>
          <a:lstStyle/>
          <a:p>
            <a:r>
              <a:rPr lang="en-US" dirty="0" err="1">
                <a:solidFill>
                  <a:schemeClr val="bg1"/>
                </a:solidFill>
                <a:latin typeface="Inter" panose="02000503000000020004" pitchFamily="2" charset="0"/>
                <a:ea typeface="Inter" panose="02000503000000020004" pitchFamily="2" charset="0"/>
                <a:cs typeface="Inter" panose="02000503000000020004" pitchFamily="2" charset="0"/>
              </a:rPr>
              <a:t>Cineca</a:t>
            </a:r>
            <a:r>
              <a:rPr lang="en-US" dirty="0">
                <a:solidFill>
                  <a:schemeClr val="bg1"/>
                </a:solidFill>
                <a:latin typeface="Inter" panose="02000503000000020004" pitchFamily="2" charset="0"/>
                <a:ea typeface="Inter" panose="02000503000000020004" pitchFamily="2" charset="0"/>
                <a:cs typeface="Inter" panose="02000503000000020004" pitchFamily="2" charset="0"/>
              </a:rPr>
              <a:t> Agentic Platform – Arman Feili</a:t>
            </a:r>
          </a:p>
        </p:txBody>
      </p:sp>
      <p:pic>
        <p:nvPicPr>
          <p:cNvPr id="8" name="Picture 7">
            <a:extLst>
              <a:ext uri="{FF2B5EF4-FFF2-40B4-BE49-F238E27FC236}">
                <a16:creationId xmlns:a16="http://schemas.microsoft.com/office/drawing/2014/main" id="{AD1E10CB-FCD3-920D-7A6C-02A4B2B15152}"/>
              </a:ext>
            </a:extLst>
          </p:cNvPr>
          <p:cNvPicPr>
            <a:picLocks noChangeAspect="1"/>
          </p:cNvPicPr>
          <p:nvPr/>
        </p:nvPicPr>
        <p:blipFill>
          <a:blip r:embed="rId3"/>
          <a:stretch>
            <a:fillRect/>
          </a:stretch>
        </p:blipFill>
        <p:spPr>
          <a:xfrm>
            <a:off x="321777" y="6315552"/>
            <a:ext cx="435345" cy="435345"/>
          </a:xfrm>
          <a:prstGeom prst="rect">
            <a:avLst/>
          </a:prstGeom>
        </p:spPr>
      </p:pic>
      <p:pic>
        <p:nvPicPr>
          <p:cNvPr id="9" name="Picture 8">
            <a:extLst>
              <a:ext uri="{FF2B5EF4-FFF2-40B4-BE49-F238E27FC236}">
                <a16:creationId xmlns:a16="http://schemas.microsoft.com/office/drawing/2014/main" id="{95135195-F60C-DF25-981F-CF81B56C68A2}"/>
              </a:ext>
            </a:extLst>
          </p:cNvPr>
          <p:cNvPicPr>
            <a:picLocks noChangeAspect="1"/>
          </p:cNvPicPr>
          <p:nvPr/>
        </p:nvPicPr>
        <p:blipFill>
          <a:blip r:embed="rId4"/>
          <a:stretch>
            <a:fillRect/>
          </a:stretch>
        </p:blipFill>
        <p:spPr>
          <a:xfrm>
            <a:off x="866134" y="6362629"/>
            <a:ext cx="1093241" cy="365125"/>
          </a:xfrm>
          <a:prstGeom prst="rect">
            <a:avLst/>
          </a:prstGeom>
        </p:spPr>
      </p:pic>
      <p:pic>
        <p:nvPicPr>
          <p:cNvPr id="17" name="Picture 16">
            <a:extLst>
              <a:ext uri="{FF2B5EF4-FFF2-40B4-BE49-F238E27FC236}">
                <a16:creationId xmlns:a16="http://schemas.microsoft.com/office/drawing/2014/main" id="{6E27D728-AF1D-74E5-ECB4-E9975DD8CB60}"/>
              </a:ext>
            </a:extLst>
          </p:cNvPr>
          <p:cNvPicPr>
            <a:picLocks noChangeAspect="1"/>
          </p:cNvPicPr>
          <p:nvPr/>
        </p:nvPicPr>
        <p:blipFill>
          <a:blip r:embed="rId5"/>
          <a:stretch>
            <a:fillRect/>
          </a:stretch>
        </p:blipFill>
        <p:spPr>
          <a:xfrm>
            <a:off x="5835714" y="467404"/>
            <a:ext cx="5931549" cy="644733"/>
          </a:xfrm>
          <a:prstGeom prst="rect">
            <a:avLst/>
          </a:prstGeom>
        </p:spPr>
      </p:pic>
      <p:sp>
        <p:nvSpPr>
          <p:cNvPr id="18" name="TextBox 17">
            <a:extLst>
              <a:ext uri="{FF2B5EF4-FFF2-40B4-BE49-F238E27FC236}">
                <a16:creationId xmlns:a16="http://schemas.microsoft.com/office/drawing/2014/main" id="{A4FA61C0-698B-D3A8-5067-D75B42354A8F}"/>
              </a:ext>
            </a:extLst>
          </p:cNvPr>
          <p:cNvSpPr txBox="1"/>
          <p:nvPr/>
        </p:nvSpPr>
        <p:spPr>
          <a:xfrm>
            <a:off x="596347" y="1575836"/>
            <a:ext cx="5085525" cy="3354765"/>
          </a:xfrm>
          <a:prstGeom prst="rect">
            <a:avLst/>
          </a:prstGeom>
          <a:noFill/>
        </p:spPr>
        <p:txBody>
          <a:bodyPr wrap="square" rtlCol="0">
            <a:spAutoFit/>
          </a:bodyPr>
          <a:lstStyle/>
          <a:p>
            <a:r>
              <a:rPr lang="en-US" b="1" dirty="0">
                <a:latin typeface="Inter" panose="02000503000000020004" pitchFamily="2" charset="0"/>
                <a:ea typeface="Inter" panose="02000503000000020004" pitchFamily="2" charset="0"/>
                <a:cs typeface="Inter" panose="02000503000000020004" pitchFamily="2" charset="0"/>
              </a:rPr>
              <a:t>Background Automation</a:t>
            </a:r>
          </a:p>
          <a:p>
            <a:pPr marL="285750" indent="-285750">
              <a:buFont typeface="Arial" panose="020B0604020202020204" pitchFamily="34" charset="0"/>
              <a:buChar char="•"/>
            </a:pPr>
            <a:r>
              <a:rPr lang="en-US" sz="1600" dirty="0" err="1">
                <a:latin typeface="Inter" panose="02000503000000020004" pitchFamily="2" charset="0"/>
                <a:ea typeface="Inter" panose="02000503000000020004" pitchFamily="2" charset="0"/>
                <a:cs typeface="Inter" panose="02000503000000020004" pitchFamily="2" charset="0"/>
              </a:rPr>
              <a:t>APScheduler</a:t>
            </a:r>
            <a:endParaRPr lang="en-US" sz="1600" dirty="0">
              <a:latin typeface="Inter" panose="02000503000000020004" pitchFamily="2" charset="0"/>
              <a:ea typeface="Inter" panose="02000503000000020004" pitchFamily="2" charset="0"/>
              <a:cs typeface="Inter" panose="02000503000000020004" pitchFamily="2" charset="0"/>
            </a:endParaRP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Health checks</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Session and cache cleanup</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Completed job cleanup</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Daily backups</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Provider monitoring</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Circuit-breaker updates</a:t>
            </a:r>
          </a:p>
          <a:p>
            <a:pPr marL="285750" indent="-285750">
              <a:buFont typeface="Arial" panose="020B0604020202020204" pitchFamily="34" charset="0"/>
              <a:buChar char="•"/>
            </a:pPr>
            <a:endParaRPr lang="en-US" sz="1600" dirty="0">
              <a:latin typeface="Inter" panose="02000503000000020004" pitchFamily="2" charset="0"/>
              <a:ea typeface="Inter" panose="02000503000000020004" pitchFamily="2" charset="0"/>
              <a:cs typeface="Inter" panose="02000503000000020004" pitchFamily="2" charset="0"/>
            </a:endParaRPr>
          </a:p>
          <a:p>
            <a:r>
              <a:rPr lang="en-US" b="1" dirty="0">
                <a:latin typeface="Inter" panose="02000503000000020004" pitchFamily="2" charset="0"/>
                <a:ea typeface="Inter" panose="02000503000000020004" pitchFamily="2" charset="0"/>
                <a:cs typeface="Inter" panose="02000503000000020004" pitchFamily="2" charset="0"/>
              </a:rPr>
              <a:t>Observability Stack</a:t>
            </a:r>
          </a:p>
          <a:p>
            <a:pPr marL="285750" indent="-285750">
              <a:buFont typeface="Arial" panose="020B0604020202020204" pitchFamily="34" charset="0"/>
              <a:buChar char="•"/>
            </a:pPr>
            <a:r>
              <a:rPr lang="en-US" sz="1600" b="1" dirty="0" err="1">
                <a:latin typeface="Inter" panose="02000503000000020004" pitchFamily="2" charset="0"/>
                <a:ea typeface="Inter" panose="02000503000000020004" pitchFamily="2" charset="0"/>
                <a:cs typeface="Inter" panose="02000503000000020004" pitchFamily="2" charset="0"/>
              </a:rPr>
              <a:t>OpenTelemetry</a:t>
            </a:r>
            <a:r>
              <a:rPr lang="en-US" sz="1600" dirty="0">
                <a:latin typeface="Inter" panose="02000503000000020004" pitchFamily="2" charset="0"/>
                <a:ea typeface="Inter" panose="02000503000000020004" pitchFamily="2" charset="0"/>
                <a:cs typeface="Inter" panose="02000503000000020004" pitchFamily="2" charset="0"/>
              </a:rPr>
              <a:t> — end-to-end traces</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Prometheus</a:t>
            </a:r>
            <a:r>
              <a:rPr lang="en-US" sz="1600" dirty="0">
                <a:latin typeface="Inter" panose="02000503000000020004" pitchFamily="2" charset="0"/>
                <a:ea typeface="Inter" panose="02000503000000020004" pitchFamily="2" charset="0"/>
                <a:cs typeface="Inter" panose="02000503000000020004" pitchFamily="2" charset="0"/>
              </a:rPr>
              <a:t> — platform and worker metrics</a:t>
            </a:r>
          </a:p>
          <a:p>
            <a:pPr marL="285750" indent="-285750">
              <a:buFont typeface="Arial" panose="020B0604020202020204" pitchFamily="34" charset="0"/>
              <a:buChar char="•"/>
            </a:pPr>
            <a:r>
              <a:rPr lang="en-US" sz="1600" b="1" dirty="0">
                <a:latin typeface="Inter" panose="02000503000000020004" pitchFamily="2" charset="0"/>
                <a:ea typeface="Inter" panose="02000503000000020004" pitchFamily="2" charset="0"/>
                <a:cs typeface="Inter" panose="02000503000000020004" pitchFamily="2" charset="0"/>
              </a:rPr>
              <a:t>Grafana</a:t>
            </a:r>
            <a:r>
              <a:rPr lang="en-US" sz="1600" dirty="0">
                <a:latin typeface="Inter" panose="02000503000000020004" pitchFamily="2" charset="0"/>
                <a:ea typeface="Inter" panose="02000503000000020004" pitchFamily="2" charset="0"/>
                <a:cs typeface="Inter" panose="02000503000000020004" pitchFamily="2" charset="0"/>
              </a:rPr>
              <a:t> — dashboards and operational views</a:t>
            </a:r>
          </a:p>
        </p:txBody>
      </p:sp>
      <p:sp>
        <p:nvSpPr>
          <p:cNvPr id="19" name="TextBox 18">
            <a:extLst>
              <a:ext uri="{FF2B5EF4-FFF2-40B4-BE49-F238E27FC236}">
                <a16:creationId xmlns:a16="http://schemas.microsoft.com/office/drawing/2014/main" id="{DAE612A8-FBAC-27B1-287A-857B550D06BE}"/>
              </a:ext>
            </a:extLst>
          </p:cNvPr>
          <p:cNvSpPr txBox="1"/>
          <p:nvPr/>
        </p:nvSpPr>
        <p:spPr>
          <a:xfrm>
            <a:off x="6510129" y="1574635"/>
            <a:ext cx="5214041" cy="1846659"/>
          </a:xfrm>
          <a:prstGeom prst="rect">
            <a:avLst/>
          </a:prstGeom>
          <a:noFill/>
        </p:spPr>
        <p:txBody>
          <a:bodyPr wrap="square" rtlCol="0">
            <a:spAutoFit/>
          </a:bodyPr>
          <a:lstStyle/>
          <a:p>
            <a:r>
              <a:rPr lang="en-US" b="1" dirty="0">
                <a:latin typeface="Inter" panose="02000503000000020004" pitchFamily="2" charset="0"/>
                <a:ea typeface="Inter" panose="02000503000000020004" pitchFamily="2" charset="0"/>
                <a:cs typeface="Inter" panose="02000503000000020004" pitchFamily="2" charset="0"/>
              </a:rPr>
              <a:t>Operational Value</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System health visibility</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Slow request diagnosis</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Failed tool detection</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Provider health monitoring</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Queue depth and cost tracking</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Recovery and debugging support</a:t>
            </a:r>
          </a:p>
        </p:txBody>
      </p:sp>
      <p:pic>
        <p:nvPicPr>
          <p:cNvPr id="23" name="Picture 22">
            <a:extLst>
              <a:ext uri="{FF2B5EF4-FFF2-40B4-BE49-F238E27FC236}">
                <a16:creationId xmlns:a16="http://schemas.microsoft.com/office/drawing/2014/main" id="{A899459F-BBF7-2A21-D90E-F769DEC968B0}"/>
              </a:ext>
            </a:extLst>
          </p:cNvPr>
          <p:cNvPicPr>
            <a:picLocks noChangeAspect="1"/>
          </p:cNvPicPr>
          <p:nvPr/>
        </p:nvPicPr>
        <p:blipFill>
          <a:blip r:embed="rId6"/>
          <a:stretch>
            <a:fillRect/>
          </a:stretch>
        </p:blipFill>
        <p:spPr>
          <a:xfrm>
            <a:off x="6510128" y="3695358"/>
            <a:ext cx="4843672" cy="2124135"/>
          </a:xfrm>
          <a:prstGeom prst="rect">
            <a:avLst/>
          </a:prstGeom>
        </p:spPr>
      </p:pic>
    </p:spTree>
    <p:extLst>
      <p:ext uri="{BB962C8B-B14F-4D97-AF65-F5344CB8AC3E}">
        <p14:creationId xmlns:p14="http://schemas.microsoft.com/office/powerpoint/2010/main" val="4575502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F3B5A-5433-244C-33C9-FF053D9BFFA5}"/>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389FA6AB-26D5-B1BF-212F-097D324D75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Slide Number Placeholder 11">
            <a:extLst>
              <a:ext uri="{FF2B5EF4-FFF2-40B4-BE49-F238E27FC236}">
                <a16:creationId xmlns:a16="http://schemas.microsoft.com/office/drawing/2014/main" id="{730A26C9-0CB7-FA04-00E7-70D362701508}"/>
              </a:ext>
            </a:extLst>
          </p:cNvPr>
          <p:cNvSpPr>
            <a:spLocks noGrp="1"/>
          </p:cNvSpPr>
          <p:nvPr>
            <p:ph type="sldNum" sz="quarter" idx="12"/>
          </p:nvPr>
        </p:nvSpPr>
        <p:spPr/>
        <p:txBody>
          <a:bodyPr/>
          <a:lstStyle/>
          <a:p>
            <a:fld id="{48F19E39-9933-F648-B2F3-3AC17C0DC986}" type="slidenum">
              <a:rPr lang="en-US" smtClean="0">
                <a:solidFill>
                  <a:schemeClr val="bg1"/>
                </a:solidFill>
              </a:rPr>
              <a:t>18</a:t>
            </a:fld>
            <a:endParaRPr lang="en-US" dirty="0">
              <a:solidFill>
                <a:schemeClr val="bg1"/>
              </a:solidFill>
            </a:endParaRPr>
          </a:p>
        </p:txBody>
      </p:sp>
      <p:sp>
        <p:nvSpPr>
          <p:cNvPr id="5" name="TextBox 4">
            <a:extLst>
              <a:ext uri="{FF2B5EF4-FFF2-40B4-BE49-F238E27FC236}">
                <a16:creationId xmlns:a16="http://schemas.microsoft.com/office/drawing/2014/main" id="{D71CA456-FAF7-9442-3D6A-0F99F2B00039}"/>
              </a:ext>
            </a:extLst>
          </p:cNvPr>
          <p:cNvSpPr txBox="1"/>
          <p:nvPr/>
        </p:nvSpPr>
        <p:spPr>
          <a:xfrm>
            <a:off x="596348" y="374273"/>
            <a:ext cx="11127823" cy="830997"/>
          </a:xfrm>
          <a:prstGeom prst="rect">
            <a:avLst/>
          </a:prstGeom>
          <a:noFill/>
        </p:spPr>
        <p:txBody>
          <a:bodyPr wrap="square" rtlCol="0">
            <a:spAutoFit/>
          </a:bodyPr>
          <a:lstStyle/>
          <a:p>
            <a:r>
              <a:rPr lang="en-US" sz="2800" b="1" dirty="0">
                <a:solidFill>
                  <a:srgbClr val="822334"/>
                </a:solidFill>
                <a:latin typeface="Inter" panose="02000503000000020004" pitchFamily="2" charset="0"/>
                <a:ea typeface="Inter" panose="02000503000000020004" pitchFamily="2" charset="0"/>
                <a:cs typeface="Inter" panose="02000503000000020004" pitchFamily="2" charset="0"/>
              </a:rPr>
              <a:t>VALIDATION &amp; RESULTS</a:t>
            </a:r>
            <a:b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br>
            <a:r>
              <a:rPr lang="en-US" sz="2000" dirty="0">
                <a:solidFill>
                  <a:srgbClr val="822334"/>
                </a:solidFill>
                <a:latin typeface="Inter" panose="02000503000000020004" pitchFamily="2" charset="0"/>
                <a:ea typeface="Inter" panose="02000503000000020004" pitchFamily="2" charset="0"/>
                <a:cs typeface="Inter" panose="02000503000000020004" pitchFamily="2" charset="0"/>
              </a:rPr>
              <a:t>End-to-end verification</a:t>
            </a:r>
          </a:p>
        </p:txBody>
      </p:sp>
      <p:sp>
        <p:nvSpPr>
          <p:cNvPr id="14" name="Footer Placeholder 10">
            <a:extLst>
              <a:ext uri="{FF2B5EF4-FFF2-40B4-BE49-F238E27FC236}">
                <a16:creationId xmlns:a16="http://schemas.microsoft.com/office/drawing/2014/main" id="{42F6BA2E-B419-1452-8139-F7DD5F3271CF}"/>
              </a:ext>
            </a:extLst>
          </p:cNvPr>
          <p:cNvSpPr>
            <a:spLocks noGrp="1"/>
          </p:cNvSpPr>
          <p:nvPr>
            <p:ph type="ftr" sz="quarter" idx="11"/>
          </p:nvPr>
        </p:nvSpPr>
        <p:spPr>
          <a:xfrm>
            <a:off x="4566534" y="6356350"/>
            <a:ext cx="3058931" cy="365125"/>
          </a:xfrm>
        </p:spPr>
        <p:txBody>
          <a:bodyPr/>
          <a:lstStyle/>
          <a:p>
            <a:r>
              <a:rPr lang="en-US" dirty="0" err="1">
                <a:solidFill>
                  <a:schemeClr val="bg1"/>
                </a:solidFill>
                <a:latin typeface="Inter" panose="02000503000000020004" pitchFamily="2" charset="0"/>
                <a:ea typeface="Inter" panose="02000503000000020004" pitchFamily="2" charset="0"/>
                <a:cs typeface="Inter" panose="02000503000000020004" pitchFamily="2" charset="0"/>
              </a:rPr>
              <a:t>Cineca</a:t>
            </a:r>
            <a:r>
              <a:rPr lang="en-US" dirty="0">
                <a:solidFill>
                  <a:schemeClr val="bg1"/>
                </a:solidFill>
                <a:latin typeface="Inter" panose="02000503000000020004" pitchFamily="2" charset="0"/>
                <a:ea typeface="Inter" panose="02000503000000020004" pitchFamily="2" charset="0"/>
                <a:cs typeface="Inter" panose="02000503000000020004" pitchFamily="2" charset="0"/>
              </a:rPr>
              <a:t> Agentic Platform – Arman Feili</a:t>
            </a:r>
          </a:p>
        </p:txBody>
      </p:sp>
      <p:pic>
        <p:nvPicPr>
          <p:cNvPr id="15" name="Picture 14">
            <a:extLst>
              <a:ext uri="{FF2B5EF4-FFF2-40B4-BE49-F238E27FC236}">
                <a16:creationId xmlns:a16="http://schemas.microsoft.com/office/drawing/2014/main" id="{C800A263-9A54-A5C9-90BD-7FB7202AA509}"/>
              </a:ext>
            </a:extLst>
          </p:cNvPr>
          <p:cNvPicPr>
            <a:picLocks noChangeAspect="1"/>
          </p:cNvPicPr>
          <p:nvPr/>
        </p:nvPicPr>
        <p:blipFill>
          <a:blip r:embed="rId3"/>
          <a:stretch>
            <a:fillRect/>
          </a:stretch>
        </p:blipFill>
        <p:spPr>
          <a:xfrm>
            <a:off x="321777" y="6315552"/>
            <a:ext cx="435345" cy="435345"/>
          </a:xfrm>
          <a:prstGeom prst="rect">
            <a:avLst/>
          </a:prstGeom>
        </p:spPr>
      </p:pic>
      <p:pic>
        <p:nvPicPr>
          <p:cNvPr id="16" name="Picture 15">
            <a:extLst>
              <a:ext uri="{FF2B5EF4-FFF2-40B4-BE49-F238E27FC236}">
                <a16:creationId xmlns:a16="http://schemas.microsoft.com/office/drawing/2014/main" id="{8E4F250B-6E32-1D2A-558C-2738D52AD97F}"/>
              </a:ext>
            </a:extLst>
          </p:cNvPr>
          <p:cNvPicPr>
            <a:picLocks noChangeAspect="1"/>
          </p:cNvPicPr>
          <p:nvPr/>
        </p:nvPicPr>
        <p:blipFill>
          <a:blip r:embed="rId4"/>
          <a:stretch>
            <a:fillRect/>
          </a:stretch>
        </p:blipFill>
        <p:spPr>
          <a:xfrm>
            <a:off x="866134" y="6362629"/>
            <a:ext cx="1093241" cy="365125"/>
          </a:xfrm>
          <a:prstGeom prst="rect">
            <a:avLst/>
          </a:prstGeom>
        </p:spPr>
      </p:pic>
      <p:sp>
        <p:nvSpPr>
          <p:cNvPr id="17" name="TextBox 16">
            <a:extLst>
              <a:ext uri="{FF2B5EF4-FFF2-40B4-BE49-F238E27FC236}">
                <a16:creationId xmlns:a16="http://schemas.microsoft.com/office/drawing/2014/main" id="{1CF3BCE5-499F-99A8-B12A-75F78B0EE2CA}"/>
              </a:ext>
            </a:extLst>
          </p:cNvPr>
          <p:cNvSpPr txBox="1"/>
          <p:nvPr/>
        </p:nvSpPr>
        <p:spPr>
          <a:xfrm>
            <a:off x="596347" y="1581293"/>
            <a:ext cx="10999305" cy="2154436"/>
          </a:xfrm>
          <a:prstGeom prst="rect">
            <a:avLst/>
          </a:prstGeom>
          <a:noFill/>
        </p:spPr>
        <p:txBody>
          <a:bodyPr wrap="square" rtlCol="0">
            <a:spAutoFit/>
          </a:bodyPr>
          <a:lstStyle/>
          <a:p>
            <a:r>
              <a:rPr lang="en-US" b="1" dirty="0">
                <a:latin typeface="Inter" panose="02000503000000020004" pitchFamily="2" charset="0"/>
                <a:ea typeface="Inter" panose="02000503000000020004" pitchFamily="2" charset="0"/>
                <a:cs typeface="Inter" panose="02000503000000020004" pitchFamily="2" charset="0"/>
              </a:rPr>
              <a:t>How was the platform validated?</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1,000+ automated tests for core logic and E2E workflows</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Verified lifecycle, async execution, streaming, cancellation, RBAC, tenancy, and guards</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Full </a:t>
            </a:r>
            <a:r>
              <a:rPr lang="en-US" sz="1600" dirty="0" err="1">
                <a:latin typeface="Inter" panose="02000503000000020004" pitchFamily="2" charset="0"/>
                <a:ea typeface="Inter" panose="02000503000000020004" pitchFamily="2" charset="0"/>
                <a:cs typeface="Inter" panose="02000503000000020004" pitchFamily="2" charset="0"/>
              </a:rPr>
              <a:t>NL→Graph</a:t>
            </a:r>
            <a:r>
              <a:rPr lang="en-US" sz="1600" dirty="0">
                <a:latin typeface="Inter" panose="02000503000000020004" pitchFamily="2" charset="0"/>
                <a:ea typeface="Inter" panose="02000503000000020004" pitchFamily="2" charset="0"/>
                <a:cs typeface="Inter" panose="02000503000000020004" pitchFamily="2" charset="0"/>
              </a:rPr>
              <a:t> path tested:</a:t>
            </a:r>
            <a:br>
              <a:rPr lang="en-US" sz="1600" dirty="0">
                <a:latin typeface="Inter" panose="02000503000000020004" pitchFamily="2" charset="0"/>
                <a:ea typeface="Inter" panose="02000503000000020004" pitchFamily="2" charset="0"/>
                <a:cs typeface="Inter" panose="02000503000000020004" pitchFamily="2" charset="0"/>
              </a:rPr>
            </a:br>
            <a:r>
              <a:rPr lang="en-US" sz="1600" dirty="0">
                <a:latin typeface="Inter" panose="02000503000000020004" pitchFamily="2" charset="0"/>
                <a:ea typeface="Inter" panose="02000503000000020004" pitchFamily="2" charset="0"/>
                <a:cs typeface="Inter" panose="02000503000000020004" pitchFamily="2" charset="0"/>
              </a:rPr>
              <a:t>Natural language → GRAPH intent → Cypher generation → safety validation → </a:t>
            </a:r>
            <a:r>
              <a:rPr lang="en-US" sz="1600" dirty="0" err="1">
                <a:latin typeface="Inter" panose="02000503000000020004" pitchFamily="2" charset="0"/>
                <a:ea typeface="Inter" panose="02000503000000020004" pitchFamily="2" charset="0"/>
                <a:cs typeface="Inter" panose="02000503000000020004" pitchFamily="2" charset="0"/>
              </a:rPr>
              <a:t>Memgraph</a:t>
            </a:r>
            <a:r>
              <a:rPr lang="en-US" sz="1600" dirty="0">
                <a:latin typeface="Inter" panose="02000503000000020004" pitchFamily="2" charset="0"/>
                <a:ea typeface="Inter" panose="02000503000000020004" pitchFamily="2" charset="0"/>
                <a:cs typeface="Inter" panose="02000503000000020004" pitchFamily="2" charset="0"/>
              </a:rPr>
              <a:t> execution → final answer</a:t>
            </a:r>
          </a:p>
          <a:p>
            <a:endParaRPr lang="en-US" b="1" dirty="0">
              <a:latin typeface="Inter" panose="02000503000000020004" pitchFamily="2" charset="0"/>
              <a:ea typeface="Inter" panose="02000503000000020004" pitchFamily="2" charset="0"/>
              <a:cs typeface="Inter" panose="02000503000000020004" pitchFamily="2" charset="0"/>
            </a:endParaRPr>
          </a:p>
          <a:p>
            <a:r>
              <a:rPr lang="en-US" b="1" dirty="0">
                <a:latin typeface="Inter" panose="02000503000000020004" pitchFamily="2" charset="0"/>
                <a:ea typeface="Inter" panose="02000503000000020004" pitchFamily="2" charset="0"/>
                <a:cs typeface="Inter" panose="02000503000000020004" pitchFamily="2" charset="0"/>
              </a:rPr>
              <a:t>Example:</a:t>
            </a:r>
          </a:p>
        </p:txBody>
      </p:sp>
      <p:sp>
        <p:nvSpPr>
          <p:cNvPr id="18" name="TextBox 17">
            <a:extLst>
              <a:ext uri="{FF2B5EF4-FFF2-40B4-BE49-F238E27FC236}">
                <a16:creationId xmlns:a16="http://schemas.microsoft.com/office/drawing/2014/main" id="{23CC8F93-4282-6CE1-EE66-88CE3DCF5EA5}"/>
              </a:ext>
            </a:extLst>
          </p:cNvPr>
          <p:cNvSpPr txBox="1"/>
          <p:nvPr/>
        </p:nvSpPr>
        <p:spPr>
          <a:xfrm>
            <a:off x="2219031" y="3884038"/>
            <a:ext cx="7882456" cy="2031325"/>
          </a:xfrm>
          <a:prstGeom prst="rect">
            <a:avLst/>
          </a:prstGeom>
          <a:noFill/>
        </p:spPr>
        <p:txBody>
          <a:bodyPr wrap="square">
            <a:spAutoFit/>
          </a:bodyPr>
          <a:lstStyle/>
          <a:p>
            <a:pPr algn="just"/>
            <a:r>
              <a:rPr lang="en-US" sz="1400" b="0" dirty="0">
                <a:solidFill>
                  <a:srgbClr val="A31515"/>
                </a:solidFill>
                <a:effectLst/>
                <a:latin typeface="Menlo" panose="020B0609030804020204" pitchFamily="49" charset="0"/>
              </a:rPr>
              <a:t>"Count Blast nodes grouped by presence of </a:t>
            </a:r>
            <a:r>
              <a:rPr lang="en-US" sz="1400" b="0" dirty="0" err="1">
                <a:solidFill>
                  <a:srgbClr val="A31515"/>
                </a:solidFill>
                <a:effectLst/>
                <a:latin typeface="Menlo" panose="020B0609030804020204" pitchFamily="49" charset="0"/>
              </a:rPr>
              <a:t>blast_version</a:t>
            </a:r>
            <a:r>
              <a:rPr lang="en-US" sz="1400" b="0" dirty="0">
                <a:solidFill>
                  <a:srgbClr val="A31515"/>
                </a:solidFill>
                <a:effectLst/>
                <a:latin typeface="Menlo" panose="020B0609030804020204" pitchFamily="49" charset="0"/>
              </a:rPr>
              <a:t>"</a:t>
            </a:r>
            <a:endParaRPr lang="en-US" sz="1400" dirty="0">
              <a:solidFill>
                <a:srgbClr val="A31515"/>
              </a:solidFill>
              <a:latin typeface="Menlo" panose="020B0609030804020204" pitchFamily="49" charset="0"/>
            </a:endParaRPr>
          </a:p>
          <a:p>
            <a:pPr algn="just"/>
            <a:r>
              <a:rPr lang="en-US" sz="1400" dirty="0">
                <a:solidFill>
                  <a:srgbClr val="098658"/>
                </a:solidFill>
                <a:latin typeface="Menlo" panose="020B0609030804020204" pitchFamily="49" charset="0"/>
              </a:rPr>
              <a:t>1</a:t>
            </a:r>
            <a:r>
              <a:rPr lang="en-US" sz="1400" b="0" dirty="0">
                <a:solidFill>
                  <a:srgbClr val="000000"/>
                </a:solidFill>
                <a:effectLst/>
                <a:latin typeface="Menlo" panose="020B0609030804020204" pitchFamily="49" charset="0"/>
              </a:rPr>
              <a:t>. Classify intent → GRAPH </a:t>
            </a:r>
          </a:p>
          <a:p>
            <a:pPr algn="just"/>
            <a:r>
              <a:rPr lang="en-US" sz="1400" dirty="0">
                <a:solidFill>
                  <a:srgbClr val="098658"/>
                </a:solidFill>
                <a:latin typeface="Menlo" panose="020B0609030804020204" pitchFamily="49" charset="0"/>
              </a:rPr>
              <a:t>2</a:t>
            </a:r>
            <a:r>
              <a:rPr lang="en-US" sz="1400" b="0" dirty="0">
                <a:solidFill>
                  <a:srgbClr val="000000"/>
                </a:solidFill>
                <a:effectLst/>
                <a:latin typeface="Menlo" panose="020B0609030804020204" pitchFamily="49" charset="0"/>
              </a:rPr>
              <a:t>. Generate Cypher→ </a:t>
            </a:r>
          </a:p>
          <a:p>
            <a:pPr algn="just"/>
            <a:r>
              <a:rPr lang="en-US" sz="1400" b="0" dirty="0">
                <a:solidFill>
                  <a:srgbClr val="008000"/>
                </a:solidFill>
                <a:effectLst/>
                <a:latin typeface="Menlo" panose="020B0609030804020204" pitchFamily="49" charset="0"/>
              </a:rPr>
              <a:t>MATCH (</a:t>
            </a:r>
            <a:r>
              <a:rPr lang="en-US" sz="1400" b="0" dirty="0" err="1">
                <a:solidFill>
                  <a:srgbClr val="008000"/>
                </a:solidFill>
                <a:effectLst/>
                <a:latin typeface="Menlo" panose="020B0609030804020204" pitchFamily="49" charset="0"/>
              </a:rPr>
              <a:t>b:Blast</a:t>
            </a:r>
            <a:r>
              <a:rPr lang="en-US" sz="1400" b="0" dirty="0">
                <a:solidFill>
                  <a:srgbClr val="008000"/>
                </a:solidFill>
                <a:effectLst/>
                <a:latin typeface="Menlo" panose="020B0609030804020204" pitchFamily="49" charset="0"/>
              </a:rPr>
              <a:t>) RETURN </a:t>
            </a:r>
            <a:r>
              <a:rPr lang="en-US" sz="1400" b="0" dirty="0" err="1">
                <a:solidFill>
                  <a:srgbClr val="008000"/>
                </a:solidFill>
                <a:effectLst/>
                <a:latin typeface="Menlo" panose="020B0609030804020204" pitchFamily="49" charset="0"/>
              </a:rPr>
              <a:t>b.blast_version</a:t>
            </a:r>
            <a:r>
              <a:rPr lang="en-US" sz="1400" b="0" dirty="0">
                <a:solidFill>
                  <a:srgbClr val="008000"/>
                </a:solidFill>
                <a:effectLst/>
                <a:latin typeface="Menlo" panose="020B0609030804020204" pitchFamily="49" charset="0"/>
              </a:rPr>
              <a:t> IS NOT NULL AS </a:t>
            </a:r>
            <a:r>
              <a:rPr lang="en-US" sz="1400" b="0" dirty="0" err="1">
                <a:solidFill>
                  <a:srgbClr val="008000"/>
                </a:solidFill>
                <a:effectLst/>
                <a:latin typeface="Menlo" panose="020B0609030804020204" pitchFamily="49" charset="0"/>
              </a:rPr>
              <a:t>has_blast_version</a:t>
            </a:r>
            <a:r>
              <a:rPr lang="en-US" sz="1400" b="0" dirty="0">
                <a:solidFill>
                  <a:srgbClr val="008000"/>
                </a:solidFill>
                <a:effectLst/>
                <a:latin typeface="Menlo" panose="020B0609030804020204" pitchFamily="49" charset="0"/>
              </a:rPr>
              <a:t>, count(b) AS count ORDER BY </a:t>
            </a:r>
            <a:r>
              <a:rPr lang="en-US" sz="1400" b="0" dirty="0" err="1">
                <a:solidFill>
                  <a:srgbClr val="008000"/>
                </a:solidFill>
                <a:effectLst/>
                <a:latin typeface="Menlo" panose="020B0609030804020204" pitchFamily="49" charset="0"/>
              </a:rPr>
              <a:t>has_blast_version</a:t>
            </a:r>
            <a:r>
              <a:rPr lang="en-US" sz="1400" b="0" dirty="0">
                <a:solidFill>
                  <a:srgbClr val="008000"/>
                </a:solidFill>
                <a:effectLst/>
                <a:latin typeface="Menlo" panose="020B0609030804020204" pitchFamily="49" charset="0"/>
              </a:rPr>
              <a:t> DESC</a:t>
            </a:r>
            <a:endParaRPr lang="en-US" sz="1400" b="0" dirty="0">
              <a:solidFill>
                <a:srgbClr val="000000"/>
              </a:solidFill>
              <a:effectLst/>
              <a:latin typeface="Menlo" panose="020B0609030804020204" pitchFamily="49" charset="0"/>
            </a:endParaRPr>
          </a:p>
          <a:p>
            <a:pPr algn="just"/>
            <a:r>
              <a:rPr lang="en-US" sz="1400" dirty="0">
                <a:solidFill>
                  <a:srgbClr val="098658"/>
                </a:solidFill>
                <a:latin typeface="Menlo" panose="020B0609030804020204" pitchFamily="49" charset="0"/>
              </a:rPr>
              <a:t>3</a:t>
            </a:r>
            <a:r>
              <a:rPr lang="en-US" sz="1400" b="0" dirty="0">
                <a:solidFill>
                  <a:srgbClr val="000000"/>
                </a:solidFill>
                <a:effectLst/>
                <a:latin typeface="Menlo" panose="020B0609030804020204" pitchFamily="49" charset="0"/>
              </a:rPr>
              <a:t>. Validate → ✓ Read-only ✓ Tenant ✓ Depth ✓ Timeout</a:t>
            </a:r>
          </a:p>
          <a:p>
            <a:pPr algn="just"/>
            <a:r>
              <a:rPr lang="en-US" sz="1400" dirty="0">
                <a:solidFill>
                  <a:srgbClr val="098658"/>
                </a:solidFill>
                <a:latin typeface="Menlo" panose="020B0609030804020204" pitchFamily="49" charset="0"/>
              </a:rPr>
              <a:t>4</a:t>
            </a:r>
            <a:r>
              <a:rPr lang="en-US" sz="1400" b="0" dirty="0">
                <a:solidFill>
                  <a:srgbClr val="000000"/>
                </a:solidFill>
                <a:effectLst/>
                <a:latin typeface="Menlo" panose="020B0609030804020204" pitchFamily="49" charset="0"/>
              </a:rPr>
              <a:t>. Cypher Execution → Returns </a:t>
            </a:r>
            <a:r>
              <a:rPr lang="en-US" sz="1400" dirty="0">
                <a:solidFill>
                  <a:srgbClr val="098658"/>
                </a:solidFill>
                <a:latin typeface="Menlo" panose="020B0609030804020204" pitchFamily="49" charset="0"/>
              </a:rPr>
              <a:t>1</a:t>
            </a:r>
            <a:r>
              <a:rPr lang="en-US" sz="1400" b="0" dirty="0">
                <a:solidFill>
                  <a:srgbClr val="000000"/>
                </a:solidFill>
                <a:effectLst/>
                <a:latin typeface="Menlo" panose="020B0609030804020204" pitchFamily="49" charset="0"/>
              </a:rPr>
              <a:t> row</a:t>
            </a:r>
          </a:p>
          <a:p>
            <a:pPr algn="just"/>
            <a:r>
              <a:rPr lang="en-US" sz="1400" dirty="0">
                <a:solidFill>
                  <a:srgbClr val="098658"/>
                </a:solidFill>
                <a:latin typeface="Menlo" panose="020B0609030804020204" pitchFamily="49" charset="0"/>
              </a:rPr>
              <a:t>5</a:t>
            </a:r>
            <a:r>
              <a:rPr lang="en-US" sz="1400" b="0" dirty="0">
                <a:solidFill>
                  <a:srgbClr val="000000"/>
                </a:solidFill>
                <a:effectLst/>
                <a:latin typeface="Menlo" panose="020B0609030804020204" pitchFamily="49" charset="0"/>
              </a:rPr>
              <a:t>. Summarize → </a:t>
            </a:r>
            <a:r>
              <a:rPr lang="en-US" sz="1400" b="0" dirty="0">
                <a:solidFill>
                  <a:srgbClr val="A31515"/>
                </a:solidFill>
                <a:effectLst/>
                <a:latin typeface="Menlo" panose="020B0609030804020204" pitchFamily="49" charset="0"/>
              </a:rPr>
              <a:t>"In total, there are 39 Blast nodes in the database. All containing the </a:t>
            </a:r>
            <a:r>
              <a:rPr lang="en-US" sz="1400" b="0" dirty="0" err="1">
                <a:solidFill>
                  <a:srgbClr val="A31515"/>
                </a:solidFill>
                <a:effectLst/>
                <a:latin typeface="Menlo" panose="020B0609030804020204" pitchFamily="49" charset="0"/>
              </a:rPr>
              <a:t>blast_version</a:t>
            </a:r>
            <a:r>
              <a:rPr lang="en-US" sz="1400" b="0" dirty="0">
                <a:solidFill>
                  <a:srgbClr val="A31515"/>
                </a:solidFill>
                <a:effectLst/>
                <a:latin typeface="Menlo" panose="020B0609030804020204" pitchFamily="49" charset="0"/>
              </a:rPr>
              <a:t> attribute."</a:t>
            </a:r>
            <a:endParaRPr lang="en-US" sz="1400" b="0" dirty="0">
              <a:solidFill>
                <a:srgbClr val="000000"/>
              </a:solidFill>
              <a:effectLst/>
              <a:latin typeface="Menlo" panose="020B0609030804020204" pitchFamily="49" charset="0"/>
            </a:endParaRPr>
          </a:p>
        </p:txBody>
      </p:sp>
    </p:spTree>
    <p:extLst>
      <p:ext uri="{BB962C8B-B14F-4D97-AF65-F5344CB8AC3E}">
        <p14:creationId xmlns:p14="http://schemas.microsoft.com/office/powerpoint/2010/main" val="13588022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EDBB9-7838-305D-FFC7-EF64D681B7FB}"/>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7FA6976E-6FBA-2E74-EACB-5FF046C63B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Slide Number Placeholder 11">
            <a:extLst>
              <a:ext uri="{FF2B5EF4-FFF2-40B4-BE49-F238E27FC236}">
                <a16:creationId xmlns:a16="http://schemas.microsoft.com/office/drawing/2014/main" id="{662776AF-9C02-7AD2-DB4D-2333F9B82FC5}"/>
              </a:ext>
            </a:extLst>
          </p:cNvPr>
          <p:cNvSpPr>
            <a:spLocks noGrp="1"/>
          </p:cNvSpPr>
          <p:nvPr>
            <p:ph type="sldNum" sz="quarter" idx="12"/>
          </p:nvPr>
        </p:nvSpPr>
        <p:spPr/>
        <p:txBody>
          <a:bodyPr/>
          <a:lstStyle/>
          <a:p>
            <a:fld id="{48F19E39-9933-F648-B2F3-3AC17C0DC986}" type="slidenum">
              <a:rPr lang="en-US" smtClean="0">
                <a:solidFill>
                  <a:schemeClr val="bg1"/>
                </a:solidFill>
              </a:rPr>
              <a:t>19</a:t>
            </a:fld>
            <a:endParaRPr lang="en-US" dirty="0">
              <a:solidFill>
                <a:schemeClr val="bg1"/>
              </a:solidFill>
            </a:endParaRPr>
          </a:p>
        </p:txBody>
      </p:sp>
      <p:sp>
        <p:nvSpPr>
          <p:cNvPr id="16" name="TextBox 15">
            <a:extLst>
              <a:ext uri="{FF2B5EF4-FFF2-40B4-BE49-F238E27FC236}">
                <a16:creationId xmlns:a16="http://schemas.microsoft.com/office/drawing/2014/main" id="{2F1F2048-2ABF-E56A-09D0-B98DC59B496C}"/>
              </a:ext>
            </a:extLst>
          </p:cNvPr>
          <p:cNvSpPr txBox="1"/>
          <p:nvPr/>
        </p:nvSpPr>
        <p:spPr>
          <a:xfrm>
            <a:off x="596348" y="374273"/>
            <a:ext cx="11127823" cy="830997"/>
          </a:xfrm>
          <a:prstGeom prst="rect">
            <a:avLst/>
          </a:prstGeom>
          <a:noFill/>
        </p:spPr>
        <p:txBody>
          <a:bodyPr wrap="square" rtlCol="0">
            <a:spAutoFit/>
          </a:bodyPr>
          <a:lstStyle/>
          <a:p>
            <a:r>
              <a:rPr lang="en-US" sz="2800" b="1" dirty="0">
                <a:solidFill>
                  <a:srgbClr val="822334"/>
                </a:solidFill>
                <a:latin typeface="Inter" panose="02000503000000020004" pitchFamily="2" charset="0"/>
                <a:ea typeface="Inter" panose="02000503000000020004" pitchFamily="2" charset="0"/>
                <a:cs typeface="Inter" panose="02000503000000020004" pitchFamily="2" charset="0"/>
              </a:rPr>
              <a:t>COMPARISON WITH STATE OF THE ART</a:t>
            </a:r>
          </a:p>
          <a:p>
            <a:r>
              <a:rPr lang="en-US" sz="2000" dirty="0">
                <a:solidFill>
                  <a:srgbClr val="822334"/>
                </a:solidFill>
                <a:latin typeface="Inter" panose="02000503000000020004" pitchFamily="2" charset="0"/>
                <a:ea typeface="Inter" panose="02000503000000020004" pitchFamily="2" charset="0"/>
                <a:cs typeface="Inter" panose="02000503000000020004" pitchFamily="2" charset="0"/>
              </a:rPr>
              <a:t>Why </a:t>
            </a:r>
            <a:r>
              <a:rPr lang="en-US" sz="2000" dirty="0" err="1">
                <a:solidFill>
                  <a:srgbClr val="822334"/>
                </a:solidFill>
                <a:latin typeface="Inter" panose="02000503000000020004" pitchFamily="2" charset="0"/>
                <a:ea typeface="Inter" panose="02000503000000020004" pitchFamily="2" charset="0"/>
                <a:cs typeface="Inter" panose="02000503000000020004" pitchFamily="2" charset="0"/>
              </a:rPr>
              <a:t>Cineca</a:t>
            </a:r>
            <a:r>
              <a:rPr lang="en-US" sz="2000" dirty="0">
                <a:solidFill>
                  <a:srgbClr val="822334"/>
                </a:solidFill>
                <a:latin typeface="Inter" panose="02000503000000020004" pitchFamily="2" charset="0"/>
                <a:ea typeface="Inter" panose="02000503000000020004" pitchFamily="2" charset="0"/>
                <a:cs typeface="Inter" panose="02000503000000020004" pitchFamily="2" charset="0"/>
              </a:rPr>
              <a:t> Agentic Platform</a:t>
            </a:r>
          </a:p>
        </p:txBody>
      </p:sp>
      <p:sp>
        <p:nvSpPr>
          <p:cNvPr id="18" name="Footer Placeholder 10">
            <a:extLst>
              <a:ext uri="{FF2B5EF4-FFF2-40B4-BE49-F238E27FC236}">
                <a16:creationId xmlns:a16="http://schemas.microsoft.com/office/drawing/2014/main" id="{A06E038A-5133-E40B-B3A5-7AA1C4187B02}"/>
              </a:ext>
            </a:extLst>
          </p:cNvPr>
          <p:cNvSpPr>
            <a:spLocks noGrp="1"/>
          </p:cNvSpPr>
          <p:nvPr>
            <p:ph type="ftr" sz="quarter" idx="11"/>
          </p:nvPr>
        </p:nvSpPr>
        <p:spPr>
          <a:xfrm>
            <a:off x="4566534" y="6356350"/>
            <a:ext cx="3058931" cy="365125"/>
          </a:xfrm>
        </p:spPr>
        <p:txBody>
          <a:bodyPr/>
          <a:lstStyle/>
          <a:p>
            <a:r>
              <a:rPr lang="en-US" dirty="0" err="1">
                <a:solidFill>
                  <a:schemeClr val="bg1"/>
                </a:solidFill>
                <a:latin typeface="Inter" panose="02000503000000020004" pitchFamily="2" charset="0"/>
                <a:ea typeface="Inter" panose="02000503000000020004" pitchFamily="2" charset="0"/>
                <a:cs typeface="Inter" panose="02000503000000020004" pitchFamily="2" charset="0"/>
              </a:rPr>
              <a:t>Cineca</a:t>
            </a:r>
            <a:r>
              <a:rPr lang="en-US" dirty="0">
                <a:solidFill>
                  <a:schemeClr val="bg1"/>
                </a:solidFill>
                <a:latin typeface="Inter" panose="02000503000000020004" pitchFamily="2" charset="0"/>
                <a:ea typeface="Inter" panose="02000503000000020004" pitchFamily="2" charset="0"/>
                <a:cs typeface="Inter" panose="02000503000000020004" pitchFamily="2" charset="0"/>
              </a:rPr>
              <a:t> Agentic Platform – Arman Feili</a:t>
            </a:r>
          </a:p>
        </p:txBody>
      </p:sp>
      <p:pic>
        <p:nvPicPr>
          <p:cNvPr id="19" name="Picture 18">
            <a:extLst>
              <a:ext uri="{FF2B5EF4-FFF2-40B4-BE49-F238E27FC236}">
                <a16:creationId xmlns:a16="http://schemas.microsoft.com/office/drawing/2014/main" id="{9ACB1503-4877-4A60-2123-0E1886823D11}"/>
              </a:ext>
            </a:extLst>
          </p:cNvPr>
          <p:cNvPicPr>
            <a:picLocks noChangeAspect="1"/>
          </p:cNvPicPr>
          <p:nvPr/>
        </p:nvPicPr>
        <p:blipFill>
          <a:blip r:embed="rId3"/>
          <a:stretch>
            <a:fillRect/>
          </a:stretch>
        </p:blipFill>
        <p:spPr>
          <a:xfrm>
            <a:off x="321777" y="6315552"/>
            <a:ext cx="435345" cy="435345"/>
          </a:xfrm>
          <a:prstGeom prst="rect">
            <a:avLst/>
          </a:prstGeom>
        </p:spPr>
      </p:pic>
      <p:pic>
        <p:nvPicPr>
          <p:cNvPr id="20" name="Picture 19">
            <a:extLst>
              <a:ext uri="{FF2B5EF4-FFF2-40B4-BE49-F238E27FC236}">
                <a16:creationId xmlns:a16="http://schemas.microsoft.com/office/drawing/2014/main" id="{76D59FE0-98D7-7192-E216-5C78C4806F40}"/>
              </a:ext>
            </a:extLst>
          </p:cNvPr>
          <p:cNvPicPr>
            <a:picLocks noChangeAspect="1"/>
          </p:cNvPicPr>
          <p:nvPr/>
        </p:nvPicPr>
        <p:blipFill>
          <a:blip r:embed="rId4"/>
          <a:stretch>
            <a:fillRect/>
          </a:stretch>
        </p:blipFill>
        <p:spPr>
          <a:xfrm>
            <a:off x="866134" y="6362629"/>
            <a:ext cx="1093241" cy="365125"/>
          </a:xfrm>
          <a:prstGeom prst="rect">
            <a:avLst/>
          </a:prstGeom>
        </p:spPr>
      </p:pic>
      <p:graphicFrame>
        <p:nvGraphicFramePr>
          <p:cNvPr id="21" name="Table 20">
            <a:extLst>
              <a:ext uri="{FF2B5EF4-FFF2-40B4-BE49-F238E27FC236}">
                <a16:creationId xmlns:a16="http://schemas.microsoft.com/office/drawing/2014/main" id="{11630264-48DF-9B0F-C390-7CD08A1B4291}"/>
              </a:ext>
            </a:extLst>
          </p:cNvPr>
          <p:cNvGraphicFramePr>
            <a:graphicFrameLocks noGrp="1"/>
          </p:cNvGraphicFramePr>
          <p:nvPr>
            <p:extLst>
              <p:ext uri="{D42A27DB-BD31-4B8C-83A1-F6EECF244321}">
                <p14:modId xmlns:p14="http://schemas.microsoft.com/office/powerpoint/2010/main" val="1942603458"/>
              </p:ext>
            </p:extLst>
          </p:nvPr>
        </p:nvGraphicFramePr>
        <p:xfrm>
          <a:off x="596346" y="1572785"/>
          <a:ext cx="10992678" cy="3502622"/>
        </p:xfrm>
        <a:graphic>
          <a:graphicData uri="http://schemas.openxmlformats.org/drawingml/2006/table">
            <a:tbl>
              <a:tblPr>
                <a:tableStyleId>{C4B1156A-380E-4F78-BDF5-A606A8083BF9}</a:tableStyleId>
              </a:tblPr>
              <a:tblGrid>
                <a:gridCol w="1272208">
                  <a:extLst>
                    <a:ext uri="{9D8B030D-6E8A-4147-A177-3AD203B41FA5}">
                      <a16:colId xmlns:a16="http://schemas.microsoft.com/office/drawing/2014/main" val="1772042116"/>
                    </a:ext>
                  </a:extLst>
                </a:gridCol>
                <a:gridCol w="715617">
                  <a:extLst>
                    <a:ext uri="{9D8B030D-6E8A-4147-A177-3AD203B41FA5}">
                      <a16:colId xmlns:a16="http://schemas.microsoft.com/office/drawing/2014/main" val="2947702222"/>
                    </a:ext>
                  </a:extLst>
                </a:gridCol>
                <a:gridCol w="1043609">
                  <a:extLst>
                    <a:ext uri="{9D8B030D-6E8A-4147-A177-3AD203B41FA5}">
                      <a16:colId xmlns:a16="http://schemas.microsoft.com/office/drawing/2014/main" val="923434259"/>
                    </a:ext>
                  </a:extLst>
                </a:gridCol>
                <a:gridCol w="1202634">
                  <a:extLst>
                    <a:ext uri="{9D8B030D-6E8A-4147-A177-3AD203B41FA5}">
                      <a16:colId xmlns:a16="http://schemas.microsoft.com/office/drawing/2014/main" val="3940525903"/>
                    </a:ext>
                  </a:extLst>
                </a:gridCol>
                <a:gridCol w="1043609">
                  <a:extLst>
                    <a:ext uri="{9D8B030D-6E8A-4147-A177-3AD203B41FA5}">
                      <a16:colId xmlns:a16="http://schemas.microsoft.com/office/drawing/2014/main" val="579518305"/>
                    </a:ext>
                  </a:extLst>
                </a:gridCol>
                <a:gridCol w="1192696">
                  <a:extLst>
                    <a:ext uri="{9D8B030D-6E8A-4147-A177-3AD203B41FA5}">
                      <a16:colId xmlns:a16="http://schemas.microsoft.com/office/drawing/2014/main" val="943604483"/>
                    </a:ext>
                  </a:extLst>
                </a:gridCol>
                <a:gridCol w="1311965">
                  <a:extLst>
                    <a:ext uri="{9D8B030D-6E8A-4147-A177-3AD203B41FA5}">
                      <a16:colId xmlns:a16="http://schemas.microsoft.com/office/drawing/2014/main" val="1589068885"/>
                    </a:ext>
                  </a:extLst>
                </a:gridCol>
                <a:gridCol w="3210340">
                  <a:extLst>
                    <a:ext uri="{9D8B030D-6E8A-4147-A177-3AD203B41FA5}">
                      <a16:colId xmlns:a16="http://schemas.microsoft.com/office/drawing/2014/main" val="66125677"/>
                    </a:ext>
                  </a:extLst>
                </a:gridCol>
              </a:tblGrid>
              <a:tr h="351028">
                <a:tc>
                  <a:txBody>
                    <a:bodyPr/>
                    <a:lstStyle/>
                    <a:p>
                      <a:r>
                        <a:rPr lang="en-US" sz="1400" b="1" dirty="0">
                          <a:latin typeface="Inter" panose="02000503000000020004" pitchFamily="2" charset="0"/>
                          <a:ea typeface="Inter" panose="02000503000000020004" pitchFamily="2" charset="0"/>
                          <a:cs typeface="Inter" panose="02000503000000020004" pitchFamily="2" charset="0"/>
                        </a:rPr>
                        <a:t>Platform</a:t>
                      </a:r>
                    </a:p>
                  </a:txBody>
                  <a:tcPr marL="64945" marR="64945" marT="32473" marB="32473" anchor="ctr"/>
                </a:tc>
                <a:tc>
                  <a:txBody>
                    <a:bodyPr/>
                    <a:lstStyle/>
                    <a:p>
                      <a:pPr algn="r"/>
                      <a:r>
                        <a:rPr lang="en-US" sz="1400" b="1">
                          <a:latin typeface="Inter" panose="02000503000000020004" pitchFamily="2" charset="0"/>
                          <a:ea typeface="Inter" panose="02000503000000020004" pitchFamily="2" charset="0"/>
                          <a:cs typeface="Inter" panose="02000503000000020004" pitchFamily="2" charset="0"/>
                        </a:rPr>
                        <a:t>Full Stack</a:t>
                      </a:r>
                    </a:p>
                  </a:txBody>
                  <a:tcPr marL="64945" marR="64945" marT="32473" marB="32473" anchor="ctr"/>
                </a:tc>
                <a:tc>
                  <a:txBody>
                    <a:bodyPr/>
                    <a:lstStyle/>
                    <a:p>
                      <a:pPr algn="r"/>
                      <a:r>
                        <a:rPr lang="en-US" sz="1400" b="1" dirty="0">
                          <a:latin typeface="Inter" panose="02000503000000020004" pitchFamily="2" charset="0"/>
                          <a:ea typeface="Inter" panose="02000503000000020004" pitchFamily="2" charset="0"/>
                          <a:cs typeface="Inter" panose="02000503000000020004" pitchFamily="2" charset="0"/>
                        </a:rPr>
                        <a:t>Agentic Planning</a:t>
                      </a:r>
                    </a:p>
                  </a:txBody>
                  <a:tcPr marL="64945" marR="64945" marT="32473" marB="32473" anchor="ctr"/>
                </a:tc>
                <a:tc>
                  <a:txBody>
                    <a:bodyPr/>
                    <a:lstStyle/>
                    <a:p>
                      <a:pPr algn="r"/>
                      <a:r>
                        <a:rPr lang="en-US" sz="1400" b="1">
                          <a:latin typeface="Inter" panose="02000503000000020004" pitchFamily="2" charset="0"/>
                          <a:ea typeface="Inter" panose="02000503000000020004" pitchFamily="2" charset="0"/>
                          <a:cs typeface="Inter" panose="02000503000000020004" pitchFamily="2" charset="0"/>
                        </a:rPr>
                        <a:t>Governed Tools</a:t>
                      </a:r>
                    </a:p>
                  </a:txBody>
                  <a:tcPr marL="64945" marR="64945" marT="32473" marB="32473" anchor="ctr"/>
                </a:tc>
                <a:tc>
                  <a:txBody>
                    <a:bodyPr/>
                    <a:lstStyle/>
                    <a:p>
                      <a:pPr algn="r"/>
                      <a:r>
                        <a:rPr lang="en-US" sz="1400" b="1">
                          <a:latin typeface="Inter" panose="02000503000000020004" pitchFamily="2" charset="0"/>
                          <a:ea typeface="Inter" panose="02000503000000020004" pitchFamily="2" charset="0"/>
                          <a:cs typeface="Inter" panose="02000503000000020004" pitchFamily="2" charset="0"/>
                        </a:rPr>
                        <a:t>Enterprise Security</a:t>
                      </a:r>
                    </a:p>
                  </a:txBody>
                  <a:tcPr marL="64945" marR="64945" marT="32473" marB="32473" anchor="ctr"/>
                </a:tc>
                <a:tc>
                  <a:txBody>
                    <a:bodyPr/>
                    <a:lstStyle/>
                    <a:p>
                      <a:pPr algn="r"/>
                      <a:r>
                        <a:rPr lang="en-US" sz="1400" b="1">
                          <a:latin typeface="Inter" panose="02000503000000020004" pitchFamily="2" charset="0"/>
                          <a:ea typeface="Inter" panose="02000503000000020004" pitchFamily="2" charset="0"/>
                          <a:cs typeface="Inter" panose="02000503000000020004" pitchFamily="2" charset="0"/>
                        </a:rPr>
                        <a:t>Graph NL→Cypher</a:t>
                      </a:r>
                    </a:p>
                  </a:txBody>
                  <a:tcPr marL="64945" marR="64945" marT="32473" marB="32473" anchor="ctr"/>
                </a:tc>
                <a:tc>
                  <a:txBody>
                    <a:bodyPr/>
                    <a:lstStyle/>
                    <a:p>
                      <a:pPr algn="r"/>
                      <a:r>
                        <a:rPr lang="en-US" sz="1400" b="1">
                          <a:latin typeface="Inter" panose="02000503000000020004" pitchFamily="2" charset="0"/>
                          <a:ea typeface="Inter" panose="02000503000000020004" pitchFamily="2" charset="0"/>
                          <a:cs typeface="Inter" panose="02000503000000020004" pitchFamily="2" charset="0"/>
                        </a:rPr>
                        <a:t>Observability</a:t>
                      </a:r>
                    </a:p>
                  </a:txBody>
                  <a:tcPr marL="64945" marR="64945" marT="32473" marB="32473" anchor="ctr"/>
                </a:tc>
                <a:tc>
                  <a:txBody>
                    <a:bodyPr/>
                    <a:lstStyle/>
                    <a:p>
                      <a:r>
                        <a:rPr lang="en-US" sz="1400" b="1" dirty="0">
                          <a:latin typeface="Inter" panose="02000503000000020004" pitchFamily="2" charset="0"/>
                          <a:ea typeface="Inter" panose="02000503000000020004" pitchFamily="2" charset="0"/>
                          <a:cs typeface="Inter" panose="02000503000000020004" pitchFamily="2" charset="0"/>
                        </a:rPr>
                        <a:t>Summary</a:t>
                      </a:r>
                    </a:p>
                  </a:txBody>
                  <a:tcPr marL="64945" marR="64945" marT="32473" marB="32473" anchor="ctr"/>
                </a:tc>
                <a:extLst>
                  <a:ext uri="{0D108BD9-81ED-4DB2-BD59-A6C34878D82A}">
                    <a16:rowId xmlns:a16="http://schemas.microsoft.com/office/drawing/2014/main" val="937903091"/>
                  </a:ext>
                </a:extLst>
              </a:tr>
              <a:tr h="138567">
                <a:tc>
                  <a:txBody>
                    <a:bodyPr/>
                    <a:lstStyle/>
                    <a:p>
                      <a:r>
                        <a:rPr lang="en-US" sz="1400" b="1">
                          <a:latin typeface="Inter" panose="02000503000000020004" pitchFamily="2" charset="0"/>
                          <a:ea typeface="Inter" panose="02000503000000020004" pitchFamily="2" charset="0"/>
                          <a:cs typeface="Inter" panose="02000503000000020004" pitchFamily="2" charset="0"/>
                        </a:rPr>
                        <a:t>CAP</a:t>
                      </a:r>
                      <a:endParaRPr lang="en-US" sz="1400">
                        <a:latin typeface="Inter" panose="02000503000000020004" pitchFamily="2" charset="0"/>
                        <a:ea typeface="Inter" panose="02000503000000020004" pitchFamily="2" charset="0"/>
                        <a:cs typeface="Inter" panose="02000503000000020004" pitchFamily="2" charset="0"/>
                      </a:endParaRPr>
                    </a:p>
                  </a:txBody>
                  <a:tcPr marL="64945" marR="64945" marT="32473" marB="32473" anchor="ctr"/>
                </a:tc>
                <a:tc>
                  <a:txBody>
                    <a:bodyPr/>
                    <a:lstStyle/>
                    <a:p>
                      <a:pPr algn="r"/>
                      <a:r>
                        <a:rPr lang="en-US" sz="1800" dirty="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r"/>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r"/>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r"/>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r"/>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r"/>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r>
                        <a:rPr lang="en-US" sz="1400" dirty="0">
                          <a:latin typeface="Inter" panose="02000503000000020004" pitchFamily="2" charset="0"/>
                          <a:ea typeface="Inter" panose="02000503000000020004" pitchFamily="2" charset="0"/>
                          <a:cs typeface="Inter" panose="02000503000000020004" pitchFamily="2" charset="0"/>
                        </a:rPr>
                        <a:t>Integrated production platform</a:t>
                      </a:r>
                    </a:p>
                  </a:txBody>
                  <a:tcPr marL="64945" marR="64945" marT="32473" marB="32473" anchor="ctr"/>
                </a:tc>
                <a:extLst>
                  <a:ext uri="{0D108BD9-81ED-4DB2-BD59-A6C34878D82A}">
                    <a16:rowId xmlns:a16="http://schemas.microsoft.com/office/drawing/2014/main" val="3975569649"/>
                  </a:ext>
                </a:extLst>
              </a:tr>
              <a:tr h="244798">
                <a:tc>
                  <a:txBody>
                    <a:bodyPr/>
                    <a:lstStyle/>
                    <a:p>
                      <a:r>
                        <a:rPr lang="en-US" sz="1400" b="1">
                          <a:latin typeface="Inter" panose="02000503000000020004" pitchFamily="2" charset="0"/>
                          <a:ea typeface="Inter" panose="02000503000000020004" pitchFamily="2" charset="0"/>
                          <a:cs typeface="Inter" panose="02000503000000020004" pitchFamily="2" charset="0"/>
                        </a:rPr>
                        <a:t>Temporal</a:t>
                      </a:r>
                      <a:endParaRPr lang="en-US" sz="1400">
                        <a:latin typeface="Inter" panose="02000503000000020004" pitchFamily="2" charset="0"/>
                        <a:ea typeface="Inter" panose="02000503000000020004" pitchFamily="2" charset="0"/>
                        <a:cs typeface="Inter" panose="02000503000000020004" pitchFamily="2" charset="0"/>
                      </a:endParaRPr>
                    </a:p>
                  </a:txBody>
                  <a:tcPr marL="64945" marR="64945" marT="32473" marB="32473" anchor="ctr"/>
                </a:tc>
                <a:tc>
                  <a:txBody>
                    <a:bodyPr/>
                    <a:lstStyle/>
                    <a:p>
                      <a:pPr algn="r"/>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r"/>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r"/>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r"/>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r"/>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r"/>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r>
                        <a:rPr lang="en-US" sz="1400" dirty="0">
                          <a:latin typeface="Inter" panose="02000503000000020004" pitchFamily="2" charset="0"/>
                          <a:ea typeface="Inter" panose="02000503000000020004" pitchFamily="2" charset="0"/>
                          <a:cs typeface="Inter" panose="02000503000000020004" pitchFamily="2" charset="0"/>
                        </a:rPr>
                        <a:t>strong workflows, not agent platforms</a:t>
                      </a:r>
                    </a:p>
                  </a:txBody>
                  <a:tcPr marL="64945" marR="64945" marT="32473" marB="32473" anchor="ctr"/>
                </a:tc>
                <a:extLst>
                  <a:ext uri="{0D108BD9-81ED-4DB2-BD59-A6C34878D82A}">
                    <a16:rowId xmlns:a16="http://schemas.microsoft.com/office/drawing/2014/main" val="4065626416"/>
                  </a:ext>
                </a:extLst>
              </a:tr>
              <a:tr h="244798">
                <a:tc>
                  <a:txBody>
                    <a:bodyPr/>
                    <a:lstStyle/>
                    <a:p>
                      <a:r>
                        <a:rPr lang="en-US" sz="1400" b="1" dirty="0" err="1">
                          <a:latin typeface="Inter" panose="02000503000000020004" pitchFamily="2" charset="0"/>
                          <a:ea typeface="Inter" panose="02000503000000020004" pitchFamily="2" charset="0"/>
                          <a:cs typeface="Inter" panose="02000503000000020004" pitchFamily="2" charset="0"/>
                        </a:rPr>
                        <a:t>LangGraph</a:t>
                      </a:r>
                      <a:endParaRPr lang="en-US" sz="1400" dirty="0">
                        <a:latin typeface="Inter" panose="02000503000000020004" pitchFamily="2" charset="0"/>
                        <a:ea typeface="Inter" panose="02000503000000020004" pitchFamily="2" charset="0"/>
                        <a:cs typeface="Inter" panose="02000503000000020004" pitchFamily="2" charset="0"/>
                      </a:endParaRPr>
                    </a:p>
                  </a:txBody>
                  <a:tcPr marL="64945" marR="64945" marT="32473" marB="32473" anchor="ctr"/>
                </a:tc>
                <a:tc>
                  <a:txBody>
                    <a:bodyPr/>
                    <a:lstStyle/>
                    <a:p>
                      <a:pPr algn="r"/>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r"/>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r"/>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r"/>
                      <a:r>
                        <a:rPr lang="en-US" sz="1800" dirty="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r"/>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r"/>
                      <a:r>
                        <a:rPr lang="en-US" sz="1800" dirty="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r>
                        <a:rPr lang="en-US" sz="1400" dirty="0">
                          <a:latin typeface="Inter" panose="02000503000000020004" pitchFamily="2" charset="0"/>
                          <a:ea typeface="Inter" panose="02000503000000020004" pitchFamily="2" charset="0"/>
                          <a:cs typeface="Inter" panose="02000503000000020004" pitchFamily="2" charset="0"/>
                        </a:rPr>
                        <a:t>Strong agent framework, limited platform controls</a:t>
                      </a:r>
                    </a:p>
                  </a:txBody>
                  <a:tcPr marL="64945" marR="64945" marT="32473" marB="32473" anchor="ctr"/>
                </a:tc>
                <a:extLst>
                  <a:ext uri="{0D108BD9-81ED-4DB2-BD59-A6C34878D82A}">
                    <a16:rowId xmlns:a16="http://schemas.microsoft.com/office/drawing/2014/main" val="2423840235"/>
                  </a:ext>
                </a:extLst>
              </a:tr>
              <a:tr h="244798">
                <a:tc>
                  <a:txBody>
                    <a:bodyPr/>
                    <a:lstStyle/>
                    <a:p>
                      <a:r>
                        <a:rPr lang="en-US" sz="1400" b="1" dirty="0">
                          <a:latin typeface="Inter" panose="02000503000000020004" pitchFamily="2" charset="0"/>
                          <a:ea typeface="Inter" panose="02000503000000020004" pitchFamily="2" charset="0"/>
                          <a:cs typeface="Inter" panose="02000503000000020004" pitchFamily="2" charset="0"/>
                        </a:rPr>
                        <a:t>OpenAI Agents SDK</a:t>
                      </a:r>
                      <a:endParaRPr lang="en-US" sz="1400" dirty="0">
                        <a:latin typeface="Inter" panose="02000503000000020004" pitchFamily="2" charset="0"/>
                        <a:ea typeface="Inter" panose="02000503000000020004" pitchFamily="2" charset="0"/>
                        <a:cs typeface="Inter" panose="02000503000000020004" pitchFamily="2" charset="0"/>
                      </a:endParaRPr>
                    </a:p>
                  </a:txBody>
                  <a:tcPr marL="64945" marR="64945" marT="32473" marB="32473" anchor="ctr"/>
                </a:tc>
                <a:tc>
                  <a:txBody>
                    <a:bodyPr/>
                    <a:lstStyle/>
                    <a:p>
                      <a:pPr algn="r"/>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r"/>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r"/>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r"/>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r"/>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r"/>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Inter" panose="02000503000000020004" pitchFamily="2" charset="0"/>
                          <a:ea typeface="Inter" panose="02000503000000020004" pitchFamily="2" charset="0"/>
                          <a:cs typeface="Inter" panose="02000503000000020004" pitchFamily="2" charset="0"/>
                        </a:rPr>
                        <a:t>Fast agent development, Lacks integrated security layer</a:t>
                      </a:r>
                    </a:p>
                  </a:txBody>
                  <a:tcPr marL="64945" marR="64945" marT="32473" marB="32473" anchor="ctr"/>
                </a:tc>
                <a:extLst>
                  <a:ext uri="{0D108BD9-81ED-4DB2-BD59-A6C34878D82A}">
                    <a16:rowId xmlns:a16="http://schemas.microsoft.com/office/drawing/2014/main" val="3521240194"/>
                  </a:ext>
                </a:extLst>
              </a:tr>
              <a:tr h="351028">
                <a:tc>
                  <a:txBody>
                    <a:bodyPr/>
                    <a:lstStyle/>
                    <a:p>
                      <a:r>
                        <a:rPr lang="en-US" sz="1400" b="1">
                          <a:latin typeface="Inter" panose="02000503000000020004" pitchFamily="2" charset="0"/>
                          <a:ea typeface="Inter" panose="02000503000000020004" pitchFamily="2" charset="0"/>
                          <a:cs typeface="Inter" panose="02000503000000020004" pitchFamily="2" charset="0"/>
                        </a:rPr>
                        <a:t>Semantic Kernel</a:t>
                      </a:r>
                      <a:endParaRPr lang="en-US" sz="1400">
                        <a:latin typeface="Inter" panose="02000503000000020004" pitchFamily="2" charset="0"/>
                        <a:ea typeface="Inter" panose="02000503000000020004" pitchFamily="2" charset="0"/>
                        <a:cs typeface="Inter" panose="02000503000000020004" pitchFamily="2" charset="0"/>
                      </a:endParaRPr>
                    </a:p>
                  </a:txBody>
                  <a:tcPr marL="64945" marR="64945" marT="32473" marB="32473" anchor="ctr"/>
                </a:tc>
                <a:tc>
                  <a:txBody>
                    <a:bodyPr/>
                    <a:lstStyle/>
                    <a:p>
                      <a:pPr algn="r"/>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r"/>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r"/>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r"/>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r"/>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r"/>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Inter" panose="02000503000000020004" pitchFamily="2" charset="0"/>
                          <a:ea typeface="Inter" panose="02000503000000020004" pitchFamily="2" charset="0"/>
                          <a:cs typeface="Inter" panose="02000503000000020004" pitchFamily="2" charset="0"/>
                        </a:rPr>
                        <a:t>Enterprise AI middleware, Partial support across platform capabilities</a:t>
                      </a:r>
                    </a:p>
                  </a:txBody>
                  <a:tcPr marL="64945" marR="64945" marT="32473" marB="32473" anchor="ctr"/>
                </a:tc>
                <a:extLst>
                  <a:ext uri="{0D108BD9-81ED-4DB2-BD59-A6C34878D82A}">
                    <a16:rowId xmlns:a16="http://schemas.microsoft.com/office/drawing/2014/main" val="4242245155"/>
                  </a:ext>
                </a:extLst>
              </a:tr>
              <a:tr h="351028">
                <a:tc>
                  <a:txBody>
                    <a:bodyPr/>
                    <a:lstStyle/>
                    <a:p>
                      <a:r>
                        <a:rPr lang="en-US" sz="1400" b="1" dirty="0">
                          <a:latin typeface="Inter" panose="02000503000000020004" pitchFamily="2" charset="0"/>
                          <a:ea typeface="Inter" panose="02000503000000020004" pitchFamily="2" charset="0"/>
                          <a:cs typeface="Inter" panose="02000503000000020004" pitchFamily="2" charset="0"/>
                        </a:rPr>
                        <a:t>n8n</a:t>
                      </a:r>
                      <a:endParaRPr lang="en-US" sz="1400" dirty="0">
                        <a:latin typeface="Inter" panose="02000503000000020004" pitchFamily="2" charset="0"/>
                        <a:ea typeface="Inter" panose="02000503000000020004" pitchFamily="2" charset="0"/>
                        <a:cs typeface="Inter" panose="02000503000000020004" pitchFamily="2" charset="0"/>
                      </a:endParaRPr>
                    </a:p>
                  </a:txBody>
                  <a:tcPr marL="64945" marR="64945" marT="32473" marB="32473" anchor="ctr"/>
                </a:tc>
                <a:tc>
                  <a:txBody>
                    <a:bodyPr/>
                    <a:lstStyle/>
                    <a:p>
                      <a:pPr algn="r"/>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r"/>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r"/>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r"/>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r"/>
                      <a:r>
                        <a:rPr lang="en-US" sz="180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algn="r"/>
                      <a:r>
                        <a:rPr lang="en-US" sz="1800" dirty="0">
                          <a:latin typeface="Inter" panose="02000503000000020004" pitchFamily="2" charset="0"/>
                          <a:ea typeface="Inter" panose="02000503000000020004" pitchFamily="2" charset="0"/>
                          <a:cs typeface="Inter" panose="02000503000000020004" pitchFamily="2" charset="0"/>
                        </a:rPr>
                        <a:t>~</a:t>
                      </a:r>
                    </a:p>
                  </a:txBody>
                  <a:tcPr marL="64945" marR="64945" marT="32473" marB="32473"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latin typeface="Inter" panose="02000503000000020004" pitchFamily="2" charset="0"/>
                          <a:ea typeface="Inter" panose="02000503000000020004" pitchFamily="2" charset="0"/>
                          <a:cs typeface="Inter" panose="02000503000000020004" pitchFamily="2" charset="0"/>
                        </a:rPr>
                        <a:t>Visual workflow automation, Not designed for governed agent orchestration</a:t>
                      </a:r>
                    </a:p>
                  </a:txBody>
                  <a:tcPr marL="64945" marR="64945" marT="32473" marB="32473" anchor="ctr"/>
                </a:tc>
                <a:extLst>
                  <a:ext uri="{0D108BD9-81ED-4DB2-BD59-A6C34878D82A}">
                    <a16:rowId xmlns:a16="http://schemas.microsoft.com/office/drawing/2014/main" val="2309537851"/>
                  </a:ext>
                </a:extLst>
              </a:tr>
            </a:tbl>
          </a:graphicData>
        </a:graphic>
      </p:graphicFrame>
      <p:sp>
        <p:nvSpPr>
          <p:cNvPr id="22" name="TextBox 21">
            <a:extLst>
              <a:ext uri="{FF2B5EF4-FFF2-40B4-BE49-F238E27FC236}">
                <a16:creationId xmlns:a16="http://schemas.microsoft.com/office/drawing/2014/main" id="{3AFCE1F2-B40C-1B80-16BB-E77078E459AF}"/>
              </a:ext>
            </a:extLst>
          </p:cNvPr>
          <p:cNvSpPr txBox="1"/>
          <p:nvPr/>
        </p:nvSpPr>
        <p:spPr>
          <a:xfrm>
            <a:off x="8146772" y="5291197"/>
            <a:ext cx="3442252" cy="738664"/>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sz="1400" dirty="0">
                <a:latin typeface="Inter" panose="02000503000000020004" pitchFamily="2" charset="0"/>
                <a:ea typeface="Inter" panose="02000503000000020004" pitchFamily="2" charset="0"/>
                <a:cs typeface="Inter" panose="02000503000000020004" pitchFamily="2" charset="0"/>
              </a:rPr>
              <a:t>✓ = Native support</a:t>
            </a:r>
          </a:p>
          <a:p>
            <a:r>
              <a:rPr lang="en-US" sz="1400" dirty="0">
                <a:latin typeface="Inter" panose="02000503000000020004" pitchFamily="2" charset="0"/>
                <a:ea typeface="Inter" panose="02000503000000020004" pitchFamily="2" charset="0"/>
                <a:cs typeface="Inter" panose="02000503000000020004" pitchFamily="2" charset="0"/>
              </a:rPr>
              <a:t>~ = Partial / requires customization</a:t>
            </a:r>
          </a:p>
          <a:p>
            <a:r>
              <a:rPr lang="en-US" sz="1400" dirty="0">
                <a:latin typeface="Inter" panose="02000503000000020004" pitchFamily="2" charset="0"/>
                <a:ea typeface="Inter" panose="02000503000000020004" pitchFamily="2" charset="0"/>
                <a:cs typeface="Inter" panose="02000503000000020004" pitchFamily="2" charset="0"/>
              </a:rPr>
              <a:t>✗ = Not supported</a:t>
            </a:r>
          </a:p>
        </p:txBody>
      </p:sp>
      <p:sp>
        <p:nvSpPr>
          <p:cNvPr id="23" name="TextBox 22">
            <a:extLst>
              <a:ext uri="{FF2B5EF4-FFF2-40B4-BE49-F238E27FC236}">
                <a16:creationId xmlns:a16="http://schemas.microsoft.com/office/drawing/2014/main" id="{94974FA0-2DCF-D066-8115-27483C80C314}"/>
              </a:ext>
            </a:extLst>
          </p:cNvPr>
          <p:cNvSpPr txBox="1"/>
          <p:nvPr/>
        </p:nvSpPr>
        <p:spPr>
          <a:xfrm>
            <a:off x="593033" y="5198864"/>
            <a:ext cx="5499652" cy="830997"/>
          </a:xfrm>
          <a:prstGeom prst="rect">
            <a:avLst/>
          </a:prstGeom>
          <a:noFill/>
        </p:spPr>
        <p:txBody>
          <a:bodyPr wrap="square" rtlCol="0">
            <a:spAutoFit/>
          </a:bodyPr>
          <a:lstStyle/>
          <a:p>
            <a:r>
              <a:rPr lang="en-US" sz="1600" b="1" dirty="0">
                <a:latin typeface="Inter" panose="02000503000000020004" pitchFamily="2" charset="0"/>
                <a:ea typeface="Inter" panose="02000503000000020004" pitchFamily="2" charset="0"/>
                <a:cs typeface="Inter" panose="02000503000000020004" pitchFamily="2" charset="0"/>
              </a:rPr>
              <a:t>Main takeaway:</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CAP combines agent execution, tools, jobs, graph access, security, and observability in one platform.</a:t>
            </a:r>
          </a:p>
        </p:txBody>
      </p:sp>
    </p:spTree>
    <p:extLst>
      <p:ext uri="{BB962C8B-B14F-4D97-AF65-F5344CB8AC3E}">
        <p14:creationId xmlns:p14="http://schemas.microsoft.com/office/powerpoint/2010/main" val="27539676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39995-9008-CFFA-E408-B78389C90995}"/>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10AD2FE3-5AAD-6980-5C21-B040B62A1C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Slide Number Placeholder 11">
            <a:extLst>
              <a:ext uri="{FF2B5EF4-FFF2-40B4-BE49-F238E27FC236}">
                <a16:creationId xmlns:a16="http://schemas.microsoft.com/office/drawing/2014/main" id="{F29A7A22-4422-92CE-0FFD-B38D81A3E4AF}"/>
              </a:ext>
            </a:extLst>
          </p:cNvPr>
          <p:cNvSpPr>
            <a:spLocks noGrp="1"/>
          </p:cNvSpPr>
          <p:nvPr>
            <p:ph type="sldNum" sz="quarter" idx="12"/>
          </p:nvPr>
        </p:nvSpPr>
        <p:spPr/>
        <p:txBody>
          <a:bodyPr/>
          <a:lstStyle/>
          <a:p>
            <a:fld id="{48F19E39-9933-F648-B2F3-3AC17C0DC986}" type="slidenum">
              <a:rPr lang="en-US" smtClean="0">
                <a:solidFill>
                  <a:schemeClr val="bg1"/>
                </a:solidFill>
              </a:rPr>
              <a:t>20</a:t>
            </a:fld>
            <a:endParaRPr lang="en-US" dirty="0">
              <a:solidFill>
                <a:schemeClr val="bg1"/>
              </a:solidFill>
            </a:endParaRPr>
          </a:p>
        </p:txBody>
      </p:sp>
      <p:sp>
        <p:nvSpPr>
          <p:cNvPr id="5" name="TextBox 4">
            <a:extLst>
              <a:ext uri="{FF2B5EF4-FFF2-40B4-BE49-F238E27FC236}">
                <a16:creationId xmlns:a16="http://schemas.microsoft.com/office/drawing/2014/main" id="{BE943AC3-450E-5923-DB14-D5DFF1625D98}"/>
              </a:ext>
            </a:extLst>
          </p:cNvPr>
          <p:cNvSpPr txBox="1"/>
          <p:nvPr/>
        </p:nvSpPr>
        <p:spPr>
          <a:xfrm>
            <a:off x="596348" y="374273"/>
            <a:ext cx="11127823" cy="830997"/>
          </a:xfrm>
          <a:prstGeom prst="rect">
            <a:avLst/>
          </a:prstGeom>
          <a:noFill/>
        </p:spPr>
        <p:txBody>
          <a:bodyPr wrap="square" rtlCol="0">
            <a:spAutoFit/>
          </a:bodyPr>
          <a:lstStyle/>
          <a:p>
            <a:r>
              <a:rPr lang="en-US" sz="2800" b="1" dirty="0">
                <a:solidFill>
                  <a:srgbClr val="822334"/>
                </a:solidFill>
                <a:latin typeface="Inter" panose="02000503000000020004" pitchFamily="2" charset="0"/>
                <a:ea typeface="Inter" panose="02000503000000020004" pitchFamily="2" charset="0"/>
                <a:cs typeface="Inter" panose="02000503000000020004" pitchFamily="2" charset="0"/>
              </a:rPr>
              <a:t>CONCLUSION + FUTURE WORK</a:t>
            </a:r>
          </a:p>
          <a:p>
            <a:r>
              <a:rPr lang="en-US" sz="2000" dirty="0">
                <a:solidFill>
                  <a:srgbClr val="822334"/>
                </a:solidFill>
                <a:latin typeface="Inter" panose="02000503000000020004" pitchFamily="2" charset="0"/>
                <a:ea typeface="Inter" panose="02000503000000020004" pitchFamily="2" charset="0"/>
                <a:cs typeface="Inter" panose="02000503000000020004" pitchFamily="2" charset="0"/>
              </a:rPr>
              <a:t>From natural language to safe, traceable graph actions</a:t>
            </a:r>
          </a:p>
        </p:txBody>
      </p:sp>
      <p:sp>
        <p:nvSpPr>
          <p:cNvPr id="10" name="Footer Placeholder 10">
            <a:extLst>
              <a:ext uri="{FF2B5EF4-FFF2-40B4-BE49-F238E27FC236}">
                <a16:creationId xmlns:a16="http://schemas.microsoft.com/office/drawing/2014/main" id="{86FF5877-2DCA-8688-590C-E15EAC6FD6A8}"/>
              </a:ext>
            </a:extLst>
          </p:cNvPr>
          <p:cNvSpPr>
            <a:spLocks noGrp="1"/>
          </p:cNvSpPr>
          <p:nvPr>
            <p:ph type="ftr" sz="quarter" idx="11"/>
          </p:nvPr>
        </p:nvSpPr>
        <p:spPr>
          <a:xfrm>
            <a:off x="4566534" y="6356350"/>
            <a:ext cx="3058931" cy="365125"/>
          </a:xfrm>
        </p:spPr>
        <p:txBody>
          <a:bodyPr/>
          <a:lstStyle/>
          <a:p>
            <a:r>
              <a:rPr lang="en-US" dirty="0" err="1">
                <a:solidFill>
                  <a:schemeClr val="bg1"/>
                </a:solidFill>
                <a:latin typeface="Inter" panose="02000503000000020004" pitchFamily="2" charset="0"/>
                <a:ea typeface="Inter" panose="02000503000000020004" pitchFamily="2" charset="0"/>
                <a:cs typeface="Inter" panose="02000503000000020004" pitchFamily="2" charset="0"/>
              </a:rPr>
              <a:t>Cineca</a:t>
            </a:r>
            <a:r>
              <a:rPr lang="en-US" dirty="0">
                <a:solidFill>
                  <a:schemeClr val="bg1"/>
                </a:solidFill>
                <a:latin typeface="Inter" panose="02000503000000020004" pitchFamily="2" charset="0"/>
                <a:ea typeface="Inter" panose="02000503000000020004" pitchFamily="2" charset="0"/>
                <a:cs typeface="Inter" panose="02000503000000020004" pitchFamily="2" charset="0"/>
              </a:rPr>
              <a:t> Agentic Platform – Arman Feili</a:t>
            </a:r>
          </a:p>
        </p:txBody>
      </p:sp>
      <p:pic>
        <p:nvPicPr>
          <p:cNvPr id="13" name="Picture 12">
            <a:extLst>
              <a:ext uri="{FF2B5EF4-FFF2-40B4-BE49-F238E27FC236}">
                <a16:creationId xmlns:a16="http://schemas.microsoft.com/office/drawing/2014/main" id="{7240A011-B538-B2F8-ECAE-30C1169D8061}"/>
              </a:ext>
            </a:extLst>
          </p:cNvPr>
          <p:cNvPicPr>
            <a:picLocks noChangeAspect="1"/>
          </p:cNvPicPr>
          <p:nvPr/>
        </p:nvPicPr>
        <p:blipFill>
          <a:blip r:embed="rId3"/>
          <a:stretch>
            <a:fillRect/>
          </a:stretch>
        </p:blipFill>
        <p:spPr>
          <a:xfrm>
            <a:off x="321777" y="6315552"/>
            <a:ext cx="435345" cy="435345"/>
          </a:xfrm>
          <a:prstGeom prst="rect">
            <a:avLst/>
          </a:prstGeom>
        </p:spPr>
      </p:pic>
      <p:pic>
        <p:nvPicPr>
          <p:cNvPr id="14" name="Picture 13">
            <a:extLst>
              <a:ext uri="{FF2B5EF4-FFF2-40B4-BE49-F238E27FC236}">
                <a16:creationId xmlns:a16="http://schemas.microsoft.com/office/drawing/2014/main" id="{FAC4E73C-DBF2-7102-D008-31AC58795333}"/>
              </a:ext>
            </a:extLst>
          </p:cNvPr>
          <p:cNvPicPr>
            <a:picLocks noChangeAspect="1"/>
          </p:cNvPicPr>
          <p:nvPr/>
        </p:nvPicPr>
        <p:blipFill>
          <a:blip r:embed="rId4"/>
          <a:stretch>
            <a:fillRect/>
          </a:stretch>
        </p:blipFill>
        <p:spPr>
          <a:xfrm>
            <a:off x="866134" y="6362629"/>
            <a:ext cx="1093241" cy="365125"/>
          </a:xfrm>
          <a:prstGeom prst="rect">
            <a:avLst/>
          </a:prstGeom>
        </p:spPr>
      </p:pic>
      <p:sp>
        <p:nvSpPr>
          <p:cNvPr id="18" name="TextBox 17">
            <a:extLst>
              <a:ext uri="{FF2B5EF4-FFF2-40B4-BE49-F238E27FC236}">
                <a16:creationId xmlns:a16="http://schemas.microsoft.com/office/drawing/2014/main" id="{00E35791-74F3-1152-8ECE-8F0D2418C0C2}"/>
              </a:ext>
            </a:extLst>
          </p:cNvPr>
          <p:cNvSpPr txBox="1"/>
          <p:nvPr/>
        </p:nvSpPr>
        <p:spPr>
          <a:xfrm>
            <a:off x="596345" y="1581293"/>
            <a:ext cx="10757455" cy="2646878"/>
          </a:xfrm>
          <a:prstGeom prst="rect">
            <a:avLst/>
          </a:prstGeom>
          <a:noFill/>
        </p:spPr>
        <p:txBody>
          <a:bodyPr wrap="square" rtlCol="0">
            <a:spAutoFit/>
          </a:bodyPr>
          <a:lstStyle/>
          <a:p>
            <a:r>
              <a:rPr lang="en-US" b="1" dirty="0">
                <a:latin typeface="Inter" panose="02000503000000020004" pitchFamily="2" charset="0"/>
                <a:ea typeface="Inter" panose="02000503000000020004" pitchFamily="2" charset="0"/>
                <a:cs typeface="Inter" panose="02000503000000020004" pitchFamily="2" charset="0"/>
              </a:rPr>
              <a:t>Key Contribution</a:t>
            </a:r>
            <a:endParaRPr lang="en-US" dirty="0">
              <a:latin typeface="Inter" panose="02000503000000020004" pitchFamily="2" charset="0"/>
              <a:ea typeface="Inter" panose="02000503000000020004" pitchFamily="2" charset="0"/>
              <a:cs typeface="Inter" panose="02000503000000020004" pitchFamily="2" charset="0"/>
            </a:endParaRP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Built a multi-tenant AI orchestration platform</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Unified agents, MCP tools, async jobs, secure graph access, and observability</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Enabled governed, auditable, and reproducible natural-language graph actions</a:t>
            </a:r>
          </a:p>
          <a:p>
            <a:pPr algn="just"/>
            <a:endParaRPr lang="en-US" b="1" dirty="0">
              <a:latin typeface="Inter" panose="02000503000000020004" pitchFamily="2" charset="0"/>
              <a:ea typeface="Inter" panose="02000503000000020004" pitchFamily="2" charset="0"/>
              <a:cs typeface="Inter" panose="02000503000000020004" pitchFamily="2" charset="0"/>
            </a:endParaRPr>
          </a:p>
          <a:p>
            <a:pPr algn="just"/>
            <a:r>
              <a:rPr lang="en-US" b="1" dirty="0">
                <a:latin typeface="Inter" panose="02000503000000020004" pitchFamily="2" charset="0"/>
                <a:ea typeface="Inter" panose="02000503000000020004" pitchFamily="2" charset="0"/>
                <a:cs typeface="Inter" panose="02000503000000020004" pitchFamily="2" charset="0"/>
              </a:rPr>
              <a:t>Future Work</a:t>
            </a:r>
            <a:endParaRPr lang="en-US" dirty="0">
              <a:latin typeface="Inter" panose="02000503000000020004" pitchFamily="2" charset="0"/>
              <a:ea typeface="Inter" panose="02000503000000020004" pitchFamily="2" charset="0"/>
              <a:cs typeface="Inter" panose="02000503000000020004" pitchFamily="2" charset="0"/>
            </a:endParaRPr>
          </a:p>
          <a:p>
            <a:pPr marL="285750" indent="-285750" algn="just">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Lightweight Ask Mode</a:t>
            </a:r>
          </a:p>
          <a:p>
            <a:pPr marL="285750" indent="-285750" algn="just">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Broader prompt handling</a:t>
            </a:r>
          </a:p>
          <a:p>
            <a:pPr marL="285750" indent="-285750" algn="just">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Stronger checkpointing and deterministic re-runs</a:t>
            </a:r>
          </a:p>
          <a:p>
            <a:pPr marL="285750" indent="-285750" algn="just">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Smarter scheduling with priorities, quotas, and backpressure</a:t>
            </a:r>
          </a:p>
        </p:txBody>
      </p:sp>
      <p:pic>
        <p:nvPicPr>
          <p:cNvPr id="20" name="Picture 19">
            <a:extLst>
              <a:ext uri="{FF2B5EF4-FFF2-40B4-BE49-F238E27FC236}">
                <a16:creationId xmlns:a16="http://schemas.microsoft.com/office/drawing/2014/main" id="{A4C9AD83-8581-0E43-8485-E646A354C4F7}"/>
              </a:ext>
            </a:extLst>
          </p:cNvPr>
          <p:cNvPicPr>
            <a:picLocks noChangeAspect="1"/>
          </p:cNvPicPr>
          <p:nvPr/>
        </p:nvPicPr>
        <p:blipFill>
          <a:blip r:embed="rId5"/>
          <a:stretch>
            <a:fillRect/>
          </a:stretch>
        </p:blipFill>
        <p:spPr>
          <a:xfrm>
            <a:off x="4157907" y="4475847"/>
            <a:ext cx="3876185" cy="1599902"/>
          </a:xfrm>
          <a:prstGeom prst="rect">
            <a:avLst/>
          </a:prstGeom>
        </p:spPr>
      </p:pic>
    </p:spTree>
    <p:extLst>
      <p:ext uri="{BB962C8B-B14F-4D97-AF65-F5344CB8AC3E}">
        <p14:creationId xmlns:p14="http://schemas.microsoft.com/office/powerpoint/2010/main" val="8980293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DBD821E8-3354-7535-EC13-817D28E082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Slide Number Placeholder 11">
            <a:extLst>
              <a:ext uri="{FF2B5EF4-FFF2-40B4-BE49-F238E27FC236}">
                <a16:creationId xmlns:a16="http://schemas.microsoft.com/office/drawing/2014/main" id="{93EE6864-9854-8F88-F097-07FDF4A8AF9D}"/>
              </a:ext>
            </a:extLst>
          </p:cNvPr>
          <p:cNvSpPr>
            <a:spLocks noGrp="1"/>
          </p:cNvSpPr>
          <p:nvPr>
            <p:ph type="sldNum" sz="quarter" idx="12"/>
          </p:nvPr>
        </p:nvSpPr>
        <p:spPr/>
        <p:txBody>
          <a:bodyPr/>
          <a:lstStyle/>
          <a:p>
            <a:fld id="{48F19E39-9933-F648-B2F3-3AC17C0DC986}" type="slidenum">
              <a:rPr lang="en-US" smtClean="0">
                <a:solidFill>
                  <a:schemeClr val="bg1"/>
                </a:solidFill>
              </a:rPr>
              <a:t>21</a:t>
            </a:fld>
            <a:endParaRPr lang="en-US" dirty="0">
              <a:solidFill>
                <a:schemeClr val="bg1"/>
              </a:solidFill>
            </a:endParaRPr>
          </a:p>
        </p:txBody>
      </p:sp>
      <p:sp>
        <p:nvSpPr>
          <p:cNvPr id="8" name="TextBox 7">
            <a:extLst>
              <a:ext uri="{FF2B5EF4-FFF2-40B4-BE49-F238E27FC236}">
                <a16:creationId xmlns:a16="http://schemas.microsoft.com/office/drawing/2014/main" id="{A35675E4-D55C-3F6B-0DEB-5576B0D311F5}"/>
              </a:ext>
            </a:extLst>
          </p:cNvPr>
          <p:cNvSpPr txBox="1"/>
          <p:nvPr/>
        </p:nvSpPr>
        <p:spPr>
          <a:xfrm>
            <a:off x="1803914" y="2951946"/>
            <a:ext cx="8584170" cy="954107"/>
          </a:xfrm>
          <a:prstGeom prst="rect">
            <a:avLst/>
          </a:prstGeom>
          <a:noFill/>
        </p:spPr>
        <p:txBody>
          <a:bodyPr wrap="square" rtlCol="0">
            <a:spAutoFit/>
          </a:bodyPr>
          <a:lstStyle/>
          <a:p>
            <a:pPr algn="ctr"/>
            <a:r>
              <a:rPr lang="en-US" sz="3600" b="1" dirty="0">
                <a:solidFill>
                  <a:srgbClr val="822334"/>
                </a:solidFill>
                <a:latin typeface="Inter" panose="02000503000000020004" pitchFamily="2" charset="0"/>
                <a:ea typeface="Inter" panose="02000503000000020004" pitchFamily="2" charset="0"/>
                <a:cs typeface="Inter" panose="02000503000000020004" pitchFamily="2" charset="0"/>
              </a:rPr>
              <a:t>THANK YOU FOR YOUR ATTENTION</a:t>
            </a:r>
          </a:p>
          <a:p>
            <a:pPr algn="ctr"/>
            <a:r>
              <a:rPr lang="en-US" sz="2000" dirty="0">
                <a:solidFill>
                  <a:srgbClr val="822334"/>
                </a:solidFill>
                <a:latin typeface="Inter" panose="02000503000000020004" pitchFamily="2" charset="0"/>
                <a:ea typeface="Inter" panose="02000503000000020004" pitchFamily="2" charset="0"/>
                <a:cs typeface="Inter" panose="02000503000000020004" pitchFamily="2" charset="0"/>
              </a:rPr>
              <a:t>Feel free to ask any question</a:t>
            </a:r>
          </a:p>
        </p:txBody>
      </p:sp>
      <p:sp>
        <p:nvSpPr>
          <p:cNvPr id="2" name="Footer Placeholder 10">
            <a:extLst>
              <a:ext uri="{FF2B5EF4-FFF2-40B4-BE49-F238E27FC236}">
                <a16:creationId xmlns:a16="http://schemas.microsoft.com/office/drawing/2014/main" id="{F3216FC1-48E7-E40C-1E09-12204ACCA7E0}"/>
              </a:ext>
            </a:extLst>
          </p:cNvPr>
          <p:cNvSpPr>
            <a:spLocks noGrp="1"/>
          </p:cNvSpPr>
          <p:nvPr>
            <p:ph type="ftr" sz="quarter" idx="11"/>
          </p:nvPr>
        </p:nvSpPr>
        <p:spPr>
          <a:xfrm>
            <a:off x="4566534" y="6356350"/>
            <a:ext cx="3058931" cy="365125"/>
          </a:xfrm>
        </p:spPr>
        <p:txBody>
          <a:bodyPr/>
          <a:lstStyle/>
          <a:p>
            <a:r>
              <a:rPr lang="en-US" dirty="0" err="1">
                <a:solidFill>
                  <a:schemeClr val="bg1"/>
                </a:solidFill>
                <a:latin typeface="Inter" panose="02000503000000020004" pitchFamily="2" charset="0"/>
                <a:ea typeface="Inter" panose="02000503000000020004" pitchFamily="2" charset="0"/>
                <a:cs typeface="Inter" panose="02000503000000020004" pitchFamily="2" charset="0"/>
              </a:rPr>
              <a:t>Cineca</a:t>
            </a:r>
            <a:r>
              <a:rPr lang="en-US" dirty="0">
                <a:solidFill>
                  <a:schemeClr val="bg1"/>
                </a:solidFill>
                <a:latin typeface="Inter" panose="02000503000000020004" pitchFamily="2" charset="0"/>
                <a:ea typeface="Inter" panose="02000503000000020004" pitchFamily="2" charset="0"/>
                <a:cs typeface="Inter" panose="02000503000000020004" pitchFamily="2" charset="0"/>
              </a:rPr>
              <a:t> Agentic Platform – Arman Feili</a:t>
            </a:r>
          </a:p>
        </p:txBody>
      </p:sp>
      <p:pic>
        <p:nvPicPr>
          <p:cNvPr id="3" name="Picture 2">
            <a:extLst>
              <a:ext uri="{FF2B5EF4-FFF2-40B4-BE49-F238E27FC236}">
                <a16:creationId xmlns:a16="http://schemas.microsoft.com/office/drawing/2014/main" id="{8E938B8D-4F99-3974-DF9F-34A67A106A37}"/>
              </a:ext>
            </a:extLst>
          </p:cNvPr>
          <p:cNvPicPr>
            <a:picLocks noChangeAspect="1"/>
          </p:cNvPicPr>
          <p:nvPr/>
        </p:nvPicPr>
        <p:blipFill>
          <a:blip r:embed="rId3"/>
          <a:stretch>
            <a:fillRect/>
          </a:stretch>
        </p:blipFill>
        <p:spPr>
          <a:xfrm>
            <a:off x="321777" y="6315552"/>
            <a:ext cx="435345" cy="435345"/>
          </a:xfrm>
          <a:prstGeom prst="rect">
            <a:avLst/>
          </a:prstGeom>
        </p:spPr>
      </p:pic>
      <p:pic>
        <p:nvPicPr>
          <p:cNvPr id="5" name="Picture 4">
            <a:extLst>
              <a:ext uri="{FF2B5EF4-FFF2-40B4-BE49-F238E27FC236}">
                <a16:creationId xmlns:a16="http://schemas.microsoft.com/office/drawing/2014/main" id="{1EFBAC7B-C172-12FA-36E5-28D6FCD88D77}"/>
              </a:ext>
            </a:extLst>
          </p:cNvPr>
          <p:cNvPicPr>
            <a:picLocks noChangeAspect="1"/>
          </p:cNvPicPr>
          <p:nvPr/>
        </p:nvPicPr>
        <p:blipFill>
          <a:blip r:embed="rId4"/>
          <a:stretch>
            <a:fillRect/>
          </a:stretch>
        </p:blipFill>
        <p:spPr>
          <a:xfrm>
            <a:off x="866134" y="6362629"/>
            <a:ext cx="1093241" cy="365125"/>
          </a:xfrm>
          <a:prstGeom prst="rect">
            <a:avLst/>
          </a:prstGeom>
        </p:spPr>
      </p:pic>
    </p:spTree>
    <p:extLst>
      <p:ext uri="{BB962C8B-B14F-4D97-AF65-F5344CB8AC3E}">
        <p14:creationId xmlns:p14="http://schemas.microsoft.com/office/powerpoint/2010/main" val="29116290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15523-5B73-B6C6-D68E-ACFF354E2A0F}"/>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C70717D2-4398-DEC2-D475-D48DD24FDD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Slide Number Placeholder 11">
            <a:extLst>
              <a:ext uri="{FF2B5EF4-FFF2-40B4-BE49-F238E27FC236}">
                <a16:creationId xmlns:a16="http://schemas.microsoft.com/office/drawing/2014/main" id="{C89578F4-C823-2614-61E5-ADE2FAF9B75E}"/>
              </a:ext>
            </a:extLst>
          </p:cNvPr>
          <p:cNvSpPr>
            <a:spLocks noGrp="1"/>
          </p:cNvSpPr>
          <p:nvPr>
            <p:ph type="sldNum" sz="quarter" idx="12"/>
          </p:nvPr>
        </p:nvSpPr>
        <p:spPr/>
        <p:txBody>
          <a:bodyPr/>
          <a:lstStyle/>
          <a:p>
            <a:fld id="{48F19E39-9933-F648-B2F3-3AC17C0DC986}" type="slidenum">
              <a:rPr lang="en-US" smtClean="0">
                <a:solidFill>
                  <a:schemeClr val="bg1"/>
                </a:solidFill>
              </a:rPr>
              <a:t>22</a:t>
            </a:fld>
            <a:endParaRPr lang="en-US" dirty="0">
              <a:solidFill>
                <a:schemeClr val="bg1"/>
              </a:solidFill>
            </a:endParaRPr>
          </a:p>
        </p:txBody>
      </p:sp>
      <p:sp>
        <p:nvSpPr>
          <p:cNvPr id="2" name="Footer Placeholder 10">
            <a:extLst>
              <a:ext uri="{FF2B5EF4-FFF2-40B4-BE49-F238E27FC236}">
                <a16:creationId xmlns:a16="http://schemas.microsoft.com/office/drawing/2014/main" id="{77229F44-C7AC-18EC-9368-A1221C27897C}"/>
              </a:ext>
            </a:extLst>
          </p:cNvPr>
          <p:cNvSpPr>
            <a:spLocks noGrp="1"/>
          </p:cNvSpPr>
          <p:nvPr>
            <p:ph type="ftr" sz="quarter" idx="11"/>
          </p:nvPr>
        </p:nvSpPr>
        <p:spPr>
          <a:xfrm>
            <a:off x="4566534" y="6356350"/>
            <a:ext cx="3058931" cy="365125"/>
          </a:xfrm>
        </p:spPr>
        <p:txBody>
          <a:bodyPr/>
          <a:lstStyle/>
          <a:p>
            <a:r>
              <a:rPr lang="en-US" dirty="0" err="1">
                <a:solidFill>
                  <a:schemeClr val="bg1"/>
                </a:solidFill>
                <a:latin typeface="Inter" panose="02000503000000020004" pitchFamily="2" charset="0"/>
                <a:ea typeface="Inter" panose="02000503000000020004" pitchFamily="2" charset="0"/>
                <a:cs typeface="Inter" panose="02000503000000020004" pitchFamily="2" charset="0"/>
              </a:rPr>
              <a:t>Cineca</a:t>
            </a:r>
            <a:r>
              <a:rPr lang="en-US" dirty="0">
                <a:solidFill>
                  <a:schemeClr val="bg1"/>
                </a:solidFill>
                <a:latin typeface="Inter" panose="02000503000000020004" pitchFamily="2" charset="0"/>
                <a:ea typeface="Inter" panose="02000503000000020004" pitchFamily="2" charset="0"/>
                <a:cs typeface="Inter" panose="02000503000000020004" pitchFamily="2" charset="0"/>
              </a:rPr>
              <a:t> Agentic Platform – Arman Feili</a:t>
            </a:r>
          </a:p>
        </p:txBody>
      </p:sp>
      <p:pic>
        <p:nvPicPr>
          <p:cNvPr id="3" name="Picture 2">
            <a:extLst>
              <a:ext uri="{FF2B5EF4-FFF2-40B4-BE49-F238E27FC236}">
                <a16:creationId xmlns:a16="http://schemas.microsoft.com/office/drawing/2014/main" id="{0E89F3C5-F85D-7DE3-5222-2E371C52AA2D}"/>
              </a:ext>
            </a:extLst>
          </p:cNvPr>
          <p:cNvPicPr>
            <a:picLocks noChangeAspect="1"/>
          </p:cNvPicPr>
          <p:nvPr/>
        </p:nvPicPr>
        <p:blipFill>
          <a:blip r:embed="rId3"/>
          <a:stretch>
            <a:fillRect/>
          </a:stretch>
        </p:blipFill>
        <p:spPr>
          <a:xfrm>
            <a:off x="321777" y="6315552"/>
            <a:ext cx="435345" cy="435345"/>
          </a:xfrm>
          <a:prstGeom prst="rect">
            <a:avLst/>
          </a:prstGeom>
        </p:spPr>
      </p:pic>
      <p:pic>
        <p:nvPicPr>
          <p:cNvPr id="5" name="Picture 4">
            <a:extLst>
              <a:ext uri="{FF2B5EF4-FFF2-40B4-BE49-F238E27FC236}">
                <a16:creationId xmlns:a16="http://schemas.microsoft.com/office/drawing/2014/main" id="{32AE8D2D-3A8A-F339-8E5C-179A51AED4EB}"/>
              </a:ext>
            </a:extLst>
          </p:cNvPr>
          <p:cNvPicPr>
            <a:picLocks noChangeAspect="1"/>
          </p:cNvPicPr>
          <p:nvPr/>
        </p:nvPicPr>
        <p:blipFill>
          <a:blip r:embed="rId4"/>
          <a:stretch>
            <a:fillRect/>
          </a:stretch>
        </p:blipFill>
        <p:spPr>
          <a:xfrm>
            <a:off x="866134" y="6362629"/>
            <a:ext cx="1093241" cy="365125"/>
          </a:xfrm>
          <a:prstGeom prst="rect">
            <a:avLst/>
          </a:prstGeom>
        </p:spPr>
      </p:pic>
      <p:sp>
        <p:nvSpPr>
          <p:cNvPr id="6" name="TextBox 5">
            <a:extLst>
              <a:ext uri="{FF2B5EF4-FFF2-40B4-BE49-F238E27FC236}">
                <a16:creationId xmlns:a16="http://schemas.microsoft.com/office/drawing/2014/main" id="{D32D126C-283F-9405-35E6-E57E38F4CBD4}"/>
              </a:ext>
            </a:extLst>
          </p:cNvPr>
          <p:cNvSpPr txBox="1"/>
          <p:nvPr/>
        </p:nvSpPr>
        <p:spPr>
          <a:xfrm>
            <a:off x="3015353" y="2951721"/>
            <a:ext cx="6161291" cy="646331"/>
          </a:xfrm>
          <a:prstGeom prst="rect">
            <a:avLst/>
          </a:prstGeom>
          <a:noFill/>
        </p:spPr>
        <p:txBody>
          <a:bodyPr wrap="square" rtlCol="0">
            <a:spAutoFit/>
          </a:bodyPr>
          <a:lstStyle/>
          <a:p>
            <a:pPr algn="ctr"/>
            <a:r>
              <a:rPr lang="en-US" sz="3600" b="1" dirty="0">
                <a:solidFill>
                  <a:srgbClr val="822334"/>
                </a:solidFill>
                <a:latin typeface="Inter" panose="02000503000000020004" pitchFamily="2" charset="0"/>
                <a:ea typeface="Inter" panose="02000503000000020004" pitchFamily="2" charset="0"/>
                <a:cs typeface="Inter" panose="02000503000000020004" pitchFamily="2" charset="0"/>
              </a:rPr>
              <a:t>BACKUP SLIDES</a:t>
            </a:r>
            <a:endParaRPr lang="en-US" sz="2000" dirty="0">
              <a:solidFill>
                <a:srgbClr val="822334"/>
              </a:solidFill>
              <a:latin typeface="Inter" panose="02000503000000020004" pitchFamily="2" charset="0"/>
              <a:ea typeface="Inter" panose="02000503000000020004" pitchFamily="2" charset="0"/>
              <a:cs typeface="Inter" panose="02000503000000020004" pitchFamily="2" charset="0"/>
            </a:endParaRPr>
          </a:p>
        </p:txBody>
      </p:sp>
    </p:spTree>
    <p:extLst>
      <p:ext uri="{BB962C8B-B14F-4D97-AF65-F5344CB8AC3E}">
        <p14:creationId xmlns:p14="http://schemas.microsoft.com/office/powerpoint/2010/main" val="36929890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AA4FD-6180-B4D1-4353-EA1B1EA2E670}"/>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7B362958-A883-D0D9-543B-A8262F9F2A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Slide Number Placeholder 11">
            <a:extLst>
              <a:ext uri="{FF2B5EF4-FFF2-40B4-BE49-F238E27FC236}">
                <a16:creationId xmlns:a16="http://schemas.microsoft.com/office/drawing/2014/main" id="{3D1A0ED6-84E3-D3C1-2A59-82233CC2AB58}"/>
              </a:ext>
            </a:extLst>
          </p:cNvPr>
          <p:cNvSpPr>
            <a:spLocks noGrp="1"/>
          </p:cNvSpPr>
          <p:nvPr>
            <p:ph type="sldNum" sz="quarter" idx="12"/>
          </p:nvPr>
        </p:nvSpPr>
        <p:spPr/>
        <p:txBody>
          <a:bodyPr/>
          <a:lstStyle/>
          <a:p>
            <a:fld id="{48F19E39-9933-F648-B2F3-3AC17C0DC986}" type="slidenum">
              <a:rPr lang="en-US" smtClean="0">
                <a:solidFill>
                  <a:schemeClr val="bg1"/>
                </a:solidFill>
              </a:rPr>
              <a:t>23</a:t>
            </a:fld>
            <a:endParaRPr lang="en-US" dirty="0">
              <a:solidFill>
                <a:schemeClr val="bg1"/>
              </a:solidFill>
            </a:endParaRPr>
          </a:p>
        </p:txBody>
      </p:sp>
      <p:sp>
        <p:nvSpPr>
          <p:cNvPr id="2" name="TextBox 1">
            <a:extLst>
              <a:ext uri="{FF2B5EF4-FFF2-40B4-BE49-F238E27FC236}">
                <a16:creationId xmlns:a16="http://schemas.microsoft.com/office/drawing/2014/main" id="{BB57F243-71C0-8BA3-1908-9E3CFAE559FA}"/>
              </a:ext>
            </a:extLst>
          </p:cNvPr>
          <p:cNvSpPr txBox="1"/>
          <p:nvPr/>
        </p:nvSpPr>
        <p:spPr>
          <a:xfrm>
            <a:off x="596348" y="374273"/>
            <a:ext cx="11038604" cy="523220"/>
          </a:xfrm>
          <a:prstGeom prst="rect">
            <a:avLst/>
          </a:prstGeom>
          <a:noFill/>
        </p:spPr>
        <p:txBody>
          <a:bodyPr wrap="square" rtlCol="0">
            <a:spAutoFit/>
          </a:bodyPr>
          <a:lstStyle/>
          <a:p>
            <a:pPr algn="just"/>
            <a:r>
              <a:rPr lang="en-US" sz="2800" b="1" dirty="0">
                <a:solidFill>
                  <a:srgbClr val="822334"/>
                </a:solidFill>
                <a:latin typeface="Inter" panose="02000503000000020004" pitchFamily="2" charset="0"/>
                <a:ea typeface="Inter" panose="02000503000000020004" pitchFamily="2" charset="0"/>
                <a:cs typeface="Inter" panose="02000503000000020004" pitchFamily="2" charset="0"/>
              </a:rPr>
              <a:t>Backup Slides - Detailed System Architecture </a:t>
            </a:r>
          </a:p>
        </p:txBody>
      </p:sp>
      <p:pic>
        <p:nvPicPr>
          <p:cNvPr id="6" name="Picture 5">
            <a:extLst>
              <a:ext uri="{FF2B5EF4-FFF2-40B4-BE49-F238E27FC236}">
                <a16:creationId xmlns:a16="http://schemas.microsoft.com/office/drawing/2014/main" id="{CF9EEC67-7AEC-114A-8E2A-05FFC9384893}"/>
              </a:ext>
            </a:extLst>
          </p:cNvPr>
          <p:cNvPicPr>
            <a:picLocks noChangeAspect="1"/>
          </p:cNvPicPr>
          <p:nvPr/>
        </p:nvPicPr>
        <p:blipFill>
          <a:blip r:embed="rId3"/>
          <a:stretch>
            <a:fillRect/>
          </a:stretch>
        </p:blipFill>
        <p:spPr>
          <a:xfrm>
            <a:off x="3001513" y="1157053"/>
            <a:ext cx="6188973" cy="4918696"/>
          </a:xfrm>
          <a:prstGeom prst="rect">
            <a:avLst/>
          </a:prstGeom>
        </p:spPr>
      </p:pic>
      <p:sp>
        <p:nvSpPr>
          <p:cNvPr id="9" name="Footer Placeholder 10">
            <a:extLst>
              <a:ext uri="{FF2B5EF4-FFF2-40B4-BE49-F238E27FC236}">
                <a16:creationId xmlns:a16="http://schemas.microsoft.com/office/drawing/2014/main" id="{D8D42AD6-97DA-5E2A-BC56-A0E76CFE36E6}"/>
              </a:ext>
            </a:extLst>
          </p:cNvPr>
          <p:cNvSpPr>
            <a:spLocks noGrp="1"/>
          </p:cNvSpPr>
          <p:nvPr>
            <p:ph type="ftr" sz="quarter" idx="11"/>
          </p:nvPr>
        </p:nvSpPr>
        <p:spPr>
          <a:xfrm>
            <a:off x="4566534" y="6356350"/>
            <a:ext cx="3058931" cy="365125"/>
          </a:xfrm>
        </p:spPr>
        <p:txBody>
          <a:bodyPr/>
          <a:lstStyle/>
          <a:p>
            <a:r>
              <a:rPr lang="en-US" dirty="0" err="1">
                <a:solidFill>
                  <a:schemeClr val="bg1"/>
                </a:solidFill>
                <a:latin typeface="Inter" panose="02000503000000020004" pitchFamily="2" charset="0"/>
                <a:ea typeface="Inter" panose="02000503000000020004" pitchFamily="2" charset="0"/>
                <a:cs typeface="Inter" panose="02000503000000020004" pitchFamily="2" charset="0"/>
              </a:rPr>
              <a:t>Cineca</a:t>
            </a:r>
            <a:r>
              <a:rPr lang="en-US" dirty="0">
                <a:solidFill>
                  <a:schemeClr val="bg1"/>
                </a:solidFill>
                <a:latin typeface="Inter" panose="02000503000000020004" pitchFamily="2" charset="0"/>
                <a:ea typeface="Inter" panose="02000503000000020004" pitchFamily="2" charset="0"/>
                <a:cs typeface="Inter" panose="02000503000000020004" pitchFamily="2" charset="0"/>
              </a:rPr>
              <a:t> Agentic Platform – Arman Feili</a:t>
            </a:r>
          </a:p>
        </p:txBody>
      </p:sp>
      <p:pic>
        <p:nvPicPr>
          <p:cNvPr id="13" name="Picture 12">
            <a:extLst>
              <a:ext uri="{FF2B5EF4-FFF2-40B4-BE49-F238E27FC236}">
                <a16:creationId xmlns:a16="http://schemas.microsoft.com/office/drawing/2014/main" id="{E24504EF-15A2-A876-FD26-29AB8718AB80}"/>
              </a:ext>
            </a:extLst>
          </p:cNvPr>
          <p:cNvPicPr>
            <a:picLocks noChangeAspect="1"/>
          </p:cNvPicPr>
          <p:nvPr/>
        </p:nvPicPr>
        <p:blipFill>
          <a:blip r:embed="rId4"/>
          <a:stretch>
            <a:fillRect/>
          </a:stretch>
        </p:blipFill>
        <p:spPr>
          <a:xfrm>
            <a:off x="321777" y="6315552"/>
            <a:ext cx="435345" cy="435345"/>
          </a:xfrm>
          <a:prstGeom prst="rect">
            <a:avLst/>
          </a:prstGeom>
        </p:spPr>
      </p:pic>
      <p:pic>
        <p:nvPicPr>
          <p:cNvPr id="14" name="Picture 13">
            <a:extLst>
              <a:ext uri="{FF2B5EF4-FFF2-40B4-BE49-F238E27FC236}">
                <a16:creationId xmlns:a16="http://schemas.microsoft.com/office/drawing/2014/main" id="{0EE0DA43-B4C7-FFF7-D766-ACDBFDA224DA}"/>
              </a:ext>
            </a:extLst>
          </p:cNvPr>
          <p:cNvPicPr>
            <a:picLocks noChangeAspect="1"/>
          </p:cNvPicPr>
          <p:nvPr/>
        </p:nvPicPr>
        <p:blipFill>
          <a:blip r:embed="rId5"/>
          <a:stretch>
            <a:fillRect/>
          </a:stretch>
        </p:blipFill>
        <p:spPr>
          <a:xfrm>
            <a:off x="866134" y="6362629"/>
            <a:ext cx="1093241" cy="365125"/>
          </a:xfrm>
          <a:prstGeom prst="rect">
            <a:avLst/>
          </a:prstGeom>
        </p:spPr>
      </p:pic>
    </p:spTree>
    <p:extLst>
      <p:ext uri="{BB962C8B-B14F-4D97-AF65-F5344CB8AC3E}">
        <p14:creationId xmlns:p14="http://schemas.microsoft.com/office/powerpoint/2010/main" val="6221604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A7508-9434-3784-ADF6-F587E36A8C40}"/>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ABF232E4-1CFF-BDCD-33C4-F2C65A2D15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Slide Number Placeholder 11">
            <a:extLst>
              <a:ext uri="{FF2B5EF4-FFF2-40B4-BE49-F238E27FC236}">
                <a16:creationId xmlns:a16="http://schemas.microsoft.com/office/drawing/2014/main" id="{A0C8BBBC-FD6B-2CB6-7B56-DAD26F35F685}"/>
              </a:ext>
            </a:extLst>
          </p:cNvPr>
          <p:cNvSpPr>
            <a:spLocks noGrp="1"/>
          </p:cNvSpPr>
          <p:nvPr>
            <p:ph type="sldNum" sz="quarter" idx="12"/>
          </p:nvPr>
        </p:nvSpPr>
        <p:spPr/>
        <p:txBody>
          <a:bodyPr/>
          <a:lstStyle/>
          <a:p>
            <a:fld id="{48F19E39-9933-F648-B2F3-3AC17C0DC986}" type="slidenum">
              <a:rPr lang="en-US" smtClean="0">
                <a:solidFill>
                  <a:schemeClr val="bg1"/>
                </a:solidFill>
              </a:rPr>
              <a:t>24</a:t>
            </a:fld>
            <a:endParaRPr lang="en-US" dirty="0">
              <a:solidFill>
                <a:schemeClr val="bg1"/>
              </a:solidFill>
            </a:endParaRPr>
          </a:p>
        </p:txBody>
      </p:sp>
      <p:sp>
        <p:nvSpPr>
          <p:cNvPr id="5" name="TextBox 4">
            <a:extLst>
              <a:ext uri="{FF2B5EF4-FFF2-40B4-BE49-F238E27FC236}">
                <a16:creationId xmlns:a16="http://schemas.microsoft.com/office/drawing/2014/main" id="{77A1F173-CF36-0695-B8A5-34627A9CA3D5}"/>
              </a:ext>
            </a:extLst>
          </p:cNvPr>
          <p:cNvSpPr txBox="1"/>
          <p:nvPr/>
        </p:nvSpPr>
        <p:spPr>
          <a:xfrm>
            <a:off x="596348" y="374273"/>
            <a:ext cx="11127823" cy="830997"/>
          </a:xfrm>
          <a:prstGeom prst="rect">
            <a:avLst/>
          </a:prstGeom>
          <a:noFill/>
        </p:spPr>
        <p:txBody>
          <a:bodyPr wrap="square" rtlCol="0">
            <a:spAutoFit/>
          </a:bodyPr>
          <a:lstStyle/>
          <a:p>
            <a:r>
              <a:rPr lang="en-US" sz="2800" b="1" dirty="0">
                <a:solidFill>
                  <a:srgbClr val="822334"/>
                </a:solidFill>
                <a:latin typeface="Inter" panose="02000503000000020004" pitchFamily="2" charset="0"/>
                <a:ea typeface="Inter" panose="02000503000000020004" pitchFamily="2" charset="0"/>
                <a:cs typeface="Inter" panose="02000503000000020004" pitchFamily="2" charset="0"/>
              </a:rPr>
              <a:t>ADAPTERS + RESILIENCE</a:t>
            </a:r>
          </a:p>
          <a:p>
            <a:r>
              <a:rPr lang="en-US" sz="2000" dirty="0">
                <a:solidFill>
                  <a:srgbClr val="822334"/>
                </a:solidFill>
                <a:latin typeface="Inter" panose="02000503000000020004" pitchFamily="2" charset="0"/>
                <a:ea typeface="Inter" panose="02000503000000020004" pitchFamily="2" charset="0"/>
                <a:cs typeface="Inter" panose="02000503000000020004" pitchFamily="2" charset="0"/>
              </a:rPr>
              <a:t>Flexible integrations with automatic failure handling</a:t>
            </a:r>
          </a:p>
        </p:txBody>
      </p:sp>
      <p:pic>
        <p:nvPicPr>
          <p:cNvPr id="8" name="Picture 7">
            <a:extLst>
              <a:ext uri="{FF2B5EF4-FFF2-40B4-BE49-F238E27FC236}">
                <a16:creationId xmlns:a16="http://schemas.microsoft.com/office/drawing/2014/main" id="{305EABB4-DC70-845C-C094-B22953262017}"/>
              </a:ext>
            </a:extLst>
          </p:cNvPr>
          <p:cNvPicPr>
            <a:picLocks noChangeAspect="1"/>
          </p:cNvPicPr>
          <p:nvPr/>
        </p:nvPicPr>
        <p:blipFill>
          <a:blip r:embed="rId3"/>
          <a:stretch>
            <a:fillRect/>
          </a:stretch>
        </p:blipFill>
        <p:spPr>
          <a:xfrm>
            <a:off x="7484688" y="3081014"/>
            <a:ext cx="2988102" cy="2861374"/>
          </a:xfrm>
          <a:prstGeom prst="rect">
            <a:avLst/>
          </a:prstGeom>
        </p:spPr>
      </p:pic>
      <p:sp>
        <p:nvSpPr>
          <p:cNvPr id="7" name="Footer Placeholder 10">
            <a:extLst>
              <a:ext uri="{FF2B5EF4-FFF2-40B4-BE49-F238E27FC236}">
                <a16:creationId xmlns:a16="http://schemas.microsoft.com/office/drawing/2014/main" id="{A4737EE5-37A7-DF63-3C7D-81462E9C81E0}"/>
              </a:ext>
            </a:extLst>
          </p:cNvPr>
          <p:cNvSpPr>
            <a:spLocks noGrp="1"/>
          </p:cNvSpPr>
          <p:nvPr>
            <p:ph type="ftr" sz="quarter" idx="11"/>
          </p:nvPr>
        </p:nvSpPr>
        <p:spPr>
          <a:xfrm>
            <a:off x="4566534" y="6356350"/>
            <a:ext cx="3058931" cy="365125"/>
          </a:xfrm>
        </p:spPr>
        <p:txBody>
          <a:bodyPr/>
          <a:lstStyle/>
          <a:p>
            <a:r>
              <a:rPr lang="en-US" dirty="0" err="1">
                <a:solidFill>
                  <a:schemeClr val="bg1"/>
                </a:solidFill>
                <a:latin typeface="Inter" panose="02000503000000020004" pitchFamily="2" charset="0"/>
                <a:ea typeface="Inter" panose="02000503000000020004" pitchFamily="2" charset="0"/>
                <a:cs typeface="Inter" panose="02000503000000020004" pitchFamily="2" charset="0"/>
              </a:rPr>
              <a:t>Cineca</a:t>
            </a:r>
            <a:r>
              <a:rPr lang="en-US" dirty="0">
                <a:solidFill>
                  <a:schemeClr val="bg1"/>
                </a:solidFill>
                <a:latin typeface="Inter" panose="02000503000000020004" pitchFamily="2" charset="0"/>
                <a:ea typeface="Inter" panose="02000503000000020004" pitchFamily="2" charset="0"/>
                <a:cs typeface="Inter" panose="02000503000000020004" pitchFamily="2" charset="0"/>
              </a:rPr>
              <a:t> Agentic Platform – Arman Feili</a:t>
            </a:r>
          </a:p>
        </p:txBody>
      </p:sp>
      <p:pic>
        <p:nvPicPr>
          <p:cNvPr id="9" name="Picture 8">
            <a:extLst>
              <a:ext uri="{FF2B5EF4-FFF2-40B4-BE49-F238E27FC236}">
                <a16:creationId xmlns:a16="http://schemas.microsoft.com/office/drawing/2014/main" id="{5EE06B1A-DF1A-690A-019B-33BE8004478A}"/>
              </a:ext>
            </a:extLst>
          </p:cNvPr>
          <p:cNvPicPr>
            <a:picLocks noChangeAspect="1"/>
          </p:cNvPicPr>
          <p:nvPr/>
        </p:nvPicPr>
        <p:blipFill>
          <a:blip r:embed="rId4"/>
          <a:stretch>
            <a:fillRect/>
          </a:stretch>
        </p:blipFill>
        <p:spPr>
          <a:xfrm>
            <a:off x="321777" y="6315552"/>
            <a:ext cx="435345" cy="435345"/>
          </a:xfrm>
          <a:prstGeom prst="rect">
            <a:avLst/>
          </a:prstGeom>
        </p:spPr>
      </p:pic>
      <p:pic>
        <p:nvPicPr>
          <p:cNvPr id="10" name="Picture 9">
            <a:extLst>
              <a:ext uri="{FF2B5EF4-FFF2-40B4-BE49-F238E27FC236}">
                <a16:creationId xmlns:a16="http://schemas.microsoft.com/office/drawing/2014/main" id="{826B5C75-1BB8-B856-253D-D1FEF3E28E16}"/>
              </a:ext>
            </a:extLst>
          </p:cNvPr>
          <p:cNvPicPr>
            <a:picLocks noChangeAspect="1"/>
          </p:cNvPicPr>
          <p:nvPr/>
        </p:nvPicPr>
        <p:blipFill>
          <a:blip r:embed="rId5"/>
          <a:stretch>
            <a:fillRect/>
          </a:stretch>
        </p:blipFill>
        <p:spPr>
          <a:xfrm>
            <a:off x="866134" y="6362629"/>
            <a:ext cx="1093241" cy="365125"/>
          </a:xfrm>
          <a:prstGeom prst="rect">
            <a:avLst/>
          </a:prstGeom>
        </p:spPr>
      </p:pic>
      <p:sp>
        <p:nvSpPr>
          <p:cNvPr id="2" name="TextBox 1">
            <a:extLst>
              <a:ext uri="{FF2B5EF4-FFF2-40B4-BE49-F238E27FC236}">
                <a16:creationId xmlns:a16="http://schemas.microsoft.com/office/drawing/2014/main" id="{62B24FC1-E3C1-558C-930E-23E54E028F9F}"/>
              </a:ext>
            </a:extLst>
          </p:cNvPr>
          <p:cNvSpPr txBox="1"/>
          <p:nvPr/>
        </p:nvSpPr>
        <p:spPr>
          <a:xfrm>
            <a:off x="596348" y="1581293"/>
            <a:ext cx="5665306" cy="3847207"/>
          </a:xfrm>
          <a:prstGeom prst="rect">
            <a:avLst/>
          </a:prstGeom>
          <a:noFill/>
        </p:spPr>
        <p:txBody>
          <a:bodyPr wrap="square" rtlCol="0">
            <a:spAutoFit/>
          </a:bodyPr>
          <a:lstStyle/>
          <a:p>
            <a:r>
              <a:rPr lang="en-US" b="1" dirty="0">
                <a:latin typeface="Inter" panose="02000503000000020004" pitchFamily="2" charset="0"/>
                <a:ea typeface="Inter" panose="02000503000000020004" pitchFamily="2" charset="0"/>
                <a:cs typeface="Inter" panose="02000503000000020004" pitchFamily="2" charset="0"/>
              </a:rPr>
              <a:t>Swappable Adapters</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Vendor-independent business logic</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Unified LLM interface</a:t>
            </a:r>
          </a:p>
          <a:p>
            <a:pPr marL="285750" indent="-285750">
              <a:buFont typeface="Arial" panose="020B0604020202020204" pitchFamily="34" charset="0"/>
              <a:buChar char="•"/>
            </a:pPr>
            <a:r>
              <a:rPr lang="en-US" sz="1600" dirty="0" err="1">
                <a:latin typeface="Inter" panose="02000503000000020004" pitchFamily="2" charset="0"/>
                <a:ea typeface="Inter" panose="02000503000000020004" pitchFamily="2" charset="0"/>
                <a:cs typeface="Inter" panose="02000503000000020004" pitchFamily="2" charset="0"/>
              </a:rPr>
              <a:t>Ollama</a:t>
            </a:r>
            <a:r>
              <a:rPr lang="en-US" sz="1600" dirty="0">
                <a:latin typeface="Inter" panose="02000503000000020004" pitchFamily="2" charset="0"/>
                <a:ea typeface="Inter" panose="02000503000000020004" pitchFamily="2" charset="0"/>
                <a:cs typeface="Inter" panose="02000503000000020004" pitchFamily="2" charset="0"/>
              </a:rPr>
              <a:t>, OpenAI, Azure, stub/demo providers</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Unified database access</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Redis, PostgreSQL, </a:t>
            </a:r>
            <a:r>
              <a:rPr lang="en-US" sz="1600" dirty="0" err="1">
                <a:latin typeface="Inter" panose="02000503000000020004" pitchFamily="2" charset="0"/>
                <a:ea typeface="Inter" panose="02000503000000020004" pitchFamily="2" charset="0"/>
                <a:cs typeface="Inter" panose="02000503000000020004" pitchFamily="2" charset="0"/>
              </a:rPr>
              <a:t>Memgraph</a:t>
            </a:r>
            <a:r>
              <a:rPr lang="en-US" sz="1600" dirty="0">
                <a:latin typeface="Inter" panose="02000503000000020004" pitchFamily="2" charset="0"/>
                <a:ea typeface="Inter" panose="02000503000000020004" pitchFamily="2" charset="0"/>
                <a:cs typeface="Inter" panose="02000503000000020004" pitchFamily="2" charset="0"/>
              </a:rPr>
              <a:t> adapters</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Backend changes without orchestrator rewrites</a:t>
            </a:r>
          </a:p>
          <a:p>
            <a:pPr marL="285750" indent="-285750">
              <a:buFont typeface="Arial" panose="020B0604020202020204" pitchFamily="34" charset="0"/>
              <a:buChar char="•"/>
            </a:pPr>
            <a:endParaRPr lang="en-US" sz="1600" dirty="0">
              <a:latin typeface="Inter" panose="02000503000000020004" pitchFamily="2" charset="0"/>
              <a:ea typeface="Inter" panose="02000503000000020004" pitchFamily="2" charset="0"/>
              <a:cs typeface="Inter" panose="02000503000000020004" pitchFamily="2" charset="0"/>
            </a:endParaRPr>
          </a:p>
          <a:p>
            <a:r>
              <a:rPr lang="en-US" b="1" dirty="0">
                <a:latin typeface="Inter" panose="02000503000000020004" pitchFamily="2" charset="0"/>
                <a:ea typeface="Inter" panose="02000503000000020004" pitchFamily="2" charset="0"/>
                <a:cs typeface="Inter" panose="02000503000000020004" pitchFamily="2" charset="0"/>
              </a:rPr>
              <a:t>Resilience Mechanisms</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Retries with backoff</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Circuit breakers</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Provider fallback</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Fail-fast behavior</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Closed → Open → Half-open recovery</a:t>
            </a:r>
          </a:p>
          <a:p>
            <a:endParaRPr lang="en-US" sz="1600" dirty="0">
              <a:latin typeface="Inter" panose="02000503000000020004" pitchFamily="2" charset="0"/>
              <a:ea typeface="Inter" panose="02000503000000020004" pitchFamily="2" charset="0"/>
              <a:cs typeface="Inter" panose="02000503000000020004" pitchFamily="2" charset="0"/>
            </a:endParaRPr>
          </a:p>
        </p:txBody>
      </p:sp>
      <p:sp>
        <p:nvSpPr>
          <p:cNvPr id="11" name="TextBox 10">
            <a:extLst>
              <a:ext uri="{FF2B5EF4-FFF2-40B4-BE49-F238E27FC236}">
                <a16:creationId xmlns:a16="http://schemas.microsoft.com/office/drawing/2014/main" id="{141ED0DF-24DD-6A02-F13E-649003364D48}"/>
              </a:ext>
            </a:extLst>
          </p:cNvPr>
          <p:cNvSpPr txBox="1"/>
          <p:nvPr/>
        </p:nvSpPr>
        <p:spPr>
          <a:xfrm>
            <a:off x="6510130" y="1585896"/>
            <a:ext cx="5214041" cy="1354217"/>
          </a:xfrm>
          <a:prstGeom prst="rect">
            <a:avLst/>
          </a:prstGeom>
          <a:noFill/>
        </p:spPr>
        <p:txBody>
          <a:bodyPr wrap="square" rtlCol="0">
            <a:spAutoFit/>
          </a:bodyPr>
          <a:lstStyle/>
          <a:p>
            <a:r>
              <a:rPr lang="en-US" b="1" dirty="0">
                <a:latin typeface="Inter" panose="02000503000000020004" pitchFamily="2" charset="0"/>
                <a:ea typeface="Inter" panose="02000503000000020004" pitchFamily="2" charset="0"/>
                <a:cs typeface="Inter" panose="02000503000000020004" pitchFamily="2" charset="0"/>
              </a:rPr>
              <a:t>Operational Tracking</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Token usage</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Cost tracking</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Latency measurement</a:t>
            </a:r>
          </a:p>
          <a:p>
            <a:pPr marL="285750" indent="-285750">
              <a:buFont typeface="Arial" panose="020B0604020202020204" pitchFamily="34" charset="0"/>
              <a:buChar char="•"/>
            </a:pPr>
            <a:r>
              <a:rPr lang="en-US" sz="1600" dirty="0">
                <a:latin typeface="Inter" panose="02000503000000020004" pitchFamily="2" charset="0"/>
                <a:ea typeface="Inter" panose="02000503000000020004" pitchFamily="2" charset="0"/>
                <a:cs typeface="Inter" panose="02000503000000020004" pitchFamily="2" charset="0"/>
              </a:rPr>
              <a:t>Monitoring and budgeting</a:t>
            </a:r>
          </a:p>
        </p:txBody>
      </p:sp>
    </p:spTree>
    <p:extLst>
      <p:ext uri="{BB962C8B-B14F-4D97-AF65-F5344CB8AC3E}">
        <p14:creationId xmlns:p14="http://schemas.microsoft.com/office/powerpoint/2010/main" val="26384398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29032</TotalTime>
  <Words>2160</Words>
  <Application>Microsoft Macintosh PowerPoint</Application>
  <PresentationFormat>Widescreen</PresentationFormat>
  <Paragraphs>482</Paragraphs>
  <Slides>24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Calibri</vt:lpstr>
      <vt:lpstr>Calibri Light</vt:lpstr>
      <vt:lpstr>Courier New</vt:lpstr>
      <vt:lpstr>Inter</vt:lpstr>
      <vt:lpstr>Menlo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arman feili</dc:creator>
  <cp:lastModifiedBy>arman feili</cp:lastModifiedBy>
  <cp:revision>315</cp:revision>
  <dcterms:created xsi:type="dcterms:W3CDTF">2024-03-13T12:10:15Z</dcterms:created>
  <dcterms:modified xsi:type="dcterms:W3CDTF">2026-06-29T15:37:38Z</dcterms:modified>
</cp:coreProperties>
</file>