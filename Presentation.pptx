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6"/>
  </p:notesMasterIdLst>
  <p:sldIdLst>
    <p:sldId id="256" r:id="rId2"/>
    <p:sldId id="257" r:id="rId3"/>
    <p:sldId id="262" r:id="rId4"/>
    <p:sldId id="263" r:id="rId5"/>
    <p:sldId id="266" r:id="rId6"/>
    <p:sldId id="312" r:id="rId7"/>
    <p:sldId id="267" r:id="rId8"/>
    <p:sldId id="269" r:id="rId9"/>
    <p:sldId id="270" r:id="rId10"/>
    <p:sldId id="271" r:id="rId11"/>
    <p:sldId id="272" r:id="rId12"/>
    <p:sldId id="273" r:id="rId13"/>
    <p:sldId id="274" r:id="rId14"/>
    <p:sldId id="278" r:id="rId15"/>
    <p:sldId id="279" r:id="rId16"/>
    <p:sldId id="281" r:id="rId17"/>
    <p:sldId id="282" r:id="rId18"/>
    <p:sldId id="283" r:id="rId19"/>
    <p:sldId id="284" r:id="rId20"/>
    <p:sldId id="285" r:id="rId21"/>
    <p:sldId id="287" r:id="rId22"/>
    <p:sldId id="288" r:id="rId23"/>
    <p:sldId id="290" r:id="rId24"/>
    <p:sldId id="291" r:id="rId25"/>
    <p:sldId id="292" r:id="rId26"/>
    <p:sldId id="293" r:id="rId27"/>
    <p:sldId id="294" r:id="rId28"/>
    <p:sldId id="295" r:id="rId29"/>
    <p:sldId id="296" r:id="rId30"/>
    <p:sldId id="300" r:id="rId31"/>
    <p:sldId id="298" r:id="rId32"/>
    <p:sldId id="299" r:id="rId33"/>
    <p:sldId id="301" r:id="rId34"/>
    <p:sldId id="302" r:id="rId35"/>
    <p:sldId id="304" r:id="rId36"/>
    <p:sldId id="303" r:id="rId37"/>
    <p:sldId id="305" r:id="rId38"/>
    <p:sldId id="306" r:id="rId39"/>
    <p:sldId id="307" r:id="rId40"/>
    <p:sldId id="308" r:id="rId41"/>
    <p:sldId id="310" r:id="rId42"/>
    <p:sldId id="311" r:id="rId43"/>
    <p:sldId id="309" r:id="rId44"/>
    <p:sldId id="25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334"/>
    <a:srgbClr val="F0EBF5"/>
    <a:srgbClr val="FFF1E6"/>
    <a:srgbClr val="FFEAEA"/>
    <a:srgbClr val="D7E4D7"/>
    <a:srgbClr val="EAF7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88"/>
    <p:restoredTop sz="96860"/>
  </p:normalViewPr>
  <p:slideViewPr>
    <p:cSldViewPr snapToGrid="0">
      <p:cViewPr varScale="1">
        <p:scale>
          <a:sx n="128" d="100"/>
          <a:sy n="128" d="100"/>
        </p:scale>
        <p:origin x="320" y="1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924955-8B34-A04F-9FB2-E0067282C414}" type="datetimeFigureOut">
              <a:rPr lang="en-US" smtClean="0"/>
              <a:t>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2EBC6-F9AA-0C43-A9D5-630614822BE9}" type="slidenum">
              <a:rPr lang="en-US" smtClean="0"/>
              <a:t>‹#›</a:t>
            </a:fld>
            <a:endParaRPr lang="en-US"/>
          </a:p>
        </p:txBody>
      </p:sp>
    </p:spTree>
    <p:extLst>
      <p:ext uri="{BB962C8B-B14F-4D97-AF65-F5344CB8AC3E}">
        <p14:creationId xmlns:p14="http://schemas.microsoft.com/office/powerpoint/2010/main" val="3297750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C7EE-05C5-6ED5-7B79-573E62AAD6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C82534-CC9F-2F84-7FB8-53311B978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E9B9B4-89EE-DC92-DD3C-50AEEFE3F014}"/>
              </a:ext>
            </a:extLst>
          </p:cNvPr>
          <p:cNvSpPr>
            <a:spLocks noGrp="1"/>
          </p:cNvSpPr>
          <p:nvPr>
            <p:ph type="dt" sz="half" idx="10"/>
          </p:nvPr>
        </p:nvSpPr>
        <p:spPr/>
        <p:txBody>
          <a:bodyPr/>
          <a:lstStyle/>
          <a:p>
            <a:fld id="{1213D8A6-EA0A-084D-8DA9-8594A0AEFD45}" type="datetime1">
              <a:rPr lang="en-US" smtClean="0"/>
              <a:t>3/1/26</a:t>
            </a:fld>
            <a:endParaRPr lang="en-US"/>
          </a:p>
        </p:txBody>
      </p:sp>
      <p:sp>
        <p:nvSpPr>
          <p:cNvPr id="5" name="Footer Placeholder 4">
            <a:extLst>
              <a:ext uri="{FF2B5EF4-FFF2-40B4-BE49-F238E27FC236}">
                <a16:creationId xmlns:a16="http://schemas.microsoft.com/office/drawing/2014/main" id="{FDEEEEB6-93DB-7DC9-5677-209D3C224EB9}"/>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1C26F21C-5E60-E9F6-108B-615BF7324409}"/>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115120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08D0-CF38-4DB2-3D35-564D22D8EC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A19E71-6189-DF70-BAC9-1B4169F62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9D928-B0D8-EB43-04E1-87E493BFBF8A}"/>
              </a:ext>
            </a:extLst>
          </p:cNvPr>
          <p:cNvSpPr>
            <a:spLocks noGrp="1"/>
          </p:cNvSpPr>
          <p:nvPr>
            <p:ph type="dt" sz="half" idx="10"/>
          </p:nvPr>
        </p:nvSpPr>
        <p:spPr/>
        <p:txBody>
          <a:bodyPr/>
          <a:lstStyle/>
          <a:p>
            <a:fld id="{45C60FBC-0A6B-934E-946F-80179CBF291D}" type="datetime1">
              <a:rPr lang="en-US" smtClean="0"/>
              <a:t>3/1/26</a:t>
            </a:fld>
            <a:endParaRPr lang="en-US"/>
          </a:p>
        </p:txBody>
      </p:sp>
      <p:sp>
        <p:nvSpPr>
          <p:cNvPr id="5" name="Footer Placeholder 4">
            <a:extLst>
              <a:ext uri="{FF2B5EF4-FFF2-40B4-BE49-F238E27FC236}">
                <a16:creationId xmlns:a16="http://schemas.microsoft.com/office/drawing/2014/main" id="{00D1214F-C646-0BC1-9D09-935E79D0DB01}"/>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7CE9C569-E1A7-8178-B827-543644285846}"/>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6868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8589-55A8-4B2D-537D-2EA6A6B17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8D8C3A-9276-9ABF-6996-961FC5FD6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FD18D4-1B31-A6B0-D518-15E1B5D5CC79}"/>
              </a:ext>
            </a:extLst>
          </p:cNvPr>
          <p:cNvSpPr>
            <a:spLocks noGrp="1"/>
          </p:cNvSpPr>
          <p:nvPr>
            <p:ph type="dt" sz="half" idx="10"/>
          </p:nvPr>
        </p:nvSpPr>
        <p:spPr/>
        <p:txBody>
          <a:bodyPr/>
          <a:lstStyle/>
          <a:p>
            <a:fld id="{C9B4B6B2-7D13-4746-97B3-7239DAEC0C59}" type="datetime1">
              <a:rPr lang="en-US" smtClean="0"/>
              <a:t>3/1/26</a:t>
            </a:fld>
            <a:endParaRPr lang="en-US"/>
          </a:p>
        </p:txBody>
      </p:sp>
      <p:sp>
        <p:nvSpPr>
          <p:cNvPr id="5" name="Footer Placeholder 4">
            <a:extLst>
              <a:ext uri="{FF2B5EF4-FFF2-40B4-BE49-F238E27FC236}">
                <a16:creationId xmlns:a16="http://schemas.microsoft.com/office/drawing/2014/main" id="{94E13EC7-CB12-69C5-890C-A9B9DBAC4B70}"/>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202B0C25-A597-EDEA-B562-4B6EB3360491}"/>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622163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6FE8-4D22-6768-605E-719011CBC7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7DC3C0-D65E-81BA-5F4A-E41CFFE882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C41ADB-1B73-7713-91A3-38DDC077E1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2AE9D0-E821-A243-92CF-7BA2DD02102B}"/>
              </a:ext>
            </a:extLst>
          </p:cNvPr>
          <p:cNvSpPr>
            <a:spLocks noGrp="1"/>
          </p:cNvSpPr>
          <p:nvPr>
            <p:ph type="dt" sz="half" idx="10"/>
          </p:nvPr>
        </p:nvSpPr>
        <p:spPr/>
        <p:txBody>
          <a:bodyPr/>
          <a:lstStyle/>
          <a:p>
            <a:fld id="{0BB48F2C-DA62-AB40-B5CB-43F3501FA683}" type="datetime1">
              <a:rPr lang="en-US" smtClean="0"/>
              <a:t>3/1/26</a:t>
            </a:fld>
            <a:endParaRPr lang="en-US"/>
          </a:p>
        </p:txBody>
      </p:sp>
      <p:sp>
        <p:nvSpPr>
          <p:cNvPr id="6" name="Footer Placeholder 5">
            <a:extLst>
              <a:ext uri="{FF2B5EF4-FFF2-40B4-BE49-F238E27FC236}">
                <a16:creationId xmlns:a16="http://schemas.microsoft.com/office/drawing/2014/main" id="{E4EE1C03-B9E8-FA43-1D26-4EEE16FE3C98}"/>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11C47D1-873B-8229-66D1-8AE195EAE6CE}"/>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74021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A01B-6CF2-2CE9-8859-6BC5C6137F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3628FA-E687-FEAC-5200-EC1283FF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093ECC-1D4F-C58A-8461-FDB86C366D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6E81B4-E614-5AD7-1EE1-2EFB6D18F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4A966-7DE4-582F-AE48-DF1A1CEAB9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EB33C7-9053-600F-7458-B39589E9DE0D}"/>
              </a:ext>
            </a:extLst>
          </p:cNvPr>
          <p:cNvSpPr>
            <a:spLocks noGrp="1"/>
          </p:cNvSpPr>
          <p:nvPr>
            <p:ph type="dt" sz="half" idx="10"/>
          </p:nvPr>
        </p:nvSpPr>
        <p:spPr/>
        <p:txBody>
          <a:bodyPr/>
          <a:lstStyle/>
          <a:p>
            <a:fld id="{E9D5FA40-FE31-A749-A407-5160762ED597}" type="datetime1">
              <a:rPr lang="en-US" smtClean="0"/>
              <a:t>3/1/26</a:t>
            </a:fld>
            <a:endParaRPr lang="en-US"/>
          </a:p>
        </p:txBody>
      </p:sp>
      <p:sp>
        <p:nvSpPr>
          <p:cNvPr id="8" name="Footer Placeholder 7">
            <a:extLst>
              <a:ext uri="{FF2B5EF4-FFF2-40B4-BE49-F238E27FC236}">
                <a16:creationId xmlns:a16="http://schemas.microsoft.com/office/drawing/2014/main" id="{BD924CAA-DD4D-DD7F-B9D0-EDB9C4456331}"/>
              </a:ext>
            </a:extLst>
          </p:cNvPr>
          <p:cNvSpPr>
            <a:spLocks noGrp="1"/>
          </p:cNvSpPr>
          <p:nvPr>
            <p:ph type="ftr" sz="quarter" idx="11"/>
          </p:nvPr>
        </p:nvSpPr>
        <p:spPr/>
        <p:txBody>
          <a:bodyPr/>
          <a:lstStyle/>
          <a:p>
            <a:r>
              <a:rPr lang="en-US"/>
              <a:t>Sapienza University of Rome</a:t>
            </a:r>
          </a:p>
        </p:txBody>
      </p:sp>
      <p:sp>
        <p:nvSpPr>
          <p:cNvPr id="9" name="Slide Number Placeholder 8">
            <a:extLst>
              <a:ext uri="{FF2B5EF4-FFF2-40B4-BE49-F238E27FC236}">
                <a16:creationId xmlns:a16="http://schemas.microsoft.com/office/drawing/2014/main" id="{778435DE-8D3F-F113-93C2-67B5E3717E8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31638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1BF0-5B82-1665-F951-384202291E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D6866-CB71-C42D-B274-BBEBAB15EB37}"/>
              </a:ext>
            </a:extLst>
          </p:cNvPr>
          <p:cNvSpPr>
            <a:spLocks noGrp="1"/>
          </p:cNvSpPr>
          <p:nvPr>
            <p:ph type="dt" sz="half" idx="10"/>
          </p:nvPr>
        </p:nvSpPr>
        <p:spPr/>
        <p:txBody>
          <a:bodyPr/>
          <a:lstStyle/>
          <a:p>
            <a:fld id="{72C7143F-B2B1-FD4E-A03F-2D48B4C4756E}" type="datetime1">
              <a:rPr lang="en-US" smtClean="0"/>
              <a:t>3/1/26</a:t>
            </a:fld>
            <a:endParaRPr lang="en-US"/>
          </a:p>
        </p:txBody>
      </p:sp>
      <p:sp>
        <p:nvSpPr>
          <p:cNvPr id="4" name="Footer Placeholder 3">
            <a:extLst>
              <a:ext uri="{FF2B5EF4-FFF2-40B4-BE49-F238E27FC236}">
                <a16:creationId xmlns:a16="http://schemas.microsoft.com/office/drawing/2014/main" id="{E41F4385-19B3-18BF-14FC-DC423F456870}"/>
              </a:ext>
            </a:extLst>
          </p:cNvPr>
          <p:cNvSpPr>
            <a:spLocks noGrp="1"/>
          </p:cNvSpPr>
          <p:nvPr>
            <p:ph type="ftr" sz="quarter" idx="11"/>
          </p:nvPr>
        </p:nvSpPr>
        <p:spPr/>
        <p:txBody>
          <a:bodyPr/>
          <a:lstStyle/>
          <a:p>
            <a:r>
              <a:rPr lang="en-US"/>
              <a:t>Sapienza University of Rome</a:t>
            </a:r>
          </a:p>
        </p:txBody>
      </p:sp>
      <p:sp>
        <p:nvSpPr>
          <p:cNvPr id="5" name="Slide Number Placeholder 4">
            <a:extLst>
              <a:ext uri="{FF2B5EF4-FFF2-40B4-BE49-F238E27FC236}">
                <a16:creationId xmlns:a16="http://schemas.microsoft.com/office/drawing/2014/main" id="{CF64C7DB-BEB2-D1FD-A36F-D0D6EDC3BF94}"/>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47035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84C01-DF2D-3EEA-5595-767CCCD3E1F3}"/>
              </a:ext>
            </a:extLst>
          </p:cNvPr>
          <p:cNvSpPr>
            <a:spLocks noGrp="1"/>
          </p:cNvSpPr>
          <p:nvPr>
            <p:ph type="dt" sz="half" idx="10"/>
          </p:nvPr>
        </p:nvSpPr>
        <p:spPr/>
        <p:txBody>
          <a:bodyPr/>
          <a:lstStyle/>
          <a:p>
            <a:fld id="{D6D38C82-3D04-8649-87B1-E37B3CC6F257}" type="datetime1">
              <a:rPr lang="en-US" smtClean="0"/>
              <a:t>3/1/26</a:t>
            </a:fld>
            <a:endParaRPr lang="en-US"/>
          </a:p>
        </p:txBody>
      </p:sp>
      <p:sp>
        <p:nvSpPr>
          <p:cNvPr id="3" name="Footer Placeholder 2">
            <a:extLst>
              <a:ext uri="{FF2B5EF4-FFF2-40B4-BE49-F238E27FC236}">
                <a16:creationId xmlns:a16="http://schemas.microsoft.com/office/drawing/2014/main" id="{6783BB7A-86B1-1EB3-1622-B26475CCDC6B}"/>
              </a:ext>
            </a:extLst>
          </p:cNvPr>
          <p:cNvSpPr>
            <a:spLocks noGrp="1"/>
          </p:cNvSpPr>
          <p:nvPr>
            <p:ph type="ftr" sz="quarter" idx="11"/>
          </p:nvPr>
        </p:nvSpPr>
        <p:spPr/>
        <p:txBody>
          <a:bodyPr/>
          <a:lstStyle/>
          <a:p>
            <a:r>
              <a:rPr lang="en-US"/>
              <a:t>Sapienza University of Rome</a:t>
            </a:r>
          </a:p>
        </p:txBody>
      </p:sp>
      <p:sp>
        <p:nvSpPr>
          <p:cNvPr id="4" name="Slide Number Placeholder 3">
            <a:extLst>
              <a:ext uri="{FF2B5EF4-FFF2-40B4-BE49-F238E27FC236}">
                <a16:creationId xmlns:a16="http://schemas.microsoft.com/office/drawing/2014/main" id="{87EA820C-ECA5-EEF7-8673-A46C3D4CB9AF}"/>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882311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73DA-2A54-FCA0-C360-8554CF703E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D2AFF9-8CA5-CD7D-DEEE-195EFD05A2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3B1DF3-AF68-D52B-182A-D9ABF9A6A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026D9-3021-FAAF-C413-30A5A52C79BD}"/>
              </a:ext>
            </a:extLst>
          </p:cNvPr>
          <p:cNvSpPr>
            <a:spLocks noGrp="1"/>
          </p:cNvSpPr>
          <p:nvPr>
            <p:ph type="dt" sz="half" idx="10"/>
          </p:nvPr>
        </p:nvSpPr>
        <p:spPr/>
        <p:txBody>
          <a:bodyPr/>
          <a:lstStyle/>
          <a:p>
            <a:fld id="{B5A2484E-3F4D-204D-93DF-E49FAFB9DF97}" type="datetime1">
              <a:rPr lang="en-US" smtClean="0"/>
              <a:t>3/1/26</a:t>
            </a:fld>
            <a:endParaRPr lang="en-US"/>
          </a:p>
        </p:txBody>
      </p:sp>
      <p:sp>
        <p:nvSpPr>
          <p:cNvPr id="6" name="Footer Placeholder 5">
            <a:extLst>
              <a:ext uri="{FF2B5EF4-FFF2-40B4-BE49-F238E27FC236}">
                <a16:creationId xmlns:a16="http://schemas.microsoft.com/office/drawing/2014/main" id="{C88B5962-833D-57DF-2059-51B30BCAD60D}"/>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90EA2546-9567-4CBF-9E26-EDEA3851B317}"/>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5776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F1B2-480F-9C52-FD1A-CAF938BCA5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852BC0-7818-613C-5BCB-E7B4F33B3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1C3A47-8405-1622-FAEB-23C5478B9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2C07F-B333-BE61-1D86-53CBC15D1C0F}"/>
              </a:ext>
            </a:extLst>
          </p:cNvPr>
          <p:cNvSpPr>
            <a:spLocks noGrp="1"/>
          </p:cNvSpPr>
          <p:nvPr>
            <p:ph type="dt" sz="half" idx="10"/>
          </p:nvPr>
        </p:nvSpPr>
        <p:spPr/>
        <p:txBody>
          <a:bodyPr/>
          <a:lstStyle/>
          <a:p>
            <a:fld id="{AD472E14-530C-BB46-8E59-461E234CEAFE}" type="datetime1">
              <a:rPr lang="en-US" smtClean="0"/>
              <a:t>3/1/26</a:t>
            </a:fld>
            <a:endParaRPr lang="en-US"/>
          </a:p>
        </p:txBody>
      </p:sp>
      <p:sp>
        <p:nvSpPr>
          <p:cNvPr id="6" name="Footer Placeholder 5">
            <a:extLst>
              <a:ext uri="{FF2B5EF4-FFF2-40B4-BE49-F238E27FC236}">
                <a16:creationId xmlns:a16="http://schemas.microsoft.com/office/drawing/2014/main" id="{1C522695-CC4C-B1E9-01A6-5DF84153BA1E}"/>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A4CDD63-E81C-A76C-CCB4-F3A1B81D07EC}"/>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17108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8ABC-9AB7-5DB7-A86C-66A6BAB89A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D59D7A-56ED-A78B-A34A-051E28877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CE3C8D-D31D-0ACC-FC8F-AD641C6AEF7D}"/>
              </a:ext>
            </a:extLst>
          </p:cNvPr>
          <p:cNvSpPr>
            <a:spLocks noGrp="1"/>
          </p:cNvSpPr>
          <p:nvPr>
            <p:ph type="dt" sz="half" idx="10"/>
          </p:nvPr>
        </p:nvSpPr>
        <p:spPr/>
        <p:txBody>
          <a:bodyPr/>
          <a:lstStyle/>
          <a:p>
            <a:fld id="{E30EFC2B-6928-3945-94D4-8A6718977E52}" type="datetime1">
              <a:rPr lang="en-US" smtClean="0"/>
              <a:t>3/1/26</a:t>
            </a:fld>
            <a:endParaRPr lang="en-US"/>
          </a:p>
        </p:txBody>
      </p:sp>
      <p:sp>
        <p:nvSpPr>
          <p:cNvPr id="5" name="Footer Placeholder 4">
            <a:extLst>
              <a:ext uri="{FF2B5EF4-FFF2-40B4-BE49-F238E27FC236}">
                <a16:creationId xmlns:a16="http://schemas.microsoft.com/office/drawing/2014/main" id="{26E797D8-ABD3-BD50-0F4B-93E857CD3EAC}"/>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0D26C04E-D5D5-B445-53EA-21D28A1A9C28}"/>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7544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BAC7F4-937D-BCD4-A638-EAED628EFB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CCD961-7227-B3C5-342E-D0777F4E9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551EF-BA91-9DC2-B373-C35CD03B6DA2}"/>
              </a:ext>
            </a:extLst>
          </p:cNvPr>
          <p:cNvSpPr>
            <a:spLocks noGrp="1"/>
          </p:cNvSpPr>
          <p:nvPr>
            <p:ph type="dt" sz="half" idx="10"/>
          </p:nvPr>
        </p:nvSpPr>
        <p:spPr/>
        <p:txBody>
          <a:bodyPr/>
          <a:lstStyle/>
          <a:p>
            <a:fld id="{497B982F-F446-394C-BCD8-D0F6884AB04A}" type="datetime1">
              <a:rPr lang="en-US" smtClean="0"/>
              <a:t>3/1/26</a:t>
            </a:fld>
            <a:endParaRPr lang="en-US"/>
          </a:p>
        </p:txBody>
      </p:sp>
      <p:sp>
        <p:nvSpPr>
          <p:cNvPr id="5" name="Footer Placeholder 4">
            <a:extLst>
              <a:ext uri="{FF2B5EF4-FFF2-40B4-BE49-F238E27FC236}">
                <a16:creationId xmlns:a16="http://schemas.microsoft.com/office/drawing/2014/main" id="{CE8C42EA-F6DC-2048-71B6-A55883311EDE}"/>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D79E56BC-50D5-636D-477A-9B86D0E922A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16472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26D7D-CED8-F7E2-6C98-BEFB8A436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0271B9-5CFD-DB35-B320-9D25AC83DC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C3B05-8623-04ED-9CDC-21C9B0B47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EFF2B-B0F7-AA47-9437-9D2D75C12C3B}" type="datetime1">
              <a:rPr lang="en-US" smtClean="0"/>
              <a:t>3/1/26</a:t>
            </a:fld>
            <a:endParaRPr lang="en-US"/>
          </a:p>
        </p:txBody>
      </p:sp>
      <p:sp>
        <p:nvSpPr>
          <p:cNvPr id="5" name="Footer Placeholder 4">
            <a:extLst>
              <a:ext uri="{FF2B5EF4-FFF2-40B4-BE49-F238E27FC236}">
                <a16:creationId xmlns:a16="http://schemas.microsoft.com/office/drawing/2014/main" id="{3C54498D-CC66-7554-D838-3FD45332DD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Sapienza University of Rome</a:t>
            </a:r>
          </a:p>
        </p:txBody>
      </p:sp>
      <p:sp>
        <p:nvSpPr>
          <p:cNvPr id="6" name="Slide Number Placeholder 5">
            <a:extLst>
              <a:ext uri="{FF2B5EF4-FFF2-40B4-BE49-F238E27FC236}">
                <a16:creationId xmlns:a16="http://schemas.microsoft.com/office/drawing/2014/main" id="{441A3BC8-96CB-4936-5AAB-65888F0452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19E39-9933-F648-B2F3-3AC17C0DC986}" type="slidenum">
              <a:rPr lang="en-US" smtClean="0"/>
              <a:t>‹#›</a:t>
            </a:fld>
            <a:endParaRPr lang="en-US"/>
          </a:p>
        </p:txBody>
      </p:sp>
    </p:spTree>
    <p:extLst>
      <p:ext uri="{BB962C8B-B14F-4D97-AF65-F5344CB8AC3E}">
        <p14:creationId xmlns:p14="http://schemas.microsoft.com/office/powerpoint/2010/main" val="804193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5" descr="Fondino">
            <a:extLst>
              <a:ext uri="{FF2B5EF4-FFF2-40B4-BE49-F238E27FC236}">
                <a16:creationId xmlns:a16="http://schemas.microsoft.com/office/drawing/2014/main" id="{B609E531-63FD-6702-EB99-A8B360E7B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72235"/>
            <a:ext cx="12192000" cy="1788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descr="logo +marchio">
            <a:extLst>
              <a:ext uri="{FF2B5EF4-FFF2-40B4-BE49-F238E27FC236}">
                <a16:creationId xmlns:a16="http://schemas.microsoft.com/office/drawing/2014/main" id="{93857B77-7E9D-09F1-8D44-8DABE74E88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541" t="16100" r="54899" b="8712"/>
          <a:stretch/>
        </p:blipFill>
        <p:spPr bwMode="auto">
          <a:xfrm>
            <a:off x="596348" y="5550746"/>
            <a:ext cx="2703443" cy="86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8822AD0-7E03-F7CA-5FCE-05C7A5AD190C}"/>
              </a:ext>
            </a:extLst>
          </p:cNvPr>
          <p:cNvSpPr txBox="1"/>
          <p:nvPr/>
        </p:nvSpPr>
        <p:spPr>
          <a:xfrm>
            <a:off x="596348" y="443723"/>
            <a:ext cx="7423045" cy="1477328"/>
          </a:xfrm>
          <a:prstGeom prst="rect">
            <a:avLst/>
          </a:prstGeom>
          <a:noFill/>
        </p:spPr>
        <p:txBody>
          <a:bodyPr wrap="square" rtlCol="0">
            <a:spAutoFit/>
          </a:bodyPr>
          <a:lstStyle/>
          <a:p>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CINECA AGENTIC PLATFORM</a:t>
            </a:r>
          </a:p>
          <a:p>
            <a:br>
              <a:rPr lang="en-US" dirty="0">
                <a:solidFill>
                  <a:srgbClr val="822334"/>
                </a:solidFill>
                <a:latin typeface="Inter" panose="02000503000000020004" pitchFamily="2" charset="0"/>
                <a:ea typeface="Inter" panose="02000503000000020004" pitchFamily="2" charset="0"/>
                <a:cs typeface="Inter" panose="02000503000000020004" pitchFamily="2" charset="0"/>
              </a:rPr>
            </a:br>
            <a:r>
              <a:rPr lang="en-US" dirty="0">
                <a:solidFill>
                  <a:srgbClr val="822334"/>
                </a:solidFill>
                <a:latin typeface="Inter" panose="02000503000000020004" pitchFamily="2" charset="0"/>
                <a:ea typeface="Inter" panose="02000503000000020004" pitchFamily="2" charset="0"/>
                <a:cs typeface="Inter" panose="02000503000000020004" pitchFamily="2" charset="0"/>
              </a:rPr>
              <a:t>Enterprise-Grade AI Agent Orchestration Platform Connecting Multi-Tenant Architecture, MCP Tools, and Secure Graph Querying</a:t>
            </a:r>
          </a:p>
        </p:txBody>
      </p:sp>
      <p:sp>
        <p:nvSpPr>
          <p:cNvPr id="8" name="TextBox 7">
            <a:extLst>
              <a:ext uri="{FF2B5EF4-FFF2-40B4-BE49-F238E27FC236}">
                <a16:creationId xmlns:a16="http://schemas.microsoft.com/office/drawing/2014/main" id="{D332E4FC-2896-9B56-6749-272BA4E11690}"/>
              </a:ext>
            </a:extLst>
          </p:cNvPr>
          <p:cNvSpPr txBox="1"/>
          <p:nvPr/>
        </p:nvSpPr>
        <p:spPr>
          <a:xfrm>
            <a:off x="596348" y="2006268"/>
            <a:ext cx="2584362" cy="2554545"/>
          </a:xfrm>
          <a:prstGeom prst="rect">
            <a:avLst/>
          </a:prstGeom>
          <a:noFill/>
        </p:spPr>
        <p:txBody>
          <a:bodyPr wrap="non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Author: </a:t>
            </a:r>
          </a:p>
          <a:p>
            <a:r>
              <a:rPr lang="en-US" sz="1600" dirty="0">
                <a:latin typeface="Inter" panose="02000503000000020004" pitchFamily="2" charset="0"/>
                <a:ea typeface="Inter" panose="02000503000000020004" pitchFamily="2" charset="0"/>
                <a:cs typeface="Inter" panose="02000503000000020004" pitchFamily="2" charset="0"/>
              </a:rPr>
              <a:t>Arman Feili</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Advisor: </a:t>
            </a:r>
          </a:p>
          <a:p>
            <a:r>
              <a:rPr lang="en-US" sz="1600" dirty="0">
                <a:latin typeface="Inter" panose="02000503000000020004" pitchFamily="2" charset="0"/>
                <a:ea typeface="Inter" panose="02000503000000020004" pitchFamily="2" charset="0"/>
                <a:cs typeface="Inter" panose="02000503000000020004" pitchFamily="2" charset="0"/>
              </a:rPr>
              <a:t>Prof. Marco Raoul Marini</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Co-Advisors: </a:t>
            </a:r>
          </a:p>
          <a:p>
            <a:r>
              <a:rPr lang="en-US" sz="1600" dirty="0">
                <a:latin typeface="Inter" panose="02000503000000020004" pitchFamily="2" charset="0"/>
                <a:ea typeface="Inter" panose="02000503000000020004" pitchFamily="2" charset="0"/>
                <a:cs typeface="Inter" panose="02000503000000020004" pitchFamily="2" charset="0"/>
              </a:rPr>
              <a:t>Dr. Valerio </a:t>
            </a:r>
            <a:r>
              <a:rPr lang="en-US" sz="1600" dirty="0" err="1">
                <a:latin typeface="Inter" panose="02000503000000020004" pitchFamily="2" charset="0"/>
                <a:ea typeface="Inter" panose="02000503000000020004" pitchFamily="2" charset="0"/>
                <a:cs typeface="Inter" panose="02000503000000020004" pitchFamily="2" charset="0"/>
              </a:rPr>
              <a:t>Venanzi</a:t>
            </a:r>
            <a:r>
              <a:rPr lang="en-US" sz="1600" dirty="0">
                <a:latin typeface="Inter" panose="02000503000000020004" pitchFamily="2" charset="0"/>
                <a:ea typeface="Inter" panose="02000503000000020004" pitchFamily="2" charset="0"/>
                <a:cs typeface="Inter" panose="02000503000000020004" pitchFamily="2" charset="0"/>
              </a:rPr>
              <a:t> </a:t>
            </a:r>
          </a:p>
          <a:p>
            <a:r>
              <a:rPr lang="en-US" sz="1600" dirty="0">
                <a:latin typeface="Inter" panose="02000503000000020004" pitchFamily="2" charset="0"/>
                <a:ea typeface="Inter" panose="02000503000000020004" pitchFamily="2" charset="0"/>
                <a:cs typeface="Inter" panose="02000503000000020004" pitchFamily="2" charset="0"/>
              </a:rPr>
              <a:t>Dr. Giuseppe </a:t>
            </a:r>
            <a:r>
              <a:rPr lang="en-US" sz="1600" dirty="0" err="1">
                <a:latin typeface="Inter" panose="02000503000000020004" pitchFamily="2" charset="0"/>
                <a:ea typeface="Inter" panose="02000503000000020004" pitchFamily="2" charset="0"/>
                <a:cs typeface="Inter" panose="02000503000000020004" pitchFamily="2" charset="0"/>
              </a:rPr>
              <a:t>Melfi</a:t>
            </a:r>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Marco Puccini</a:t>
            </a:r>
          </a:p>
        </p:txBody>
      </p:sp>
      <p:sp>
        <p:nvSpPr>
          <p:cNvPr id="9" name="CasellaDiTesto 1">
            <a:extLst>
              <a:ext uri="{FF2B5EF4-FFF2-40B4-BE49-F238E27FC236}">
                <a16:creationId xmlns:a16="http://schemas.microsoft.com/office/drawing/2014/main" id="{E9CB3607-E574-4BB8-80A3-1648106621F9}"/>
              </a:ext>
            </a:extLst>
          </p:cNvPr>
          <p:cNvSpPr txBox="1">
            <a:spLocks noChangeArrowheads="1"/>
          </p:cNvSpPr>
          <p:nvPr/>
        </p:nvSpPr>
        <p:spPr bwMode="auto">
          <a:xfrm>
            <a:off x="3512014" y="5541794"/>
            <a:ext cx="5167971"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22433"/>
              </a:buClr>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just">
              <a:spcBef>
                <a:spcPct val="0"/>
              </a:spcBef>
              <a:buClrTx/>
              <a:buFontTx/>
              <a:buNone/>
            </a:pPr>
            <a:r>
              <a:rPr lang="en-US" sz="1000" dirty="0">
                <a:solidFill>
                  <a:schemeClr val="bg1"/>
                </a:solidFill>
              </a:rPr>
              <a:t>All rights relating to this teaching material and its contents are reserved by Sapienza and its authors (or teachers who produced it). Personal use of the same by the student for study purposes is permitted. Its dissemination, duplication, assignment, transmission, distribution to third parties or to the public is absolutely prohibited under penalty of the sanctions applicable by law.</a:t>
            </a:r>
            <a:endParaRPr lang="it-IT" altLang="it-IT" sz="1000" dirty="0">
              <a:solidFill>
                <a:schemeClr val="bg1"/>
              </a:solidFill>
            </a:endParaRPr>
          </a:p>
        </p:txBody>
      </p:sp>
      <p:sp>
        <p:nvSpPr>
          <p:cNvPr id="3" name="TextBox 2">
            <a:extLst>
              <a:ext uri="{FF2B5EF4-FFF2-40B4-BE49-F238E27FC236}">
                <a16:creationId xmlns:a16="http://schemas.microsoft.com/office/drawing/2014/main" id="{4BB9E0F2-E6EC-CB8E-AAA6-E687219EE315}"/>
              </a:ext>
            </a:extLst>
          </p:cNvPr>
          <p:cNvSpPr txBox="1"/>
          <p:nvPr/>
        </p:nvSpPr>
        <p:spPr>
          <a:xfrm>
            <a:off x="3936440" y="2001866"/>
            <a:ext cx="7394864" cy="2062103"/>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University: </a:t>
            </a:r>
          </a:p>
          <a:p>
            <a:r>
              <a:rPr lang="en-US" sz="1600" dirty="0">
                <a:latin typeface="Inter" panose="02000503000000020004" pitchFamily="2" charset="0"/>
                <a:ea typeface="Inter" panose="02000503000000020004" pitchFamily="2" charset="0"/>
                <a:cs typeface="Inter" panose="02000503000000020004" pitchFamily="2" charset="0"/>
              </a:rPr>
              <a:t>Sapienza University of Rome</a:t>
            </a:r>
          </a:p>
          <a:p>
            <a:endParaRPr lang="en-US" sz="1600" dirty="0">
              <a:solidFill>
                <a:schemeClr val="tx1">
                  <a:lumMod val="50000"/>
                  <a:lumOff val="50000"/>
                </a:schemeClr>
              </a:solidFill>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Department:</a:t>
            </a:r>
          </a:p>
          <a:p>
            <a:r>
              <a:rPr lang="en-US" sz="1600" dirty="0">
                <a:latin typeface="Inter" panose="02000503000000020004" pitchFamily="2" charset="0"/>
                <a:ea typeface="Inter" panose="02000503000000020004" pitchFamily="2" charset="0"/>
                <a:cs typeface="Inter" panose="02000503000000020004" pitchFamily="2" charset="0"/>
              </a:rPr>
              <a:t>Information Engineering, Electronics and Telecommunications</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Company: </a:t>
            </a:r>
          </a:p>
          <a:p>
            <a:r>
              <a:rPr lang="en-US" sz="1600" dirty="0">
                <a:latin typeface="Inter" panose="02000503000000020004" pitchFamily="2" charset="0"/>
                <a:ea typeface="Inter" panose="02000503000000020004" pitchFamily="2" charset="0"/>
                <a:cs typeface="Inter" panose="02000503000000020004" pitchFamily="2" charset="0"/>
              </a:rPr>
              <a:t>CINECA</a:t>
            </a:r>
          </a:p>
        </p:txBody>
      </p:sp>
      <p:pic>
        <p:nvPicPr>
          <p:cNvPr id="12" name="Picture 11">
            <a:extLst>
              <a:ext uri="{FF2B5EF4-FFF2-40B4-BE49-F238E27FC236}">
                <a16:creationId xmlns:a16="http://schemas.microsoft.com/office/drawing/2014/main" id="{2651F5B7-411C-4482-F86F-14D613D813CE}"/>
              </a:ext>
            </a:extLst>
          </p:cNvPr>
          <p:cNvPicPr>
            <a:picLocks noChangeAspect="1"/>
          </p:cNvPicPr>
          <p:nvPr/>
        </p:nvPicPr>
        <p:blipFill>
          <a:blip r:embed="rId4"/>
          <a:stretch>
            <a:fillRect/>
          </a:stretch>
        </p:blipFill>
        <p:spPr>
          <a:xfrm>
            <a:off x="8993989" y="5658467"/>
            <a:ext cx="2367975" cy="646331"/>
          </a:xfrm>
          <a:prstGeom prst="rect">
            <a:avLst/>
          </a:prstGeom>
        </p:spPr>
      </p:pic>
      <p:sp>
        <p:nvSpPr>
          <p:cNvPr id="11" name="TextBox 10">
            <a:extLst>
              <a:ext uri="{FF2B5EF4-FFF2-40B4-BE49-F238E27FC236}">
                <a16:creationId xmlns:a16="http://schemas.microsoft.com/office/drawing/2014/main" id="{908D70BB-D01E-CFB8-18CD-9898FBE574DD}"/>
              </a:ext>
            </a:extLst>
          </p:cNvPr>
          <p:cNvSpPr txBox="1"/>
          <p:nvPr/>
        </p:nvSpPr>
        <p:spPr>
          <a:xfrm>
            <a:off x="7633872" y="3474966"/>
            <a:ext cx="2544105" cy="584775"/>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Academic Year: </a:t>
            </a:r>
          </a:p>
          <a:p>
            <a:r>
              <a:rPr lang="en-US" sz="1600" dirty="0">
                <a:latin typeface="Inter" panose="02000503000000020004" pitchFamily="2" charset="0"/>
                <a:ea typeface="Inter" panose="02000503000000020004" pitchFamily="2" charset="0"/>
                <a:cs typeface="Inter" panose="02000503000000020004" pitchFamily="2" charset="0"/>
              </a:rPr>
              <a:t>2025/2026</a:t>
            </a:r>
          </a:p>
        </p:txBody>
      </p:sp>
    </p:spTree>
    <p:extLst>
      <p:ext uri="{BB962C8B-B14F-4D97-AF65-F5344CB8AC3E}">
        <p14:creationId xmlns:p14="http://schemas.microsoft.com/office/powerpoint/2010/main" val="1796410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BD821E8-3354-7535-EC13-817D28E08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EB8FA11-B90D-462B-2C75-69B11774F45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3EE6864-9854-8F88-F097-07FDF4A8AF9D}"/>
              </a:ext>
            </a:extLst>
          </p:cNvPr>
          <p:cNvSpPr>
            <a:spLocks noGrp="1"/>
          </p:cNvSpPr>
          <p:nvPr>
            <p:ph type="sldNum" sz="quarter" idx="12"/>
          </p:nvPr>
        </p:nvSpPr>
        <p:spPr/>
        <p:txBody>
          <a:bodyPr/>
          <a:lstStyle/>
          <a:p>
            <a:fld id="{48F19E39-9933-F648-B2F3-3AC17C0DC986}" type="slidenum">
              <a:rPr lang="en-US" smtClean="0">
                <a:solidFill>
                  <a:schemeClr val="bg1"/>
                </a:solidFill>
              </a:rPr>
              <a:t>2</a:t>
            </a:fld>
            <a:endParaRPr lang="en-US" dirty="0">
              <a:solidFill>
                <a:schemeClr val="bg1"/>
              </a:solidFill>
            </a:endParaRPr>
          </a:p>
        </p:txBody>
      </p:sp>
      <p:sp>
        <p:nvSpPr>
          <p:cNvPr id="2" name="TextBox 1">
            <a:extLst>
              <a:ext uri="{FF2B5EF4-FFF2-40B4-BE49-F238E27FC236}">
                <a16:creationId xmlns:a16="http://schemas.microsoft.com/office/drawing/2014/main" id="{3E6C0CF7-B3D5-9F94-AFC9-0310B7978B78}"/>
              </a:ext>
            </a:extLst>
          </p:cNvPr>
          <p:cNvSpPr txBox="1"/>
          <p:nvPr/>
        </p:nvSpPr>
        <p:spPr>
          <a:xfrm>
            <a:off x="596349" y="374273"/>
            <a:ext cx="11038604" cy="5678478"/>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INDEX</a:t>
            </a:r>
            <a:br>
              <a:rPr lang="en-US" dirty="0">
                <a:latin typeface="Inter" panose="02000503000000020004" pitchFamily="2" charset="0"/>
                <a:ea typeface="Inter" panose="02000503000000020004" pitchFamily="2" charset="0"/>
                <a:cs typeface="Inter" panose="02000503000000020004" pitchFamily="2" charset="0"/>
              </a:rPr>
            </a:b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Production Gap</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What was delivered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Project Scale (Production Proof)</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Stakeholders &amp; Use Cases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Authentication Layer &amp; UI</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Security Middleware Stack</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API Layer - Routers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API Layer - Workflows A &amp; B</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Job Creation</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Workers (Job Processing Engine)</a:t>
            </a:r>
          </a:p>
          <a:p>
            <a:pPr marL="285750" indent="-285750">
              <a:buFontTx/>
              <a:buChar char="-"/>
            </a:pPr>
            <a:r>
              <a:rPr lang="en-US" sz="1300" dirty="0" err="1">
                <a:latin typeface="Inter" panose="02000503000000020004" pitchFamily="2" charset="0"/>
                <a:ea typeface="Inter" panose="02000503000000020004" pitchFamily="2" charset="0"/>
                <a:cs typeface="Inter" panose="02000503000000020004" pitchFamily="2" charset="0"/>
              </a:rPr>
              <a:t>Agent.run</a:t>
            </a:r>
            <a:r>
              <a:rPr lang="en-US" sz="1300" dirty="0">
                <a:latin typeface="Inter" panose="02000503000000020004" pitchFamily="2" charset="0"/>
                <a:ea typeface="Inter" panose="02000503000000020004" pitchFamily="2" charset="0"/>
                <a:cs typeface="Inter" panose="02000503000000020004" pitchFamily="2" charset="0"/>
              </a:rPr>
              <a:t> Job Handler (Full Orchestration Pipeline)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Service Layer - Orchestrator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LLM Providers (Model-Agnostic Architecture)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MCP Runtime &amp; Tools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NL-to-Cypher Pipeline (Graph Mode)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Data Layer - Redis, PostgreSQL, Memgraph</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Adapters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Resilience Framework</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Background Framework (APScheduler)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Observability</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Phase 4 Completion - Agent Run (Workflow A)</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Phase 4 Completion - Job Completion (Workflow B)</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Conclusion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Future Works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Thanks / Q&amp;A</a:t>
            </a:r>
          </a:p>
        </p:txBody>
      </p:sp>
      <p:sp>
        <p:nvSpPr>
          <p:cNvPr id="5" name="Footer Placeholder 10">
            <a:extLst>
              <a:ext uri="{FF2B5EF4-FFF2-40B4-BE49-F238E27FC236}">
                <a16:creationId xmlns:a16="http://schemas.microsoft.com/office/drawing/2014/main" id="{349EE67A-38C8-4ABC-FEAD-2125F41DF9A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7" name="Picture 6">
            <a:extLst>
              <a:ext uri="{FF2B5EF4-FFF2-40B4-BE49-F238E27FC236}">
                <a16:creationId xmlns:a16="http://schemas.microsoft.com/office/drawing/2014/main" id="{9D592910-A2EE-F7E9-2172-82D0E19641B2}"/>
              </a:ext>
            </a:extLst>
          </p:cNvPr>
          <p:cNvPicPr>
            <a:picLocks noChangeAspect="1"/>
          </p:cNvPicPr>
          <p:nvPr/>
        </p:nvPicPr>
        <p:blipFill>
          <a:blip r:embed="rId3"/>
          <a:stretch>
            <a:fillRect/>
          </a:stretch>
        </p:blipFill>
        <p:spPr>
          <a:xfrm>
            <a:off x="6883467" y="1199406"/>
            <a:ext cx="4470333" cy="4025736"/>
          </a:xfrm>
          <a:prstGeom prst="rect">
            <a:avLst/>
          </a:prstGeom>
        </p:spPr>
      </p:pic>
    </p:spTree>
    <p:extLst>
      <p:ext uri="{BB962C8B-B14F-4D97-AF65-F5344CB8AC3E}">
        <p14:creationId xmlns:p14="http://schemas.microsoft.com/office/powerpoint/2010/main" val="3242056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4028F-6CCB-B9A3-6E08-4F8B2872B74C}"/>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B1781109-F619-3F58-B337-496F98493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07F6A7D-B98E-9939-A463-3EDCAA32B2A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1881661-76F3-D3EB-A67B-589A0C9CBA42}"/>
              </a:ext>
            </a:extLst>
          </p:cNvPr>
          <p:cNvSpPr>
            <a:spLocks noGrp="1"/>
          </p:cNvSpPr>
          <p:nvPr>
            <p:ph type="sldNum" sz="quarter" idx="12"/>
          </p:nvPr>
        </p:nvSpPr>
        <p:spPr/>
        <p:txBody>
          <a:bodyPr/>
          <a:lstStyle/>
          <a:p>
            <a:fld id="{48F19E39-9933-F648-B2F3-3AC17C0DC986}" type="slidenum">
              <a:rPr lang="en-US" smtClean="0">
                <a:solidFill>
                  <a:schemeClr val="bg1"/>
                </a:solidFill>
              </a:rPr>
              <a:t>3</a:t>
            </a:fld>
            <a:endParaRPr lang="en-US" dirty="0">
              <a:solidFill>
                <a:schemeClr val="bg1"/>
              </a:solidFill>
            </a:endParaRPr>
          </a:p>
        </p:txBody>
      </p:sp>
      <p:sp>
        <p:nvSpPr>
          <p:cNvPr id="2" name="TextBox 1">
            <a:extLst>
              <a:ext uri="{FF2B5EF4-FFF2-40B4-BE49-F238E27FC236}">
                <a16:creationId xmlns:a16="http://schemas.microsoft.com/office/drawing/2014/main" id="{4D2E855E-70D9-0684-56A0-7C50AAB3D288}"/>
              </a:ext>
            </a:extLst>
          </p:cNvPr>
          <p:cNvSpPr txBox="1"/>
          <p:nvPr/>
        </p:nvSpPr>
        <p:spPr>
          <a:xfrm>
            <a:off x="596348" y="374273"/>
            <a:ext cx="11038604" cy="5232202"/>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PRODUCTION GAP</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 gap between what users need and what current tools provide.</a:t>
            </a:r>
          </a:p>
          <a:p>
            <a:endParaRPr lang="en-US"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The Problem</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Most users can’t write Cypher, so they rely on developers to access and analyze graph data. This creates delays and technical bottlenecks, data stays locked behind complexity.</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Why Simple Chatbots Don’t Work</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Basic chatbots can't handle real tasks.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They:</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Only answer one question at a time, no multi-step planning. </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Can’t query databases or run actual jobs.</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Lack security (no RBAC or tenant isolation).</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Don’t log actions, no audit trail.</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Produce inconsistent outputs, no reproducibility or traceability.</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Why This Matters for CINECA</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Remove developer bottlenecks</a:t>
            </a:r>
            <a:r>
              <a:rPr lang="en-US" sz="1400" dirty="0">
                <a:latin typeface="Inter" panose="02000503000000020004" pitchFamily="2" charset="0"/>
                <a:ea typeface="Inter" panose="02000503000000020004" pitchFamily="2" charset="0"/>
                <a:cs typeface="Inter" panose="02000503000000020004" pitchFamily="2" charset="0"/>
              </a:rPr>
              <a:t>: researchers query graph data directly using natural language.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Secure and compliant</a:t>
            </a:r>
            <a:r>
              <a:rPr lang="en-US" sz="1400" dirty="0">
                <a:latin typeface="Inter" panose="02000503000000020004" pitchFamily="2" charset="0"/>
                <a:ea typeface="Inter" panose="02000503000000020004" pitchFamily="2" charset="0"/>
                <a:cs typeface="Inter" panose="02000503000000020004" pitchFamily="2" charset="0"/>
              </a:rPr>
              <a:t>: RBAC, tenant isolation, and full audit logs ensure safe multi-tenant use and governance.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Scalable and reliable</a:t>
            </a:r>
            <a:r>
              <a:rPr lang="en-US" sz="1400" dirty="0">
                <a:latin typeface="Inter" panose="02000503000000020004" pitchFamily="2" charset="0"/>
                <a:ea typeface="Inter" panose="02000503000000020004" pitchFamily="2" charset="0"/>
                <a:cs typeface="Inter" panose="02000503000000020004" pitchFamily="2" charset="0"/>
              </a:rPr>
              <a:t>: agent workflows and background jobs handle complex tasks at scale.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Reproducible results</a:t>
            </a:r>
            <a:r>
              <a:rPr lang="en-US" sz="1400" dirty="0">
                <a:latin typeface="Inter" panose="02000503000000020004" pitchFamily="2" charset="0"/>
                <a:ea typeface="Inter" panose="02000503000000020004" pitchFamily="2" charset="0"/>
                <a:cs typeface="Inter" panose="02000503000000020004" pitchFamily="2" charset="0"/>
              </a:rPr>
              <a:t>: clear step tracking and outputs make results explainable.</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Lower cost, full control</a:t>
            </a:r>
            <a:r>
              <a:rPr lang="en-US" sz="1400" dirty="0">
                <a:latin typeface="Inter" panose="02000503000000020004" pitchFamily="2" charset="0"/>
                <a:ea typeface="Inter" panose="02000503000000020004" pitchFamily="2" charset="0"/>
                <a:cs typeface="Inter" panose="02000503000000020004" pitchFamily="2" charset="0"/>
              </a:rPr>
              <a:t>: run models locally (e.g., </a:t>
            </a:r>
            <a:r>
              <a:rPr lang="en-US" sz="1400" dirty="0" err="1">
                <a:latin typeface="Inter" panose="02000503000000020004" pitchFamily="2" charset="0"/>
                <a:ea typeface="Inter" panose="02000503000000020004" pitchFamily="2" charset="0"/>
                <a:cs typeface="Inter" panose="02000503000000020004" pitchFamily="2" charset="0"/>
              </a:rPr>
              <a:t>Ollama</a:t>
            </a:r>
            <a:r>
              <a:rPr lang="en-US" sz="1400" dirty="0">
                <a:latin typeface="Inter" panose="02000503000000020004" pitchFamily="2" charset="0"/>
                <a:ea typeface="Inter" panose="02000503000000020004" pitchFamily="2" charset="0"/>
                <a:cs typeface="Inter" panose="02000503000000020004" pitchFamily="2" charset="0"/>
              </a:rPr>
              <a:t>) to cut API costs and keep data inside CINECA.</a:t>
            </a:r>
          </a:p>
          <a:p>
            <a:pPr marL="285750" indent="-285750">
              <a:buFontTx/>
              <a:buChar char="-"/>
            </a:pPr>
            <a:r>
              <a:rPr lang="en-US" sz="1400" b="1" dirty="0">
                <a:latin typeface="Inter" panose="02000503000000020004" pitchFamily="2" charset="0"/>
                <a:ea typeface="Inter" panose="02000503000000020004" pitchFamily="2" charset="0"/>
                <a:cs typeface="Inter" panose="02000503000000020004" pitchFamily="2" charset="0"/>
              </a:rPr>
              <a:t>Flexible and future-ready</a:t>
            </a:r>
            <a:r>
              <a:rPr lang="en-US" sz="1400" dirty="0">
                <a:latin typeface="Inter" panose="02000503000000020004" pitchFamily="2" charset="0"/>
                <a:ea typeface="Inter" panose="02000503000000020004" pitchFamily="2" charset="0"/>
                <a:cs typeface="Inter" panose="02000503000000020004" pitchFamily="2" charset="0"/>
              </a:rPr>
              <a:t>: switch LLM providers (OpenAI, Azure, </a:t>
            </a:r>
            <a:r>
              <a:rPr lang="en-US" sz="1400" dirty="0" err="1">
                <a:latin typeface="Inter" panose="02000503000000020004" pitchFamily="2" charset="0"/>
                <a:ea typeface="Inter" panose="02000503000000020004" pitchFamily="2" charset="0"/>
                <a:cs typeface="Inter" panose="02000503000000020004" pitchFamily="2" charset="0"/>
              </a:rPr>
              <a:t>Ollama</a:t>
            </a:r>
            <a:r>
              <a:rPr lang="en-US" sz="1400" dirty="0">
                <a:latin typeface="Inter" panose="02000503000000020004" pitchFamily="2" charset="0"/>
                <a:ea typeface="Inter" panose="02000503000000020004" pitchFamily="2" charset="0"/>
                <a:cs typeface="Inter" panose="02000503000000020004" pitchFamily="2" charset="0"/>
              </a:rPr>
              <a:t>) without code changes—new models plug in easily.</a:t>
            </a:r>
          </a:p>
        </p:txBody>
      </p:sp>
      <p:sp>
        <p:nvSpPr>
          <p:cNvPr id="3" name="Footer Placeholder 10">
            <a:extLst>
              <a:ext uri="{FF2B5EF4-FFF2-40B4-BE49-F238E27FC236}">
                <a16:creationId xmlns:a16="http://schemas.microsoft.com/office/drawing/2014/main" id="{E1544213-2EB3-B169-82D2-4E29972EFBD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8" name="Picture 7">
            <a:extLst>
              <a:ext uri="{FF2B5EF4-FFF2-40B4-BE49-F238E27FC236}">
                <a16:creationId xmlns:a16="http://schemas.microsoft.com/office/drawing/2014/main" id="{C5084992-2D6D-74DE-C621-9DF00E297610}"/>
              </a:ext>
            </a:extLst>
          </p:cNvPr>
          <p:cNvPicPr>
            <a:picLocks noChangeAspect="1"/>
          </p:cNvPicPr>
          <p:nvPr/>
        </p:nvPicPr>
        <p:blipFill>
          <a:blip r:embed="rId3"/>
          <a:stretch>
            <a:fillRect/>
          </a:stretch>
        </p:blipFill>
        <p:spPr>
          <a:xfrm>
            <a:off x="7872248" y="2059078"/>
            <a:ext cx="3481552" cy="1862591"/>
          </a:xfrm>
          <a:prstGeom prst="rect">
            <a:avLst/>
          </a:prstGeom>
        </p:spPr>
      </p:pic>
    </p:spTree>
    <p:extLst>
      <p:ext uri="{BB962C8B-B14F-4D97-AF65-F5344CB8AC3E}">
        <p14:creationId xmlns:p14="http://schemas.microsoft.com/office/powerpoint/2010/main" val="178004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12FC-65B4-A05F-F68F-E3349EF8DAFC}"/>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7033088-5F9D-DA64-BB1D-3686E48847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60C3D75-8C15-028B-9522-9F71922798B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C0EFFF63-AFCA-4209-20B6-78B848BD5A57}"/>
              </a:ext>
            </a:extLst>
          </p:cNvPr>
          <p:cNvSpPr>
            <a:spLocks noGrp="1"/>
          </p:cNvSpPr>
          <p:nvPr>
            <p:ph type="sldNum" sz="quarter" idx="12"/>
          </p:nvPr>
        </p:nvSpPr>
        <p:spPr/>
        <p:txBody>
          <a:bodyPr/>
          <a:lstStyle/>
          <a:p>
            <a:fld id="{48F19E39-9933-F648-B2F3-3AC17C0DC986}" type="slidenum">
              <a:rPr lang="en-US" smtClean="0">
                <a:solidFill>
                  <a:schemeClr val="bg1"/>
                </a:solidFill>
              </a:rPr>
              <a:t>4</a:t>
            </a:fld>
            <a:endParaRPr lang="en-US" dirty="0">
              <a:solidFill>
                <a:schemeClr val="bg1"/>
              </a:solidFill>
            </a:endParaRPr>
          </a:p>
        </p:txBody>
      </p:sp>
      <p:sp>
        <p:nvSpPr>
          <p:cNvPr id="2" name="TextBox 1">
            <a:extLst>
              <a:ext uri="{FF2B5EF4-FFF2-40B4-BE49-F238E27FC236}">
                <a16:creationId xmlns:a16="http://schemas.microsoft.com/office/drawing/2014/main" id="{452D05D6-8C13-8221-C7F5-D1930A150EE7}"/>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ARCHITECTURE – FIRST DESIGNS </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Showing Evolutions in Six months</a:t>
            </a:r>
          </a:p>
        </p:txBody>
      </p:sp>
      <p:pic>
        <p:nvPicPr>
          <p:cNvPr id="15" name="Picture 14">
            <a:extLst>
              <a:ext uri="{FF2B5EF4-FFF2-40B4-BE49-F238E27FC236}">
                <a16:creationId xmlns:a16="http://schemas.microsoft.com/office/drawing/2014/main" id="{428D7B21-06D5-CAD5-B141-D63763EF4DEA}"/>
              </a:ext>
            </a:extLst>
          </p:cNvPr>
          <p:cNvPicPr>
            <a:picLocks noChangeAspect="1"/>
          </p:cNvPicPr>
          <p:nvPr/>
        </p:nvPicPr>
        <p:blipFill>
          <a:blip r:embed="rId3"/>
          <a:stretch>
            <a:fillRect/>
          </a:stretch>
        </p:blipFill>
        <p:spPr>
          <a:xfrm>
            <a:off x="596348" y="1292510"/>
            <a:ext cx="3459199" cy="4607864"/>
          </a:xfrm>
          <a:prstGeom prst="rect">
            <a:avLst/>
          </a:prstGeom>
        </p:spPr>
      </p:pic>
      <p:pic>
        <p:nvPicPr>
          <p:cNvPr id="17" name="Picture 16">
            <a:extLst>
              <a:ext uri="{FF2B5EF4-FFF2-40B4-BE49-F238E27FC236}">
                <a16:creationId xmlns:a16="http://schemas.microsoft.com/office/drawing/2014/main" id="{3DF794EF-A2E4-F377-567E-0B83A4336A6F}"/>
              </a:ext>
            </a:extLst>
          </p:cNvPr>
          <p:cNvPicPr>
            <a:picLocks noChangeAspect="1"/>
          </p:cNvPicPr>
          <p:nvPr/>
        </p:nvPicPr>
        <p:blipFill>
          <a:blip r:embed="rId4"/>
          <a:stretch>
            <a:fillRect/>
          </a:stretch>
        </p:blipFill>
        <p:spPr>
          <a:xfrm>
            <a:off x="5230128" y="1292510"/>
            <a:ext cx="6760943" cy="3797331"/>
          </a:xfrm>
          <a:prstGeom prst="rect">
            <a:avLst/>
          </a:prstGeom>
        </p:spPr>
      </p:pic>
      <p:sp>
        <p:nvSpPr>
          <p:cNvPr id="18" name="Right Arrow 17">
            <a:extLst>
              <a:ext uri="{FF2B5EF4-FFF2-40B4-BE49-F238E27FC236}">
                <a16:creationId xmlns:a16="http://schemas.microsoft.com/office/drawing/2014/main" id="{89C3DE0E-05E3-65FD-44CE-F73E4EB21248}"/>
              </a:ext>
            </a:extLst>
          </p:cNvPr>
          <p:cNvSpPr/>
          <p:nvPr/>
        </p:nvSpPr>
        <p:spPr>
          <a:xfrm>
            <a:off x="4251720" y="3191175"/>
            <a:ext cx="752766" cy="484632"/>
          </a:xfrm>
          <a:prstGeom prst="rightArrow">
            <a:avLst>
              <a:gd name="adj1" fmla="val 39801"/>
              <a:gd name="adj2" fmla="val 70398"/>
            </a:avLst>
          </a:prstGeom>
          <a:solidFill>
            <a:srgbClr val="82233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822334"/>
              </a:solidFill>
            </a:endParaRPr>
          </a:p>
        </p:txBody>
      </p:sp>
      <p:sp>
        <p:nvSpPr>
          <p:cNvPr id="19" name="Footer Placeholder 10">
            <a:extLst>
              <a:ext uri="{FF2B5EF4-FFF2-40B4-BE49-F238E27FC236}">
                <a16:creationId xmlns:a16="http://schemas.microsoft.com/office/drawing/2014/main" id="{F81DF4AA-5728-C3CE-A46D-8B4A1E08DF94}"/>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216939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93B4-7EFF-6877-4A92-7FD6C5B4ECB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BADCE589-CEC0-7F75-6C75-5210D1899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0999632-F88B-5A69-D241-F1F20F59D1E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7F384E7-5592-3B39-2800-8891C760FCE7}"/>
              </a:ext>
            </a:extLst>
          </p:cNvPr>
          <p:cNvSpPr>
            <a:spLocks noGrp="1"/>
          </p:cNvSpPr>
          <p:nvPr>
            <p:ph type="sldNum" sz="quarter" idx="12"/>
          </p:nvPr>
        </p:nvSpPr>
        <p:spPr/>
        <p:txBody>
          <a:bodyPr/>
          <a:lstStyle/>
          <a:p>
            <a:fld id="{48F19E39-9933-F648-B2F3-3AC17C0DC986}" type="slidenum">
              <a:rPr lang="en-US" smtClean="0">
                <a:solidFill>
                  <a:schemeClr val="bg1"/>
                </a:solidFill>
              </a:rPr>
              <a:t>5</a:t>
            </a:fld>
            <a:endParaRPr lang="en-US" dirty="0">
              <a:solidFill>
                <a:schemeClr val="bg1"/>
              </a:solidFill>
            </a:endParaRPr>
          </a:p>
        </p:txBody>
      </p:sp>
      <p:sp>
        <p:nvSpPr>
          <p:cNvPr id="2" name="TextBox 1">
            <a:extLst>
              <a:ext uri="{FF2B5EF4-FFF2-40B4-BE49-F238E27FC236}">
                <a16:creationId xmlns:a16="http://schemas.microsoft.com/office/drawing/2014/main" id="{885F3E51-9D2C-E0AD-1F09-D1FA984FB33A}"/>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ARCHITECTURE - FINAL</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At a Glance</a:t>
            </a:r>
          </a:p>
        </p:txBody>
      </p:sp>
      <p:sp>
        <p:nvSpPr>
          <p:cNvPr id="8" name="Footer Placeholder 10">
            <a:extLst>
              <a:ext uri="{FF2B5EF4-FFF2-40B4-BE49-F238E27FC236}">
                <a16:creationId xmlns:a16="http://schemas.microsoft.com/office/drawing/2014/main" id="{AD6D2AFD-6803-08E8-4784-6C4A073B8D54}"/>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6" name="Picture 5">
            <a:extLst>
              <a:ext uri="{FF2B5EF4-FFF2-40B4-BE49-F238E27FC236}">
                <a16:creationId xmlns:a16="http://schemas.microsoft.com/office/drawing/2014/main" id="{C13698B0-F3CB-F3E5-8FE1-4D219E21F9B9}"/>
              </a:ext>
            </a:extLst>
          </p:cNvPr>
          <p:cNvPicPr>
            <a:picLocks noChangeAspect="1"/>
          </p:cNvPicPr>
          <p:nvPr/>
        </p:nvPicPr>
        <p:blipFill>
          <a:blip r:embed="rId3"/>
          <a:stretch>
            <a:fillRect/>
          </a:stretch>
        </p:blipFill>
        <p:spPr>
          <a:xfrm>
            <a:off x="864818" y="1822669"/>
            <a:ext cx="10462363" cy="3212661"/>
          </a:xfrm>
          <a:prstGeom prst="rect">
            <a:avLst/>
          </a:prstGeom>
        </p:spPr>
      </p:pic>
    </p:spTree>
    <p:extLst>
      <p:ext uri="{BB962C8B-B14F-4D97-AF65-F5344CB8AC3E}">
        <p14:creationId xmlns:p14="http://schemas.microsoft.com/office/powerpoint/2010/main" val="40099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A4FD-6180-B4D1-4353-EA1B1EA2E67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B362958-A883-D0D9-543B-A8262F9F2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179CBFC-0AB6-57F9-CD2E-D4D7E41B2A4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D1A0ED6-84E3-D3C1-2A59-82233CC2AB58}"/>
              </a:ext>
            </a:extLst>
          </p:cNvPr>
          <p:cNvSpPr>
            <a:spLocks noGrp="1"/>
          </p:cNvSpPr>
          <p:nvPr>
            <p:ph type="sldNum" sz="quarter" idx="12"/>
          </p:nvPr>
        </p:nvSpPr>
        <p:spPr/>
        <p:txBody>
          <a:bodyPr/>
          <a:lstStyle/>
          <a:p>
            <a:fld id="{48F19E39-9933-F648-B2F3-3AC17C0DC986}" type="slidenum">
              <a:rPr lang="en-US" smtClean="0">
                <a:solidFill>
                  <a:schemeClr val="bg1"/>
                </a:solidFill>
              </a:rPr>
              <a:t>6</a:t>
            </a:fld>
            <a:endParaRPr lang="en-US" dirty="0">
              <a:solidFill>
                <a:schemeClr val="bg1"/>
              </a:solidFill>
            </a:endParaRPr>
          </a:p>
        </p:txBody>
      </p:sp>
      <p:sp>
        <p:nvSpPr>
          <p:cNvPr id="2" name="TextBox 1">
            <a:extLst>
              <a:ext uri="{FF2B5EF4-FFF2-40B4-BE49-F238E27FC236}">
                <a16:creationId xmlns:a16="http://schemas.microsoft.com/office/drawing/2014/main" id="{BB57F243-71C0-8BA3-1908-9E3CFAE559FA}"/>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ARCHITECTURE - FINAL</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Simplified</a:t>
            </a:r>
          </a:p>
        </p:txBody>
      </p:sp>
      <p:pic>
        <p:nvPicPr>
          <p:cNvPr id="13" name="Picture 12">
            <a:extLst>
              <a:ext uri="{FF2B5EF4-FFF2-40B4-BE49-F238E27FC236}">
                <a16:creationId xmlns:a16="http://schemas.microsoft.com/office/drawing/2014/main" id="{611C11C1-6BD4-A160-88DD-E051F4A97E86}"/>
              </a:ext>
            </a:extLst>
          </p:cNvPr>
          <p:cNvPicPr>
            <a:picLocks noChangeAspect="1"/>
          </p:cNvPicPr>
          <p:nvPr/>
        </p:nvPicPr>
        <p:blipFill>
          <a:blip r:embed="rId3"/>
          <a:stretch>
            <a:fillRect/>
          </a:stretch>
        </p:blipFill>
        <p:spPr>
          <a:xfrm>
            <a:off x="4726431" y="314608"/>
            <a:ext cx="6964629" cy="5761141"/>
          </a:xfrm>
          <a:prstGeom prst="rect">
            <a:avLst/>
          </a:prstGeom>
        </p:spPr>
      </p:pic>
      <p:pic>
        <p:nvPicPr>
          <p:cNvPr id="3" name="Picture 2">
            <a:extLst>
              <a:ext uri="{FF2B5EF4-FFF2-40B4-BE49-F238E27FC236}">
                <a16:creationId xmlns:a16="http://schemas.microsoft.com/office/drawing/2014/main" id="{719556FB-814E-4A32-ECBF-E6C1C947A6EC}"/>
              </a:ext>
            </a:extLst>
          </p:cNvPr>
          <p:cNvPicPr>
            <a:picLocks noChangeAspect="1"/>
          </p:cNvPicPr>
          <p:nvPr/>
        </p:nvPicPr>
        <p:blipFill>
          <a:blip r:embed="rId4"/>
          <a:stretch>
            <a:fillRect/>
          </a:stretch>
        </p:blipFill>
        <p:spPr>
          <a:xfrm>
            <a:off x="596348" y="1601500"/>
            <a:ext cx="2900586" cy="3654999"/>
          </a:xfrm>
          <a:prstGeom prst="rect">
            <a:avLst/>
          </a:prstGeom>
        </p:spPr>
      </p:pic>
      <p:sp>
        <p:nvSpPr>
          <p:cNvPr id="7" name="Left-Right Arrow 6">
            <a:extLst>
              <a:ext uri="{FF2B5EF4-FFF2-40B4-BE49-F238E27FC236}">
                <a16:creationId xmlns:a16="http://schemas.microsoft.com/office/drawing/2014/main" id="{6DF34A88-8F89-34F6-76A0-12F1796D7822}"/>
              </a:ext>
            </a:extLst>
          </p:cNvPr>
          <p:cNvSpPr/>
          <p:nvPr/>
        </p:nvSpPr>
        <p:spPr>
          <a:xfrm>
            <a:off x="3672138" y="3195178"/>
            <a:ext cx="879088" cy="484632"/>
          </a:xfrm>
          <a:prstGeom prst="leftRightArrow">
            <a:avLst>
              <a:gd name="adj1" fmla="val 31592"/>
              <a:gd name="adj2" fmla="val 43097"/>
            </a:avLst>
          </a:prstGeom>
          <a:solidFill>
            <a:srgbClr val="822334"/>
          </a:solidFill>
          <a:ln>
            <a:solidFill>
              <a:srgbClr val="8223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10">
            <a:extLst>
              <a:ext uri="{FF2B5EF4-FFF2-40B4-BE49-F238E27FC236}">
                <a16:creationId xmlns:a16="http://schemas.microsoft.com/office/drawing/2014/main" id="{BD7799DC-A9C3-8DEE-D94C-2F297FDE0B6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622160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CB06-ED6C-E355-DEB1-0BADE0B555C8}"/>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9AE0645-6CB8-7699-677F-128DF44F5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0CF4234-600E-334A-EE04-452C2AE0F75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21E9A553-62B8-1713-C223-96E6BCCB741E}"/>
              </a:ext>
            </a:extLst>
          </p:cNvPr>
          <p:cNvSpPr>
            <a:spLocks noGrp="1"/>
          </p:cNvSpPr>
          <p:nvPr>
            <p:ph type="sldNum" sz="quarter" idx="12"/>
          </p:nvPr>
        </p:nvSpPr>
        <p:spPr/>
        <p:txBody>
          <a:bodyPr/>
          <a:lstStyle/>
          <a:p>
            <a:fld id="{48F19E39-9933-F648-B2F3-3AC17C0DC986}" type="slidenum">
              <a:rPr lang="en-US" smtClean="0">
                <a:solidFill>
                  <a:schemeClr val="bg1"/>
                </a:solidFill>
              </a:rPr>
              <a:t>7</a:t>
            </a:fld>
            <a:endParaRPr lang="en-US" dirty="0">
              <a:solidFill>
                <a:schemeClr val="bg1"/>
              </a:solidFill>
            </a:endParaRPr>
          </a:p>
        </p:txBody>
      </p:sp>
      <p:sp>
        <p:nvSpPr>
          <p:cNvPr id="2" name="TextBox 1">
            <a:extLst>
              <a:ext uri="{FF2B5EF4-FFF2-40B4-BE49-F238E27FC236}">
                <a16:creationId xmlns:a16="http://schemas.microsoft.com/office/drawing/2014/main" id="{FD022B63-9EC4-8960-C07B-075DBA19974E}"/>
              </a:ext>
            </a:extLst>
          </p:cNvPr>
          <p:cNvSpPr txBox="1"/>
          <p:nvPr/>
        </p:nvSpPr>
        <p:spPr>
          <a:xfrm>
            <a:off x="596348" y="374273"/>
            <a:ext cx="10920461" cy="5647700"/>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WHAT WAS DELIVERED</a:t>
            </a:r>
          </a:p>
          <a:p>
            <a:pPr algn="l"/>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A complete, production-ready agentic platform for NL access to graph databases.</a:t>
            </a:r>
            <a:endParaRPr lang="en-US" sz="1300" dirty="0">
              <a:latin typeface="Inter" panose="02000503000000020004" pitchFamily="2" charset="0"/>
              <a:ea typeface="Inter" panose="02000503000000020004" pitchFamily="2" charset="0"/>
              <a:cs typeface="Inter" panose="02000503000000020004" pitchFamily="2" charset="0"/>
            </a:endParaRP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Full Stack Production-Grade Platform:</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End-to-end agentic </a:t>
            </a:r>
            <a:r>
              <a:rPr lang="en-US" sz="1300" dirty="0" err="1">
                <a:latin typeface="Inter" panose="02000503000000020004" pitchFamily="2" charset="0"/>
                <a:ea typeface="Inter" panose="02000503000000020004" pitchFamily="2" charset="0"/>
                <a:cs typeface="Inter" panose="02000503000000020004" pitchFamily="2" charset="0"/>
              </a:rPr>
              <a:t>system:s</a:t>
            </a:r>
            <a:r>
              <a:rPr lang="en-US" sz="1300" dirty="0">
                <a:latin typeface="Inter" panose="02000503000000020004" pitchFamily="2" charset="0"/>
                <a:ea typeface="Inter" panose="02000503000000020004" pitchFamily="2" charset="0"/>
                <a:cs typeface="Inter" panose="02000503000000020004" pitchFamily="2" charset="0"/>
              </a:rPr>
              <a:t> NL input → tool-executed, auditable, reproducible workflows.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Chat UI (</a:t>
            </a:r>
            <a:r>
              <a:rPr lang="en-US" sz="1300" dirty="0" err="1">
                <a:latin typeface="Inter" panose="02000503000000020004" pitchFamily="2" charset="0"/>
                <a:ea typeface="Inter" panose="02000503000000020004" pitchFamily="2" charset="0"/>
                <a:cs typeface="Inter" panose="02000503000000020004" pitchFamily="2" charset="0"/>
              </a:rPr>
              <a:t>Next.js</a:t>
            </a:r>
            <a:r>
              <a:rPr lang="en-US" sz="1300" dirty="0">
                <a:latin typeface="Inter" panose="02000503000000020004" pitchFamily="2" charset="0"/>
                <a:ea typeface="Inter" panose="02000503000000020004" pitchFamily="2" charset="0"/>
                <a:cs typeface="Inter" panose="02000503000000020004" pitchFamily="2" charset="0"/>
              </a:rPr>
              <a:t>, JWT, SSE), Admin UI (</a:t>
            </a:r>
            <a:r>
              <a:rPr lang="en-US" sz="1300" dirty="0" err="1">
                <a:latin typeface="Inter" panose="02000503000000020004" pitchFamily="2" charset="0"/>
                <a:ea typeface="Inter" panose="02000503000000020004" pitchFamily="2" charset="0"/>
                <a:cs typeface="Inter" panose="02000503000000020004" pitchFamily="2" charset="0"/>
              </a:rPr>
              <a:t>Streamlit</a:t>
            </a:r>
            <a:r>
              <a:rPr lang="en-US" sz="1300" dirty="0">
                <a:latin typeface="Inter" panose="02000503000000020004" pitchFamily="2" charset="0"/>
                <a:ea typeface="Inter" panose="02000503000000020004" pitchFamily="2" charset="0"/>
                <a:cs typeface="Inter" panose="02000503000000020004" pitchFamily="2" charset="0"/>
              </a:rPr>
              <a:t>), NGINX (TLS, CORS), 75+ API endpoints, async workers (Redis + SSE).</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Orchestration Engine: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4 phases: Intent → TODO Plan → </a:t>
            </a:r>
            <a:r>
              <a:rPr lang="en-US" sz="1300" dirty="0" err="1">
                <a:latin typeface="Inter" panose="02000503000000020004" pitchFamily="2" charset="0"/>
                <a:ea typeface="Inter" panose="02000503000000020004" pitchFamily="2" charset="0"/>
                <a:cs typeface="Inter" panose="02000503000000020004" pitchFamily="2" charset="0"/>
              </a:rPr>
              <a:t>LLM+Tool</a:t>
            </a:r>
            <a:r>
              <a:rPr lang="en-US" sz="1300" dirty="0">
                <a:latin typeface="Inter" panose="02000503000000020004" pitchFamily="2" charset="0"/>
                <a:ea typeface="Inter" panose="02000503000000020004" pitchFamily="2" charset="0"/>
                <a:cs typeface="Inter" panose="02000503000000020004" pitchFamily="2" charset="0"/>
              </a:rPr>
              <a:t> Steps → Safe Final Output.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Graph Mode (</a:t>
            </a:r>
            <a:r>
              <a:rPr lang="en-US" sz="1300" dirty="0" err="1">
                <a:latin typeface="Inter" panose="02000503000000020004" pitchFamily="2" charset="0"/>
                <a:ea typeface="Inter" panose="02000503000000020004" pitchFamily="2" charset="0"/>
                <a:cs typeface="Inter" panose="02000503000000020004" pitchFamily="2" charset="0"/>
              </a:rPr>
              <a:t>NL→Cypher</a:t>
            </a:r>
            <a:r>
              <a:rPr lang="en-US" sz="1300" dirty="0">
                <a:latin typeface="Inter" panose="02000503000000020004" pitchFamily="2" charset="0"/>
                <a:ea typeface="Inter" panose="02000503000000020004" pitchFamily="2" charset="0"/>
                <a:cs typeface="Inter" panose="02000503000000020004" pitchFamily="2" charset="0"/>
              </a:rPr>
              <a:t>):</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GRAPH intent → Normalize → Lookup → Cypher → 6-level validation → Memgraph exec.</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MCP + Tools: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34 tools, 12 categories (Graph, Model, ETL…), with RBAC, schema checks, audit logs, rate limits.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Security &amp; Governance: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JWT, RBAC, tenant filtering, rate limits, </a:t>
            </a:r>
            <a:r>
              <a:rPr lang="en-US" sz="1300" dirty="0" err="1">
                <a:latin typeface="Inter" panose="02000503000000020004" pitchFamily="2" charset="0"/>
                <a:ea typeface="Inter" panose="02000503000000020004" pitchFamily="2" charset="0"/>
                <a:cs typeface="Inter" panose="02000503000000020004" pitchFamily="2" charset="0"/>
              </a:rPr>
              <a:t>Pydantic</a:t>
            </a:r>
            <a:r>
              <a:rPr lang="en-US" sz="1300" dirty="0">
                <a:latin typeface="Inter" panose="02000503000000020004" pitchFamily="2" charset="0"/>
                <a:ea typeface="Inter" panose="02000503000000020004" pitchFamily="2" charset="0"/>
                <a:cs typeface="Inter" panose="02000503000000020004" pitchFamily="2" charset="0"/>
              </a:rPr>
              <a:t> guards, PII filter, error trace ID—multi-tenant safe.</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Data Layer (3 DBs):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Redis (cache, queues), PostgreSQL (jobs, logs, secrets), Memgraph (Cypher, lineage).</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LLM Agnostic:</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Switch OpenAI / Azure / </a:t>
            </a:r>
            <a:r>
              <a:rPr lang="en-US" sz="1300" dirty="0" err="1">
                <a:latin typeface="Inter" panose="02000503000000020004" pitchFamily="2" charset="0"/>
                <a:ea typeface="Inter" panose="02000503000000020004" pitchFamily="2" charset="0"/>
                <a:cs typeface="Inter" panose="02000503000000020004" pitchFamily="2" charset="0"/>
              </a:rPr>
              <a:t>Ollama</a:t>
            </a:r>
            <a:r>
              <a:rPr lang="en-US" sz="1300" dirty="0">
                <a:latin typeface="Inter" panose="02000503000000020004" pitchFamily="2" charset="0"/>
                <a:ea typeface="Inter" panose="02000503000000020004" pitchFamily="2" charset="0"/>
                <a:cs typeface="Inter" panose="02000503000000020004" pitchFamily="2" charset="0"/>
              </a:rPr>
              <a:t>; provider per request/session/tenant. No lock-in, local/offline support.</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Resilience + Background Jobs: </a:t>
            </a:r>
          </a:p>
          <a:p>
            <a:r>
              <a:rPr lang="en-US" sz="1300" dirty="0">
                <a:latin typeface="Inter" panose="02000503000000020004" pitchFamily="2" charset="0"/>
                <a:ea typeface="Inter" panose="02000503000000020004" pitchFamily="2" charset="0"/>
                <a:cs typeface="Inter" panose="02000503000000020004" pitchFamily="2" charset="0"/>
              </a:rPr>
              <a:t>Retries, circuit breakers, provider fallback, APScheduler: cleanup, backups, health checks.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Observability: </a:t>
            </a:r>
            <a:r>
              <a:rPr lang="en-US" sz="1300" dirty="0">
                <a:latin typeface="Inter" panose="02000503000000020004" pitchFamily="2" charset="0"/>
                <a:ea typeface="Inter" panose="02000503000000020004" pitchFamily="2" charset="0"/>
                <a:cs typeface="Inter" panose="02000503000000020004" pitchFamily="2" charset="0"/>
              </a:rPr>
              <a:t>Traces (</a:t>
            </a:r>
            <a:r>
              <a:rPr lang="en-US" sz="1300" dirty="0" err="1">
                <a:latin typeface="Inter" panose="02000503000000020004" pitchFamily="2" charset="0"/>
                <a:ea typeface="Inter" panose="02000503000000020004" pitchFamily="2" charset="0"/>
                <a:cs typeface="Inter" panose="02000503000000020004" pitchFamily="2" charset="0"/>
              </a:rPr>
              <a:t>OpenTelemetry</a:t>
            </a:r>
            <a:r>
              <a:rPr lang="en-US" sz="1300" dirty="0">
                <a:latin typeface="Inter" panose="02000503000000020004" pitchFamily="2" charset="0"/>
                <a:ea typeface="Inter" panose="02000503000000020004" pitchFamily="2" charset="0"/>
                <a:cs typeface="Inter" panose="02000503000000020004" pitchFamily="2" charset="0"/>
              </a:rPr>
              <a:t>), Metrics (Prometheus), Dashboards (Grafana: jobs, tools, LLMs, health).</a:t>
            </a:r>
          </a:p>
        </p:txBody>
      </p:sp>
      <p:sp>
        <p:nvSpPr>
          <p:cNvPr id="5" name="Footer Placeholder 10">
            <a:extLst>
              <a:ext uri="{FF2B5EF4-FFF2-40B4-BE49-F238E27FC236}">
                <a16:creationId xmlns:a16="http://schemas.microsoft.com/office/drawing/2014/main" id="{078C2354-B80E-9E55-B087-ED1AFAEBFE6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7" name="Picture 6">
            <a:extLst>
              <a:ext uri="{FF2B5EF4-FFF2-40B4-BE49-F238E27FC236}">
                <a16:creationId xmlns:a16="http://schemas.microsoft.com/office/drawing/2014/main" id="{907D51C8-484A-205A-2F76-3CD6B85335FA}"/>
              </a:ext>
            </a:extLst>
          </p:cNvPr>
          <p:cNvPicPr>
            <a:picLocks noChangeAspect="1"/>
          </p:cNvPicPr>
          <p:nvPr/>
        </p:nvPicPr>
        <p:blipFill>
          <a:blip r:embed="rId3"/>
          <a:stretch>
            <a:fillRect/>
          </a:stretch>
        </p:blipFill>
        <p:spPr>
          <a:xfrm>
            <a:off x="8740841" y="2909455"/>
            <a:ext cx="2854811" cy="1506706"/>
          </a:xfrm>
          <a:prstGeom prst="rect">
            <a:avLst/>
          </a:prstGeom>
        </p:spPr>
      </p:pic>
    </p:spTree>
    <p:extLst>
      <p:ext uri="{BB962C8B-B14F-4D97-AF65-F5344CB8AC3E}">
        <p14:creationId xmlns:p14="http://schemas.microsoft.com/office/powerpoint/2010/main" val="76327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4CC80-D3EE-B611-D943-9A27E849CD0A}"/>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3167DFF8-01C2-6CE5-D327-72987AE57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D5BB92A-C6A4-C9DF-1D8D-02C7899EED75}"/>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DDF33EA1-E309-6974-E4B6-16E92456499E}"/>
              </a:ext>
            </a:extLst>
          </p:cNvPr>
          <p:cNvSpPr>
            <a:spLocks noGrp="1"/>
          </p:cNvSpPr>
          <p:nvPr>
            <p:ph type="sldNum" sz="quarter" idx="12"/>
          </p:nvPr>
        </p:nvSpPr>
        <p:spPr/>
        <p:txBody>
          <a:bodyPr/>
          <a:lstStyle/>
          <a:p>
            <a:fld id="{48F19E39-9933-F648-B2F3-3AC17C0DC986}" type="slidenum">
              <a:rPr lang="en-US" smtClean="0">
                <a:solidFill>
                  <a:schemeClr val="bg1"/>
                </a:solidFill>
              </a:rPr>
              <a:t>8</a:t>
            </a:fld>
            <a:endParaRPr lang="en-US" dirty="0">
              <a:solidFill>
                <a:schemeClr val="bg1"/>
              </a:solidFill>
            </a:endParaRPr>
          </a:p>
        </p:txBody>
      </p:sp>
      <p:sp>
        <p:nvSpPr>
          <p:cNvPr id="2" name="TextBox 1">
            <a:extLst>
              <a:ext uri="{FF2B5EF4-FFF2-40B4-BE49-F238E27FC236}">
                <a16:creationId xmlns:a16="http://schemas.microsoft.com/office/drawing/2014/main" id="{7E3752E4-37A6-E993-EAFB-E7F057566E41}"/>
              </a:ext>
            </a:extLst>
          </p:cNvPr>
          <p:cNvSpPr txBox="1"/>
          <p:nvPr/>
        </p:nvSpPr>
        <p:spPr>
          <a:xfrm>
            <a:off x="596349" y="374273"/>
            <a:ext cx="10920461" cy="209288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PROJECT SCALE</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Proving the platform is production-grade, not a demo.</a:t>
            </a:r>
            <a:r>
              <a:rPr lang="en-US" sz="1600" b="1" dirty="0">
                <a:latin typeface="Inter" panose="02000503000000020004" pitchFamily="2" charset="0"/>
                <a:ea typeface="Inter" panose="02000503000000020004" pitchFamily="2" charset="0"/>
                <a:cs typeface="Inter" panose="02000503000000020004" pitchFamily="2" charset="0"/>
              </a:rPr>
              <a:t> </a:t>
            </a:r>
            <a:endParaRPr lang="en-US" sz="1600" dirty="0">
              <a:latin typeface="Inter" panose="02000503000000020004" pitchFamily="2" charset="0"/>
              <a:ea typeface="Inter" panose="02000503000000020004" pitchFamily="2" charset="0"/>
              <a:cs typeface="Inter" panose="02000503000000020004" pitchFamily="2" charset="0"/>
            </a:endParaRPr>
          </a:p>
          <a:p>
            <a:pPr algn="just"/>
            <a:endParaRPr lang="en-US" sz="1600" b="1"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Key Stats </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76 API endpoints across 16 </a:t>
            </a:r>
            <a:r>
              <a:rPr lang="en-US" sz="1300" dirty="0" err="1">
                <a:latin typeface="Inter" panose="02000503000000020004" pitchFamily="2" charset="0"/>
                <a:ea typeface="Inter" panose="02000503000000020004" pitchFamily="2" charset="0"/>
                <a:cs typeface="Inter" panose="02000503000000020004" pitchFamily="2" charset="0"/>
              </a:rPr>
              <a:t>FastAPI</a:t>
            </a:r>
            <a:r>
              <a:rPr lang="en-US" sz="1300" dirty="0">
                <a:latin typeface="Inter" panose="02000503000000020004" pitchFamily="2" charset="0"/>
                <a:ea typeface="Inter" panose="02000503000000020004" pitchFamily="2" charset="0"/>
                <a:cs typeface="Inter" panose="02000503000000020004" pitchFamily="2" charset="0"/>
              </a:rPr>
              <a:t> routers categories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34 implemented MCP tools across 17 capability categories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16+ infrastructure components (databases, queues, tracing, rate limits, gateways, etc.)</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3,000+ automated tests (unit, integration, security, orchestration logic)</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~411,700 total lines of code across all formats</a:t>
            </a:r>
          </a:p>
        </p:txBody>
      </p:sp>
      <p:sp>
        <p:nvSpPr>
          <p:cNvPr id="3" name="TextBox 2">
            <a:extLst>
              <a:ext uri="{FF2B5EF4-FFF2-40B4-BE49-F238E27FC236}">
                <a16:creationId xmlns:a16="http://schemas.microsoft.com/office/drawing/2014/main" id="{9EE1FC8D-121F-81BD-9D03-6C37BF74BEE8}"/>
              </a:ext>
            </a:extLst>
          </p:cNvPr>
          <p:cNvSpPr txBox="1"/>
          <p:nvPr/>
        </p:nvSpPr>
        <p:spPr>
          <a:xfrm>
            <a:off x="596349" y="2705595"/>
            <a:ext cx="10757451" cy="2492990"/>
          </a:xfrm>
          <a:prstGeom prst="rect">
            <a:avLst/>
          </a:prstGeom>
          <a:noFill/>
        </p:spPr>
        <p:txBody>
          <a:bodyPr wrap="square" rtlCol="0">
            <a:spAutoFit/>
          </a:bodyPr>
          <a:lstStyle/>
          <a:p>
            <a:pPr algn="just"/>
            <a:r>
              <a:rPr lang="en-US" sz="1300" b="1" dirty="0">
                <a:latin typeface="Inter" panose="02000503000000020004" pitchFamily="2" charset="0"/>
                <a:ea typeface="Inter" panose="02000503000000020004" pitchFamily="2" charset="0"/>
                <a:cs typeface="Inter" panose="02000503000000020004" pitchFamily="2" charset="0"/>
              </a:rPr>
              <a:t>Repo Composition (by file type)</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Docs: 500+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Source code: 1,450+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Tests: 780+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Scripts: 100+</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Configs: 400+</a:t>
            </a:r>
          </a:p>
          <a:p>
            <a:pPr algn="just"/>
            <a:endParaRPr lang="en-US" sz="1300"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Test coverage includes: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Unit tests (core logic, utilities, policies)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Integration tests (DBs, LLM adapters, MCP runtime)</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Security tests (auth, RBAC, scopes, rate limits, guards)</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End-to-end and workflow tests (agent runs, jobs, streaming)Resilience and failure-mode tests (fallbacks, retries, breakers)</a:t>
            </a:r>
          </a:p>
        </p:txBody>
      </p:sp>
      <p:sp>
        <p:nvSpPr>
          <p:cNvPr id="5" name="TextBox 4">
            <a:extLst>
              <a:ext uri="{FF2B5EF4-FFF2-40B4-BE49-F238E27FC236}">
                <a16:creationId xmlns:a16="http://schemas.microsoft.com/office/drawing/2014/main" id="{7D9F6916-BE24-2D2A-C33E-B00F7151B6CA}"/>
              </a:ext>
            </a:extLst>
          </p:cNvPr>
          <p:cNvSpPr txBox="1"/>
          <p:nvPr/>
        </p:nvSpPr>
        <p:spPr>
          <a:xfrm>
            <a:off x="4653230" y="2727367"/>
            <a:ext cx="2885539" cy="1292662"/>
          </a:xfrm>
          <a:prstGeom prst="rect">
            <a:avLst/>
          </a:prstGeom>
          <a:noFill/>
        </p:spPr>
        <p:txBody>
          <a:bodyPr wrap="square" rtlCol="0">
            <a:spAutoFit/>
          </a:bodyPr>
          <a:lstStyle/>
          <a:p>
            <a:pPr algn="just"/>
            <a:r>
              <a:rPr lang="en-US" sz="1300" b="1" dirty="0">
                <a:latin typeface="Inter" panose="02000503000000020004" pitchFamily="2" charset="0"/>
                <a:ea typeface="Inter" panose="02000503000000020004" pitchFamily="2" charset="0"/>
                <a:cs typeface="Inter" panose="02000503000000020004" pitchFamily="2" charset="0"/>
              </a:rPr>
              <a:t>Language Breakdown (by LOC)</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Python: ~57.8%</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Markdown: ~22.6%</a:t>
            </a:r>
          </a:p>
          <a:p>
            <a:pPr marL="285750" indent="-285750" algn="just">
              <a:buFontTx/>
              <a:buChar char="-"/>
            </a:pPr>
            <a:r>
              <a:rPr lang="en-US" sz="1300" dirty="0" err="1">
                <a:latin typeface="Inter" panose="02000503000000020004" pitchFamily="2" charset="0"/>
                <a:ea typeface="Inter" panose="02000503000000020004" pitchFamily="2" charset="0"/>
                <a:cs typeface="Inter" panose="02000503000000020004" pitchFamily="2" charset="0"/>
              </a:rPr>
              <a:t>TeX</a:t>
            </a:r>
            <a:r>
              <a:rPr lang="en-US" sz="1300" dirty="0">
                <a:latin typeface="Inter" panose="02000503000000020004" pitchFamily="2" charset="0"/>
                <a:ea typeface="Inter" panose="02000503000000020004" pitchFamily="2" charset="0"/>
                <a:cs typeface="Inter" panose="02000503000000020004" pitchFamily="2" charset="0"/>
              </a:rPr>
              <a:t>: ~6.4%</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JSON/CSV/YAML: ~7.2%</a:t>
            </a:r>
          </a:p>
          <a:p>
            <a:pPr marL="285750"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Other (Shell, TSX): ~6%</a:t>
            </a:r>
          </a:p>
        </p:txBody>
      </p:sp>
      <p:sp>
        <p:nvSpPr>
          <p:cNvPr id="6" name="Footer Placeholder 10">
            <a:extLst>
              <a:ext uri="{FF2B5EF4-FFF2-40B4-BE49-F238E27FC236}">
                <a16:creationId xmlns:a16="http://schemas.microsoft.com/office/drawing/2014/main" id="{06D46202-5FDE-82AB-138E-C351B3FD935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8" name="Picture 7">
            <a:extLst>
              <a:ext uri="{FF2B5EF4-FFF2-40B4-BE49-F238E27FC236}">
                <a16:creationId xmlns:a16="http://schemas.microsoft.com/office/drawing/2014/main" id="{0AA04448-2FD2-A5AD-BFDA-630F25E70528}"/>
              </a:ext>
            </a:extLst>
          </p:cNvPr>
          <p:cNvPicPr>
            <a:picLocks noChangeAspect="1"/>
          </p:cNvPicPr>
          <p:nvPr/>
        </p:nvPicPr>
        <p:blipFill>
          <a:blip r:embed="rId3"/>
          <a:stretch>
            <a:fillRect/>
          </a:stretch>
        </p:blipFill>
        <p:spPr>
          <a:xfrm>
            <a:off x="8063346" y="2467154"/>
            <a:ext cx="3483772" cy="1701585"/>
          </a:xfrm>
          <a:prstGeom prst="rect">
            <a:avLst/>
          </a:prstGeom>
        </p:spPr>
      </p:pic>
    </p:spTree>
    <p:extLst>
      <p:ext uri="{BB962C8B-B14F-4D97-AF65-F5344CB8AC3E}">
        <p14:creationId xmlns:p14="http://schemas.microsoft.com/office/powerpoint/2010/main" val="2665259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C495-933F-00A4-2D09-C8A2D49D5CA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E207955-172B-D7EB-1622-97ADEFAC5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3ADF6C6-7E49-B72D-23B3-5683AE351B2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C549434B-A54E-8CD4-8A9A-45A4A19DFB63}"/>
              </a:ext>
            </a:extLst>
          </p:cNvPr>
          <p:cNvSpPr>
            <a:spLocks noGrp="1"/>
          </p:cNvSpPr>
          <p:nvPr>
            <p:ph type="sldNum" sz="quarter" idx="12"/>
          </p:nvPr>
        </p:nvSpPr>
        <p:spPr/>
        <p:txBody>
          <a:bodyPr/>
          <a:lstStyle/>
          <a:p>
            <a:fld id="{48F19E39-9933-F648-B2F3-3AC17C0DC986}" type="slidenum">
              <a:rPr lang="en-US" smtClean="0">
                <a:solidFill>
                  <a:schemeClr val="bg1"/>
                </a:solidFill>
              </a:rPr>
              <a:t>9</a:t>
            </a:fld>
            <a:endParaRPr lang="en-US" dirty="0">
              <a:solidFill>
                <a:schemeClr val="bg1"/>
              </a:solidFill>
            </a:endParaRPr>
          </a:p>
        </p:txBody>
      </p:sp>
      <p:sp>
        <p:nvSpPr>
          <p:cNvPr id="2" name="TextBox 1">
            <a:extLst>
              <a:ext uri="{FF2B5EF4-FFF2-40B4-BE49-F238E27FC236}">
                <a16:creationId xmlns:a16="http://schemas.microsoft.com/office/drawing/2014/main" id="{61B6D5FC-9A75-DD85-898C-A37C07BAD0D5}"/>
              </a:ext>
            </a:extLst>
          </p:cNvPr>
          <p:cNvSpPr txBox="1"/>
          <p:nvPr/>
        </p:nvSpPr>
        <p:spPr>
          <a:xfrm>
            <a:off x="596349" y="374273"/>
            <a:ext cx="10920461" cy="4293483"/>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STAKEHOLDERS &amp; USE CASES</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Who Uses the Platform and What They Actually Do.</a:t>
            </a:r>
          </a:p>
          <a:p>
            <a:pPr algn="just"/>
            <a:endParaRPr lang="en-US" sz="1600" b="1"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Stakeholders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Researchers / End Users	 	→	</a:t>
            </a:r>
            <a:r>
              <a:rPr lang="en-US" sz="1300" dirty="0">
                <a:latin typeface="Inter" panose="02000503000000020004" pitchFamily="2" charset="0"/>
                <a:ea typeface="Inter" panose="02000503000000020004" pitchFamily="2" charset="0"/>
                <a:cs typeface="Inter" panose="02000503000000020004" pitchFamily="2" charset="0"/>
              </a:rPr>
              <a:t>Ask questions, trigger runs, trace outputs, reproduce results.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Admins / Operators	 	→	</a:t>
            </a:r>
            <a:r>
              <a:rPr lang="en-US" sz="1300" dirty="0">
                <a:latin typeface="Inter" panose="02000503000000020004" pitchFamily="2" charset="0"/>
                <a:ea typeface="Inter" panose="02000503000000020004" pitchFamily="2" charset="0"/>
                <a:cs typeface="Inter" panose="02000503000000020004" pitchFamily="2" charset="0"/>
              </a:rPr>
              <a:t>Monitor runs and jobs, manage tools/models, enforce policies.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Security / Compliance Teams 	→	</a:t>
            </a:r>
            <a:r>
              <a:rPr lang="en-US" sz="1300" dirty="0">
                <a:latin typeface="Inter" panose="02000503000000020004" pitchFamily="2" charset="0"/>
                <a:ea typeface="Inter" panose="02000503000000020004" pitchFamily="2" charset="0"/>
                <a:cs typeface="Inter" panose="02000503000000020004" pitchFamily="2" charset="0"/>
              </a:rPr>
              <a:t>Audit tool usage, enforce scopes, verify controls.</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Developers 		 	→	</a:t>
            </a:r>
            <a:r>
              <a:rPr lang="en-US" sz="1300" dirty="0">
                <a:latin typeface="Inter" panose="02000503000000020004" pitchFamily="2" charset="0"/>
                <a:ea typeface="Inter" panose="02000503000000020004" pitchFamily="2" charset="0"/>
                <a:cs typeface="Inter" panose="02000503000000020004" pitchFamily="2" charset="0"/>
              </a:rPr>
              <a:t>Add new tools, integrate LLM providers, extend APIs.</a:t>
            </a:r>
          </a:p>
          <a:p>
            <a:pPr algn="just"/>
            <a:endParaRPr lang="en-US" sz="1300" dirty="0">
              <a:latin typeface="Inter" panose="02000503000000020004" pitchFamily="2" charset="0"/>
              <a:ea typeface="Inter" panose="02000503000000020004" pitchFamily="2" charset="0"/>
              <a:cs typeface="Inter" panose="02000503000000020004" pitchFamily="2" charset="0"/>
            </a:endParaRPr>
          </a:p>
          <a:p>
            <a:pPr algn="just"/>
            <a:r>
              <a:rPr lang="en-US" sz="1300" b="1" dirty="0">
                <a:latin typeface="Inter" panose="02000503000000020004" pitchFamily="2" charset="0"/>
                <a:ea typeface="Inter" panose="02000503000000020004" pitchFamily="2" charset="0"/>
                <a:cs typeface="Inter" panose="02000503000000020004" pitchFamily="2" charset="0"/>
              </a:rPr>
              <a:t>Core Use Cases (UC1–UC5)</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UC1: Chat/assistant runs</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Prompt an agent, receive a safe structured result.</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UC2: Graph Q&amp;A (</a:t>
            </a:r>
            <a:r>
              <a:rPr lang="en-US" sz="1300" b="1" dirty="0" err="1">
                <a:latin typeface="Inter" panose="02000503000000020004" pitchFamily="2" charset="0"/>
                <a:ea typeface="Inter" panose="02000503000000020004" pitchFamily="2" charset="0"/>
                <a:cs typeface="Inter" panose="02000503000000020004" pitchFamily="2" charset="0"/>
              </a:rPr>
              <a:t>NL→Cypher</a:t>
            </a:r>
            <a:r>
              <a:rPr lang="en-US" sz="1300" b="1" dirty="0">
                <a:latin typeface="Inter" panose="02000503000000020004" pitchFamily="2" charset="0"/>
                <a:ea typeface="Inter" panose="02000503000000020004" pitchFamily="2" charset="0"/>
                <a:cs typeface="Inter" panose="02000503000000020004" pitchFamily="2" charset="0"/>
              </a:rPr>
              <a:t>)</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Ask questions over Memgraph; validated Cypher is safely executed.</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UC3: Background jobs / long tasks</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Run long processes with persistence, SSE progress updates, and cancellation support.</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UC4: Monitoring &amp; usage analytics</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Inspect job status, execution logs, tool usage metrics, and system health.</a:t>
            </a:r>
          </a:p>
          <a:p>
            <a:pPr marL="742950" lvl="1" indent="-285750" algn="just">
              <a:buFontTx/>
              <a:buChar char="-"/>
            </a:pPr>
            <a:r>
              <a:rPr lang="en-US" sz="1300" b="1" dirty="0">
                <a:latin typeface="Inter" panose="02000503000000020004" pitchFamily="2" charset="0"/>
                <a:ea typeface="Inter" panose="02000503000000020004" pitchFamily="2" charset="0"/>
                <a:cs typeface="Inter" panose="02000503000000020004" pitchFamily="2" charset="0"/>
              </a:rPr>
              <a:t>UC5: Tool discovery / controlled expansion</a:t>
            </a:r>
          </a:p>
          <a:p>
            <a:pPr marL="1200150" lvl="2" indent="-285750" algn="just">
              <a:buFontTx/>
              <a:buChar char="-"/>
            </a:pPr>
            <a:r>
              <a:rPr lang="en-US" sz="1300" dirty="0">
                <a:latin typeface="Inter" panose="02000503000000020004" pitchFamily="2" charset="0"/>
                <a:ea typeface="Inter" panose="02000503000000020004" pitchFamily="2" charset="0"/>
                <a:cs typeface="Inter" panose="02000503000000020004" pitchFamily="2" charset="0"/>
              </a:rPr>
              <a:t>Discover tools with schema and permissions, governed by tenant scope and roles.</a:t>
            </a:r>
          </a:p>
        </p:txBody>
      </p:sp>
      <p:sp>
        <p:nvSpPr>
          <p:cNvPr id="6" name="Footer Placeholder 10">
            <a:extLst>
              <a:ext uri="{FF2B5EF4-FFF2-40B4-BE49-F238E27FC236}">
                <a16:creationId xmlns:a16="http://schemas.microsoft.com/office/drawing/2014/main" id="{C50DFC4D-BEC0-3F45-FFB9-0B70D9432A5D}"/>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0" name="Picture 9">
            <a:extLst>
              <a:ext uri="{FF2B5EF4-FFF2-40B4-BE49-F238E27FC236}">
                <a16:creationId xmlns:a16="http://schemas.microsoft.com/office/drawing/2014/main" id="{E4665B15-01B0-7600-DC14-1D144CC0C382}"/>
              </a:ext>
            </a:extLst>
          </p:cNvPr>
          <p:cNvPicPr>
            <a:picLocks noChangeAspect="1"/>
          </p:cNvPicPr>
          <p:nvPr/>
        </p:nvPicPr>
        <p:blipFill>
          <a:blip r:embed="rId3"/>
          <a:stretch>
            <a:fillRect/>
          </a:stretch>
        </p:blipFill>
        <p:spPr>
          <a:xfrm>
            <a:off x="8731179" y="2304908"/>
            <a:ext cx="2785631" cy="2742105"/>
          </a:xfrm>
          <a:prstGeom prst="rect">
            <a:avLst/>
          </a:prstGeom>
        </p:spPr>
      </p:pic>
    </p:spTree>
    <p:extLst>
      <p:ext uri="{BB962C8B-B14F-4D97-AF65-F5344CB8AC3E}">
        <p14:creationId xmlns:p14="http://schemas.microsoft.com/office/powerpoint/2010/main" val="2547430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9AD3B-0101-6DEC-F6BD-A0D98EB67ED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5FE4E47-E665-50CE-1F50-BF4A03200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50163C4-D65E-7209-4538-79605B69AEE7}"/>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C0D45146-4DFC-A66C-19A5-0CF7AD18E6FA}"/>
              </a:ext>
            </a:extLst>
          </p:cNvPr>
          <p:cNvSpPr>
            <a:spLocks noGrp="1"/>
          </p:cNvSpPr>
          <p:nvPr>
            <p:ph type="sldNum" sz="quarter" idx="12"/>
          </p:nvPr>
        </p:nvSpPr>
        <p:spPr/>
        <p:txBody>
          <a:bodyPr/>
          <a:lstStyle/>
          <a:p>
            <a:fld id="{48F19E39-9933-F648-B2F3-3AC17C0DC986}" type="slidenum">
              <a:rPr lang="en-US" smtClean="0">
                <a:solidFill>
                  <a:schemeClr val="bg1"/>
                </a:solidFill>
              </a:rPr>
              <a:t>10</a:t>
            </a:fld>
            <a:endParaRPr lang="en-US" dirty="0">
              <a:solidFill>
                <a:schemeClr val="bg1"/>
              </a:solidFill>
            </a:endParaRPr>
          </a:p>
        </p:txBody>
      </p:sp>
      <p:sp>
        <p:nvSpPr>
          <p:cNvPr id="2" name="TextBox 1">
            <a:extLst>
              <a:ext uri="{FF2B5EF4-FFF2-40B4-BE49-F238E27FC236}">
                <a16:creationId xmlns:a16="http://schemas.microsoft.com/office/drawing/2014/main" id="{47D2DF1F-8E56-C387-2D10-53583537D630}"/>
              </a:ext>
            </a:extLst>
          </p:cNvPr>
          <p:cNvSpPr txBox="1"/>
          <p:nvPr/>
        </p:nvSpPr>
        <p:spPr>
          <a:xfrm>
            <a:off x="596349" y="374273"/>
            <a:ext cx="11160222" cy="6093976"/>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AUTHENTICATION LAYER &amp; UI</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Users authenticate via Identity Provider, get JWTs, and use two UIs behind a secure reverse proxy.</a:t>
            </a:r>
            <a:endParaRPr lang="en-US" sz="1600" b="1" dirty="0">
              <a:solidFill>
                <a:srgbClr val="822334"/>
              </a:solidFill>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Identity Provider - </a:t>
            </a:r>
            <a:r>
              <a:rPr lang="en-US" sz="1300" b="1" i="0" dirty="0">
                <a:effectLst/>
                <a:latin typeface="Inter" panose="02000503000000020004" pitchFamily="2" charset="0"/>
                <a:ea typeface="Inter" panose="02000503000000020004" pitchFamily="2" charset="0"/>
                <a:cs typeface="Inter" panose="02000503000000020004" pitchFamily="2" charset="0"/>
              </a:rPr>
              <a:t>Users authenticate</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b="1" i="0" dirty="0">
                <a:effectLst/>
                <a:latin typeface="Inter" panose="02000503000000020004" pitchFamily="2" charset="0"/>
                <a:ea typeface="Inter" panose="02000503000000020004" pitchFamily="2" charset="0"/>
                <a:cs typeface="Inter" panose="02000503000000020004" pitchFamily="2" charset="0"/>
              </a:rPr>
              <a:t>OAuth 2.0</a:t>
            </a:r>
            <a:r>
              <a:rPr lang="en-US" sz="1300" b="1" dirty="0">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JWT tokens carry user identity and permissions:</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S</a:t>
            </a:r>
            <a:r>
              <a:rPr lang="en-US" sz="1300" b="1" i="0" dirty="0">
                <a:effectLst/>
                <a:latin typeface="Inter" panose="02000503000000020004" pitchFamily="2" charset="0"/>
                <a:ea typeface="Inter" panose="02000503000000020004" pitchFamily="2" charset="0"/>
                <a:cs typeface="Inter" panose="02000503000000020004" pitchFamily="2" charset="0"/>
              </a:rPr>
              <a:t>ub:</a:t>
            </a:r>
            <a:r>
              <a:rPr lang="en-US" sz="1300" b="0" i="0" dirty="0">
                <a:effectLst/>
                <a:latin typeface="Inter" panose="02000503000000020004" pitchFamily="2" charset="0"/>
                <a:ea typeface="Inter" panose="02000503000000020004" pitchFamily="2" charset="0"/>
                <a:cs typeface="Inter" panose="02000503000000020004" pitchFamily="2" charset="0"/>
              </a:rPr>
              <a:t> unique user identifier | </a:t>
            </a:r>
            <a:r>
              <a:rPr lang="en-US" sz="1300" b="1" i="0" dirty="0" err="1">
                <a:effectLst/>
                <a:latin typeface="Inter" panose="02000503000000020004" pitchFamily="2" charset="0"/>
                <a:ea typeface="Inter" panose="02000503000000020004" pitchFamily="2" charset="0"/>
                <a:cs typeface="Inter" panose="02000503000000020004" pitchFamily="2" charset="0"/>
              </a:rPr>
              <a:t>tenant_id</a:t>
            </a:r>
            <a:r>
              <a:rPr lang="en-US" sz="1300" b="1" i="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organization the user belongs to</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Roles:</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what the user can do (</a:t>
            </a:r>
            <a:r>
              <a:rPr lang="en-US" sz="1300" dirty="0">
                <a:latin typeface="Inter" panose="02000503000000020004" pitchFamily="2" charset="0"/>
                <a:ea typeface="Inter" panose="02000503000000020004" pitchFamily="2" charset="0"/>
                <a:cs typeface="Inter" panose="02000503000000020004" pitchFamily="2" charset="0"/>
              </a:rPr>
              <a:t>admin, operator, user, viewer)</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Scopes:</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user:me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admin:all</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tools:invoke:basic</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tools:invoke:all</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graph:read</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graph:write</a:t>
            </a:r>
            <a:r>
              <a:rPr lang="en-US" sz="1300" dirty="0">
                <a:latin typeface="Inter" panose="02000503000000020004" pitchFamily="2" charset="0"/>
                <a:ea typeface="Inter" panose="02000503000000020004" pitchFamily="2" charset="0"/>
                <a:cs typeface="Inter" panose="02000503000000020004" pitchFamily="2" charset="0"/>
              </a:rPr>
              <a:t>}</a:t>
            </a:r>
            <a:endParaRPr lang="en-US" sz="1300" b="1"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JWKS endpoint serves public keys for token checks; tokens support refresh and revocation.</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Agent Chat UI (</a:t>
            </a:r>
            <a:r>
              <a:rPr lang="en-US" sz="1300" b="1" dirty="0" err="1">
                <a:latin typeface="Inter" panose="02000503000000020004" pitchFamily="2" charset="0"/>
                <a:ea typeface="Inter" panose="02000503000000020004" pitchFamily="2" charset="0"/>
                <a:cs typeface="Inter" panose="02000503000000020004" pitchFamily="2" charset="0"/>
              </a:rPr>
              <a:t>Next.js</a:t>
            </a:r>
            <a:r>
              <a:rPr lang="en-US" sz="1300" b="1" dirty="0">
                <a:latin typeface="Inter" panose="02000503000000020004" pitchFamily="2" charset="0"/>
                <a:ea typeface="Inter" panose="02000503000000020004" pitchFamily="2" charset="0"/>
                <a:cs typeface="Inter" panose="02000503000000020004" pitchFamily="2" charset="0"/>
              </a:rPr>
              <a:t>) - Workflow A</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End-user interface for chatting with AI agents | Authenticates users via JWT tokens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Supports real-time streaming via Server-Sent Events (SSE)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Displays agent run progress and individual steps, and status updates until completion</a:t>
            </a:r>
          </a:p>
          <a:p>
            <a:pPr marL="285750" indent="-285750" algn="l">
              <a:buFontTx/>
              <a:buChar char="-"/>
            </a:pPr>
            <a:r>
              <a:rPr lang="en-US" sz="1300" b="1" dirty="0">
                <a:latin typeface="Inter" panose="02000503000000020004" pitchFamily="2" charset="0"/>
                <a:ea typeface="Inter" panose="02000503000000020004" pitchFamily="2" charset="0"/>
                <a:cs typeface="Inter" panose="02000503000000020004" pitchFamily="2" charset="0"/>
              </a:rPr>
              <a:t>Input:</a:t>
            </a:r>
            <a:r>
              <a:rPr lang="en-US" sz="1300" dirty="0">
                <a:latin typeface="Inter" panose="02000503000000020004" pitchFamily="2" charset="0"/>
                <a:ea typeface="Inter" panose="02000503000000020004" pitchFamily="2" charset="0"/>
                <a:cs typeface="Inter" panose="02000503000000020004" pitchFamily="2" charset="0"/>
              </a:rPr>
              <a:t> JWT, prompt, model, temp → </a:t>
            </a:r>
            <a:r>
              <a:rPr lang="en-US" sz="1300" b="1" dirty="0">
                <a:latin typeface="Inter" panose="02000503000000020004" pitchFamily="2" charset="0"/>
                <a:ea typeface="Inter" panose="02000503000000020004" pitchFamily="2" charset="0"/>
                <a:cs typeface="Inter" panose="02000503000000020004" pitchFamily="2" charset="0"/>
              </a:rPr>
              <a:t>Output:</a:t>
            </a:r>
            <a:r>
              <a:rPr lang="en-US" sz="1300" dirty="0">
                <a:latin typeface="Inter" panose="02000503000000020004" pitchFamily="2" charset="0"/>
                <a:ea typeface="Inter" panose="02000503000000020004" pitchFamily="2" charset="0"/>
                <a:cs typeface="Inter" panose="02000503000000020004" pitchFamily="2" charset="0"/>
              </a:rPr>
              <a:t> { </a:t>
            </a:r>
            <a:r>
              <a:rPr lang="en-US" sz="1300" dirty="0" err="1">
                <a:latin typeface="Inter" panose="02000503000000020004" pitchFamily="2" charset="0"/>
                <a:ea typeface="Inter" panose="02000503000000020004" pitchFamily="2" charset="0"/>
                <a:cs typeface="Inter" panose="02000503000000020004" pitchFamily="2" charset="0"/>
              </a:rPr>
              <a:t>run_id</a:t>
            </a:r>
            <a:r>
              <a:rPr lang="en-US" sz="1300" dirty="0">
                <a:latin typeface="Inter" panose="02000503000000020004" pitchFamily="2" charset="0"/>
                <a:ea typeface="Inter" panose="02000503000000020004" pitchFamily="2" charset="0"/>
                <a:cs typeface="Inter" panose="02000503000000020004" pitchFamily="2" charset="0"/>
              </a:rPr>
              <a:t>, status }</a:t>
            </a:r>
            <a:br>
              <a:rPr lang="en-US" sz="1300" dirty="0">
                <a:latin typeface="Inter" panose="02000503000000020004" pitchFamily="2" charset="0"/>
                <a:ea typeface="Inter" panose="02000503000000020004" pitchFamily="2" charset="0"/>
                <a:cs typeface="Inter" panose="02000503000000020004" pitchFamily="2" charset="0"/>
              </a:rPr>
            </a:br>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Control Panel UI (</a:t>
            </a:r>
            <a:r>
              <a:rPr lang="en-US" sz="1300" b="1" dirty="0" err="1">
                <a:latin typeface="Inter" panose="02000503000000020004" pitchFamily="2" charset="0"/>
                <a:ea typeface="Inter" panose="02000503000000020004" pitchFamily="2" charset="0"/>
                <a:cs typeface="Inter" panose="02000503000000020004" pitchFamily="2" charset="0"/>
              </a:rPr>
              <a:t>Streamlit</a:t>
            </a:r>
            <a:r>
              <a:rPr lang="en-US" sz="1300" b="1" dirty="0">
                <a:latin typeface="Inter" panose="02000503000000020004" pitchFamily="2" charset="0"/>
                <a:ea typeface="Inter" panose="02000503000000020004" pitchFamily="2" charset="0"/>
                <a:cs typeface="Inter" panose="02000503000000020004" pitchFamily="2" charset="0"/>
              </a:rPr>
              <a:t>) - Workflow B</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Admin and operator dashboard for platform management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Manages jobs, models, tools, tenant, and </a:t>
            </a:r>
            <a:r>
              <a:rPr lang="en-US" sz="1300" dirty="0">
                <a:latin typeface="Inter" panose="02000503000000020004" pitchFamily="2" charset="0"/>
                <a:ea typeface="Inter" panose="02000503000000020004" pitchFamily="2" charset="0"/>
                <a:cs typeface="Inter" panose="02000503000000020004" pitchFamily="2" charset="0"/>
              </a:rPr>
              <a:t>s</a:t>
            </a:r>
            <a:r>
              <a:rPr lang="en-US" sz="1300" b="0" i="0" dirty="0">
                <a:effectLst/>
                <a:latin typeface="Inter" panose="02000503000000020004" pitchFamily="2" charset="0"/>
                <a:ea typeface="Inter" panose="02000503000000020004" pitchFamily="2" charset="0"/>
                <a:cs typeface="Inter" panose="02000503000000020004" pitchFamily="2" charset="0"/>
              </a:rPr>
              <a:t>treams job progress via SSE in real-time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Triggers ETL pipelines, backups, and maintenance tasks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Input:</a:t>
            </a:r>
            <a:r>
              <a:rPr lang="en-US" sz="1300" b="0" i="0" dirty="0">
                <a:effectLst/>
                <a:latin typeface="Inter" panose="02000503000000020004" pitchFamily="2" charset="0"/>
                <a:ea typeface="Inter" panose="02000503000000020004" pitchFamily="2" charset="0"/>
                <a:cs typeface="Inter" panose="02000503000000020004" pitchFamily="2" charset="0"/>
              </a:rPr>
              <a:t> Bearer JWT, job type, payload, Job Types: demo, test, long-running, </a:t>
            </a:r>
            <a:r>
              <a:rPr lang="en-US" sz="1300" b="0" i="0" dirty="0" err="1">
                <a:effectLst/>
                <a:latin typeface="Inter" panose="02000503000000020004" pitchFamily="2" charset="0"/>
                <a:ea typeface="Inter" panose="02000503000000020004" pitchFamily="2" charset="0"/>
                <a:cs typeface="Inter" panose="02000503000000020004" pitchFamily="2" charset="0"/>
              </a:rPr>
              <a:t>agent.run</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1" i="0" dirty="0">
                <a:effectLst/>
                <a:latin typeface="Inter" panose="02000503000000020004" pitchFamily="2" charset="0"/>
                <a:ea typeface="Inter" panose="02000503000000020004" pitchFamily="2" charset="0"/>
                <a:cs typeface="Inter" panose="02000503000000020004" pitchFamily="2" charset="0"/>
              </a:rPr>
              <a:t>Output: </a:t>
            </a:r>
            <a:r>
              <a:rPr lang="en-US" sz="1300" b="0" i="0" dirty="0">
                <a:effectLst/>
                <a:latin typeface="Inter" panose="02000503000000020004" pitchFamily="2" charset="0"/>
                <a:ea typeface="Inter" panose="02000503000000020004" pitchFamily="2" charset="0"/>
                <a:cs typeface="Inter" panose="02000503000000020004" pitchFamily="2" charset="0"/>
              </a:rPr>
              <a:t>{id, status, </a:t>
            </a:r>
            <a:r>
              <a:rPr lang="en-US" sz="1300" b="0" i="0" dirty="0" err="1">
                <a:effectLst/>
                <a:latin typeface="Inter" panose="02000503000000020004" pitchFamily="2" charset="0"/>
                <a:ea typeface="Inter" panose="02000503000000020004" pitchFamily="2" charset="0"/>
                <a:cs typeface="Inter" panose="02000503000000020004" pitchFamily="2" charset="0"/>
              </a:rPr>
              <a:t>created_at</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algn="l"/>
            <a:endParaRPr lang="en-US" sz="1300" b="1" dirty="0">
              <a:solidFill>
                <a:srgbClr val="616161"/>
              </a:solidFill>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Reverse Proxy / API Gateway (NGINX)</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Terminates TLS/HTTPS connections securely, Routes incoming requests to appropriate backend services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Handles CORS (Cross-Origin Resource Sharing)</a:t>
            </a:r>
            <a:r>
              <a:rPr lang="en-US" sz="1300" dirty="0">
                <a:latin typeface="Inter" panose="02000503000000020004" pitchFamily="2" charset="0"/>
                <a:ea typeface="Inter" panose="02000503000000020004" pitchFamily="2" charset="0"/>
                <a:cs typeface="Inter" panose="02000503000000020004" pitchFamily="2" charset="0"/>
              </a:rPr>
              <a:t> and </a:t>
            </a:r>
            <a:r>
              <a:rPr lang="en-US" sz="1300" b="0" i="0" dirty="0">
                <a:effectLst/>
                <a:latin typeface="Inter" panose="02000503000000020004" pitchFamily="2" charset="0"/>
                <a:ea typeface="Inter" panose="02000503000000020004" pitchFamily="2" charset="0"/>
                <a:cs typeface="Inter" panose="02000503000000020004" pitchFamily="2" charset="0"/>
              </a:rPr>
              <a:t>Load balances traffic across multiple backend instances</a:t>
            </a:r>
          </a:p>
          <a:p>
            <a:pPr marL="285750" indent="-285750" algn="l">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Authentication: </a:t>
            </a:r>
            <a:r>
              <a:rPr lang="en-US" sz="1300" dirty="0">
                <a:latin typeface="Inter" panose="02000503000000020004" pitchFamily="2" charset="0"/>
                <a:ea typeface="Inter" panose="02000503000000020004" pitchFamily="2" charset="0"/>
                <a:cs typeface="Inter" panose="02000503000000020004" pitchFamily="2" charset="0"/>
              </a:rPr>
              <a:t>Users log in via OAuth 2.0 and receive a JWT with identity, tenant, roles, scopes. This token is verified on every API call.</a:t>
            </a:r>
          </a:p>
          <a:p>
            <a:r>
              <a:rPr lang="en-US" sz="1300" b="1" dirty="0">
                <a:latin typeface="Inter" panose="02000503000000020004" pitchFamily="2" charset="0"/>
                <a:ea typeface="Inter" panose="02000503000000020004" pitchFamily="2" charset="0"/>
                <a:cs typeface="Inter" panose="02000503000000020004" pitchFamily="2" charset="0"/>
              </a:rPr>
              <a:t>Authorization: </a:t>
            </a:r>
            <a:r>
              <a:rPr lang="en-US" sz="1300" dirty="0">
                <a:latin typeface="Inter" panose="02000503000000020004" pitchFamily="2" charset="0"/>
                <a:ea typeface="Inter" panose="02000503000000020004" pitchFamily="2" charset="0"/>
                <a:cs typeface="Inter" panose="02000503000000020004" pitchFamily="2" charset="0"/>
              </a:rPr>
              <a:t>RBAC enforces access. Roles and scopes show what actions users can perform (viewer = read-only, admin = full access).</a:t>
            </a:r>
          </a:p>
        </p:txBody>
      </p:sp>
      <p:pic>
        <p:nvPicPr>
          <p:cNvPr id="7" name="Picture 6">
            <a:extLst>
              <a:ext uri="{FF2B5EF4-FFF2-40B4-BE49-F238E27FC236}">
                <a16:creationId xmlns:a16="http://schemas.microsoft.com/office/drawing/2014/main" id="{358DADC4-23A2-7260-3E89-22F1567687EA}"/>
              </a:ext>
            </a:extLst>
          </p:cNvPr>
          <p:cNvPicPr>
            <a:picLocks noChangeAspect="1"/>
          </p:cNvPicPr>
          <p:nvPr/>
        </p:nvPicPr>
        <p:blipFill>
          <a:blip r:embed="rId3"/>
          <a:stretch>
            <a:fillRect/>
          </a:stretch>
        </p:blipFill>
        <p:spPr>
          <a:xfrm>
            <a:off x="8610600" y="1734756"/>
            <a:ext cx="2906210" cy="2526624"/>
          </a:xfrm>
          <a:prstGeom prst="rect">
            <a:avLst/>
          </a:prstGeom>
        </p:spPr>
      </p:pic>
      <p:sp>
        <p:nvSpPr>
          <p:cNvPr id="8" name="Footer Placeholder 10">
            <a:extLst>
              <a:ext uri="{FF2B5EF4-FFF2-40B4-BE49-F238E27FC236}">
                <a16:creationId xmlns:a16="http://schemas.microsoft.com/office/drawing/2014/main" id="{9431DD1F-63EB-2BF7-8981-BEA60540AFEF}"/>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146244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BA11-4F2B-BA85-253C-79735EC9817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9B42AAFC-D967-DBE5-8FC1-19A34DC68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B232326-5B86-6E1F-8EA9-896BA8347E0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E90ED0DA-BA7F-7112-C336-89DD4BC82710}"/>
              </a:ext>
            </a:extLst>
          </p:cNvPr>
          <p:cNvSpPr>
            <a:spLocks noGrp="1"/>
          </p:cNvSpPr>
          <p:nvPr>
            <p:ph type="sldNum" sz="quarter" idx="12"/>
          </p:nvPr>
        </p:nvSpPr>
        <p:spPr/>
        <p:txBody>
          <a:bodyPr/>
          <a:lstStyle/>
          <a:p>
            <a:fld id="{48F19E39-9933-F648-B2F3-3AC17C0DC986}" type="slidenum">
              <a:rPr lang="en-US" smtClean="0">
                <a:solidFill>
                  <a:schemeClr val="bg1"/>
                </a:solidFill>
              </a:rPr>
              <a:t>11</a:t>
            </a:fld>
            <a:endParaRPr lang="en-US" dirty="0">
              <a:solidFill>
                <a:schemeClr val="bg1"/>
              </a:solidFill>
            </a:endParaRPr>
          </a:p>
        </p:txBody>
      </p:sp>
      <p:sp>
        <p:nvSpPr>
          <p:cNvPr id="2" name="TextBox 1">
            <a:extLst>
              <a:ext uri="{FF2B5EF4-FFF2-40B4-BE49-F238E27FC236}">
                <a16:creationId xmlns:a16="http://schemas.microsoft.com/office/drawing/2014/main" id="{32F0F7FE-8C60-FD82-206B-86C2E62A1668}"/>
              </a:ext>
            </a:extLst>
          </p:cNvPr>
          <p:cNvSpPr txBox="1"/>
          <p:nvPr/>
        </p:nvSpPr>
        <p:spPr>
          <a:xfrm>
            <a:off x="596349" y="1160904"/>
            <a:ext cx="7112256" cy="3693319"/>
          </a:xfrm>
          <a:prstGeom prst="rect">
            <a:avLst/>
          </a:prstGeom>
          <a:noFill/>
        </p:spPr>
        <p:txBody>
          <a:bodyPr wrap="square" rtlCol="0">
            <a:spAutoFit/>
          </a:bodyPr>
          <a:lstStyle/>
          <a:p>
            <a:pPr algn="just"/>
            <a:r>
              <a:rPr lang="en-US" sz="1300" b="1" i="0" dirty="0">
                <a:effectLst/>
                <a:latin typeface="Inter" panose="02000503000000020004" pitchFamily="2" charset="0"/>
                <a:ea typeface="Inter" panose="02000503000000020004" pitchFamily="2" charset="0"/>
                <a:cs typeface="Inter" panose="02000503000000020004" pitchFamily="2" charset="0"/>
              </a:rPr>
              <a:t>1. CORS Handler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Configures allowed origins, methods, and headers for cross-origin requests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Handles preflight OPTIONS requests automatically</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Supports credentials and custom expose headers</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 request from </a:t>
            </a:r>
            <a:r>
              <a:rPr lang="en-US" sz="1300" dirty="0">
                <a:latin typeface="Inter" panose="02000503000000020004" pitchFamily="2" charset="0"/>
                <a:ea typeface="Inter" panose="02000503000000020004" pitchFamily="2" charset="0"/>
                <a:cs typeface="Inter" panose="02000503000000020004" pitchFamily="2" charset="0"/>
              </a:rPr>
              <a:t>https://</a:t>
            </a:r>
            <a:r>
              <a:rPr lang="en-US" sz="1300" dirty="0" err="1">
                <a:latin typeface="Inter" panose="02000503000000020004" pitchFamily="2" charset="0"/>
                <a:ea typeface="Inter" panose="02000503000000020004" pitchFamily="2" charset="0"/>
                <a:cs typeface="Inter" panose="02000503000000020004" pitchFamily="2" charset="0"/>
              </a:rPr>
              <a:t>chat.cineca.it</a:t>
            </a:r>
            <a:r>
              <a:rPr lang="en-US" sz="1300" b="0" i="0" dirty="0">
                <a:effectLst/>
                <a:latin typeface="Inter" panose="02000503000000020004" pitchFamily="2" charset="0"/>
                <a:ea typeface="Inter" panose="02000503000000020004" pitchFamily="2" charset="0"/>
                <a:cs typeface="Inter" panose="02000503000000020004" pitchFamily="2" charset="0"/>
              </a:rPr>
              <a:t> is allowed, but a request from </a:t>
            </a:r>
            <a:r>
              <a:rPr lang="en-US" sz="1300" dirty="0">
                <a:latin typeface="Inter" panose="02000503000000020004" pitchFamily="2" charset="0"/>
                <a:ea typeface="Inter" panose="02000503000000020004" pitchFamily="2" charset="0"/>
                <a:cs typeface="Inter" panose="02000503000000020004" pitchFamily="2" charset="0"/>
              </a:rPr>
              <a:t>https://malicious-</a:t>
            </a:r>
            <a:r>
              <a:rPr lang="en-US" sz="1300" dirty="0" err="1">
                <a:latin typeface="Inter" panose="02000503000000020004" pitchFamily="2" charset="0"/>
                <a:ea typeface="Inter" panose="02000503000000020004" pitchFamily="2" charset="0"/>
                <a:cs typeface="Inter" panose="02000503000000020004" pitchFamily="2" charset="0"/>
              </a:rPr>
              <a:t>site.com</a:t>
            </a:r>
            <a:r>
              <a:rPr lang="en-US" sz="1300" b="0" i="0" dirty="0">
                <a:effectLst/>
                <a:latin typeface="Inter" panose="02000503000000020004" pitchFamily="2" charset="0"/>
                <a:ea typeface="Inter" panose="02000503000000020004" pitchFamily="2" charset="0"/>
                <a:cs typeface="Inter" panose="02000503000000020004" pitchFamily="2" charset="0"/>
              </a:rPr>
              <a:t> is blocked.</a:t>
            </a:r>
          </a:p>
          <a:p>
            <a:pPr algn="l"/>
            <a:endParaRPr lang="en-US" sz="1300" b="1" dirty="0">
              <a:latin typeface="Inter" panose="02000503000000020004" pitchFamily="2" charset="0"/>
              <a:ea typeface="Inter" panose="02000503000000020004" pitchFamily="2" charset="0"/>
              <a:cs typeface="Inter" panose="02000503000000020004" pitchFamily="2" charset="0"/>
            </a:endParaRPr>
          </a:p>
          <a:p>
            <a:pPr algn="l"/>
            <a:r>
              <a:rPr lang="en-US" sz="1300" b="1" dirty="0">
                <a:latin typeface="Inter" panose="02000503000000020004" pitchFamily="2" charset="0"/>
                <a:ea typeface="Inter" panose="02000503000000020004" pitchFamily="2" charset="0"/>
                <a:cs typeface="Inter" panose="02000503000000020004" pitchFamily="2" charset="0"/>
              </a:rPr>
              <a:t>2. </a:t>
            </a:r>
            <a:r>
              <a:rPr lang="en-US" sz="1300" b="1" i="0" dirty="0">
                <a:effectLst/>
                <a:latin typeface="Inter" panose="02000503000000020004" pitchFamily="2" charset="0"/>
                <a:ea typeface="Inter" panose="02000503000000020004" pitchFamily="2" charset="0"/>
                <a:cs typeface="Inter" panose="02000503000000020004" pitchFamily="2" charset="0"/>
              </a:rPr>
              <a:t>Trace Context (</a:t>
            </a:r>
            <a:r>
              <a:rPr lang="en-US" sz="1300" b="1" i="0" dirty="0" err="1">
                <a:effectLst/>
                <a:latin typeface="Inter" panose="02000503000000020004" pitchFamily="2" charset="0"/>
                <a:ea typeface="Inter" panose="02000503000000020004" pitchFamily="2" charset="0"/>
                <a:cs typeface="Inter" panose="02000503000000020004" pitchFamily="2" charset="0"/>
              </a:rPr>
              <a:t>OpenTelemetry</a:t>
            </a:r>
            <a:r>
              <a:rPr lang="en-US" sz="1300" b="1"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Injects/extracts W3C trace headers (</a:t>
            </a:r>
            <a:r>
              <a:rPr lang="en-US" sz="1300" b="0" i="0" dirty="0" err="1">
                <a:effectLst/>
                <a:latin typeface="Inter" panose="02000503000000020004" pitchFamily="2" charset="0"/>
                <a:ea typeface="Inter" panose="02000503000000020004" pitchFamily="2" charset="0"/>
                <a:cs typeface="Inter" panose="02000503000000020004" pitchFamily="2" charset="0"/>
              </a:rPr>
              <a:t>traceparent</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tracestate</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Creates root span if missing; propagates existing traces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Adds </a:t>
            </a:r>
            <a:r>
              <a:rPr lang="en-US" sz="1300" b="0" i="0" dirty="0" err="1">
                <a:effectLst/>
                <a:latin typeface="Inter" panose="02000503000000020004" pitchFamily="2" charset="0"/>
                <a:ea typeface="Inter" panose="02000503000000020004" pitchFamily="2" charset="0"/>
                <a:cs typeface="Inter" panose="02000503000000020004" pitchFamily="2" charset="0"/>
              </a:rPr>
              <a:t>trace_id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span_id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parent_id</a:t>
            </a:r>
            <a:r>
              <a:rPr lang="en-US" sz="1300" b="0" i="0" dirty="0">
                <a:effectLst/>
                <a:latin typeface="Inter" panose="02000503000000020004" pitchFamily="2" charset="0"/>
                <a:ea typeface="Inter" panose="02000503000000020004" pitchFamily="2" charset="0"/>
                <a:cs typeface="Inter" panose="02000503000000020004" pitchFamily="2" charset="0"/>
              </a:rPr>
              <a:t> to request context</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A user's chat request gets </a:t>
            </a:r>
            <a:r>
              <a:rPr lang="en-US" sz="1300" dirty="0" err="1">
                <a:latin typeface="Inter" panose="02000503000000020004" pitchFamily="2" charset="0"/>
                <a:ea typeface="Inter" panose="02000503000000020004" pitchFamily="2" charset="0"/>
                <a:cs typeface="Inter" panose="02000503000000020004" pitchFamily="2" charset="0"/>
              </a:rPr>
              <a:t>trace_id</a:t>
            </a:r>
            <a:r>
              <a:rPr lang="en-US" sz="1300" dirty="0">
                <a:latin typeface="Inter" panose="02000503000000020004" pitchFamily="2" charset="0"/>
                <a:ea typeface="Inter" panose="02000503000000020004" pitchFamily="2" charset="0"/>
                <a:cs typeface="Inter" panose="02000503000000020004" pitchFamily="2" charset="0"/>
              </a:rPr>
              <a:t>: abc123</a:t>
            </a:r>
            <a:r>
              <a:rPr lang="en-US" sz="1300" b="0" i="0" dirty="0">
                <a:effectLst/>
                <a:latin typeface="Inter" panose="02000503000000020004" pitchFamily="2" charset="0"/>
                <a:ea typeface="Inter" panose="02000503000000020004" pitchFamily="2" charset="0"/>
                <a:cs typeface="Inter" panose="02000503000000020004" pitchFamily="2" charset="0"/>
              </a:rPr>
              <a:t>, which follows the request through the API, orchestrator, Memgraph, and back. All visible in Grafana.</a:t>
            </a: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3. Auth JWT (OAuth 2.0) with RBAC</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Rejects invalid/expired tokens → 401 Unauthorized</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 </a:t>
            </a:r>
            <a:r>
              <a:rPr lang="en-US" sz="1300" dirty="0">
                <a:latin typeface="Inter" panose="02000503000000020004" pitchFamily="2" charset="0"/>
                <a:ea typeface="Inter" panose="02000503000000020004" pitchFamily="2" charset="0"/>
                <a:cs typeface="Inter" panose="02000503000000020004" pitchFamily="2" charset="0"/>
              </a:rPr>
              <a:t>viewer</a:t>
            </a:r>
            <a:r>
              <a:rPr lang="en-US" sz="1300" b="0" i="0" dirty="0">
                <a:effectLst/>
                <a:latin typeface="Inter" panose="02000503000000020004" pitchFamily="2" charset="0"/>
                <a:ea typeface="Inter" panose="02000503000000020004" pitchFamily="2" charset="0"/>
                <a:cs typeface="Inter" panose="02000503000000020004" pitchFamily="2" charset="0"/>
              </a:rPr>
              <a:t> tries to delete an agent run → gets </a:t>
            </a:r>
            <a:r>
              <a:rPr lang="en-US" sz="1300" dirty="0">
                <a:latin typeface="Inter" panose="02000503000000020004" pitchFamily="2" charset="0"/>
                <a:ea typeface="Inter" panose="02000503000000020004" pitchFamily="2" charset="0"/>
                <a:cs typeface="Inter" panose="02000503000000020004" pitchFamily="2" charset="0"/>
              </a:rPr>
              <a:t>403 Forbidden</a:t>
            </a:r>
            <a:endParaRPr lang="en-US" sz="1300" b="0" i="0" dirty="0">
              <a:effectLst/>
              <a:latin typeface="Inter" panose="02000503000000020004" pitchFamily="2" charset="0"/>
              <a:ea typeface="Inter" panose="02000503000000020004" pitchFamily="2" charset="0"/>
              <a:cs typeface="Inter" panose="02000503000000020004" pitchFamily="2" charset="0"/>
            </a:endParaRPr>
          </a:p>
        </p:txBody>
      </p:sp>
      <p:pic>
        <p:nvPicPr>
          <p:cNvPr id="5" name="Picture 4">
            <a:extLst>
              <a:ext uri="{FF2B5EF4-FFF2-40B4-BE49-F238E27FC236}">
                <a16:creationId xmlns:a16="http://schemas.microsoft.com/office/drawing/2014/main" id="{2987DF4F-AB3E-4BD8-BD50-AF6AE0962FD8}"/>
              </a:ext>
            </a:extLst>
          </p:cNvPr>
          <p:cNvPicPr>
            <a:picLocks noChangeAspect="1"/>
          </p:cNvPicPr>
          <p:nvPr/>
        </p:nvPicPr>
        <p:blipFill>
          <a:blip r:embed="rId3"/>
          <a:stretch>
            <a:fillRect/>
          </a:stretch>
        </p:blipFill>
        <p:spPr>
          <a:xfrm>
            <a:off x="8173843" y="1160904"/>
            <a:ext cx="3161103" cy="2464798"/>
          </a:xfrm>
          <a:prstGeom prst="rect">
            <a:avLst/>
          </a:prstGeom>
        </p:spPr>
      </p:pic>
      <p:graphicFrame>
        <p:nvGraphicFramePr>
          <p:cNvPr id="6" name="Table 5">
            <a:extLst>
              <a:ext uri="{FF2B5EF4-FFF2-40B4-BE49-F238E27FC236}">
                <a16:creationId xmlns:a16="http://schemas.microsoft.com/office/drawing/2014/main" id="{18F6A390-DEC0-9971-97F5-919189EB0E43}"/>
              </a:ext>
            </a:extLst>
          </p:cNvPr>
          <p:cNvGraphicFramePr>
            <a:graphicFrameLocks noGrp="1"/>
          </p:cNvGraphicFramePr>
          <p:nvPr>
            <p:extLst>
              <p:ext uri="{D42A27DB-BD31-4B8C-83A1-F6EECF244321}">
                <p14:modId xmlns:p14="http://schemas.microsoft.com/office/powerpoint/2010/main" val="4249282054"/>
              </p:ext>
            </p:extLst>
          </p:nvPr>
        </p:nvGraphicFramePr>
        <p:xfrm>
          <a:off x="7310428" y="3790386"/>
          <a:ext cx="4021470" cy="1478280"/>
        </p:xfrm>
        <a:graphic>
          <a:graphicData uri="http://schemas.openxmlformats.org/drawingml/2006/table">
            <a:tbl>
              <a:tblPr>
                <a:tableStyleId>{21E4AEA4-8DFA-4A89-87EB-49C32662AFE0}</a:tableStyleId>
              </a:tblPr>
              <a:tblGrid>
                <a:gridCol w="751602">
                  <a:extLst>
                    <a:ext uri="{9D8B030D-6E8A-4147-A177-3AD203B41FA5}">
                      <a16:colId xmlns:a16="http://schemas.microsoft.com/office/drawing/2014/main" val="2901218323"/>
                    </a:ext>
                  </a:extLst>
                </a:gridCol>
                <a:gridCol w="932020">
                  <a:extLst>
                    <a:ext uri="{9D8B030D-6E8A-4147-A177-3AD203B41FA5}">
                      <a16:colId xmlns:a16="http://schemas.microsoft.com/office/drawing/2014/main" val="377770775"/>
                    </a:ext>
                  </a:extLst>
                </a:gridCol>
                <a:gridCol w="546755">
                  <a:extLst>
                    <a:ext uri="{9D8B030D-6E8A-4147-A177-3AD203B41FA5}">
                      <a16:colId xmlns:a16="http://schemas.microsoft.com/office/drawing/2014/main" val="4033670224"/>
                    </a:ext>
                  </a:extLst>
                </a:gridCol>
                <a:gridCol w="546755">
                  <a:extLst>
                    <a:ext uri="{9D8B030D-6E8A-4147-A177-3AD203B41FA5}">
                      <a16:colId xmlns:a16="http://schemas.microsoft.com/office/drawing/2014/main" val="1996386480"/>
                    </a:ext>
                  </a:extLst>
                </a:gridCol>
                <a:gridCol w="659876">
                  <a:extLst>
                    <a:ext uri="{9D8B030D-6E8A-4147-A177-3AD203B41FA5}">
                      <a16:colId xmlns:a16="http://schemas.microsoft.com/office/drawing/2014/main" val="1490375004"/>
                    </a:ext>
                  </a:extLst>
                </a:gridCol>
                <a:gridCol w="584462">
                  <a:extLst>
                    <a:ext uri="{9D8B030D-6E8A-4147-A177-3AD203B41FA5}">
                      <a16:colId xmlns:a16="http://schemas.microsoft.com/office/drawing/2014/main" val="1430761344"/>
                    </a:ext>
                  </a:extLst>
                </a:gridCol>
              </a:tblGrid>
              <a:tr h="247598">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Role</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agent-runs</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jobs</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tools</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tenants</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Graph</a:t>
                      </a:r>
                    </a:p>
                    <a:p>
                      <a:r>
                        <a:rPr lang="en-US" sz="1200" dirty="0">
                          <a:effectLst/>
                          <a:latin typeface="Inter" panose="02000503000000020004" pitchFamily="2" charset="0"/>
                          <a:ea typeface="Inter" panose="02000503000000020004" pitchFamily="2" charset="0"/>
                          <a:cs typeface="Inter" panose="02000503000000020004" pitchFamily="2" charset="0"/>
                        </a:rPr>
                        <a:t>(write)</a:t>
                      </a:r>
                    </a:p>
                  </a:txBody>
                  <a:tcPr marL="57150" marR="57150" marT="38100" marB="38100" anchor="ctr"/>
                </a:tc>
                <a:extLst>
                  <a:ext uri="{0D108BD9-81ED-4DB2-BD59-A6C34878D82A}">
                    <a16:rowId xmlns:a16="http://schemas.microsoft.com/office/drawing/2014/main" val="3423743289"/>
                  </a:ext>
                </a:extLst>
              </a:tr>
              <a:tr h="145144">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admin</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509805184"/>
                  </a:ext>
                </a:extLst>
              </a:tr>
              <a:tr h="145144">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operator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398323414"/>
                  </a:ext>
                </a:extLst>
              </a:tr>
              <a:tr h="145144">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user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CRD</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3055337032"/>
                  </a:ext>
                </a:extLst>
              </a:tr>
              <a:tr h="145144">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viewer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2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200" dirty="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2017887367"/>
                  </a:ext>
                </a:extLst>
              </a:tr>
            </a:tbl>
          </a:graphicData>
        </a:graphic>
      </p:graphicFrame>
      <p:sp>
        <p:nvSpPr>
          <p:cNvPr id="13" name="TextBox 12">
            <a:extLst>
              <a:ext uri="{FF2B5EF4-FFF2-40B4-BE49-F238E27FC236}">
                <a16:creationId xmlns:a16="http://schemas.microsoft.com/office/drawing/2014/main" id="{F9DE8CB6-AAC4-61F8-4F9B-7F45939DE829}"/>
              </a:ext>
            </a:extLst>
          </p:cNvPr>
          <p:cNvSpPr txBox="1"/>
          <p:nvPr/>
        </p:nvSpPr>
        <p:spPr>
          <a:xfrm>
            <a:off x="596349" y="4842784"/>
            <a:ext cx="11120162" cy="1292662"/>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4. Rate Limiter (Redis-backed)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Controls number of requests users can make.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Returns 429 Too Many Requests when limits are exceeded. | </a:t>
            </a:r>
            <a:r>
              <a:rPr lang="en-US" sz="1300" b="0" i="0" dirty="0">
                <a:effectLst/>
                <a:latin typeface="Inter" panose="02000503000000020004" pitchFamily="2" charset="0"/>
                <a:ea typeface="Inter" panose="02000503000000020004" pitchFamily="2" charset="0"/>
                <a:cs typeface="Inter" panose="02000503000000020004" pitchFamily="2" charset="0"/>
              </a:rPr>
              <a:t>Tracks limits at three levels: user, tenant, and endpoint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Sends headers back the number of remaining requests </a:t>
            </a:r>
            <a:r>
              <a:rPr lang="en-US" sz="1300" b="0" i="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(X-</a:t>
            </a:r>
            <a:r>
              <a:rPr lang="en-US" sz="1300" dirty="0" err="1">
                <a:latin typeface="Inter" panose="02000503000000020004" pitchFamily="2" charset="0"/>
                <a:ea typeface="Inter" panose="02000503000000020004" pitchFamily="2" charset="0"/>
                <a:cs typeface="Inter" panose="02000503000000020004" pitchFamily="2" charset="0"/>
              </a:rPr>
              <a:t>RateLimit</a:t>
            </a:r>
            <a:r>
              <a:rPr lang="en-US" sz="1300" dirty="0">
                <a:latin typeface="Inter" panose="02000503000000020004" pitchFamily="2" charset="0"/>
                <a:ea typeface="Inter" panose="02000503000000020004" pitchFamily="2" charset="0"/>
                <a:cs typeface="Inter" panose="02000503000000020004" pitchFamily="2" charset="0"/>
              </a:rPr>
              <a:t>-Limit, X-</a:t>
            </a:r>
            <a:r>
              <a:rPr lang="en-US" sz="1300" dirty="0" err="1">
                <a:latin typeface="Inter" panose="02000503000000020004" pitchFamily="2" charset="0"/>
                <a:ea typeface="Inter" panose="02000503000000020004" pitchFamily="2" charset="0"/>
                <a:cs typeface="Inter" panose="02000503000000020004" pitchFamily="2" charset="0"/>
              </a:rPr>
              <a:t>RateLimit</a:t>
            </a:r>
            <a:r>
              <a:rPr lang="en-US" sz="1300" dirty="0">
                <a:latin typeface="Inter" panose="02000503000000020004" pitchFamily="2" charset="0"/>
                <a:ea typeface="Inter" panose="02000503000000020004" pitchFamily="2" charset="0"/>
                <a:cs typeface="Inter" panose="02000503000000020004" pitchFamily="2" charset="0"/>
              </a:rPr>
              <a:t>-Remaining, X-</a:t>
            </a:r>
            <a:r>
              <a:rPr lang="en-US" sz="1300" dirty="0" err="1">
                <a:latin typeface="Inter" panose="02000503000000020004" pitchFamily="2" charset="0"/>
                <a:ea typeface="Inter" panose="02000503000000020004" pitchFamily="2" charset="0"/>
                <a:cs typeface="Inter" panose="02000503000000020004" pitchFamily="2" charset="0"/>
              </a:rPr>
              <a:t>RateLimit</a:t>
            </a:r>
            <a:r>
              <a:rPr lang="en-US" sz="1300" dirty="0">
                <a:latin typeface="Inter" panose="02000503000000020004" pitchFamily="2" charset="0"/>
                <a:ea typeface="Inter" panose="02000503000000020004" pitchFamily="2" charset="0"/>
                <a:cs typeface="Inter" panose="02000503000000020004" pitchFamily="2" charset="0"/>
              </a:rPr>
              <a:t>-Reset)</a:t>
            </a: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User exceeds 100 requests/minute → receives 429 Too Many Requests with header X-</a:t>
            </a:r>
            <a:r>
              <a:rPr lang="en-US" sz="1300" b="0" i="0" dirty="0" err="1">
                <a:effectLst/>
                <a:latin typeface="Inter" panose="02000503000000020004" pitchFamily="2" charset="0"/>
                <a:ea typeface="Inter" panose="02000503000000020004" pitchFamily="2" charset="0"/>
                <a:cs typeface="Inter" panose="02000503000000020004" pitchFamily="2" charset="0"/>
              </a:rPr>
              <a:t>RateLimit</a:t>
            </a:r>
            <a:r>
              <a:rPr lang="en-US" sz="1300" b="0" i="0" dirty="0">
                <a:effectLst/>
                <a:latin typeface="Inter" panose="02000503000000020004" pitchFamily="2" charset="0"/>
                <a:ea typeface="Inter" panose="02000503000000020004" pitchFamily="2" charset="0"/>
                <a:cs typeface="Inter" panose="02000503000000020004" pitchFamily="2" charset="0"/>
              </a:rPr>
              <a:t>-Reset: 45 (seconds until reset).</a:t>
            </a:r>
          </a:p>
        </p:txBody>
      </p:sp>
      <p:sp>
        <p:nvSpPr>
          <p:cNvPr id="15" name="Footer Placeholder 10">
            <a:extLst>
              <a:ext uri="{FF2B5EF4-FFF2-40B4-BE49-F238E27FC236}">
                <a16:creationId xmlns:a16="http://schemas.microsoft.com/office/drawing/2014/main" id="{72B7CE12-1EF0-B4D9-34FF-E38045B77FF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6" name="TextBox 15">
            <a:extLst>
              <a:ext uri="{FF2B5EF4-FFF2-40B4-BE49-F238E27FC236}">
                <a16:creationId xmlns:a16="http://schemas.microsoft.com/office/drawing/2014/main" id="{E53A3490-A33B-2B62-1423-8EC3C96A8DE6}"/>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1/3)</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1224824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D3F30-9C46-9CE1-0C1E-6F165BC509E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398078A-B5EC-733A-610D-8C3ACF992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78377C2-5E41-0371-262D-703F529390E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CD98C48-56F7-4963-6223-1E96C366D127}"/>
              </a:ext>
            </a:extLst>
          </p:cNvPr>
          <p:cNvSpPr>
            <a:spLocks noGrp="1"/>
          </p:cNvSpPr>
          <p:nvPr>
            <p:ph type="sldNum" sz="quarter" idx="12"/>
          </p:nvPr>
        </p:nvSpPr>
        <p:spPr/>
        <p:txBody>
          <a:bodyPr/>
          <a:lstStyle/>
          <a:p>
            <a:fld id="{48F19E39-9933-F648-B2F3-3AC17C0DC986}" type="slidenum">
              <a:rPr lang="en-US" smtClean="0">
                <a:solidFill>
                  <a:schemeClr val="bg1"/>
                </a:solidFill>
              </a:rPr>
              <a:t>12</a:t>
            </a:fld>
            <a:endParaRPr lang="en-US" dirty="0">
              <a:solidFill>
                <a:schemeClr val="bg1"/>
              </a:solidFill>
            </a:endParaRPr>
          </a:p>
        </p:txBody>
      </p:sp>
      <p:sp>
        <p:nvSpPr>
          <p:cNvPr id="2" name="TextBox 1">
            <a:extLst>
              <a:ext uri="{FF2B5EF4-FFF2-40B4-BE49-F238E27FC236}">
                <a16:creationId xmlns:a16="http://schemas.microsoft.com/office/drawing/2014/main" id="{32343625-5706-5384-FB2A-BFA5A5C1CAFA}"/>
              </a:ext>
            </a:extLst>
          </p:cNvPr>
          <p:cNvSpPr txBox="1"/>
          <p:nvPr/>
        </p:nvSpPr>
        <p:spPr>
          <a:xfrm>
            <a:off x="596349" y="1160904"/>
            <a:ext cx="6378608" cy="209288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5. Tenant Resolver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Identifies which organization the request belongs to</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Loads tenant config from Redis cache (or PostgreSQL fallback)</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Automatically filters all database queries by </a:t>
            </a:r>
            <a:r>
              <a:rPr lang="en-US" sz="1300" b="0" i="0" dirty="0" err="1">
                <a:effectLst/>
                <a:latin typeface="Inter" panose="02000503000000020004" pitchFamily="2" charset="0"/>
                <a:ea typeface="Inter" panose="02000503000000020004" pitchFamily="2" charset="0"/>
                <a:cs typeface="Inter" panose="02000503000000020004" pitchFamily="2" charset="0"/>
              </a:rPr>
              <a:t>tenant_id</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Ensures users can only access their own organization's data</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Applies tenant-specific settings. A config like model defaults</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User from </a:t>
            </a:r>
            <a:r>
              <a:rPr lang="en-US" sz="1300" b="0" i="0" dirty="0" err="1">
                <a:effectLst/>
                <a:latin typeface="Inter" panose="02000503000000020004" pitchFamily="2" charset="0"/>
                <a:ea typeface="Inter" panose="02000503000000020004" pitchFamily="2" charset="0"/>
                <a:cs typeface="Inter" panose="02000503000000020004" pitchFamily="2" charset="0"/>
              </a:rPr>
              <a:t>tenant_id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cineca_bioinformatics</a:t>
            </a:r>
            <a:r>
              <a:rPr lang="en-US" sz="1300" b="0" i="0" dirty="0">
                <a:effectLst/>
                <a:latin typeface="Inter" panose="02000503000000020004" pitchFamily="2" charset="0"/>
                <a:ea typeface="Inter" panose="02000503000000020004" pitchFamily="2" charset="0"/>
                <a:cs typeface="Inter" panose="02000503000000020004" pitchFamily="2" charset="0"/>
              </a:rPr>
              <a:t> only sees bioinformatics ‘s data, and never data from other organizations.</a:t>
            </a:r>
          </a:p>
        </p:txBody>
      </p:sp>
      <p:sp>
        <p:nvSpPr>
          <p:cNvPr id="9" name="TextBox 8">
            <a:extLst>
              <a:ext uri="{FF2B5EF4-FFF2-40B4-BE49-F238E27FC236}">
                <a16:creationId xmlns:a16="http://schemas.microsoft.com/office/drawing/2014/main" id="{360BE758-AA6A-7886-94D0-263FA2667079}"/>
              </a:ext>
            </a:extLst>
          </p:cNvPr>
          <p:cNvSpPr txBox="1"/>
          <p:nvPr/>
        </p:nvSpPr>
        <p:spPr>
          <a:xfrm>
            <a:off x="596349" y="3253785"/>
            <a:ext cx="10654246" cy="209288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6. Input Guard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Validates all incoming data before it enters the system.</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Uses </a:t>
            </a:r>
            <a:r>
              <a:rPr lang="en-US" sz="1300" dirty="0" err="1">
                <a:latin typeface="Inter" panose="02000503000000020004" pitchFamily="2" charset="0"/>
                <a:ea typeface="Inter" panose="02000503000000020004" pitchFamily="2" charset="0"/>
                <a:cs typeface="Inter" panose="02000503000000020004" pitchFamily="2" charset="0"/>
              </a:rPr>
              <a:t>Pydantic</a:t>
            </a:r>
            <a:r>
              <a:rPr lang="en-US" sz="1300" dirty="0">
                <a:latin typeface="Inter" panose="02000503000000020004" pitchFamily="2" charset="0"/>
                <a:ea typeface="Inter" panose="02000503000000020004" pitchFamily="2" charset="0"/>
                <a:cs typeface="Inter" panose="02000503000000020004" pitchFamily="2" charset="0"/>
              </a:rPr>
              <a:t> schemas to verify data structure and types.</a:t>
            </a:r>
          </a:p>
          <a:p>
            <a:pPr marL="285750"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Applies injection attack detection by</a:t>
            </a:r>
            <a:r>
              <a:rPr lang="en-US" sz="1300" dirty="0">
                <a:latin typeface="Inter" panose="02000503000000020004" pitchFamily="2" charset="0"/>
                <a:ea typeface="Inter" panose="02000503000000020004" pitchFamily="2" charset="0"/>
                <a:cs typeface="Inter" panose="02000503000000020004" pitchFamily="2" charset="0"/>
              </a:rPr>
              <a:t> scans for malicious patterns like: </a:t>
            </a:r>
          </a:p>
          <a:p>
            <a:pPr marL="742950" lvl="1"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SQL injection </a:t>
            </a:r>
            <a:r>
              <a:rPr lang="en-US" sz="1300" dirty="0">
                <a:latin typeface="Inter" panose="02000503000000020004" pitchFamily="2" charset="0"/>
                <a:ea typeface="Inter" panose="02000503000000020004" pitchFamily="2" charset="0"/>
                <a:cs typeface="Inter" panose="02000503000000020004" pitchFamily="2" charset="0"/>
              </a:rPr>
              <a:t>(DROP TABLE, UNION SELECT), </a:t>
            </a:r>
            <a:r>
              <a:rPr lang="en-US" sz="1300" b="1" dirty="0">
                <a:latin typeface="Inter" panose="02000503000000020004" pitchFamily="2" charset="0"/>
                <a:ea typeface="Inter" panose="02000503000000020004" pitchFamily="2" charset="0"/>
                <a:cs typeface="Inter" panose="02000503000000020004" pitchFamily="2" charset="0"/>
              </a:rPr>
              <a:t>Cypher injection </a:t>
            </a:r>
            <a:r>
              <a:rPr lang="en-US" sz="1300" dirty="0">
                <a:latin typeface="Inter" panose="02000503000000020004" pitchFamily="2" charset="0"/>
                <a:ea typeface="Inter" panose="02000503000000020004" pitchFamily="2" charset="0"/>
                <a:cs typeface="Inter" panose="02000503000000020004" pitchFamily="2" charset="0"/>
              </a:rPr>
              <a:t>(graphDB attacks), Shell commands (; rm -rf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Checks request headers and limits oversized payloads that could crash the system</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Detects and matches unusual patterns or broken data structures that indicate potential attacks</a:t>
            </a:r>
          </a:p>
          <a:p>
            <a:pPr algn="l"/>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A prompt containing "; DROP TABLE users;-- is detected as SQL injection and rejected with 400 Bad Request.</a:t>
            </a:r>
          </a:p>
        </p:txBody>
      </p:sp>
      <p:sp>
        <p:nvSpPr>
          <p:cNvPr id="10" name="Footer Placeholder 10">
            <a:extLst>
              <a:ext uri="{FF2B5EF4-FFF2-40B4-BE49-F238E27FC236}">
                <a16:creationId xmlns:a16="http://schemas.microsoft.com/office/drawing/2014/main" id="{D9E49A75-DBE9-A71A-2F56-7D1E2F5ACE0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3" name="Picture 12">
            <a:extLst>
              <a:ext uri="{FF2B5EF4-FFF2-40B4-BE49-F238E27FC236}">
                <a16:creationId xmlns:a16="http://schemas.microsoft.com/office/drawing/2014/main" id="{23476F6C-E199-AAF4-EB1B-98363EDF756B}"/>
              </a:ext>
            </a:extLst>
          </p:cNvPr>
          <p:cNvPicPr>
            <a:picLocks noChangeAspect="1"/>
          </p:cNvPicPr>
          <p:nvPr/>
        </p:nvPicPr>
        <p:blipFill>
          <a:blip r:embed="rId3"/>
          <a:stretch>
            <a:fillRect/>
          </a:stretch>
        </p:blipFill>
        <p:spPr>
          <a:xfrm>
            <a:off x="8173843" y="1160904"/>
            <a:ext cx="3161103" cy="2464798"/>
          </a:xfrm>
          <a:prstGeom prst="rect">
            <a:avLst/>
          </a:prstGeom>
        </p:spPr>
      </p:pic>
      <p:sp>
        <p:nvSpPr>
          <p:cNvPr id="15" name="TextBox 14">
            <a:extLst>
              <a:ext uri="{FF2B5EF4-FFF2-40B4-BE49-F238E27FC236}">
                <a16:creationId xmlns:a16="http://schemas.microsoft.com/office/drawing/2014/main" id="{C18F3D6D-AA54-1F40-9C7B-0796FD4552B9}"/>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2/3)</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3958867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66275-EC53-43CA-0C17-828DBC2EEB0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A1AFC5B8-520F-73D5-4D54-625032AC1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6421C84-A9C6-4F54-AFBB-19CFA923AB8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BD0DB40-8766-0C77-8758-76A2C71B1027}"/>
              </a:ext>
            </a:extLst>
          </p:cNvPr>
          <p:cNvSpPr>
            <a:spLocks noGrp="1"/>
          </p:cNvSpPr>
          <p:nvPr>
            <p:ph type="sldNum" sz="quarter" idx="12"/>
          </p:nvPr>
        </p:nvSpPr>
        <p:spPr/>
        <p:txBody>
          <a:bodyPr/>
          <a:lstStyle/>
          <a:p>
            <a:fld id="{48F19E39-9933-F648-B2F3-3AC17C0DC986}" type="slidenum">
              <a:rPr lang="en-US" smtClean="0">
                <a:solidFill>
                  <a:schemeClr val="bg1"/>
                </a:solidFill>
              </a:rPr>
              <a:t>13</a:t>
            </a:fld>
            <a:endParaRPr lang="en-US" dirty="0">
              <a:solidFill>
                <a:schemeClr val="bg1"/>
              </a:solidFill>
            </a:endParaRPr>
          </a:p>
        </p:txBody>
      </p:sp>
      <p:sp>
        <p:nvSpPr>
          <p:cNvPr id="2" name="TextBox 1">
            <a:extLst>
              <a:ext uri="{FF2B5EF4-FFF2-40B4-BE49-F238E27FC236}">
                <a16:creationId xmlns:a16="http://schemas.microsoft.com/office/drawing/2014/main" id="{8FB6CE29-FF1C-682E-E050-1756B1BA90F1}"/>
              </a:ext>
            </a:extLst>
          </p:cNvPr>
          <p:cNvSpPr txBox="1"/>
          <p:nvPr/>
        </p:nvSpPr>
        <p:spPr>
          <a:xfrm>
            <a:off x="596348" y="1161322"/>
            <a:ext cx="7095369" cy="209288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7. Output Guard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Detect sensitive data before sending responses (emails, phones, SSNs)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Filters patterns that might leak internal information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Enforces maximum response size to prevent memory issues and truncates oversized responses.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Logs all responses with correlation IDs for auditing</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An LLM response containing </a:t>
            </a:r>
            <a:r>
              <a:rPr lang="en-US" sz="1300" b="0" i="0" dirty="0" err="1">
                <a:effectLst/>
                <a:latin typeface="Inter" panose="02000503000000020004" pitchFamily="2" charset="0"/>
                <a:ea typeface="Inter" panose="02000503000000020004" pitchFamily="2" charset="0"/>
                <a:cs typeface="Inter" panose="02000503000000020004" pitchFamily="2" charset="0"/>
              </a:rPr>
              <a:t>user@email.com</a:t>
            </a:r>
            <a:r>
              <a:rPr lang="en-US" sz="1300" b="0" i="0" dirty="0">
                <a:effectLst/>
                <a:latin typeface="Inter" panose="02000503000000020004" pitchFamily="2" charset="0"/>
                <a:ea typeface="Inter" panose="02000503000000020004" pitchFamily="2" charset="0"/>
                <a:cs typeface="Inter" panose="02000503000000020004" pitchFamily="2" charset="0"/>
              </a:rPr>
              <a:t> is automatically redacted to [EMAIL REDACTED] before reaching the client.</a:t>
            </a:r>
          </a:p>
        </p:txBody>
      </p:sp>
      <p:sp>
        <p:nvSpPr>
          <p:cNvPr id="7" name="TextBox 6">
            <a:extLst>
              <a:ext uri="{FF2B5EF4-FFF2-40B4-BE49-F238E27FC236}">
                <a16:creationId xmlns:a16="http://schemas.microsoft.com/office/drawing/2014/main" id="{FF1C7C78-FAB1-3C4D-9E44-DB6161A0DF05}"/>
              </a:ext>
            </a:extLst>
          </p:cNvPr>
          <p:cNvSpPr txBox="1"/>
          <p:nvPr/>
        </p:nvSpPr>
        <p:spPr>
          <a:xfrm>
            <a:off x="596349" y="3254203"/>
            <a:ext cx="7577494" cy="2492990"/>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8. Error Handler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Catches all exceptions in one place for consistent handling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Returns standardized error responses across the API</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Hides internal details to prevent information leakage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Attaches correlation IDs so errors can be traced in logs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Records all errors for security auditing and debugging</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r>
              <a:rPr lang="en-US" sz="1300" b="0" i="0" dirty="0">
                <a:effectLst/>
                <a:latin typeface="Inter" panose="02000503000000020004" pitchFamily="2" charset="0"/>
                <a:ea typeface="Inter" panose="02000503000000020004" pitchFamily="2" charset="0"/>
                <a:cs typeface="Inter" panose="02000503000000020004" pitchFamily="2" charset="0"/>
              </a:rPr>
              <a:t>A PostgreSQL connection timeout occurs → instead of exposing:</a:t>
            </a:r>
          </a:p>
          <a:p>
            <a:r>
              <a:rPr lang="en-US" sz="1200" b="0" dirty="0">
                <a:solidFill>
                  <a:srgbClr val="CD3131"/>
                </a:solidFill>
                <a:effectLst/>
                <a:latin typeface="Menlo" panose="020B0609030804020204" pitchFamily="49" charset="0"/>
              </a:rPr>
              <a:t>psycopg</a:t>
            </a:r>
            <a:r>
              <a:rPr lang="en-US" sz="1200" b="0" dirty="0">
                <a:solidFill>
                  <a:srgbClr val="098658"/>
                </a:solidFill>
                <a:effectLst/>
                <a:latin typeface="Menlo" panose="020B0609030804020204" pitchFamily="49" charset="0"/>
              </a:rPr>
              <a:t>2</a:t>
            </a:r>
            <a:r>
              <a:rPr lang="en-US" sz="1200" b="0" dirty="0">
                <a:solidFill>
                  <a:srgbClr val="CD3131"/>
                </a:solidFill>
                <a:effectLst/>
                <a:latin typeface="Menlo" panose="020B0609030804020204" pitchFamily="49" charset="0"/>
              </a:rPr>
              <a:t>.OperationalError: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connection</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refused</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at</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10.0</a:t>
            </a:r>
            <a:r>
              <a:rPr lang="en-US" sz="1200" b="0" dirty="0">
                <a:solidFill>
                  <a:srgbClr val="CD3131"/>
                </a:solidFill>
                <a:effectLst/>
                <a:latin typeface="Menlo" panose="020B0609030804020204" pitchFamily="49" charset="0"/>
              </a:rPr>
              <a:t>.</a:t>
            </a:r>
            <a:r>
              <a:rPr lang="en-US" sz="1200" b="0" dirty="0">
                <a:solidFill>
                  <a:srgbClr val="098658"/>
                </a:solidFill>
                <a:effectLst/>
                <a:latin typeface="Menlo" panose="020B0609030804020204" pitchFamily="49" charset="0"/>
              </a:rPr>
              <a:t>1.5</a:t>
            </a:r>
            <a:r>
              <a:rPr lang="en-US" sz="1200" b="0" dirty="0">
                <a:solidFill>
                  <a:srgbClr val="CD3131"/>
                </a:solidFill>
                <a:effectLst/>
                <a:latin typeface="Menlo" panose="020B0609030804020204" pitchFamily="49" charset="0"/>
              </a:rPr>
              <a:t>:</a:t>
            </a:r>
            <a:r>
              <a:rPr lang="en-US" sz="1200" b="0" dirty="0">
                <a:solidFill>
                  <a:srgbClr val="098658"/>
                </a:solidFill>
                <a:effectLst/>
                <a:latin typeface="Menlo" panose="020B0609030804020204" pitchFamily="49" charset="0"/>
              </a:rPr>
              <a:t>5432</a:t>
            </a:r>
            <a:r>
              <a:rPr lang="en-US" sz="1300" b="0" i="0" dirty="0">
                <a:effectLst/>
                <a:latin typeface="Inter" panose="02000503000000020004" pitchFamily="2" charset="0"/>
                <a:ea typeface="Inter" panose="02000503000000020004" pitchFamily="2" charset="0"/>
                <a:cs typeface="Inter" panose="02000503000000020004" pitchFamily="2" charset="0"/>
              </a:rPr>
              <a:t>, </a:t>
            </a:r>
          </a:p>
          <a:p>
            <a:r>
              <a:rPr lang="en-US" sz="1300" b="0" i="0" dirty="0">
                <a:effectLst/>
                <a:latin typeface="Inter" panose="02000503000000020004" pitchFamily="2" charset="0"/>
                <a:ea typeface="Inter" panose="02000503000000020004" pitchFamily="2" charset="0"/>
                <a:cs typeface="Inter" panose="02000503000000020004" pitchFamily="2" charset="0"/>
              </a:rPr>
              <a:t>the client receives:</a:t>
            </a:r>
            <a:endParaRPr lang="en-US" sz="1300" b="0" dirty="0">
              <a:solidFill>
                <a:srgbClr val="000000"/>
              </a:solidFill>
              <a:effectLst/>
              <a:latin typeface="Menlo" panose="020B0609030804020204" pitchFamily="49" charset="0"/>
              <a:ea typeface="Inter" panose="02000503000000020004" pitchFamily="2" charset="0"/>
              <a:cs typeface="Inter" panose="02000503000000020004" pitchFamily="2" charset="0"/>
            </a:endParaRPr>
          </a:p>
          <a:p>
            <a:r>
              <a:rPr lang="en-US" sz="1200" b="0" dirty="0">
                <a:solidFill>
                  <a:srgbClr val="000000"/>
                </a:solidFill>
                <a:effectLst/>
                <a:latin typeface="Menlo" panose="020B0609030804020204" pitchFamily="49" charset="0"/>
              </a:rPr>
              <a:t>{</a:t>
            </a:r>
            <a:r>
              <a:rPr lang="en-US" sz="1200" b="0" dirty="0">
                <a:solidFill>
                  <a:srgbClr val="0451A5"/>
                </a:solidFill>
                <a:effectLst/>
                <a:latin typeface="Menlo" panose="020B0609030804020204" pitchFamily="49" charset="0"/>
              </a:rPr>
              <a:t>"error"</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"Service temporarily unavailable"</a:t>
            </a:r>
            <a:r>
              <a:rPr lang="en-US" sz="1200" b="0" dirty="0">
                <a:solidFill>
                  <a:srgbClr val="000000"/>
                </a:solidFill>
                <a:effectLst/>
                <a:latin typeface="Menlo" panose="020B0609030804020204" pitchFamily="49" charset="0"/>
              </a:rPr>
              <a:t>, </a:t>
            </a:r>
            <a:r>
              <a:rPr lang="en-US" sz="1200" b="0" dirty="0">
                <a:solidFill>
                  <a:srgbClr val="0451A5"/>
                </a:solidFill>
                <a:effectLst/>
                <a:latin typeface="Menlo" panose="020B0609030804020204" pitchFamily="49" charset="0"/>
              </a:rPr>
              <a:t>"</a:t>
            </a:r>
            <a:r>
              <a:rPr lang="en-US" sz="1200" b="0" dirty="0" err="1">
                <a:solidFill>
                  <a:srgbClr val="0451A5"/>
                </a:solidFill>
                <a:effectLst/>
                <a:latin typeface="Menlo" panose="020B0609030804020204" pitchFamily="49" charset="0"/>
              </a:rPr>
              <a:t>correlation_id</a:t>
            </a:r>
            <a:r>
              <a:rPr lang="en-US" sz="1200" b="0" dirty="0">
                <a:solidFill>
                  <a:srgbClr val="0451A5"/>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"req-xyz789"</a:t>
            </a:r>
            <a:r>
              <a:rPr lang="en-US" sz="1200" b="0" dirty="0">
                <a:solidFill>
                  <a:srgbClr val="000000"/>
                </a:solidFill>
                <a:effectLst/>
                <a:latin typeface="Menlo" panose="020B0609030804020204" pitchFamily="49" charset="0"/>
              </a:rPr>
              <a:t>}</a:t>
            </a:r>
            <a:r>
              <a:rPr lang="en-US" sz="1300" b="0" i="0" dirty="0">
                <a:effectLst/>
                <a:latin typeface="Inter" panose="02000503000000020004" pitchFamily="2" charset="0"/>
                <a:ea typeface="Inter" panose="02000503000000020004" pitchFamily="2" charset="0"/>
                <a:cs typeface="Inter" panose="02000503000000020004" pitchFamily="2" charset="0"/>
              </a:rPr>
              <a:t>.</a:t>
            </a:r>
          </a:p>
        </p:txBody>
      </p:sp>
      <p:sp>
        <p:nvSpPr>
          <p:cNvPr id="8" name="Footer Placeholder 10">
            <a:extLst>
              <a:ext uri="{FF2B5EF4-FFF2-40B4-BE49-F238E27FC236}">
                <a16:creationId xmlns:a16="http://schemas.microsoft.com/office/drawing/2014/main" id="{9C2B9006-5BD5-C19D-03DF-5449D9F72562}"/>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9" name="Picture 8">
            <a:extLst>
              <a:ext uri="{FF2B5EF4-FFF2-40B4-BE49-F238E27FC236}">
                <a16:creationId xmlns:a16="http://schemas.microsoft.com/office/drawing/2014/main" id="{7B216D81-3C89-DCE7-4236-35674F9B32B1}"/>
              </a:ext>
            </a:extLst>
          </p:cNvPr>
          <p:cNvPicPr>
            <a:picLocks noChangeAspect="1"/>
          </p:cNvPicPr>
          <p:nvPr/>
        </p:nvPicPr>
        <p:blipFill>
          <a:blip r:embed="rId3"/>
          <a:stretch>
            <a:fillRect/>
          </a:stretch>
        </p:blipFill>
        <p:spPr>
          <a:xfrm>
            <a:off x="8173843" y="1160904"/>
            <a:ext cx="3161103" cy="2464798"/>
          </a:xfrm>
          <a:prstGeom prst="rect">
            <a:avLst/>
          </a:prstGeom>
        </p:spPr>
      </p:pic>
      <p:sp>
        <p:nvSpPr>
          <p:cNvPr id="10" name="TextBox 9">
            <a:extLst>
              <a:ext uri="{FF2B5EF4-FFF2-40B4-BE49-F238E27FC236}">
                <a16:creationId xmlns:a16="http://schemas.microsoft.com/office/drawing/2014/main" id="{94DE4523-B45E-7450-4A3C-96F070314CE2}"/>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3/3)</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pic>
        <p:nvPicPr>
          <p:cNvPr id="15" name="Picture 14">
            <a:extLst>
              <a:ext uri="{FF2B5EF4-FFF2-40B4-BE49-F238E27FC236}">
                <a16:creationId xmlns:a16="http://schemas.microsoft.com/office/drawing/2014/main" id="{E31AB901-5C3B-A674-E772-6AED9D8F00CC}"/>
              </a:ext>
            </a:extLst>
          </p:cNvPr>
          <p:cNvPicPr>
            <a:picLocks noChangeAspect="1"/>
          </p:cNvPicPr>
          <p:nvPr/>
        </p:nvPicPr>
        <p:blipFill>
          <a:blip r:embed="rId4"/>
          <a:stretch>
            <a:fillRect/>
          </a:stretch>
        </p:blipFill>
        <p:spPr>
          <a:xfrm>
            <a:off x="8788730" y="3766002"/>
            <a:ext cx="1922812" cy="2207054"/>
          </a:xfrm>
          <a:prstGeom prst="rect">
            <a:avLst/>
          </a:prstGeom>
        </p:spPr>
      </p:pic>
    </p:spTree>
    <p:extLst>
      <p:ext uri="{BB962C8B-B14F-4D97-AF65-F5344CB8AC3E}">
        <p14:creationId xmlns:p14="http://schemas.microsoft.com/office/powerpoint/2010/main" val="3296124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61F88-F6C7-0B26-5483-827E13B3698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2A33D3F-89F2-4B91-D657-27E8B31C4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EE00E27-F477-76A4-EE95-D8307049B22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6D4A160-22A3-8C15-55CC-B19080162C27}"/>
              </a:ext>
            </a:extLst>
          </p:cNvPr>
          <p:cNvSpPr>
            <a:spLocks noGrp="1"/>
          </p:cNvSpPr>
          <p:nvPr>
            <p:ph type="sldNum" sz="quarter" idx="12"/>
          </p:nvPr>
        </p:nvSpPr>
        <p:spPr/>
        <p:txBody>
          <a:bodyPr/>
          <a:lstStyle/>
          <a:p>
            <a:fld id="{48F19E39-9933-F648-B2F3-3AC17C0DC986}" type="slidenum">
              <a:rPr lang="en-US" smtClean="0">
                <a:solidFill>
                  <a:schemeClr val="bg1"/>
                </a:solidFill>
              </a:rPr>
              <a:t>14</a:t>
            </a:fld>
            <a:endParaRPr lang="en-US" dirty="0">
              <a:solidFill>
                <a:schemeClr val="bg1"/>
              </a:solidFill>
            </a:endParaRPr>
          </a:p>
        </p:txBody>
      </p:sp>
      <p:sp>
        <p:nvSpPr>
          <p:cNvPr id="2" name="TextBox 1">
            <a:extLst>
              <a:ext uri="{FF2B5EF4-FFF2-40B4-BE49-F238E27FC236}">
                <a16:creationId xmlns:a16="http://schemas.microsoft.com/office/drawing/2014/main" id="{F6B279AA-DF2C-2773-09B2-E7FB9EB0413B}"/>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API LAYER - Routers</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exposes 75 endpoint routes organized into 16 versioned API groups, each for specific domain.</a:t>
            </a:r>
            <a:endParaRPr lang="en-US" sz="1400" b="1" i="0" dirty="0">
              <a:effectLst/>
              <a:latin typeface="Inter" panose="02000503000000020004" pitchFamily="2" charset="0"/>
              <a:ea typeface="Inter" panose="02000503000000020004" pitchFamily="2" charset="0"/>
              <a:cs typeface="Inter" panose="02000503000000020004" pitchFamily="2" charset="0"/>
            </a:endParaRPr>
          </a:p>
        </p:txBody>
      </p:sp>
      <p:graphicFrame>
        <p:nvGraphicFramePr>
          <p:cNvPr id="3" name="Table 2">
            <a:extLst>
              <a:ext uri="{FF2B5EF4-FFF2-40B4-BE49-F238E27FC236}">
                <a16:creationId xmlns:a16="http://schemas.microsoft.com/office/drawing/2014/main" id="{CD0E5538-927E-BD27-7820-85E12C2365BA}"/>
              </a:ext>
            </a:extLst>
          </p:cNvPr>
          <p:cNvGraphicFramePr>
            <a:graphicFrameLocks noGrp="1"/>
          </p:cNvGraphicFramePr>
          <p:nvPr>
            <p:extLst>
              <p:ext uri="{D42A27DB-BD31-4B8C-83A1-F6EECF244321}">
                <p14:modId xmlns:p14="http://schemas.microsoft.com/office/powerpoint/2010/main" val="2753286077"/>
              </p:ext>
            </p:extLst>
          </p:nvPr>
        </p:nvGraphicFramePr>
        <p:xfrm>
          <a:off x="596348" y="1127195"/>
          <a:ext cx="10953227" cy="4849375"/>
        </p:xfrm>
        <a:graphic>
          <a:graphicData uri="http://schemas.openxmlformats.org/drawingml/2006/table">
            <a:tbl>
              <a:tblPr>
                <a:tableStyleId>{93296810-A885-4BE3-A3E7-6D5BEEA58F35}</a:tableStyleId>
              </a:tblPr>
              <a:tblGrid>
                <a:gridCol w="1466628">
                  <a:extLst>
                    <a:ext uri="{9D8B030D-6E8A-4147-A177-3AD203B41FA5}">
                      <a16:colId xmlns:a16="http://schemas.microsoft.com/office/drawing/2014/main" val="642920383"/>
                    </a:ext>
                  </a:extLst>
                </a:gridCol>
                <a:gridCol w="9486599">
                  <a:extLst>
                    <a:ext uri="{9D8B030D-6E8A-4147-A177-3AD203B41FA5}">
                      <a16:colId xmlns:a16="http://schemas.microsoft.com/office/drawing/2014/main" val="2341009400"/>
                    </a:ext>
                  </a:extLst>
                </a:gridCol>
              </a:tblGrid>
              <a:tr h="0">
                <a:tc>
                  <a:txBody>
                    <a:bodyPr/>
                    <a:lstStyle/>
                    <a:p>
                      <a:pPr algn="l" fontAlgn="b"/>
                      <a:r>
                        <a:rPr lang="en-US" sz="1400" b="1" dirty="0">
                          <a:solidFill>
                            <a:srgbClr val="000000"/>
                          </a:solidFill>
                          <a:effectLst/>
                          <a:latin typeface="Inter" panose="02000503000000020004" pitchFamily="2" charset="0"/>
                          <a:ea typeface="Inter" panose="02000503000000020004" pitchFamily="2" charset="0"/>
                          <a:cs typeface="Inter" panose="02000503000000020004" pitchFamily="2" charset="0"/>
                        </a:rPr>
                        <a:t>Endpoint</a:t>
                      </a:r>
                    </a:p>
                  </a:txBody>
                  <a:tcPr anchor="b"/>
                </a:tc>
                <a:tc>
                  <a:txBody>
                    <a:bodyPr/>
                    <a:lstStyle/>
                    <a:p>
                      <a:pPr algn="l" fontAlgn="b"/>
                      <a:r>
                        <a:rPr lang="en-US" sz="1400" b="1" kern="1200" dirty="0">
                          <a:solidFill>
                            <a:schemeClr val="tx1"/>
                          </a:solidFill>
                          <a:effectLst/>
                          <a:latin typeface="Inter" panose="02000503000000020004" pitchFamily="2" charset="0"/>
                          <a:ea typeface="Inter" panose="02000503000000020004" pitchFamily="2" charset="0"/>
                          <a:cs typeface="Inter" panose="02000503000000020004" pitchFamily="2" charset="0"/>
                        </a:rPr>
                        <a:t>Description</a:t>
                      </a:r>
                      <a:endParaRPr lang="en-US" sz="1400" b="1" dirty="0">
                        <a:solidFill>
                          <a:srgbClr val="000000"/>
                        </a:solidFill>
                        <a:effectLst/>
                        <a:latin typeface="Inter" panose="02000503000000020004" pitchFamily="2" charset="0"/>
                        <a:ea typeface="Inter" panose="02000503000000020004" pitchFamily="2" charset="0"/>
                        <a:cs typeface="Inter" panose="02000503000000020004" pitchFamily="2" charset="0"/>
                      </a:endParaRPr>
                    </a:p>
                  </a:txBody>
                  <a:tcPr anchor="b"/>
                </a:tc>
                <a:extLst>
                  <a:ext uri="{0D108BD9-81ED-4DB2-BD59-A6C34878D82A}">
                    <a16:rowId xmlns:a16="http://schemas.microsoft.com/office/drawing/2014/main" val="4276985644"/>
                  </a:ext>
                </a:extLst>
              </a:tr>
              <a:tr h="604352">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/v1/health</a:t>
                      </a:r>
                    </a:p>
                  </a:txBody>
                  <a:tcPr marR="15109" marT="7554" marB="7554" anchor="ctr"/>
                </a:tc>
                <a:tc>
                  <a:txBody>
                    <a:bodyPr/>
                    <a:lstStyle/>
                    <a:p>
                      <a:r>
                        <a:rPr lang="en-US" sz="1300" b="1" dirty="0">
                          <a:effectLst/>
                          <a:latin typeface="Inter" panose="02000503000000020004" pitchFamily="2" charset="0"/>
                          <a:ea typeface="Inter" panose="02000503000000020004" pitchFamily="2" charset="0"/>
                          <a:cs typeface="Inter" panose="02000503000000020004" pitchFamily="2" charset="0"/>
                        </a:rPr>
                        <a:t>Health Probes</a:t>
                      </a:r>
                      <a:r>
                        <a:rPr lang="en-US" sz="1300" b="0" dirty="0">
                          <a:effectLst/>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 Kubernetes-compatible endpoints for liveness (is the process running?)</a:t>
                      </a:r>
                    </a:p>
                    <a:p>
                      <a:pPr marL="0" marR="0" indent="0" algn="l" defTabSz="914400" rtl="0" eaLnBrk="1" fontAlgn="auto" latinLnBrk="0" hangingPunct="1">
                        <a:lnSpc>
                          <a:spcPct val="100000"/>
                        </a:lnSpc>
                        <a:spcBef>
                          <a:spcPts val="0"/>
                        </a:spcBef>
                        <a:spcAft>
                          <a:spcPts val="0"/>
                        </a:spcAft>
                        <a:buClrTx/>
                        <a:buSzTx/>
                        <a:buFontTx/>
                        <a:buNone/>
                        <a:tabLst/>
                        <a:defRPr/>
                      </a:pP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 readiness </a:t>
                      </a:r>
                      <a:r>
                        <a:rPr lang="en-US" sz="1300" dirty="0">
                          <a:latin typeface="Inter" panose="02000503000000020004" pitchFamily="2" charset="0"/>
                          <a:ea typeface="Inter" panose="02000503000000020004" pitchFamily="2" charset="0"/>
                          <a:cs typeface="Inter" panose="02000503000000020004" pitchFamily="2" charset="0"/>
                        </a:rPr>
                        <a:t>(can it serve requests?), and startup (has initialization completed?)</a:t>
                      </a:r>
                    </a:p>
                    <a:p>
                      <a:r>
                        <a:rPr lang="en-US" sz="1300" b="0" dirty="0">
                          <a:effectLst/>
                          <a:latin typeface="Inter" panose="02000503000000020004" pitchFamily="2" charset="0"/>
                          <a:ea typeface="Inter" panose="02000503000000020004" pitchFamily="2" charset="0"/>
                          <a:cs typeface="Inter" panose="02000503000000020004" pitchFamily="2" charset="0"/>
                        </a:rPr>
                        <a:t>	    → Includes per-component status for PostgreSQL, Redis, and Memgraph.</a:t>
                      </a:r>
                      <a:endParaRPr lang="en-US" sz="1300" dirty="0">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450170371"/>
                  </a:ext>
                </a:extLst>
              </a:tr>
              <a:tr h="241741">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/v1/auth</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Authentication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Token introspection and identity verification via OIDC/JWT claims.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328274398"/>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/v1/agents</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Agent Configuration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CRUD operations for agent definitions, prompt templates, and behavior settings.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4025748932"/>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/v1/tenants</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Multi-tenancy management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a:effectLst/>
                          <a:latin typeface="Inter" panose="02000503000000020004" pitchFamily="2" charset="0"/>
                          <a:ea typeface="Inter" panose="02000503000000020004" pitchFamily="2" charset="0"/>
                          <a:cs typeface="Inter" panose="02000503000000020004" pitchFamily="2" charset="0"/>
                        </a:rPr>
                        <a:t>create new tenant organizations, configure tenant-specific settings (default models, rate limits), set usage quotas, and enable/disable features per tenant</a:t>
                      </a:r>
                    </a:p>
                  </a:txBody>
                  <a:tcPr marR="15109" marT="7554" marB="7554" anchor="ctr"/>
                </a:tc>
                <a:extLst>
                  <a:ext uri="{0D108BD9-81ED-4DB2-BD59-A6C34878D82A}">
                    <a16:rowId xmlns:a16="http://schemas.microsoft.com/office/drawing/2014/main" val="672547694"/>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/v1/models</a:t>
                      </a:r>
                    </a:p>
                  </a:txBody>
                  <a:tcPr marR="15109" marT="7554" marB="7554" anchor="ctr"/>
                </a:tc>
                <a:tc>
                  <a:txBody>
                    <a:bodyPr/>
                    <a:lstStyle/>
                    <a:p>
                      <a:r>
                        <a:rPr lang="en-US" sz="1300" b="1" dirty="0">
                          <a:latin typeface="Inter" panose="02000503000000020004" pitchFamily="2" charset="0"/>
                          <a:ea typeface="Inter" panose="02000503000000020004" pitchFamily="2" charset="0"/>
                          <a:cs typeface="Inter" panose="02000503000000020004" pitchFamily="2" charset="0"/>
                        </a:rPr>
                        <a:t>LLM provider management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register models, configure API keys, set default models per tenant</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3750821734"/>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/v1/tools</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MCP tool registry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Discover available tools, retrieve input schemas, and invoke tools with validated parameters.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407526557"/>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/v1/jobs</a:t>
                      </a:r>
                    </a:p>
                  </a:txBody>
                  <a:tcPr marR="15109" marT="7554" marB="7554" anchor="ctr"/>
                </a:tc>
                <a:tc>
                  <a:txBody>
                    <a:bodyPr/>
                    <a:lstStyle/>
                    <a:p>
                      <a:r>
                        <a:rPr lang="en-US" sz="1300" b="1" dirty="0">
                          <a:latin typeface="Inter" panose="02000503000000020004" pitchFamily="2" charset="0"/>
                          <a:ea typeface="Inter" panose="02000503000000020004" pitchFamily="2" charset="0"/>
                          <a:cs typeface="Inter" panose="02000503000000020004" pitchFamily="2" charset="0"/>
                        </a:rPr>
                        <a:t>Manages long-running async jobs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create jobs, stream real-time progress via SSE, and cancel running jobs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1533985630"/>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/v1/agent-runs</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Execution Lifecycle </a:t>
                      </a:r>
                      <a:r>
                        <a:rPr lang="en-US" sz="1300" b="0" dirty="0">
                          <a:effectLst/>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Controls agent execution lifecycle, start a new run, poll for status updates, retrieve results, or cancel mid-execution</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867729639"/>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/v1/graph</a:t>
                      </a:r>
                    </a:p>
                  </a:txBody>
                  <a:tcPr marR="15109" marT="7554" marB="7554"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Graph Database Interface</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Execute Cypher queries directly or via NL-to-Cypher translation.</a:t>
                      </a:r>
                    </a:p>
                  </a:txBody>
                  <a:tcPr marR="15109" marT="7554" marB="7554" anchor="ctr"/>
                </a:tc>
                <a:extLst>
                  <a:ext uri="{0D108BD9-81ED-4DB2-BD59-A6C34878D82A}">
                    <a16:rowId xmlns:a16="http://schemas.microsoft.com/office/drawing/2014/main" val="2710066862"/>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/v1/sessions</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Conversation session management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create sessions, store chat history, manage context windows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535239093"/>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/v1/batch</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Batch operations for bulk processing</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process multiple agent runs/tool invocations in a single request</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752381882"/>
                  </a:ext>
                </a:extLst>
              </a:tr>
              <a:tr h="28706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/v1/admin</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Administrative operations</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clear caches, database migrations, run maintenance tasks, view system stats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1975168075"/>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/v1/internal</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Internal diagnostics and debugging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view internal state, check configuration, run diagnostics (restricted to admins)</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4112773658"/>
                  </a:ext>
                </a:extLst>
              </a:tr>
              <a:tr h="287067">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/v1/export</a:t>
                      </a:r>
                    </a:p>
                  </a:txBody>
                  <a:tcPr marR="15109" marT="7554" marB="7554" anchor="ctr"/>
                </a:tc>
                <a:tc>
                  <a:txBody>
                    <a:bodyPr/>
                    <a:lstStyle/>
                    <a:p>
                      <a:pPr algn="l" fontAlgn="base"/>
                      <a:r>
                        <a:rPr lang="en-US" sz="1300" b="1" dirty="0">
                          <a:latin typeface="Inter" panose="02000503000000020004" pitchFamily="2" charset="0"/>
                          <a:ea typeface="Inter" panose="02000503000000020004" pitchFamily="2" charset="0"/>
                          <a:cs typeface="Inter" panose="02000503000000020004" pitchFamily="2" charset="0"/>
                        </a:rPr>
                        <a:t>Data export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download agent runs, job results, or audit logs in CSV or JSON format</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R="15109" marT="7554" marB="7554" anchor="ctr"/>
                </a:tc>
                <a:extLst>
                  <a:ext uri="{0D108BD9-81ED-4DB2-BD59-A6C34878D82A}">
                    <a16:rowId xmlns:a16="http://schemas.microsoft.com/office/drawing/2014/main" val="2507100038"/>
                  </a:ext>
                </a:extLst>
              </a:tr>
            </a:tbl>
          </a:graphicData>
        </a:graphic>
      </p:graphicFrame>
      <p:sp>
        <p:nvSpPr>
          <p:cNvPr id="5" name="Footer Placeholder 10">
            <a:extLst>
              <a:ext uri="{FF2B5EF4-FFF2-40B4-BE49-F238E27FC236}">
                <a16:creationId xmlns:a16="http://schemas.microsoft.com/office/drawing/2014/main" id="{A06DC2EA-EA1C-F614-C6FC-5501F1A55F6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446036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BFE87-9498-B6A9-6AC5-9CC35AC7420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7453F26-D682-9785-B650-5DD0EA6A0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13283EFE-207E-5E3F-4B4B-16D2A07E36C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7D87F023-9A10-A3D7-B3FB-F22E6C8697E0}"/>
              </a:ext>
            </a:extLst>
          </p:cNvPr>
          <p:cNvSpPr>
            <a:spLocks noGrp="1"/>
          </p:cNvSpPr>
          <p:nvPr>
            <p:ph type="sldNum" sz="quarter" idx="12"/>
          </p:nvPr>
        </p:nvSpPr>
        <p:spPr/>
        <p:txBody>
          <a:bodyPr/>
          <a:lstStyle/>
          <a:p>
            <a:fld id="{48F19E39-9933-F648-B2F3-3AC17C0DC986}" type="slidenum">
              <a:rPr lang="en-US" smtClean="0">
                <a:solidFill>
                  <a:schemeClr val="bg1"/>
                </a:solidFill>
              </a:rPr>
              <a:t>15</a:t>
            </a:fld>
            <a:endParaRPr lang="en-US" dirty="0">
              <a:solidFill>
                <a:schemeClr val="bg1"/>
              </a:solidFill>
            </a:endParaRPr>
          </a:p>
        </p:txBody>
      </p:sp>
      <p:sp>
        <p:nvSpPr>
          <p:cNvPr id="2" name="TextBox 1">
            <a:extLst>
              <a:ext uri="{FF2B5EF4-FFF2-40B4-BE49-F238E27FC236}">
                <a16:creationId xmlns:a16="http://schemas.microsoft.com/office/drawing/2014/main" id="{6687AF7D-5FD3-EAE6-A606-69C56ADC3073}"/>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API LAYER – Workflows A &amp; B </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supports two execution paths for agent processing, each with dedicated API endpoints.</a:t>
            </a:r>
            <a:endParaRPr lang="en-US" sz="1400"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graphicFrame>
        <p:nvGraphicFramePr>
          <p:cNvPr id="3" name="Table 2">
            <a:extLst>
              <a:ext uri="{FF2B5EF4-FFF2-40B4-BE49-F238E27FC236}">
                <a16:creationId xmlns:a16="http://schemas.microsoft.com/office/drawing/2014/main" id="{776490B5-B7CD-499C-A7B3-4B939FC63CD0}"/>
              </a:ext>
            </a:extLst>
          </p:cNvPr>
          <p:cNvGraphicFramePr>
            <a:graphicFrameLocks noGrp="1"/>
          </p:cNvGraphicFramePr>
          <p:nvPr>
            <p:extLst>
              <p:ext uri="{D42A27DB-BD31-4B8C-83A1-F6EECF244321}">
                <p14:modId xmlns:p14="http://schemas.microsoft.com/office/powerpoint/2010/main" val="100903099"/>
              </p:ext>
            </p:extLst>
          </p:nvPr>
        </p:nvGraphicFramePr>
        <p:xfrm>
          <a:off x="596349" y="3595404"/>
          <a:ext cx="9171130" cy="2453640"/>
        </p:xfrm>
        <a:graphic>
          <a:graphicData uri="http://schemas.openxmlformats.org/drawingml/2006/table">
            <a:tbl>
              <a:tblPr>
                <a:tableStyleId>{93296810-A885-4BE3-A3E7-6D5BEEA58F35}</a:tableStyleId>
              </a:tblPr>
              <a:tblGrid>
                <a:gridCol w="1890925">
                  <a:extLst>
                    <a:ext uri="{9D8B030D-6E8A-4147-A177-3AD203B41FA5}">
                      <a16:colId xmlns:a16="http://schemas.microsoft.com/office/drawing/2014/main" val="642920383"/>
                    </a:ext>
                  </a:extLst>
                </a:gridCol>
                <a:gridCol w="7280205">
                  <a:extLst>
                    <a:ext uri="{9D8B030D-6E8A-4147-A177-3AD203B41FA5}">
                      <a16:colId xmlns:a16="http://schemas.microsoft.com/office/drawing/2014/main" val="2341009400"/>
                    </a:ext>
                  </a:extLst>
                </a:gridCol>
              </a:tblGrid>
              <a:tr h="247636">
                <a:tc gridSpan="2">
                  <a:txBody>
                    <a:bodyPr/>
                    <a:lstStyle/>
                    <a:p>
                      <a:r>
                        <a:rPr lang="en-US" sz="1400" b="1" kern="1200" dirty="0">
                          <a:solidFill>
                            <a:schemeClr val="tx1"/>
                          </a:solidFill>
                          <a:effectLst/>
                          <a:latin typeface="Inter" panose="02000503000000020004" pitchFamily="2" charset="0"/>
                          <a:ea typeface="Inter" panose="02000503000000020004" pitchFamily="2" charset="0"/>
                          <a:cs typeface="Inter" panose="02000503000000020004" pitchFamily="2" charset="0"/>
                        </a:rPr>
                        <a:t>WORKFLOW B: Long-Running Job Endpoints</a:t>
                      </a:r>
                      <a:endParaRPr lang="en-US" sz="1400" b="1" i="0" kern="1200" dirty="0">
                        <a:solidFill>
                          <a:schemeClr val="tx1"/>
                        </a:solidFill>
                        <a:effectLst/>
                        <a:latin typeface="Inter" panose="02000503000000020004" pitchFamily="2" charset="0"/>
                        <a:ea typeface="Inter" panose="02000503000000020004" pitchFamily="2" charset="0"/>
                        <a:cs typeface="Inter" panose="02000503000000020004" pitchFamily="2" charset="0"/>
                      </a:endParaRPr>
                    </a:p>
                  </a:txBody>
                  <a:tcPr anchor="b"/>
                </a:tc>
                <a:tc hMerge="1">
                  <a:txBody>
                    <a:bodyPr/>
                    <a:lstStyle/>
                    <a:p>
                      <a:endParaRPr dirty="0"/>
                    </a:p>
                  </a:txBody>
                  <a:tcPr anchor="b">
                    <a:lnL w="9525" cap="flat" cmpd="sng" algn="ctr">
                      <a:solidFill>
                        <a:srgbClr val="80BA57"/>
                      </a:solidFill>
                      <a:prstDash val="solid"/>
                      <a:round/>
                      <a:headEnd type="none" w="med" len="med"/>
                      <a:tailEnd type="none" w="med" len="med"/>
                    </a:lnL>
                    <a:lnR w="9525" cap="flat" cmpd="sng" algn="ctr">
                      <a:solidFill>
                        <a:srgbClr val="80BA57"/>
                      </a:solidFill>
                      <a:prstDash val="solid"/>
                      <a:round/>
                      <a:headEnd type="none" w="med" len="med"/>
                      <a:tailEnd type="none" w="med" len="med"/>
                    </a:lnR>
                    <a:lnT w="9525" cap="flat" cmpd="sng" algn="ctr">
                      <a:solidFill>
                        <a:srgbClr val="80BA57"/>
                      </a:solidFill>
                      <a:prstDash val="solid"/>
                      <a:round/>
                      <a:headEnd type="none" w="med" len="med"/>
                      <a:tailEnd type="none" w="med" len="med"/>
                    </a:lnT>
                    <a:lnB w="9525" cap="flat" cmpd="sng" algn="ctr">
                      <a:solidFill>
                        <a:srgbClr val="60B657"/>
                      </a:solidFill>
                      <a:prstDash val="solid"/>
                      <a:round/>
                      <a:headEnd type="none" w="med" len="med"/>
                      <a:tailEnd type="none" w="med" len="med"/>
                    </a:lnB>
                    <a:solidFill>
                      <a:srgbClr val="EAF7EA"/>
                    </a:solidFill>
                  </a:tcPr>
                </a:tc>
                <a:extLst>
                  <a:ext uri="{0D108BD9-81ED-4DB2-BD59-A6C34878D82A}">
                    <a16:rowId xmlns:a16="http://schemas.microsoft.com/office/drawing/2014/main" val="4276985644"/>
                  </a:ext>
                </a:extLst>
              </a:tr>
              <a:tr h="396218">
                <a:tc>
                  <a:txBody>
                    <a:bodyPr/>
                    <a:lstStyle/>
                    <a:p>
                      <a:pPr algn="l" fontAlgn="base"/>
                      <a:r>
                        <a:rPr lang="en-US" sz="1300" b="0" dirty="0">
                          <a:effectLst/>
                          <a:latin typeface="Inter" panose="02000503000000020004" pitchFamily="2" charset="0"/>
                          <a:ea typeface="Inter" panose="02000503000000020004" pitchFamily="2" charset="0"/>
                          <a:cs typeface="Inter" panose="02000503000000020004" pitchFamily="2" charset="0"/>
                        </a:rPr>
                        <a:t>POST /v1/jobs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Create a new job</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HTTP 202 Accepted immediately. Response includes a Location header pointing to the job resource for tracking. Job is enqueued to Redis for async processing.</a:t>
                      </a:r>
                    </a:p>
                  </a:txBody>
                  <a:tcPr anchor="ctr"/>
                </a:tc>
                <a:extLst>
                  <a:ext uri="{0D108BD9-81ED-4DB2-BD59-A6C34878D82A}">
                    <a16:rowId xmlns:a16="http://schemas.microsoft.com/office/drawing/2014/main" val="2450170371"/>
                  </a:ext>
                </a:extLst>
              </a:tr>
              <a:tr h="396218">
                <a:tc>
                  <a:txBody>
                    <a:bodyPr/>
                    <a:lstStyle/>
                    <a:p>
                      <a:pPr algn="l" fontAlgn="base"/>
                      <a:r>
                        <a:rPr lang="en-US" sz="1300" b="0">
                          <a:effectLst/>
                          <a:latin typeface="Inter" panose="02000503000000020004" pitchFamily="2" charset="0"/>
                          <a:ea typeface="Inter" panose="02000503000000020004" pitchFamily="2" charset="0"/>
                          <a:cs typeface="Inter" panose="02000503000000020004" pitchFamily="2" charset="0"/>
                        </a:rPr>
                        <a:t>GET /v1/jobs/{id}</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Retrieve job status</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current state (queued, running, finished, failed, cancelled) along with metadata, timestamps, and results when complete.</a:t>
                      </a:r>
                    </a:p>
                  </a:txBody>
                  <a:tcPr anchor="ctr"/>
                </a:tc>
                <a:extLst>
                  <a:ext uri="{0D108BD9-81ED-4DB2-BD59-A6C34878D82A}">
                    <a16:rowId xmlns:a16="http://schemas.microsoft.com/office/drawing/2014/main" val="328274398"/>
                  </a:ext>
                </a:extLst>
              </a:tr>
              <a:tr h="396218">
                <a:tc>
                  <a:txBody>
                    <a:bodyPr/>
                    <a:lstStyle/>
                    <a:p>
                      <a:pPr algn="l" fontAlgn="base"/>
                      <a:r>
                        <a:rPr lang="en-US" sz="1300" b="0" dirty="0">
                          <a:effectLst/>
                          <a:latin typeface="Inter" panose="02000503000000020004" pitchFamily="2" charset="0"/>
                          <a:ea typeface="Inter" panose="02000503000000020004" pitchFamily="2" charset="0"/>
                          <a:cs typeface="Inter" panose="02000503000000020004" pitchFamily="2" charset="0"/>
                        </a:rPr>
                        <a:t>GET /v1/jobs/{id}/events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Stream real-time updates</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Opens an SSE (Server-Sent Events) connection to receive live progress updates, heartbeats, and final completion events as the job executes.</a:t>
                      </a:r>
                    </a:p>
                  </a:txBody>
                  <a:tcPr anchor="ctr"/>
                </a:tc>
                <a:extLst>
                  <a:ext uri="{0D108BD9-81ED-4DB2-BD59-A6C34878D82A}">
                    <a16:rowId xmlns:a16="http://schemas.microsoft.com/office/drawing/2014/main" val="4025748932"/>
                  </a:ext>
                </a:extLst>
              </a:tr>
              <a:tr h="396218">
                <a:tc>
                  <a:txBody>
                    <a:bodyPr/>
                    <a:lstStyle/>
                    <a:p>
                      <a:pPr algn="l" fontAlgn="base"/>
                      <a:r>
                        <a:rPr lang="en-US" sz="1300" b="0" dirty="0">
                          <a:effectLst/>
                          <a:latin typeface="Inter" panose="02000503000000020004" pitchFamily="2" charset="0"/>
                          <a:ea typeface="Inter" panose="02000503000000020004" pitchFamily="2" charset="0"/>
                          <a:cs typeface="Inter" panose="02000503000000020004" pitchFamily="2" charset="0"/>
                        </a:rPr>
                        <a:t>DELETE /v1/jobs/{id}</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Cancel a running job</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Sets a cancellation flag atomically via Redis Lua script. Worker checks this flag between steps and terminates gracefully.</a:t>
                      </a:r>
                    </a:p>
                  </a:txBody>
                  <a:tcPr anchor="ctr"/>
                </a:tc>
                <a:extLst>
                  <a:ext uri="{0D108BD9-81ED-4DB2-BD59-A6C34878D82A}">
                    <a16:rowId xmlns:a16="http://schemas.microsoft.com/office/drawing/2014/main" val="672547694"/>
                  </a:ext>
                </a:extLst>
              </a:tr>
            </a:tbl>
          </a:graphicData>
        </a:graphic>
      </p:graphicFrame>
      <p:graphicFrame>
        <p:nvGraphicFramePr>
          <p:cNvPr id="5" name="Table 4">
            <a:extLst>
              <a:ext uri="{FF2B5EF4-FFF2-40B4-BE49-F238E27FC236}">
                <a16:creationId xmlns:a16="http://schemas.microsoft.com/office/drawing/2014/main" id="{68ED3D87-029C-5F15-7E81-32A1B1714825}"/>
              </a:ext>
            </a:extLst>
          </p:cNvPr>
          <p:cNvGraphicFramePr>
            <a:graphicFrameLocks noGrp="1"/>
          </p:cNvGraphicFramePr>
          <p:nvPr>
            <p:extLst>
              <p:ext uri="{D42A27DB-BD31-4B8C-83A1-F6EECF244321}">
                <p14:modId xmlns:p14="http://schemas.microsoft.com/office/powerpoint/2010/main" val="2525629589"/>
              </p:ext>
            </p:extLst>
          </p:nvPr>
        </p:nvGraphicFramePr>
        <p:xfrm>
          <a:off x="596349" y="1173480"/>
          <a:ext cx="9171130" cy="2255520"/>
        </p:xfrm>
        <a:graphic>
          <a:graphicData uri="http://schemas.openxmlformats.org/drawingml/2006/table">
            <a:tbl>
              <a:tblPr>
                <a:tableStyleId>{93296810-A885-4BE3-A3E7-6D5BEEA58F35}</a:tableStyleId>
              </a:tblPr>
              <a:tblGrid>
                <a:gridCol w="1885977">
                  <a:extLst>
                    <a:ext uri="{9D8B030D-6E8A-4147-A177-3AD203B41FA5}">
                      <a16:colId xmlns:a16="http://schemas.microsoft.com/office/drawing/2014/main" val="642920383"/>
                    </a:ext>
                  </a:extLst>
                </a:gridCol>
                <a:gridCol w="7285153">
                  <a:extLst>
                    <a:ext uri="{9D8B030D-6E8A-4147-A177-3AD203B41FA5}">
                      <a16:colId xmlns:a16="http://schemas.microsoft.com/office/drawing/2014/main" val="2341009400"/>
                    </a:ext>
                  </a:extLst>
                </a:gridCol>
              </a:tblGrid>
              <a:tr h="251416">
                <a:tc gridSpan="2">
                  <a:txBody>
                    <a:bodyPr/>
                    <a:lstStyle/>
                    <a:p>
                      <a:r>
                        <a:rPr lang="en-US" sz="1400" b="1" kern="1200" dirty="0">
                          <a:solidFill>
                            <a:schemeClr val="tx1"/>
                          </a:solidFill>
                          <a:effectLst/>
                          <a:latin typeface="Inter" panose="02000503000000020004" pitchFamily="2" charset="0"/>
                          <a:ea typeface="Inter" panose="02000503000000020004" pitchFamily="2" charset="0"/>
                          <a:cs typeface="Inter" panose="02000503000000020004" pitchFamily="2" charset="0"/>
                        </a:rPr>
                        <a:t>WORKFLOW A: Agent Run Endpoints</a:t>
                      </a:r>
                      <a:endParaRPr lang="en-US" sz="1400" b="1" i="0" kern="1200" dirty="0">
                        <a:solidFill>
                          <a:schemeClr val="tx1"/>
                        </a:solidFill>
                        <a:effectLst/>
                        <a:latin typeface="Inter" panose="02000503000000020004" pitchFamily="2" charset="0"/>
                        <a:ea typeface="Inter" panose="02000503000000020004" pitchFamily="2" charset="0"/>
                        <a:cs typeface="Inter" panose="02000503000000020004" pitchFamily="2" charset="0"/>
                      </a:endParaRPr>
                    </a:p>
                  </a:txBody>
                  <a:tcPr anchor="b"/>
                </a:tc>
                <a:tc hMerge="1">
                  <a:txBody>
                    <a:bodyPr/>
                    <a:lstStyle/>
                    <a:p>
                      <a:endParaRPr dirty="0"/>
                    </a:p>
                  </a:txBody>
                  <a:tcPr anchor="b">
                    <a:lnL w="9525" cap="flat" cmpd="sng" algn="ctr">
                      <a:solidFill>
                        <a:srgbClr val="80BA57"/>
                      </a:solidFill>
                      <a:prstDash val="solid"/>
                      <a:round/>
                      <a:headEnd type="none" w="med" len="med"/>
                      <a:tailEnd type="none" w="med" len="med"/>
                    </a:lnL>
                    <a:lnR w="9525" cap="flat" cmpd="sng" algn="ctr">
                      <a:solidFill>
                        <a:srgbClr val="80BA57"/>
                      </a:solidFill>
                      <a:prstDash val="solid"/>
                      <a:round/>
                      <a:headEnd type="none" w="med" len="med"/>
                      <a:tailEnd type="none" w="med" len="med"/>
                    </a:lnR>
                    <a:lnT w="9525" cap="flat" cmpd="sng" algn="ctr">
                      <a:solidFill>
                        <a:srgbClr val="80BA57"/>
                      </a:solidFill>
                      <a:prstDash val="solid"/>
                      <a:round/>
                      <a:headEnd type="none" w="med" len="med"/>
                      <a:tailEnd type="none" w="med" len="med"/>
                    </a:lnT>
                    <a:lnB w="9525" cap="flat" cmpd="sng" algn="ctr">
                      <a:solidFill>
                        <a:srgbClr val="60B657"/>
                      </a:solidFill>
                      <a:prstDash val="solid"/>
                      <a:round/>
                      <a:headEnd type="none" w="med" len="med"/>
                      <a:tailEnd type="none" w="med" len="med"/>
                    </a:lnB>
                    <a:solidFill>
                      <a:srgbClr val="EAF7EA"/>
                    </a:solidFill>
                  </a:tcPr>
                </a:tc>
                <a:extLst>
                  <a:ext uri="{0D108BD9-81ED-4DB2-BD59-A6C34878D82A}">
                    <a16:rowId xmlns:a16="http://schemas.microsoft.com/office/drawing/2014/main" val="4276985644"/>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POST /v1/agent-runs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Start synchronous execution</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By default (</a:t>
                      </a:r>
                      <a:r>
                        <a:rPr lang="en-US" sz="1300" dirty="0" err="1">
                          <a:effectLst/>
                          <a:latin typeface="Inter" panose="02000503000000020004" pitchFamily="2" charset="0"/>
                          <a:ea typeface="Inter" panose="02000503000000020004" pitchFamily="2" charset="0"/>
                          <a:cs typeface="Inter" panose="02000503000000020004" pitchFamily="2" charset="0"/>
                        </a:rPr>
                        <a:t>use_jobs</a:t>
                      </a:r>
                      <a:r>
                        <a:rPr lang="en-US" sz="1300" dirty="0">
                          <a:effectLst/>
                          <a:latin typeface="Inter" panose="02000503000000020004" pitchFamily="2" charset="0"/>
                          <a:ea typeface="Inter" panose="02000503000000020004" pitchFamily="2" charset="0"/>
                          <a:cs typeface="Inter" panose="02000503000000020004" pitchFamily="2" charset="0"/>
                        </a:rPr>
                        <a:t>=false), runs in-process via </a:t>
                      </a:r>
                      <a:r>
                        <a:rPr lang="en-US" sz="1300" dirty="0" err="1">
                          <a:effectLst/>
                          <a:latin typeface="Inter" panose="02000503000000020004" pitchFamily="2" charset="0"/>
                          <a:ea typeface="Inter" panose="02000503000000020004" pitchFamily="2" charset="0"/>
                          <a:cs typeface="Inter" panose="02000503000000020004" pitchFamily="2" charset="0"/>
                        </a:rPr>
                        <a:t>FastAPI</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dirty="0" err="1">
                          <a:effectLst/>
                          <a:latin typeface="Inter" panose="02000503000000020004" pitchFamily="2" charset="0"/>
                          <a:ea typeface="Inter" panose="02000503000000020004" pitchFamily="2" charset="0"/>
                          <a:cs typeface="Inter" panose="02000503000000020004" pitchFamily="2" charset="0"/>
                        </a:rPr>
                        <a:t>BackgroundTasks</a:t>
                      </a:r>
                      <a:r>
                        <a:rPr lang="en-US" sz="1300" dirty="0">
                          <a:effectLst/>
                          <a:latin typeface="Inter" panose="02000503000000020004" pitchFamily="2" charset="0"/>
                          <a:ea typeface="Inter" panose="02000503000000020004" pitchFamily="2" charset="0"/>
                          <a:cs typeface="Inter" panose="02000503000000020004" pitchFamily="2" charset="0"/>
                        </a:rPr>
                        <a:t>. Fast startup, but tied to the API server lifecycle.</a:t>
                      </a:r>
                    </a:p>
                  </a:txBody>
                  <a:tcPr anchor="ctr"/>
                </a:tc>
                <a:extLst>
                  <a:ext uri="{0D108BD9-81ED-4DB2-BD59-A6C34878D82A}">
                    <a16:rowId xmlns:a16="http://schemas.microsoft.com/office/drawing/2014/main" val="2450170371"/>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POST /v1/</a:t>
                      </a:r>
                      <a:r>
                        <a:rPr lang="en-US" sz="1300" dirty="0" err="1">
                          <a:effectLst/>
                          <a:latin typeface="Inter" panose="02000503000000020004" pitchFamily="2" charset="0"/>
                          <a:ea typeface="Inter" panose="02000503000000020004" pitchFamily="2" charset="0"/>
                          <a:cs typeface="Inter" panose="02000503000000020004" pitchFamily="2" charset="0"/>
                        </a:rPr>
                        <a:t>agent-runs?use_jobs</a:t>
                      </a:r>
                      <a:r>
                        <a:rPr lang="en-US" sz="1300" dirty="0">
                          <a:effectLst/>
                          <a:latin typeface="Inter" panose="02000503000000020004" pitchFamily="2" charset="0"/>
                          <a:ea typeface="Inter" panose="02000503000000020004" pitchFamily="2" charset="0"/>
                          <a:cs typeface="Inter" panose="02000503000000020004" pitchFamily="2" charset="0"/>
                        </a:rPr>
                        <a:t>=true</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Start async execution</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Routes to the Jobs Worker for fault-tolerant processing. Survives API restarts and supports horizontal scaling.</a:t>
                      </a:r>
                    </a:p>
                  </a:txBody>
                  <a:tcPr anchor="ctr"/>
                </a:tc>
                <a:extLst>
                  <a:ext uri="{0D108BD9-81ED-4DB2-BD59-A6C34878D82A}">
                    <a16:rowId xmlns:a16="http://schemas.microsoft.com/office/drawing/2014/main" val="328274398"/>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GET /v1/agent-runs/{id}</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Retrieve run details</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status, outputs, metrics, and TODO items. Supports ETag headers for efficient client-side caching and conditional requests.</a:t>
                      </a:r>
                    </a:p>
                  </a:txBody>
                  <a:tcPr anchor="ctr"/>
                </a:tc>
                <a:extLst>
                  <a:ext uri="{0D108BD9-81ED-4DB2-BD59-A6C34878D82A}">
                    <a16:rowId xmlns:a16="http://schemas.microsoft.com/office/drawing/2014/main" val="4025748932"/>
                  </a:ext>
                </a:extLst>
              </a:tr>
              <a:tr h="402265">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GET /v1/agent-runs/{id}/steps</a:t>
                      </a:r>
                    </a:p>
                  </a:txBody>
                  <a:tcPr anchor="ctr"/>
                </a:tc>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Retrieve execution trace</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b="0" dirty="0">
                          <a:effectLst/>
                          <a:latin typeface="Inter" panose="02000503000000020004" pitchFamily="2" charset="0"/>
                          <a:ea typeface="Inter" panose="02000503000000020004" pitchFamily="2" charset="0"/>
                          <a:cs typeface="Inter" panose="02000503000000020004" pitchFamily="2" charset="0"/>
                        </a:rPr>
                        <a:t>→</a:t>
                      </a:r>
                      <a:r>
                        <a:rPr lang="en-US" sz="1300" dirty="0">
                          <a:effectLst/>
                          <a:latin typeface="Inter" panose="02000503000000020004" pitchFamily="2" charset="0"/>
                          <a:ea typeface="Inter" panose="02000503000000020004" pitchFamily="2" charset="0"/>
                          <a:cs typeface="Inter" panose="02000503000000020004" pitchFamily="2" charset="0"/>
                        </a:rPr>
                        <a:t> Returns the step-by-step breakdown: each LLM call, tool invocation, graph query, with inputs, outputs, and timing.</a:t>
                      </a:r>
                    </a:p>
                  </a:txBody>
                  <a:tcPr anchor="ctr"/>
                </a:tc>
                <a:extLst>
                  <a:ext uri="{0D108BD9-81ED-4DB2-BD59-A6C34878D82A}">
                    <a16:rowId xmlns:a16="http://schemas.microsoft.com/office/drawing/2014/main" val="672547694"/>
                  </a:ext>
                </a:extLst>
              </a:tr>
            </a:tbl>
          </a:graphicData>
        </a:graphic>
      </p:graphicFrame>
      <p:sp>
        <p:nvSpPr>
          <p:cNvPr id="7" name="Footer Placeholder 10">
            <a:extLst>
              <a:ext uri="{FF2B5EF4-FFF2-40B4-BE49-F238E27FC236}">
                <a16:creationId xmlns:a16="http://schemas.microsoft.com/office/drawing/2014/main" id="{CF905A60-871D-CCA5-A207-35069340F68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9" name="Picture 8">
            <a:extLst>
              <a:ext uri="{FF2B5EF4-FFF2-40B4-BE49-F238E27FC236}">
                <a16:creationId xmlns:a16="http://schemas.microsoft.com/office/drawing/2014/main" id="{A15C50B0-05BF-9DE3-B07E-D4B0DCAF8B02}"/>
              </a:ext>
            </a:extLst>
          </p:cNvPr>
          <p:cNvPicPr>
            <a:picLocks noChangeAspect="1"/>
          </p:cNvPicPr>
          <p:nvPr/>
        </p:nvPicPr>
        <p:blipFill>
          <a:blip r:embed="rId3"/>
          <a:stretch>
            <a:fillRect/>
          </a:stretch>
        </p:blipFill>
        <p:spPr>
          <a:xfrm>
            <a:off x="9982200" y="2537602"/>
            <a:ext cx="1567375" cy="1782796"/>
          </a:xfrm>
          <a:prstGeom prst="rect">
            <a:avLst/>
          </a:prstGeom>
        </p:spPr>
      </p:pic>
    </p:spTree>
    <p:extLst>
      <p:ext uri="{BB962C8B-B14F-4D97-AF65-F5344CB8AC3E}">
        <p14:creationId xmlns:p14="http://schemas.microsoft.com/office/powerpoint/2010/main" val="2023982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7383-8871-1EE2-166A-B589E1CB40D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C69C75C-4A01-EF6E-E80E-25ED61040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A923677-03C1-5941-C0A2-17F3C1C859F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416E3709-B6DA-1869-5D4C-B684FCEA70F7}"/>
              </a:ext>
            </a:extLst>
          </p:cNvPr>
          <p:cNvSpPr>
            <a:spLocks noGrp="1"/>
          </p:cNvSpPr>
          <p:nvPr>
            <p:ph type="sldNum" sz="quarter" idx="12"/>
          </p:nvPr>
        </p:nvSpPr>
        <p:spPr/>
        <p:txBody>
          <a:bodyPr/>
          <a:lstStyle/>
          <a:p>
            <a:fld id="{48F19E39-9933-F648-B2F3-3AC17C0DC986}" type="slidenum">
              <a:rPr lang="en-US" smtClean="0">
                <a:solidFill>
                  <a:schemeClr val="bg1"/>
                </a:solidFill>
              </a:rPr>
              <a:t>16</a:t>
            </a:fld>
            <a:endParaRPr lang="en-US" dirty="0">
              <a:solidFill>
                <a:schemeClr val="bg1"/>
              </a:solidFill>
            </a:endParaRPr>
          </a:p>
        </p:txBody>
      </p:sp>
      <p:sp>
        <p:nvSpPr>
          <p:cNvPr id="2" name="TextBox 1">
            <a:extLst>
              <a:ext uri="{FF2B5EF4-FFF2-40B4-BE49-F238E27FC236}">
                <a16:creationId xmlns:a16="http://schemas.microsoft.com/office/drawing/2014/main" id="{6F970B62-8B8A-7A1E-BD52-F7FE59CBC869}"/>
              </a:ext>
            </a:extLst>
          </p:cNvPr>
          <p:cNvSpPr txBox="1"/>
          <p:nvPr/>
        </p:nvSpPr>
        <p:spPr>
          <a:xfrm>
            <a:off x="596350" y="1161505"/>
            <a:ext cx="5499650" cy="4985980"/>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Request Validation</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Validates request against </a:t>
            </a:r>
            <a:r>
              <a:rPr lang="en-US" sz="1300" b="1" i="0" dirty="0" err="1">
                <a:effectLst/>
                <a:latin typeface="Inter" panose="02000503000000020004" pitchFamily="2" charset="0"/>
                <a:ea typeface="Inter" panose="02000503000000020004" pitchFamily="2" charset="0"/>
                <a:cs typeface="Inter" panose="02000503000000020004" pitchFamily="2" charset="0"/>
              </a:rPr>
              <a:t>Pydantic</a:t>
            </a:r>
            <a:r>
              <a:rPr lang="en-US" sz="1300" b="1" i="0" dirty="0">
                <a:effectLst/>
                <a:latin typeface="Inter" panose="02000503000000020004" pitchFamily="2" charset="0"/>
                <a:ea typeface="Inter" panose="02000503000000020004" pitchFamily="2" charset="0"/>
                <a:cs typeface="Inter" panose="02000503000000020004" pitchFamily="2" charset="0"/>
              </a:rPr>
              <a:t> schema</a:t>
            </a:r>
            <a:r>
              <a:rPr lang="en-US" sz="1300" b="0" i="0" dirty="0">
                <a:effectLst/>
                <a:latin typeface="Inter" panose="02000503000000020004" pitchFamily="2" charset="0"/>
                <a:ea typeface="Inter" panose="02000503000000020004" pitchFamily="2" charset="0"/>
                <a:cs typeface="Inter" panose="02000503000000020004" pitchFamily="2" charset="0"/>
              </a:rPr>
              <a:t> (required fields, correct types)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Validates payload against </a:t>
            </a:r>
            <a:r>
              <a:rPr lang="en-US" sz="1300" b="1" i="0" dirty="0">
                <a:effectLst/>
                <a:latin typeface="Inter" panose="02000503000000020004" pitchFamily="2" charset="0"/>
                <a:ea typeface="Inter" panose="02000503000000020004" pitchFamily="2" charset="0"/>
                <a:cs typeface="Inter" panose="02000503000000020004" pitchFamily="2" charset="0"/>
              </a:rPr>
              <a:t>job-type-specific JSON Schema</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agent.run</a:t>
            </a:r>
            <a:r>
              <a:rPr lang="en-US" sz="1300" b="0" i="0" dirty="0">
                <a:effectLst/>
                <a:latin typeface="Inter" panose="02000503000000020004" pitchFamily="2" charset="0"/>
                <a:ea typeface="Inter" panose="02000503000000020004" pitchFamily="2" charset="0"/>
                <a:cs typeface="Inter" panose="02000503000000020004" pitchFamily="2" charset="0"/>
              </a:rPr>
              <a:t> requires { prompt, </a:t>
            </a:r>
            <a:r>
              <a:rPr lang="en-US" sz="1300" b="0" i="0" dirty="0" err="1">
                <a:effectLst/>
                <a:latin typeface="Inter" panose="02000503000000020004" pitchFamily="2" charset="0"/>
                <a:ea typeface="Inter" panose="02000503000000020004" pitchFamily="2" charset="0"/>
                <a:cs typeface="Inter" panose="02000503000000020004" pitchFamily="2" charset="0"/>
              </a:rPr>
              <a:t>user_id</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tenant_id</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Idempotency Check</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Looks up idempotency key in </a:t>
            </a:r>
            <a:r>
              <a:rPr lang="en-US" sz="1300" b="1" i="0" dirty="0">
                <a:effectLst/>
                <a:latin typeface="Inter" panose="02000503000000020004" pitchFamily="2" charset="0"/>
                <a:ea typeface="Inter" panose="02000503000000020004" pitchFamily="2" charset="0"/>
                <a:cs typeface="Inter" panose="02000503000000020004" pitchFamily="2" charset="0"/>
              </a:rPr>
              <a:t>Redis</a:t>
            </a:r>
            <a:r>
              <a:rPr lang="en-US" sz="1300" b="0" i="0" dirty="0">
                <a:effectLst/>
                <a:latin typeface="Inter" panose="02000503000000020004" pitchFamily="2" charset="0"/>
                <a:ea typeface="Inter" panose="02000503000000020004" pitchFamily="2" charset="0"/>
                <a:cs typeface="Inter" panose="02000503000000020004" pitchFamily="2" charset="0"/>
              </a:rPr>
              <a:t> (cache) and </a:t>
            </a:r>
            <a:r>
              <a:rPr lang="en-US" sz="1300" b="1" i="0" dirty="0">
                <a:effectLst/>
                <a:latin typeface="Inter" panose="02000503000000020004" pitchFamily="2" charset="0"/>
                <a:ea typeface="Inter" panose="02000503000000020004" pitchFamily="2" charset="0"/>
                <a:cs typeface="Inter" panose="02000503000000020004" pitchFamily="2" charset="0"/>
              </a:rPr>
              <a:t>PostgreSQL</a:t>
            </a:r>
            <a:r>
              <a:rPr lang="en-US" sz="1300" b="0" i="0" dirty="0">
                <a:effectLst/>
                <a:latin typeface="Inter" panose="02000503000000020004" pitchFamily="2" charset="0"/>
                <a:ea typeface="Inter" panose="02000503000000020004" pitchFamily="2" charset="0"/>
                <a:cs typeface="Inter" panose="02000503000000020004" pitchFamily="2" charset="0"/>
              </a:rPr>
              <a:t> (durable)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found → returns existing job response, preventing duplicates</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Client retries after timeout → same job returned, not duplicated</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3. Job Record Creation</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Creates new Job record in </a:t>
            </a:r>
            <a:r>
              <a:rPr lang="en-US" sz="1300" b="1" i="0" dirty="0">
                <a:effectLst/>
                <a:latin typeface="Inter" panose="02000503000000020004" pitchFamily="2" charset="0"/>
                <a:ea typeface="Inter" panose="02000503000000020004" pitchFamily="2" charset="0"/>
                <a:cs typeface="Inter" panose="02000503000000020004" pitchFamily="2" charset="0"/>
              </a:rPr>
              <a:t>PostgreSQL</a:t>
            </a:r>
            <a:r>
              <a:rPr lang="en-US" sz="1300" b="0" i="0" dirty="0">
                <a:effectLst/>
                <a:latin typeface="Inter" panose="02000503000000020004" pitchFamily="2" charset="0"/>
                <a:ea typeface="Inter" panose="02000503000000020004" pitchFamily="2" charset="0"/>
                <a:cs typeface="Inter" panose="02000503000000020004" pitchFamily="2" charset="0"/>
              </a:rPr>
              <a:t> with status = queued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PostgreSQL = </a:t>
            </a:r>
            <a:r>
              <a:rPr lang="en-US" sz="1300" b="1" i="0" dirty="0">
                <a:effectLst/>
                <a:latin typeface="Inter" panose="02000503000000020004" pitchFamily="2" charset="0"/>
                <a:ea typeface="Inter" panose="02000503000000020004" pitchFamily="2" charset="0"/>
                <a:cs typeface="Inter" panose="02000503000000020004" pitchFamily="2" charset="0"/>
              </a:rPr>
              <a:t>source of truth</a:t>
            </a:r>
            <a:r>
              <a:rPr lang="en-US" sz="1300" b="0" i="0" dirty="0">
                <a:effectLst/>
                <a:latin typeface="Inter" panose="02000503000000020004" pitchFamily="2" charset="0"/>
                <a:ea typeface="Inter" panose="02000503000000020004" pitchFamily="2" charset="0"/>
                <a:cs typeface="Inter" panose="02000503000000020004" pitchFamily="2" charset="0"/>
              </a:rPr>
              <a:t> (jobs persists even if Redis is down)</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INSERT INTO jobs (id, status, payload) VALUES (</a:t>
            </a:r>
            <a:r>
              <a:rPr lang="en-US" sz="1300" b="0" i="0" dirty="0" err="1">
                <a:effectLst/>
                <a:latin typeface="Inter" panose="02000503000000020004" pitchFamily="2" charset="0"/>
                <a:ea typeface="Inter" panose="02000503000000020004" pitchFamily="2" charset="0"/>
                <a:cs typeface="Inter" panose="02000503000000020004" pitchFamily="2" charset="0"/>
              </a:rPr>
              <a:t>uuid</a:t>
            </a:r>
            <a:r>
              <a:rPr lang="en-US" sz="1300" b="0" i="0" dirty="0">
                <a:effectLst/>
                <a:latin typeface="Inter" panose="02000503000000020004" pitchFamily="2" charset="0"/>
                <a:ea typeface="Inter" panose="02000503000000020004" pitchFamily="2" charset="0"/>
                <a:cs typeface="Inter" panose="02000503000000020004" pitchFamily="2" charset="0"/>
              </a:rPr>
              <a:t>, 'queued', {...})</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Supported Job Types:</a:t>
            </a:r>
          </a:p>
          <a:p>
            <a:pPr marL="285750"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demo:</a:t>
            </a:r>
            <a:r>
              <a:rPr lang="en-US" sz="1300" dirty="0">
                <a:latin typeface="Inter" panose="02000503000000020004" pitchFamily="2" charset="0"/>
                <a:ea typeface="Inter" panose="02000503000000020004" pitchFamily="2" charset="0"/>
                <a:cs typeface="Inter" panose="02000503000000020004" pitchFamily="2" charset="0"/>
              </a:rPr>
              <a:t> Simple queue testing | </a:t>
            </a:r>
            <a:r>
              <a:rPr lang="en-US" sz="1300" b="1" dirty="0">
                <a:latin typeface="Inter" panose="02000503000000020004" pitchFamily="2" charset="0"/>
                <a:ea typeface="Inter" panose="02000503000000020004" pitchFamily="2" charset="0"/>
                <a:cs typeface="Inter" panose="02000503000000020004" pitchFamily="2" charset="0"/>
              </a:rPr>
              <a:t>test:</a:t>
            </a:r>
            <a:r>
              <a:rPr lang="en-US" sz="1300" dirty="0">
                <a:latin typeface="Inter" panose="02000503000000020004" pitchFamily="2" charset="0"/>
                <a:ea typeface="Inter" panose="02000503000000020004" pitchFamily="2" charset="0"/>
                <a:cs typeface="Inter" panose="02000503000000020004" pitchFamily="2" charset="0"/>
              </a:rPr>
              <a:t> Validation purposes</a:t>
            </a:r>
          </a:p>
          <a:p>
            <a:pPr marL="285750" indent="-285750">
              <a:buFontTx/>
              <a:buChar char="-"/>
            </a:pPr>
            <a:r>
              <a:rPr lang="en-US" sz="1300" b="1" dirty="0">
                <a:latin typeface="Inter" panose="02000503000000020004" pitchFamily="2" charset="0"/>
                <a:ea typeface="Inter" panose="02000503000000020004" pitchFamily="2" charset="0"/>
                <a:cs typeface="Inter" panose="02000503000000020004" pitchFamily="2" charset="0"/>
              </a:rPr>
              <a:t>long-running:</a:t>
            </a:r>
            <a:r>
              <a:rPr lang="en-US" sz="1300" dirty="0">
                <a:latin typeface="Inter" panose="02000503000000020004" pitchFamily="2" charset="0"/>
                <a:ea typeface="Inter" panose="02000503000000020004" pitchFamily="2" charset="0"/>
                <a:cs typeface="Inter" panose="02000503000000020004" pitchFamily="2" charset="0"/>
              </a:rPr>
              <a:t> Extended batch processing </a:t>
            </a: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agent.run</a:t>
            </a:r>
            <a:r>
              <a:rPr lang="en-US" sz="1300" b="1" dirty="0">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Full orchestration (LLM + tools + graph)</a:t>
            </a:r>
          </a:p>
        </p:txBody>
      </p:sp>
      <p:sp>
        <p:nvSpPr>
          <p:cNvPr id="3" name="TextBox 2">
            <a:extLst>
              <a:ext uri="{FF2B5EF4-FFF2-40B4-BE49-F238E27FC236}">
                <a16:creationId xmlns:a16="http://schemas.microsoft.com/office/drawing/2014/main" id="{2D4D84ED-A7B3-C8DD-5400-FFFACECCC1FD}"/>
              </a:ext>
            </a:extLst>
          </p:cNvPr>
          <p:cNvSpPr txBox="1"/>
          <p:nvPr/>
        </p:nvSpPr>
        <p:spPr>
          <a:xfrm>
            <a:off x="6096000" y="1161505"/>
            <a:ext cx="5628178" cy="437042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4. Redis Queue Enqueue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LPUSH</a:t>
            </a:r>
            <a:r>
              <a:rPr lang="en-US" sz="1300" b="0" i="0" dirty="0">
                <a:effectLst/>
                <a:latin typeface="Inter" panose="02000503000000020004" pitchFamily="2" charset="0"/>
                <a:ea typeface="Inter" panose="02000503000000020004" pitchFamily="2" charset="0"/>
                <a:cs typeface="Inter" panose="02000503000000020004" pitchFamily="2" charset="0"/>
              </a:rPr>
              <a:t> job ID to type-specific queue: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t>
            </a:r>
            <a:r>
              <a:rPr lang="en-US" sz="1300" b="0" i="0" dirty="0">
                <a:effectLst/>
                <a:latin typeface="Inter" panose="02000503000000020004" pitchFamily="2" charset="0"/>
                <a:ea typeface="Inter" panose="02000503000000020004" pitchFamily="2" charset="0"/>
                <a:cs typeface="Inter" panose="02000503000000020004" pitchFamily="2" charset="0"/>
              </a:rPr>
              <a:t>:{type}</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Example: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jobs:queue:agent.run</a:t>
            </a:r>
            <a:r>
              <a:rPr lang="en-US" sz="1300" b="0" i="0" dirty="0">
                <a:effectLst/>
                <a:latin typeface="Inter" panose="02000503000000020004" pitchFamily="2" charset="0"/>
                <a:ea typeface="Inter" panose="02000503000000020004" pitchFamily="2" charset="0"/>
                <a:cs typeface="Inter" panose="02000503000000020004" pitchFamily="2" charset="0"/>
              </a:rPr>
              <a:t> for agent execution jobs</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Workers consume via </a:t>
            </a:r>
            <a:r>
              <a:rPr lang="en-US" sz="1300" b="1" i="0" dirty="0">
                <a:effectLst/>
                <a:latin typeface="Inter" panose="02000503000000020004" pitchFamily="2" charset="0"/>
                <a:ea typeface="Inter" panose="02000503000000020004" pitchFamily="2" charset="0"/>
                <a:cs typeface="Inter" panose="02000503000000020004" pitchFamily="2" charset="0"/>
              </a:rPr>
              <a:t>BRPOP</a:t>
            </a:r>
            <a:r>
              <a:rPr lang="en-US" sz="1300" b="0" i="0" dirty="0">
                <a:effectLst/>
                <a:latin typeface="Inter" panose="02000503000000020004" pitchFamily="2" charset="0"/>
                <a:ea typeface="Inter" panose="02000503000000020004" pitchFamily="2" charset="0"/>
                <a:cs typeface="Inter" panose="02000503000000020004" pitchFamily="2" charset="0"/>
              </a:rPr>
              <a:t> in FIFO order</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Job state is also cached via HSET at key </a:t>
            </a:r>
            <a:r>
              <a:rPr lang="en-US" sz="1300" b="0" i="0" dirty="0" err="1">
                <a:effectLst/>
                <a:latin typeface="Inter" panose="02000503000000020004" pitchFamily="2" charset="0"/>
                <a:ea typeface="Inter" panose="02000503000000020004" pitchFamily="2" charset="0"/>
                <a:cs typeface="Inter" panose="02000503000000020004" pitchFamily="2" charset="0"/>
              </a:rPr>
              <a:t>jobs:state</a:t>
            </a:r>
            <a:r>
              <a:rPr lang="en-US" sz="1300" b="0" i="0" dirty="0">
                <a:effectLst/>
                <a:latin typeface="Inter" panose="02000503000000020004" pitchFamily="2" charset="0"/>
                <a:ea typeface="Inter" panose="02000503000000020004" pitchFamily="2" charset="0"/>
                <a:cs typeface="Inter" panose="02000503000000020004" pitchFamily="2" charset="0"/>
              </a:rPr>
              <a:t>:{id} for fast access</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LPUSH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jobs:queue:agent.run</a:t>
            </a:r>
            <a:r>
              <a:rPr lang="en-US" sz="1300" b="0" i="0" dirty="0">
                <a:effectLst/>
                <a:latin typeface="Inter" panose="02000503000000020004" pitchFamily="2" charset="0"/>
                <a:ea typeface="Inter" panose="02000503000000020004" pitchFamily="2" charset="0"/>
                <a:cs typeface="Inter" panose="02000503000000020004" pitchFamily="2" charset="0"/>
              </a:rPr>
              <a:t> "job-123" → HSET jobs:state:job-123 {...}</a:t>
            </a:r>
          </a:p>
          <a:p>
            <a:pPr algn="l"/>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5. Idempotency Cache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Stores idempotency key → job ID mapping in Redis to speed up future duplicate checks</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SET idempotency:abc123 → job-123 (with TTL)</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6. HTTP Response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Returns </a:t>
            </a:r>
            <a:r>
              <a:rPr lang="en-US" sz="1300" b="1" i="0" dirty="0">
                <a:effectLst/>
                <a:latin typeface="Inter" panose="02000503000000020004" pitchFamily="2" charset="0"/>
                <a:ea typeface="Inter" panose="02000503000000020004" pitchFamily="2" charset="0"/>
                <a:cs typeface="Inter" panose="02000503000000020004" pitchFamily="2" charset="0"/>
              </a:rPr>
              <a:t>HTTP 202 Accepted</a:t>
            </a:r>
            <a:r>
              <a:rPr lang="en-US" sz="1300" b="0" i="0" dirty="0">
                <a:effectLst/>
                <a:latin typeface="Inter" panose="02000503000000020004" pitchFamily="2" charset="0"/>
                <a:ea typeface="Inter" panose="02000503000000020004" pitchFamily="2" charset="0"/>
                <a:cs typeface="Inter" panose="02000503000000020004" pitchFamily="2" charset="0"/>
              </a:rPr>
              <a:t>  (acknowledging the job was accepted for processing, not completed)</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Response body: </a:t>
            </a:r>
            <a:r>
              <a:rPr lang="en-US" sz="1300" b="0" i="0" dirty="0" err="1">
                <a:effectLst/>
                <a:latin typeface="Inter" panose="02000503000000020004" pitchFamily="2" charset="0"/>
                <a:ea typeface="Inter" panose="02000503000000020004" pitchFamily="2" charset="0"/>
                <a:cs typeface="Inter" panose="02000503000000020004" pitchFamily="2" charset="0"/>
              </a:rPr>
              <a:t>JobResponse</a:t>
            </a:r>
            <a:r>
              <a:rPr lang="en-US" sz="1300" b="0" i="0" dirty="0">
                <a:effectLst/>
                <a:latin typeface="Inter" panose="02000503000000020004" pitchFamily="2" charset="0"/>
                <a:ea typeface="Inter" panose="02000503000000020004" pitchFamily="2" charset="0"/>
                <a:cs typeface="Inter" panose="02000503000000020004" pitchFamily="2" charset="0"/>
              </a:rPr>
              <a:t> { id, status: "queued", </a:t>
            </a:r>
            <a:r>
              <a:rPr lang="en-US" sz="1300" b="0" i="0" dirty="0" err="1">
                <a:effectLst/>
                <a:latin typeface="Inter" panose="02000503000000020004" pitchFamily="2" charset="0"/>
                <a:ea typeface="Inter" panose="02000503000000020004" pitchFamily="2" charset="0"/>
                <a:cs typeface="Inter" panose="02000503000000020004" pitchFamily="2" charset="0"/>
              </a:rPr>
              <a:t>created_at</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Includes a </a:t>
            </a:r>
            <a:r>
              <a:rPr lang="en-US" sz="1300" b="1" i="0" dirty="0">
                <a:effectLst/>
                <a:latin typeface="Inter" panose="02000503000000020004" pitchFamily="2" charset="0"/>
                <a:ea typeface="Inter" panose="02000503000000020004" pitchFamily="2" charset="0"/>
                <a:cs typeface="Inter" panose="02000503000000020004" pitchFamily="2" charset="0"/>
              </a:rPr>
              <a:t>Location header</a:t>
            </a:r>
            <a:r>
              <a:rPr lang="en-US" sz="1300" b="0" i="0" dirty="0">
                <a:effectLst/>
                <a:latin typeface="Inter" panose="02000503000000020004" pitchFamily="2" charset="0"/>
                <a:ea typeface="Inter" panose="02000503000000020004" pitchFamily="2" charset="0"/>
                <a:cs typeface="Inter" panose="02000503000000020004" pitchFamily="2" charset="0"/>
              </a:rPr>
              <a:t> pointing to /v1/jobs/{id} for status polling</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202 Accepted + Location: /v1/jobs/job-123</a:t>
            </a:r>
          </a:p>
        </p:txBody>
      </p:sp>
      <p:sp>
        <p:nvSpPr>
          <p:cNvPr id="5" name="TextBox 4">
            <a:extLst>
              <a:ext uri="{FF2B5EF4-FFF2-40B4-BE49-F238E27FC236}">
                <a16:creationId xmlns:a16="http://schemas.microsoft.com/office/drawing/2014/main" id="{2817CA2A-2BBF-DDB2-3CCE-957C1C692365}"/>
              </a:ext>
            </a:extLst>
          </p:cNvPr>
          <p:cNvSpPr txBox="1"/>
          <p:nvPr/>
        </p:nvSpPr>
        <p:spPr>
          <a:xfrm>
            <a:off x="596349" y="374273"/>
            <a:ext cx="10999302"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JOB CREATION</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Client submits a long-running task → system ensures reliability, idempotency, and prevents duplicates.</a:t>
            </a:r>
          </a:p>
        </p:txBody>
      </p:sp>
      <p:cxnSp>
        <p:nvCxnSpPr>
          <p:cNvPr id="7" name="Straight Connector 6">
            <a:extLst>
              <a:ext uri="{FF2B5EF4-FFF2-40B4-BE49-F238E27FC236}">
                <a16:creationId xmlns:a16="http://schemas.microsoft.com/office/drawing/2014/main" id="{1626AA4C-EA66-22DE-DFE7-3925FCAA5962}"/>
              </a:ext>
            </a:extLst>
          </p:cNvPr>
          <p:cNvCxnSpPr>
            <a:cxnSpLocks/>
          </p:cNvCxnSpPr>
          <p:nvPr/>
        </p:nvCxnSpPr>
        <p:spPr>
          <a:xfrm>
            <a:off x="6085114" y="1186543"/>
            <a:ext cx="0" cy="4960942"/>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10" name="Footer Placeholder 10">
            <a:extLst>
              <a:ext uri="{FF2B5EF4-FFF2-40B4-BE49-F238E27FC236}">
                <a16:creationId xmlns:a16="http://schemas.microsoft.com/office/drawing/2014/main" id="{5A878182-FEA6-DEC8-BB8E-41AD2FE41452}"/>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890005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0830-6CCA-41DD-9E6F-1A797A48525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802E2A6-9BF4-7D92-3183-1E54999D9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813F651D-FBE3-63B6-A400-A64A54E8DD46}"/>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DB8E495-790E-4858-2F1B-C7176C6C9DDC}"/>
              </a:ext>
            </a:extLst>
          </p:cNvPr>
          <p:cNvSpPr>
            <a:spLocks noGrp="1"/>
          </p:cNvSpPr>
          <p:nvPr>
            <p:ph type="sldNum" sz="quarter" idx="12"/>
          </p:nvPr>
        </p:nvSpPr>
        <p:spPr/>
        <p:txBody>
          <a:bodyPr/>
          <a:lstStyle/>
          <a:p>
            <a:fld id="{48F19E39-9933-F648-B2F3-3AC17C0DC986}" type="slidenum">
              <a:rPr lang="en-US" smtClean="0">
                <a:solidFill>
                  <a:schemeClr val="bg1"/>
                </a:solidFill>
              </a:rPr>
              <a:t>17</a:t>
            </a:fld>
            <a:endParaRPr lang="en-US" dirty="0">
              <a:solidFill>
                <a:schemeClr val="bg1"/>
              </a:solidFill>
            </a:endParaRPr>
          </a:p>
        </p:txBody>
      </p:sp>
      <p:sp>
        <p:nvSpPr>
          <p:cNvPr id="2" name="TextBox 1">
            <a:extLst>
              <a:ext uri="{FF2B5EF4-FFF2-40B4-BE49-F238E27FC236}">
                <a16:creationId xmlns:a16="http://schemas.microsoft.com/office/drawing/2014/main" id="{AFAF3DD5-B76D-8DAC-31C7-C089440946F9}"/>
              </a:ext>
            </a:extLst>
          </p:cNvPr>
          <p:cNvSpPr txBox="1"/>
          <p:nvPr/>
        </p:nvSpPr>
        <p:spPr>
          <a:xfrm>
            <a:off x="596350" y="1161505"/>
            <a:ext cx="4639676" cy="457048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Job Acquisition</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Worker blocks on BRPOP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t>
            </a:r>
            <a:r>
              <a:rPr lang="en-US" sz="1300" b="0" i="0" dirty="0">
                <a:effectLst/>
                <a:latin typeface="Inter" panose="02000503000000020004" pitchFamily="2" charset="0"/>
                <a:ea typeface="Inter" panose="02000503000000020004" pitchFamily="2" charset="0"/>
                <a:cs typeface="Inter" panose="02000503000000020004" pitchFamily="2" charset="0"/>
              </a:rPr>
              <a:t>:{type} → efficiently waits for new jobs without CPU waste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When a job ID arrives, worker has exclusive ownership (atomic pop guarantees no duplicates)</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BRPOP </a:t>
            </a:r>
            <a:r>
              <a:rPr lang="en-US" sz="1300" b="0" i="0" dirty="0" err="1">
                <a:effectLst/>
                <a:latin typeface="Inter" panose="02000503000000020004" pitchFamily="2" charset="0"/>
                <a:ea typeface="Inter" panose="02000503000000020004" pitchFamily="2" charset="0"/>
                <a:cs typeface="Inter" panose="02000503000000020004" pitchFamily="2" charset="0"/>
              </a:rPr>
              <a:t>jobs:queue:agent.run</a:t>
            </a:r>
            <a:r>
              <a:rPr lang="en-US" sz="1300" b="0" i="0" dirty="0">
                <a:effectLst/>
                <a:latin typeface="Inter" panose="02000503000000020004" pitchFamily="2" charset="0"/>
                <a:ea typeface="Inter" panose="02000503000000020004" pitchFamily="2" charset="0"/>
                <a:cs typeface="Inter" panose="02000503000000020004" pitchFamily="2" charset="0"/>
              </a:rPr>
              <a:t> 0 → returns "job-123" when available</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Load Job Metadata</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Fetches full job record from </a:t>
            </a:r>
            <a:r>
              <a:rPr lang="en-US" sz="1300" b="1" i="0" dirty="0">
                <a:effectLst/>
                <a:latin typeface="Inter" panose="02000503000000020004" pitchFamily="2" charset="0"/>
                <a:ea typeface="Inter" panose="02000503000000020004" pitchFamily="2" charset="0"/>
                <a:cs typeface="Inter" panose="02000503000000020004" pitchFamily="2" charset="0"/>
              </a:rPr>
              <a:t>PostgreSQL</a:t>
            </a:r>
            <a:r>
              <a:rPr lang="en-US" sz="1300" b="0" i="0" dirty="0">
                <a:effectLst/>
                <a:latin typeface="Inter" panose="02000503000000020004" pitchFamily="2" charset="0"/>
                <a:ea typeface="Inter" panose="02000503000000020004" pitchFamily="2" charset="0"/>
                <a:cs typeface="Inter" panose="02000503000000020004" pitchFamily="2" charset="0"/>
              </a:rPr>
              <a:t> (payload, type, tenant, user, timestamps)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PostgreSQL is the source of truth; </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Redis queue only holds job IDs</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SELECT * FROM jobs WHERE id = 'job-123’</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3. Pre-Execution Cancellation Check</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Checks Redis key </a:t>
            </a:r>
            <a:r>
              <a:rPr lang="en-US" sz="1300" b="0" i="0" dirty="0" err="1">
                <a:effectLst/>
                <a:latin typeface="Inter" panose="02000503000000020004" pitchFamily="2" charset="0"/>
                <a:ea typeface="Inter" panose="02000503000000020004" pitchFamily="2" charset="0"/>
                <a:cs typeface="Inter" panose="02000503000000020004" pitchFamily="2" charset="0"/>
              </a:rPr>
              <a:t>jobs:cancel</a:t>
            </a:r>
            <a:r>
              <a:rPr lang="en-US" sz="1300" b="0" i="0" dirty="0">
                <a:effectLst/>
                <a:latin typeface="Inter" panose="02000503000000020004" pitchFamily="2" charset="0"/>
                <a:ea typeface="Inter" panose="02000503000000020004" pitchFamily="2" charset="0"/>
                <a:cs typeface="Inter" panose="02000503000000020004" pitchFamily="2" charset="0"/>
              </a:rPr>
              <a:t>:{id} before starting any work</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cancellation was requested while job was still queued → skip execution, mark as cancelled.</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User clicked "Cancel" in UI before worker picked up the job</a:t>
            </a:r>
          </a:p>
        </p:txBody>
      </p:sp>
      <p:sp>
        <p:nvSpPr>
          <p:cNvPr id="3" name="TextBox 2">
            <a:extLst>
              <a:ext uri="{FF2B5EF4-FFF2-40B4-BE49-F238E27FC236}">
                <a16:creationId xmlns:a16="http://schemas.microsoft.com/office/drawing/2014/main" id="{C253A978-52B4-F086-2AB4-F320A325F8F4}"/>
              </a:ext>
            </a:extLst>
          </p:cNvPr>
          <p:cNvSpPr txBox="1"/>
          <p:nvPr/>
        </p:nvSpPr>
        <p:spPr>
          <a:xfrm>
            <a:off x="5377545" y="1161505"/>
            <a:ext cx="6346633" cy="4708981"/>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4. Status Transition: queued → running</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Updates job status in PostgreSQL and Redis state cache</a:t>
            </a: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Appends </a:t>
            </a:r>
            <a:r>
              <a:rPr lang="en-US" sz="1400" b="0" i="0" dirty="0" err="1">
                <a:effectLst/>
                <a:latin typeface="Inter" panose="02000503000000020004" pitchFamily="2" charset="0"/>
                <a:ea typeface="Inter" panose="02000503000000020004" pitchFamily="2" charset="0"/>
                <a:cs typeface="Inter" panose="02000503000000020004" pitchFamily="2" charset="0"/>
              </a:rPr>
              <a:t>status_changed</a:t>
            </a:r>
            <a:r>
              <a:rPr lang="en-US" sz="1400" b="0" i="0" dirty="0">
                <a:effectLst/>
                <a:latin typeface="Inter" panose="02000503000000020004" pitchFamily="2" charset="0"/>
                <a:ea typeface="Inter" panose="02000503000000020004" pitchFamily="2" charset="0"/>
                <a:cs typeface="Inter" panose="02000503000000020004" pitchFamily="2" charset="0"/>
              </a:rPr>
              <a:t> event to </a:t>
            </a:r>
            <a:r>
              <a:rPr lang="en-US" sz="1400" b="0" i="0" dirty="0" err="1">
                <a:effectLst/>
                <a:latin typeface="Inter" panose="02000503000000020004" pitchFamily="2" charset="0"/>
                <a:ea typeface="Inter" panose="02000503000000020004" pitchFamily="2" charset="0"/>
                <a:cs typeface="Inter" panose="02000503000000020004" pitchFamily="2" charset="0"/>
              </a:rPr>
              <a:t>job_events</a:t>
            </a:r>
            <a:r>
              <a:rPr lang="en-US" sz="1400" b="0" i="0" dirty="0">
                <a:effectLst/>
                <a:latin typeface="Inter" panose="02000503000000020004" pitchFamily="2" charset="0"/>
                <a:ea typeface="Inter" panose="02000503000000020004" pitchFamily="2" charset="0"/>
                <a:cs typeface="Inter" panose="02000503000000020004" pitchFamily="2" charset="0"/>
              </a:rPr>
              <a:t> table for audit trail</a:t>
            </a: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Notifies SSE subscribers that execution has begun</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5. Heartbeat Task</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Starts an async background task that periodically updates a Redis key (e.g., every 30s)</a:t>
            </a: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Allows the system to detect </a:t>
            </a:r>
            <a:r>
              <a:rPr lang="en-US" sz="1400" b="1" i="0" dirty="0">
                <a:effectLst/>
                <a:latin typeface="Inter" panose="02000503000000020004" pitchFamily="2" charset="0"/>
                <a:ea typeface="Inter" panose="02000503000000020004" pitchFamily="2" charset="0"/>
                <a:cs typeface="Inter" panose="02000503000000020004" pitchFamily="2" charset="0"/>
              </a:rPr>
              <a:t>dead workers</a:t>
            </a:r>
            <a:r>
              <a:rPr lang="en-US" sz="1400" b="0" i="0" dirty="0">
                <a:effectLst/>
                <a:latin typeface="Inter" panose="02000503000000020004" pitchFamily="2" charset="0"/>
                <a:ea typeface="Inter" panose="02000503000000020004" pitchFamily="2" charset="0"/>
                <a:cs typeface="Inter" panose="02000503000000020004" pitchFamily="2" charset="0"/>
              </a:rPr>
              <a:t> (if heartbeat stops, job is considered stuck)</a:t>
            </a:r>
          </a:p>
          <a:p>
            <a:pPr marL="285750" indent="-285750" algn="l">
              <a:buFontTx/>
              <a:buChar char="-"/>
            </a:pPr>
            <a:r>
              <a:rPr lang="en-US" sz="1400" b="0" i="1" dirty="0">
                <a:effectLst/>
                <a:latin typeface="Inter" panose="02000503000000020004" pitchFamily="2" charset="0"/>
                <a:ea typeface="Inter" panose="02000503000000020004" pitchFamily="2" charset="0"/>
                <a:cs typeface="Inter" panose="02000503000000020004" pitchFamily="2" charset="0"/>
              </a:rPr>
              <a:t>Example:</a:t>
            </a:r>
            <a:r>
              <a:rPr lang="en-US" sz="1400" b="0" i="0" dirty="0">
                <a:effectLst/>
                <a:latin typeface="Inter" panose="02000503000000020004" pitchFamily="2" charset="0"/>
                <a:ea typeface="Inter" panose="02000503000000020004" pitchFamily="2" charset="0"/>
                <a:cs typeface="Inter" panose="02000503000000020004" pitchFamily="2" charset="0"/>
              </a:rPr>
              <a:t> SETEX jobs:heartbeat:job-123 60 &lt;timestamp&gt; refreshed every 30s</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6. Execute Job Handler</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Once the worker has acquired a job and updated its status, it routes the job to the correct </a:t>
            </a:r>
            <a:r>
              <a:rPr lang="en-US" sz="1300" b="1" i="0" dirty="0">
                <a:effectLst/>
                <a:latin typeface="Inter" panose="02000503000000020004" pitchFamily="2" charset="0"/>
                <a:ea typeface="Inter" panose="02000503000000020004" pitchFamily="2" charset="0"/>
                <a:cs typeface="Inter" panose="02000503000000020004" pitchFamily="2" charset="0"/>
              </a:rPr>
              <a:t>handler function</a:t>
            </a:r>
            <a:r>
              <a:rPr lang="en-US" sz="1300" b="0" i="0" dirty="0">
                <a:effectLst/>
                <a:latin typeface="Inter" panose="02000503000000020004" pitchFamily="2" charset="0"/>
                <a:ea typeface="Inter" panose="02000503000000020004" pitchFamily="2" charset="0"/>
                <a:cs typeface="Inter" panose="02000503000000020004" pitchFamily="2" charset="0"/>
              </a:rPr>
              <a:t> based on the job type.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It supports Shared </a:t>
            </a:r>
            <a:r>
              <a:rPr lang="en-US" sz="1300" dirty="0">
                <a:latin typeface="Inter" panose="02000503000000020004" pitchFamily="2" charset="0"/>
                <a:ea typeface="Inter" panose="02000503000000020004" pitchFamily="2" charset="0"/>
                <a:cs typeface="Inter" panose="02000503000000020004" pitchFamily="2" charset="0"/>
              </a:rPr>
              <a:t>C</a:t>
            </a:r>
            <a:r>
              <a:rPr lang="en-US" sz="1300" b="0" i="0" dirty="0">
                <a:effectLst/>
                <a:latin typeface="Inter" panose="02000503000000020004" pitchFamily="2" charset="0"/>
                <a:ea typeface="Inter" panose="02000503000000020004" pitchFamily="2" charset="0"/>
                <a:cs typeface="Inter" panose="02000503000000020004" pitchFamily="2" charset="0"/>
              </a:rPr>
              <a:t>odebase: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The worker process runs the </a:t>
            </a:r>
            <a:r>
              <a:rPr lang="en-US" sz="1300" b="1" i="0" dirty="0">
                <a:effectLst/>
                <a:latin typeface="Inter" panose="02000503000000020004" pitchFamily="2" charset="0"/>
                <a:ea typeface="Inter" panose="02000503000000020004" pitchFamily="2" charset="0"/>
                <a:cs typeface="Inter" panose="02000503000000020004" pitchFamily="2" charset="0"/>
              </a:rPr>
              <a:t>exact same code</a:t>
            </a:r>
            <a:r>
              <a:rPr lang="en-US" sz="1300" b="0" i="0" dirty="0">
                <a:effectLst/>
                <a:latin typeface="Inter" panose="02000503000000020004" pitchFamily="2" charset="0"/>
                <a:ea typeface="Inter" panose="02000503000000020004" pitchFamily="2" charset="0"/>
                <a:cs typeface="Inter" panose="02000503000000020004" pitchFamily="2" charset="0"/>
              </a:rPr>
              <a:t> as the main API server. This means: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a:t>
            </a:r>
            <a:r>
              <a:rPr lang="en-US" sz="1300" b="0" i="0" dirty="0" err="1">
                <a:effectLst/>
                <a:latin typeface="Inter" panose="02000503000000020004" pitchFamily="2" charset="0"/>
                <a:ea typeface="Inter" panose="02000503000000020004" pitchFamily="2" charset="0"/>
                <a:cs typeface="Inter" panose="02000503000000020004" pitchFamily="2" charset="0"/>
              </a:rPr>
              <a:t>MemgraphClient</a:t>
            </a:r>
            <a:r>
              <a:rPr lang="en-US" sz="1300" b="0" i="0" dirty="0">
                <a:effectLst/>
                <a:latin typeface="Inter" panose="02000503000000020004" pitchFamily="2" charset="0"/>
                <a:ea typeface="Inter" panose="02000503000000020004" pitchFamily="2" charset="0"/>
                <a:cs typeface="Inter" panose="02000503000000020004" pitchFamily="2" charset="0"/>
              </a:rPr>
              <a:t> for graph queries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a:t>
            </a:r>
            <a:r>
              <a:rPr lang="en-US" sz="1300" b="0" i="0" dirty="0" err="1">
                <a:effectLst/>
                <a:latin typeface="Inter" panose="02000503000000020004" pitchFamily="2" charset="0"/>
                <a:ea typeface="Inter" panose="02000503000000020004" pitchFamily="2" charset="0"/>
                <a:cs typeface="Inter" panose="02000503000000020004" pitchFamily="2" charset="0"/>
              </a:rPr>
              <a:t>LLMAdapter</a:t>
            </a:r>
            <a:r>
              <a:rPr lang="en-US" sz="1300" b="0" i="0" dirty="0">
                <a:effectLst/>
                <a:latin typeface="Inter" panose="02000503000000020004" pitchFamily="2" charset="0"/>
                <a:ea typeface="Inter" panose="02000503000000020004" pitchFamily="2" charset="0"/>
                <a:cs typeface="Inter" panose="02000503000000020004" pitchFamily="2" charset="0"/>
              </a:rPr>
              <a:t> for calling language models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a:t>
            </a:r>
            <a:r>
              <a:rPr lang="en-US" sz="1300" b="0" i="0" dirty="0" err="1">
                <a:effectLst/>
                <a:latin typeface="Inter" panose="02000503000000020004" pitchFamily="2" charset="0"/>
                <a:ea typeface="Inter" panose="02000503000000020004" pitchFamily="2" charset="0"/>
                <a:cs typeface="Inter" panose="02000503000000020004" pitchFamily="2" charset="0"/>
              </a:rPr>
              <a:t>RedisClient</a:t>
            </a:r>
            <a:r>
              <a:rPr lang="en-US" sz="1300" b="0" i="0" dirty="0">
                <a:effectLst/>
                <a:latin typeface="Inter" panose="02000503000000020004" pitchFamily="2" charset="0"/>
                <a:ea typeface="Inter" panose="02000503000000020004" pitchFamily="2" charset="0"/>
                <a:cs typeface="Inter" panose="02000503000000020004" pitchFamily="2" charset="0"/>
              </a:rPr>
              <a:t> for caching</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Same security controls (PII scrubbing, output guards)</a:t>
            </a:r>
          </a:p>
        </p:txBody>
      </p:sp>
      <p:sp>
        <p:nvSpPr>
          <p:cNvPr id="5" name="TextBox 4">
            <a:extLst>
              <a:ext uri="{FF2B5EF4-FFF2-40B4-BE49-F238E27FC236}">
                <a16:creationId xmlns:a16="http://schemas.microsoft.com/office/drawing/2014/main" id="{B4401A7A-E3EA-5F9F-CBF6-6FD7FEFA16C0}"/>
              </a:ext>
            </a:extLst>
          </p:cNvPr>
          <p:cNvSpPr txBox="1"/>
          <p:nvPr/>
        </p:nvSpPr>
        <p:spPr>
          <a:xfrm>
            <a:off x="596349" y="374273"/>
            <a:ext cx="10999302" cy="646331"/>
          </a:xfrm>
          <a:prstGeom prst="rect">
            <a:avLst/>
          </a:prstGeom>
          <a:noFill/>
        </p:spPr>
        <p:txBody>
          <a:bodyPr wrap="square" rtlCol="0">
            <a:spAutoFit/>
          </a:bodyPr>
          <a:lstStyle/>
          <a:p>
            <a:pPr algn="l"/>
            <a:r>
              <a:rPr lang="en-US" sz="2000" b="1" i="0" dirty="0">
                <a:solidFill>
                  <a:srgbClr val="822334"/>
                </a:solidFill>
                <a:effectLst/>
                <a:latin typeface="Inter" panose="02000503000000020004" pitchFamily="2" charset="0"/>
                <a:ea typeface="Inter" panose="02000503000000020004" pitchFamily="2" charset="0"/>
                <a:cs typeface="Inter" panose="02000503000000020004" pitchFamily="2" charset="0"/>
              </a:rPr>
              <a:t>WORKERS (Job Processing Engine)</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They are background processes that consume jobs from Redis queues, enabling fault-tolerant async execution.</a:t>
            </a:r>
          </a:p>
        </p:txBody>
      </p:sp>
      <p:cxnSp>
        <p:nvCxnSpPr>
          <p:cNvPr id="7" name="Straight Connector 6">
            <a:extLst>
              <a:ext uri="{FF2B5EF4-FFF2-40B4-BE49-F238E27FC236}">
                <a16:creationId xmlns:a16="http://schemas.microsoft.com/office/drawing/2014/main" id="{2C5D7C42-5D47-7C03-4BA6-83E88C651104}"/>
              </a:ext>
            </a:extLst>
          </p:cNvPr>
          <p:cNvCxnSpPr>
            <a:cxnSpLocks/>
          </p:cNvCxnSpPr>
          <p:nvPr/>
        </p:nvCxnSpPr>
        <p:spPr>
          <a:xfrm>
            <a:off x="5268683" y="1161505"/>
            <a:ext cx="0" cy="4735319"/>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6" name="Footer Placeholder 10">
            <a:extLst>
              <a:ext uri="{FF2B5EF4-FFF2-40B4-BE49-F238E27FC236}">
                <a16:creationId xmlns:a16="http://schemas.microsoft.com/office/drawing/2014/main" id="{7AA4AA68-B523-F459-D033-1E52F4D54BE0}"/>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456660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E7A12-2929-D43C-9602-4FD13E12FC7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0C934A8-7D5F-5420-61A8-796875ECB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7FF94939-0D05-2F07-7B31-92E7CFC628C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4A246DB-AD0E-F1B9-CD10-76F29D29F029}"/>
              </a:ext>
            </a:extLst>
          </p:cNvPr>
          <p:cNvSpPr>
            <a:spLocks noGrp="1"/>
          </p:cNvSpPr>
          <p:nvPr>
            <p:ph type="sldNum" sz="quarter" idx="12"/>
          </p:nvPr>
        </p:nvSpPr>
        <p:spPr/>
        <p:txBody>
          <a:bodyPr/>
          <a:lstStyle/>
          <a:p>
            <a:fld id="{48F19E39-9933-F648-B2F3-3AC17C0DC986}" type="slidenum">
              <a:rPr lang="en-US" smtClean="0">
                <a:solidFill>
                  <a:schemeClr val="bg1"/>
                </a:solidFill>
              </a:rPr>
              <a:t>18</a:t>
            </a:fld>
            <a:endParaRPr lang="en-US" dirty="0">
              <a:solidFill>
                <a:schemeClr val="bg1"/>
              </a:solidFill>
            </a:endParaRPr>
          </a:p>
        </p:txBody>
      </p:sp>
      <p:sp>
        <p:nvSpPr>
          <p:cNvPr id="2" name="TextBox 1">
            <a:extLst>
              <a:ext uri="{FF2B5EF4-FFF2-40B4-BE49-F238E27FC236}">
                <a16:creationId xmlns:a16="http://schemas.microsoft.com/office/drawing/2014/main" id="{34123807-B7A8-97A2-3C12-294AE7EAE9A8}"/>
              </a:ext>
            </a:extLst>
          </p:cNvPr>
          <p:cNvSpPr txBox="1"/>
          <p:nvPr/>
        </p:nvSpPr>
        <p:spPr>
          <a:xfrm>
            <a:off x="596351" y="1161505"/>
            <a:ext cx="4951833" cy="5232202"/>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1. Initialize</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Creates </a:t>
            </a:r>
            <a:r>
              <a:rPr lang="en-US" sz="1300" dirty="0" err="1">
                <a:latin typeface="Inter" panose="02000503000000020004" pitchFamily="2" charset="0"/>
                <a:ea typeface="Inter" panose="02000503000000020004" pitchFamily="2" charset="0"/>
                <a:cs typeface="Inter" panose="02000503000000020004" pitchFamily="2" charset="0"/>
              </a:rPr>
              <a:t>AgentRun</a:t>
            </a:r>
            <a:r>
              <a:rPr lang="en-US" sz="1300" dirty="0">
                <a:latin typeface="Inter" panose="02000503000000020004" pitchFamily="2" charset="0"/>
                <a:ea typeface="Inter" panose="02000503000000020004" pitchFamily="2" charset="0"/>
                <a:cs typeface="Inter" panose="02000503000000020004" pitchFamily="2" charset="0"/>
              </a:rPr>
              <a:t> record in PostgreSQL with status = running and links to job ID.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e.g. { id: "run-456", </a:t>
            </a:r>
            <a:r>
              <a:rPr lang="en-US" sz="1300" dirty="0" err="1">
                <a:latin typeface="Inter" panose="02000503000000020004" pitchFamily="2" charset="0"/>
                <a:ea typeface="Inter" panose="02000503000000020004" pitchFamily="2" charset="0"/>
                <a:cs typeface="Inter" panose="02000503000000020004" pitchFamily="2" charset="0"/>
              </a:rPr>
              <a:t>job_id</a:t>
            </a:r>
            <a:r>
              <a:rPr lang="en-US" sz="1300" dirty="0">
                <a:latin typeface="Inter" panose="02000503000000020004" pitchFamily="2" charset="0"/>
                <a:ea typeface="Inter" panose="02000503000000020004" pitchFamily="2" charset="0"/>
                <a:cs typeface="Inter" panose="02000503000000020004" pitchFamily="2" charset="0"/>
              </a:rPr>
              <a:t>: "job-123", status: "running" }</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2. Emit Startup Events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Pushes SSE events (</a:t>
            </a:r>
            <a:r>
              <a:rPr lang="en-US" sz="1300" dirty="0" err="1">
                <a:latin typeface="Inter" panose="02000503000000020004" pitchFamily="2" charset="0"/>
                <a:ea typeface="Inter" panose="02000503000000020004" pitchFamily="2" charset="0"/>
                <a:cs typeface="Inter" panose="02000503000000020004" pitchFamily="2" charset="0"/>
              </a:rPr>
              <a:t>agent_run_started</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err="1">
                <a:latin typeface="Inter" panose="02000503000000020004" pitchFamily="2" charset="0"/>
                <a:ea typeface="Inter" panose="02000503000000020004" pitchFamily="2" charset="0"/>
                <a:cs typeface="Inter" panose="02000503000000020004" pitchFamily="2" charset="0"/>
              </a:rPr>
              <a:t>orchestrator_init</a:t>
            </a:r>
            <a:r>
              <a:rPr lang="en-US" sz="1300" dirty="0">
                <a:latin typeface="Inter" panose="02000503000000020004" pitchFamily="2" charset="0"/>
                <a:ea typeface="Inter" panose="02000503000000020004" pitchFamily="2" charset="0"/>
                <a:cs typeface="Inter" panose="02000503000000020004" pitchFamily="2" charset="0"/>
              </a:rPr>
              <a:t>) so Control Panel shows immediate feedback</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Users see progress before any LLM call is made</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3. Orchestrate</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Calls </a:t>
            </a:r>
            <a:r>
              <a:rPr lang="en-US" sz="1300" dirty="0" err="1">
                <a:latin typeface="Inter" panose="02000503000000020004" pitchFamily="2" charset="0"/>
                <a:ea typeface="Inter" panose="02000503000000020004" pitchFamily="2" charset="0"/>
                <a:cs typeface="Inter" panose="02000503000000020004" pitchFamily="2" charset="0"/>
              </a:rPr>
              <a:t>orchestrator.run</a:t>
            </a:r>
            <a:r>
              <a:rPr lang="en-US" sz="1300" dirty="0">
                <a:latin typeface="Inter" panose="02000503000000020004" pitchFamily="2" charset="0"/>
                <a:ea typeface="Inter" panose="02000503000000020004" pitchFamily="2" charset="0"/>
                <a:cs typeface="Inter" panose="02000503000000020004" pitchFamily="2" charset="0"/>
              </a:rPr>
              <a:t>(prompt, context, timeout) as the core execution engine.</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4. Execute Steps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For each TODO step: makes LLM calls, invokes MCP tools, runs Memgraph queries (NL-to-Cypher)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Logs all actions (inputs, outputs, duration, token counts)</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5. Persist Progress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Saves completed steps immediately to PostgreSQL, caches session state in Redis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Enables crash recovery, if worker dies, continue last saved step</a:t>
            </a:r>
          </a:p>
        </p:txBody>
      </p:sp>
      <p:sp>
        <p:nvSpPr>
          <p:cNvPr id="3" name="TextBox 2">
            <a:extLst>
              <a:ext uri="{FF2B5EF4-FFF2-40B4-BE49-F238E27FC236}">
                <a16:creationId xmlns:a16="http://schemas.microsoft.com/office/drawing/2014/main" id="{98699DA8-7F25-C2F3-A051-FD38D002A4BD}"/>
              </a:ext>
            </a:extLst>
          </p:cNvPr>
          <p:cNvSpPr txBox="1"/>
          <p:nvPr/>
        </p:nvSpPr>
        <p:spPr>
          <a:xfrm>
            <a:off x="5548184" y="1161505"/>
            <a:ext cx="6264871" cy="4970591"/>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6. Check Cancellation</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Between each step, worker checks Redis key </a:t>
            </a:r>
            <a:r>
              <a:rPr lang="en-US" sz="1300" dirty="0" err="1">
                <a:latin typeface="Inter" panose="02000503000000020004" pitchFamily="2" charset="0"/>
                <a:ea typeface="Inter" panose="02000503000000020004" pitchFamily="2" charset="0"/>
                <a:cs typeface="Inter" panose="02000503000000020004" pitchFamily="2" charset="0"/>
              </a:rPr>
              <a:t>jobs:cancel</a:t>
            </a:r>
            <a:r>
              <a:rPr lang="en-US" sz="1300" dirty="0">
                <a:latin typeface="Inter" panose="02000503000000020004" pitchFamily="2" charset="0"/>
                <a:ea typeface="Inter" panose="02000503000000020004" pitchFamily="2" charset="0"/>
                <a:cs typeface="Inter" panose="02000503000000020004" pitchFamily="2" charset="0"/>
              </a:rPr>
              <a:t>:{id}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If set, worker stops after the current step (cooperative cancellation)</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Completed steps are saved; remaining steps are skipped</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Stopping mid-LLM-call would leave incomplete data</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7. Emit Progress Events (UI displays a live progress)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Each orchestration step triggers an SSE event</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Like: { step: 3, action: "</a:t>
            </a:r>
            <a:r>
              <a:rPr lang="en-US" sz="1300" dirty="0" err="1">
                <a:latin typeface="Inter" panose="02000503000000020004" pitchFamily="2" charset="0"/>
                <a:ea typeface="Inter" panose="02000503000000020004" pitchFamily="2" charset="0"/>
                <a:cs typeface="Inter" panose="02000503000000020004" pitchFamily="2" charset="0"/>
              </a:rPr>
              <a:t>tool_call</a:t>
            </a:r>
            <a:r>
              <a:rPr lang="en-US" sz="1300" dirty="0">
                <a:latin typeface="Inter" panose="02000503000000020004" pitchFamily="2" charset="0"/>
                <a:ea typeface="Inter" panose="02000503000000020004" pitchFamily="2" charset="0"/>
                <a:cs typeface="Inter" panose="02000503000000020004" pitchFamily="2" charset="0"/>
              </a:rPr>
              <a:t>", tool: "</a:t>
            </a:r>
            <a:r>
              <a:rPr lang="en-US" sz="1300" dirty="0" err="1">
                <a:latin typeface="Inter" panose="02000503000000020004" pitchFamily="2" charset="0"/>
                <a:ea typeface="Inter" panose="02000503000000020004" pitchFamily="2" charset="0"/>
                <a:cs typeface="Inter" panose="02000503000000020004" pitchFamily="2" charset="0"/>
              </a:rPr>
              <a:t>graph.query</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Events pushed to Redis via RPUSH </a:t>
            </a:r>
            <a:r>
              <a:rPr lang="en-US" sz="1300" dirty="0" err="1">
                <a:latin typeface="Inter" panose="02000503000000020004" pitchFamily="2" charset="0"/>
                <a:ea typeface="Inter" panose="02000503000000020004" pitchFamily="2" charset="0"/>
                <a:cs typeface="Inter" panose="02000503000000020004" pitchFamily="2" charset="0"/>
              </a:rPr>
              <a:t>jobs:events</a:t>
            </a:r>
            <a:r>
              <a:rPr lang="en-US" sz="1300" dirty="0">
                <a:latin typeface="Inter" panose="02000503000000020004" pitchFamily="2" charset="0"/>
                <a:ea typeface="Inter" panose="02000503000000020004" pitchFamily="2" charset="0"/>
                <a:cs typeface="Inter" panose="02000503000000020004" pitchFamily="2" charset="0"/>
              </a:rPr>
              <a:t>:{id}</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8. Post-Process</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PIIScrubber</a:t>
            </a:r>
            <a:r>
              <a:rPr lang="en-US" sz="1300" b="1" dirty="0">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Redacts personally identifiable information (emails, phones)</a:t>
            </a: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OutputGuard</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Filters patterns that might leak internal information</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9. Emit Metrics (Enables dashboards, alerts, and cost tracking)</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Publishes Prometheus metrics: </a:t>
            </a:r>
            <a:r>
              <a:rPr lang="en-US" sz="1300" dirty="0" err="1">
                <a:latin typeface="Inter" panose="02000503000000020004" pitchFamily="2" charset="0"/>
                <a:ea typeface="Inter" panose="02000503000000020004" pitchFamily="2" charset="0"/>
                <a:cs typeface="Inter" panose="02000503000000020004" pitchFamily="2" charset="0"/>
              </a:rPr>
              <a:t>agent_run_duration_seconds</a:t>
            </a:r>
            <a:r>
              <a:rPr lang="en-US" sz="1300" dirty="0">
                <a:latin typeface="Inter" panose="02000503000000020004" pitchFamily="2" charset="0"/>
                <a:ea typeface="Inter" panose="02000503000000020004" pitchFamily="2" charset="0"/>
                <a:cs typeface="Inter" panose="02000503000000020004" pitchFamily="2" charset="0"/>
              </a:rPr>
              <a:t>, success/failure counters, TODO count, </a:t>
            </a:r>
            <a:r>
              <a:rPr lang="en-US" sz="1300" dirty="0" err="1">
                <a:latin typeface="Inter" panose="02000503000000020004" pitchFamily="2" charset="0"/>
                <a:ea typeface="Inter" panose="02000503000000020004" pitchFamily="2" charset="0"/>
                <a:cs typeface="Inter" panose="02000503000000020004" pitchFamily="2" charset="0"/>
              </a:rPr>
              <a:t>llm_tokens_total</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10. Finalize</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Updates </a:t>
            </a:r>
            <a:r>
              <a:rPr lang="en-US" sz="1300" dirty="0" err="1">
                <a:latin typeface="Inter" panose="02000503000000020004" pitchFamily="2" charset="0"/>
                <a:ea typeface="Inter" panose="02000503000000020004" pitchFamily="2" charset="0"/>
                <a:cs typeface="Inter" panose="02000503000000020004" pitchFamily="2" charset="0"/>
              </a:rPr>
              <a:t>AgentRun.status</a:t>
            </a:r>
            <a:r>
              <a:rPr lang="en-US" sz="1300" dirty="0">
                <a:latin typeface="Inter" panose="02000503000000020004" pitchFamily="2" charset="0"/>
                <a:ea typeface="Inter" panose="02000503000000020004" pitchFamily="2" charset="0"/>
                <a:cs typeface="Inter" panose="02000503000000020004" pitchFamily="2" charset="0"/>
              </a:rPr>
              <a:t> (succeeded/failed), Saves result to PostgreSQL</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Emits terminal SSE event: </a:t>
            </a:r>
            <a:r>
              <a:rPr lang="en-US" sz="1300" dirty="0" err="1">
                <a:latin typeface="Inter" panose="02000503000000020004" pitchFamily="2" charset="0"/>
                <a:ea typeface="Inter" panose="02000503000000020004" pitchFamily="2" charset="0"/>
                <a:cs typeface="Inter" panose="02000503000000020004" pitchFamily="2" charset="0"/>
              </a:rPr>
              <a:t>orchestration_complete</a:t>
            </a:r>
            <a:r>
              <a:rPr lang="en-US" sz="1300" dirty="0">
                <a:latin typeface="Inter" panose="02000503000000020004" pitchFamily="2" charset="0"/>
                <a:ea typeface="Inter" panose="02000503000000020004" pitchFamily="2" charset="0"/>
                <a:cs typeface="Inter" panose="02000503000000020004" pitchFamily="2" charset="0"/>
              </a:rPr>
              <a:t> with final output</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Example: { status: "succeeded", response: "Found 5 institutions...", steps: 7, tokens: 2340 }</a:t>
            </a:r>
          </a:p>
        </p:txBody>
      </p:sp>
      <p:sp>
        <p:nvSpPr>
          <p:cNvPr id="5" name="TextBox 4">
            <a:extLst>
              <a:ext uri="{FF2B5EF4-FFF2-40B4-BE49-F238E27FC236}">
                <a16:creationId xmlns:a16="http://schemas.microsoft.com/office/drawing/2014/main" id="{E031D1DF-D787-9DC0-107D-75BB9F55A52B}"/>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AGENT.RUN JOB HANDLER (Full Orchestration Pipeline)</a:t>
            </a:r>
            <a:endParaRPr lang="en-US" sz="2000" b="1"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a:p>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Executes complete AI agent workflows: LLM reasoning, tool invocations, graph queries, and security processing.</a:t>
            </a:r>
          </a:p>
        </p:txBody>
      </p:sp>
      <p:cxnSp>
        <p:nvCxnSpPr>
          <p:cNvPr id="7" name="Straight Connector 6">
            <a:extLst>
              <a:ext uri="{FF2B5EF4-FFF2-40B4-BE49-F238E27FC236}">
                <a16:creationId xmlns:a16="http://schemas.microsoft.com/office/drawing/2014/main" id="{91B3E7C3-7A8D-E56D-6BDA-F41768BA3E06}"/>
              </a:ext>
            </a:extLst>
          </p:cNvPr>
          <p:cNvCxnSpPr>
            <a:cxnSpLocks/>
          </p:cNvCxnSpPr>
          <p:nvPr/>
        </p:nvCxnSpPr>
        <p:spPr>
          <a:xfrm>
            <a:off x="5548185" y="1161505"/>
            <a:ext cx="0" cy="4735319"/>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6" name="Footer Placeholder 10">
            <a:extLst>
              <a:ext uri="{FF2B5EF4-FFF2-40B4-BE49-F238E27FC236}">
                <a16:creationId xmlns:a16="http://schemas.microsoft.com/office/drawing/2014/main" id="{ECD106E3-25AD-F286-92E3-D52281352D9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3092095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4C9E9-0966-4274-C2AB-F4F7C641335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D2F55D2-ABA6-818A-3C0A-0FAC1B224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0E76AAA-D723-919D-5187-032318A94FF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BD7840C2-B9E0-1BA0-F184-A949C1B7FA48}"/>
              </a:ext>
            </a:extLst>
          </p:cNvPr>
          <p:cNvSpPr>
            <a:spLocks noGrp="1"/>
          </p:cNvSpPr>
          <p:nvPr>
            <p:ph type="sldNum" sz="quarter" idx="12"/>
          </p:nvPr>
        </p:nvSpPr>
        <p:spPr/>
        <p:txBody>
          <a:bodyPr/>
          <a:lstStyle/>
          <a:p>
            <a:fld id="{48F19E39-9933-F648-B2F3-3AC17C0DC986}" type="slidenum">
              <a:rPr lang="en-US" smtClean="0">
                <a:solidFill>
                  <a:schemeClr val="bg1"/>
                </a:solidFill>
              </a:rPr>
              <a:t>19</a:t>
            </a:fld>
            <a:endParaRPr lang="en-US" dirty="0">
              <a:solidFill>
                <a:schemeClr val="bg1"/>
              </a:solidFill>
            </a:endParaRPr>
          </a:p>
        </p:txBody>
      </p:sp>
      <p:sp>
        <p:nvSpPr>
          <p:cNvPr id="2" name="TextBox 1">
            <a:extLst>
              <a:ext uri="{FF2B5EF4-FFF2-40B4-BE49-F238E27FC236}">
                <a16:creationId xmlns:a16="http://schemas.microsoft.com/office/drawing/2014/main" id="{67082897-D895-F136-CCD4-8D7D07D5907E}"/>
              </a:ext>
            </a:extLst>
          </p:cNvPr>
          <p:cNvSpPr txBox="1"/>
          <p:nvPr/>
        </p:nvSpPr>
        <p:spPr>
          <a:xfrm>
            <a:off x="596351" y="1161505"/>
            <a:ext cx="4951833" cy="4555093"/>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PHASE 1: Intent Classification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The orchestrator analyzes the incoming prompt using an LLM to determine the </a:t>
            </a:r>
            <a:r>
              <a:rPr lang="en-US" sz="1300" b="1" i="0" dirty="0">
                <a:effectLst/>
                <a:latin typeface="Inter" panose="02000503000000020004" pitchFamily="2" charset="0"/>
                <a:ea typeface="Inter" panose="02000503000000020004" pitchFamily="2" charset="0"/>
                <a:cs typeface="Inter" panose="02000503000000020004" pitchFamily="2" charset="0"/>
              </a:rPr>
              <a:t>intent category</a:t>
            </a:r>
            <a:r>
              <a:rPr lang="en-US" sz="1300" b="0" i="0" dirty="0">
                <a:effectLst/>
                <a:latin typeface="Inter" panose="02000503000000020004" pitchFamily="2" charset="0"/>
                <a:ea typeface="Inter" panose="02000503000000020004" pitchFamily="2" charset="0"/>
                <a:cs typeface="Inter" panose="02000503000000020004" pitchFamily="2" charset="0"/>
              </a:rPr>
              <a:t>. This classification drives which execution path is taken.</a:t>
            </a:r>
            <a:endParaRPr lang="en-US" sz="1300" b="1" dirty="0">
              <a:latin typeface="Inter" panose="02000503000000020004" pitchFamily="2" charset="0"/>
              <a:ea typeface="Inter" panose="02000503000000020004" pitchFamily="2" charset="0"/>
              <a:cs typeface="Inter" panose="02000503000000020004" pitchFamily="2" charset="0"/>
            </a:endParaRPr>
          </a:p>
          <a:p>
            <a:pPr algn="l"/>
            <a:endParaRPr lang="en-US" sz="1400" b="1" i="0" dirty="0">
              <a:solidFill>
                <a:srgbClr val="616161"/>
              </a:solidFill>
              <a:effectLst/>
              <a:latin typeface="-apple-system"/>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How it works: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First checks if the prompt matches entries in a </a:t>
            </a:r>
            <a:r>
              <a:rPr lang="en-US" sz="1300" b="1" i="0" dirty="0">
                <a:effectLst/>
                <a:latin typeface="Inter" panose="02000503000000020004" pitchFamily="2" charset="0"/>
                <a:ea typeface="Inter" panose="02000503000000020004" pitchFamily="2" charset="0"/>
                <a:cs typeface="Inter" panose="02000503000000020004" pitchFamily="2" charset="0"/>
              </a:rPr>
              <a:t>prompt catalog</a:t>
            </a:r>
            <a:r>
              <a:rPr lang="en-US" sz="1300" b="0" i="0" dirty="0">
                <a:effectLst/>
                <a:latin typeface="Inter" panose="02000503000000020004" pitchFamily="2" charset="0"/>
                <a:ea typeface="Inter" panose="02000503000000020004" pitchFamily="2" charset="0"/>
                <a:cs typeface="Inter" panose="02000503000000020004" pitchFamily="2" charset="0"/>
              </a:rPr>
              <a:t> (predefined patterns)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no match, calls </a:t>
            </a:r>
            <a:r>
              <a:rPr lang="en-US" sz="1300" b="0" i="0" dirty="0" err="1">
                <a:effectLst/>
                <a:latin typeface="Inter" panose="02000503000000020004" pitchFamily="2" charset="0"/>
                <a:ea typeface="Inter" panose="02000503000000020004" pitchFamily="2" charset="0"/>
                <a:cs typeface="Inter" panose="02000503000000020004" pitchFamily="2" charset="0"/>
              </a:rPr>
              <a:t>classify_intent</a:t>
            </a:r>
            <a:r>
              <a:rPr lang="en-US" sz="1300" b="0" i="0" dirty="0">
                <a:effectLst/>
                <a:latin typeface="Inter" panose="02000503000000020004" pitchFamily="2" charset="0"/>
                <a:ea typeface="Inter" panose="02000503000000020004" pitchFamily="2" charset="0"/>
                <a:cs typeface="Inter" panose="02000503000000020004" pitchFamily="2" charset="0"/>
              </a:rPr>
              <a:t>() using the LLM to determine category</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Intent Categories:</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CHAT</a:t>
            </a:r>
            <a:r>
              <a:rPr lang="en-US" sz="1300" b="0" i="0" dirty="0">
                <a:effectLst/>
                <a:latin typeface="Inter" panose="02000503000000020004" pitchFamily="2" charset="0"/>
                <a:ea typeface="Inter" panose="02000503000000020004" pitchFamily="2" charset="0"/>
                <a:cs typeface="Inter" panose="02000503000000020004" pitchFamily="2" charset="0"/>
              </a:rPr>
              <a:t> → Conversational responses (</a:t>
            </a:r>
            <a:r>
              <a:rPr lang="en-US" sz="1300" b="0" i="1" dirty="0">
                <a:effectLst/>
                <a:latin typeface="Inter" panose="02000503000000020004" pitchFamily="2" charset="0"/>
                <a:ea typeface="Inter" panose="02000503000000020004" pitchFamily="2" charset="0"/>
                <a:cs typeface="Inter" panose="02000503000000020004" pitchFamily="2" charset="0"/>
              </a:rPr>
              <a:t>"What is ML?"</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GRAPH</a:t>
            </a:r>
            <a:r>
              <a:rPr lang="en-US" sz="1300" b="0" i="0" dirty="0">
                <a:effectLst/>
                <a:latin typeface="Inter" panose="02000503000000020004" pitchFamily="2" charset="0"/>
                <a:ea typeface="Inter" panose="02000503000000020004" pitchFamily="2" charset="0"/>
                <a:cs typeface="Inter" panose="02000503000000020004" pitchFamily="2" charset="0"/>
              </a:rPr>
              <a:t> → NL-to-Cypher queries (</a:t>
            </a:r>
            <a:r>
              <a:rPr lang="en-US" sz="1300" b="0" i="1" dirty="0">
                <a:effectLst/>
                <a:latin typeface="Inter" panose="02000503000000020004" pitchFamily="2" charset="0"/>
                <a:ea typeface="Inter" panose="02000503000000020004" pitchFamily="2" charset="0"/>
                <a:cs typeface="Inter" panose="02000503000000020004" pitchFamily="2" charset="0"/>
              </a:rPr>
              <a:t>"Which institutions collaborated?"</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SECURITY</a:t>
            </a:r>
            <a:r>
              <a:rPr lang="en-US" sz="1300" b="0" i="0" dirty="0">
                <a:effectLst/>
                <a:latin typeface="Inter" panose="02000503000000020004" pitchFamily="2" charset="0"/>
                <a:ea typeface="Inter" panose="02000503000000020004" pitchFamily="2" charset="0"/>
                <a:cs typeface="Inter" panose="02000503000000020004" pitchFamily="2" charset="0"/>
              </a:rPr>
              <a:t> → Permission/access questions (</a:t>
            </a:r>
            <a:r>
              <a:rPr lang="en-US" sz="1300" b="0" i="1" dirty="0">
                <a:effectLst/>
                <a:latin typeface="Inter" panose="02000503000000020004" pitchFamily="2" charset="0"/>
                <a:ea typeface="Inter" panose="02000503000000020004" pitchFamily="2" charset="0"/>
                <a:cs typeface="Inter" panose="02000503000000020004" pitchFamily="2" charset="0"/>
              </a:rPr>
              <a:t>"Who has admin access?"</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ADMIN</a:t>
            </a:r>
            <a:r>
              <a:rPr lang="en-US" sz="1300" b="0" i="0" dirty="0">
                <a:effectLst/>
                <a:latin typeface="Inter" panose="02000503000000020004" pitchFamily="2" charset="0"/>
                <a:ea typeface="Inter" panose="02000503000000020004" pitchFamily="2" charset="0"/>
                <a:cs typeface="Inter" panose="02000503000000020004" pitchFamily="2" charset="0"/>
              </a:rPr>
              <a:t> → Administrative writes (</a:t>
            </a:r>
            <a:r>
              <a:rPr lang="en-US" sz="1300" b="0" i="1" dirty="0">
                <a:effectLst/>
                <a:latin typeface="Inter" panose="02000503000000020004" pitchFamily="2" charset="0"/>
                <a:ea typeface="Inter" panose="02000503000000020004" pitchFamily="2" charset="0"/>
                <a:cs typeface="Inter" panose="02000503000000020004" pitchFamily="2" charset="0"/>
              </a:rPr>
              <a:t>"Create tenant ACME"</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DANGEROUS</a:t>
            </a:r>
            <a:r>
              <a:rPr lang="en-US" sz="1300" b="0" i="0" dirty="0">
                <a:effectLst/>
                <a:latin typeface="Inter" panose="02000503000000020004" pitchFamily="2" charset="0"/>
                <a:ea typeface="Inter" panose="02000503000000020004" pitchFamily="2" charset="0"/>
                <a:cs typeface="Inter" panose="02000503000000020004" pitchFamily="2" charset="0"/>
              </a:rPr>
              <a:t> → Destructive ops → refused, offers EXPLAIN instead (</a:t>
            </a:r>
            <a:r>
              <a:rPr lang="en-US" sz="1300" b="0" i="1" dirty="0">
                <a:effectLst/>
                <a:latin typeface="Inter" panose="02000503000000020004" pitchFamily="2" charset="0"/>
                <a:ea typeface="Inter" panose="02000503000000020004" pitchFamily="2" charset="0"/>
                <a:cs typeface="Inter" panose="02000503000000020004" pitchFamily="2" charset="0"/>
              </a:rPr>
              <a:t>"Delete all data"</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EXPLAIN</a:t>
            </a:r>
            <a:r>
              <a:rPr lang="en-US" sz="1300" b="0" i="0" dirty="0">
                <a:effectLst/>
                <a:latin typeface="Inter" panose="02000503000000020004" pitchFamily="2" charset="0"/>
                <a:ea typeface="Inter" panose="02000503000000020004" pitchFamily="2" charset="0"/>
                <a:cs typeface="Inter" panose="02000503000000020004" pitchFamily="2" charset="0"/>
              </a:rPr>
              <a:t> → Query analysis without execution (</a:t>
            </a:r>
            <a:r>
              <a:rPr lang="en-US" sz="1300" b="0" i="1" dirty="0">
                <a:effectLst/>
                <a:latin typeface="Inter" panose="02000503000000020004" pitchFamily="2" charset="0"/>
                <a:ea typeface="Inter" panose="02000503000000020004" pitchFamily="2" charset="0"/>
                <a:cs typeface="Inter" panose="02000503000000020004" pitchFamily="2" charset="0"/>
              </a:rPr>
              <a:t>"Explain what delete would do"</a:t>
            </a:r>
            <a:r>
              <a:rPr lang="en-US" sz="1300" b="0" i="0" dirty="0">
                <a:effectLst/>
                <a:latin typeface="Inter" panose="02000503000000020004" pitchFamily="2" charset="0"/>
                <a:ea typeface="Inter" panose="02000503000000020004" pitchFamily="2" charset="0"/>
                <a:cs typeface="Inter" panose="02000503000000020004" pitchFamily="2" charset="0"/>
              </a:rPr>
              <a:t>)</a:t>
            </a:r>
            <a:endParaRPr lang="en-US" sz="1300" b="1" i="0" dirty="0">
              <a:effectLst/>
              <a:latin typeface="Inter" panose="02000503000000020004" pitchFamily="2" charset="0"/>
              <a:ea typeface="Inter" panose="02000503000000020004" pitchFamily="2" charset="0"/>
              <a:cs typeface="Inter" panose="02000503000000020004" pitchFamily="2" charset="0"/>
            </a:endParaRPr>
          </a:p>
        </p:txBody>
      </p:sp>
      <p:sp>
        <p:nvSpPr>
          <p:cNvPr id="3" name="TextBox 2">
            <a:extLst>
              <a:ext uri="{FF2B5EF4-FFF2-40B4-BE49-F238E27FC236}">
                <a16:creationId xmlns:a16="http://schemas.microsoft.com/office/drawing/2014/main" id="{49E2C168-4E00-B18C-9878-008B2DB707C6}"/>
              </a:ext>
            </a:extLst>
          </p:cNvPr>
          <p:cNvSpPr txBox="1"/>
          <p:nvPr/>
        </p:nvSpPr>
        <p:spPr>
          <a:xfrm>
            <a:off x="5548184" y="1161505"/>
            <a:ext cx="6264871" cy="5293757"/>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PHASE 2: TODO Planning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For multi-step tasks, the orchestrator uses LLM-based planning to decompose the goal into a </a:t>
            </a:r>
            <a:r>
              <a:rPr lang="en-US" sz="1300" b="1" i="0" dirty="0">
                <a:effectLst/>
                <a:latin typeface="Inter" panose="02000503000000020004" pitchFamily="2" charset="0"/>
                <a:ea typeface="Inter" panose="02000503000000020004" pitchFamily="2" charset="0"/>
                <a:cs typeface="Inter" panose="02000503000000020004" pitchFamily="2" charset="0"/>
              </a:rPr>
              <a:t>TODO list</a:t>
            </a:r>
            <a:r>
              <a:rPr lang="en-US" sz="1300" dirty="0">
                <a:latin typeface="Inter" panose="02000503000000020004" pitchFamily="2" charset="0"/>
                <a:ea typeface="Inter" panose="02000503000000020004" pitchFamily="2" charset="0"/>
                <a:cs typeface="Inter" panose="02000503000000020004" pitchFamily="2" charset="0"/>
              </a:rPr>
              <a:t>,</a:t>
            </a:r>
            <a:r>
              <a:rPr lang="en-US" sz="1300" b="0" i="0" dirty="0">
                <a:effectLst/>
                <a:latin typeface="Inter" panose="02000503000000020004" pitchFamily="2" charset="0"/>
                <a:ea typeface="Inter" panose="02000503000000020004" pitchFamily="2" charset="0"/>
                <a:cs typeface="Inter" panose="02000503000000020004" pitchFamily="2" charset="0"/>
              </a:rPr>
              <a:t> an ordered sequence of actions.</a:t>
            </a:r>
          </a:p>
          <a:p>
            <a:pPr marL="285750" indent="-285750" algn="l">
              <a:buFontTx/>
              <a:buChar char="-"/>
            </a:pP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Inputs:</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User's goal (the original prompt)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Conversation context (prior messages, session state)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Schema information (available tools, graph schema, permissions)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Output:</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A TODO array: </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 action: "</a:t>
            </a:r>
            <a:r>
              <a:rPr lang="en-US" sz="1300" b="0" i="0" dirty="0" err="1">
                <a:effectLst/>
                <a:latin typeface="Inter" panose="02000503000000020004" pitchFamily="2" charset="0"/>
                <a:ea typeface="Inter" panose="02000503000000020004" pitchFamily="2" charset="0"/>
                <a:cs typeface="Inter" panose="02000503000000020004" pitchFamily="2" charset="0"/>
              </a:rPr>
              <a:t>query_graph</a:t>
            </a:r>
            <a:r>
              <a:rPr lang="en-US" sz="1300" b="0" i="0" dirty="0">
                <a:effectLst/>
                <a:latin typeface="Inter" panose="02000503000000020004" pitchFamily="2" charset="0"/>
                <a:ea typeface="Inter" panose="02000503000000020004" pitchFamily="2" charset="0"/>
                <a:cs typeface="Inter" panose="02000503000000020004" pitchFamily="2" charset="0"/>
              </a:rPr>
              <a:t>", params: {...} }, { action: "summarize", params: {...} }]</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Planning Modes:</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full</a:t>
            </a:r>
            <a:r>
              <a:rPr lang="en-US" sz="1300" b="0" i="0" dirty="0">
                <a:effectLst/>
                <a:latin typeface="Inter" panose="02000503000000020004" pitchFamily="2" charset="0"/>
                <a:ea typeface="Inter" panose="02000503000000020004" pitchFamily="2" charset="0"/>
                <a:cs typeface="Inter" panose="02000503000000020004" pitchFamily="2" charset="0"/>
              </a:rPr>
              <a:t> → LLM generates a detailed plan for each TODO item. Best for complex, multi-step tasks.</a:t>
            </a:r>
          </a:p>
          <a:p>
            <a:pPr marL="742950" lvl="1"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"Analyze collaboration patterns and generate a report" → 5-step TODO plan</a:t>
            </a:r>
          </a:p>
          <a:p>
            <a:pPr marL="285750"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optional</a:t>
            </a:r>
            <a:r>
              <a:rPr lang="en-US" sz="1300" b="0" i="0" dirty="0">
                <a:effectLst/>
                <a:latin typeface="Inter" panose="02000503000000020004" pitchFamily="2" charset="0"/>
                <a:ea typeface="Inter" panose="02000503000000020004" pitchFamily="2" charset="0"/>
                <a:cs typeface="Inter" panose="02000503000000020004" pitchFamily="2" charset="0"/>
              </a:rPr>
              <a:t> → Tries direct execution first; falls back to planning if needed. Good for simple-to-medium complexity.</a:t>
            </a:r>
          </a:p>
          <a:p>
            <a:pPr marL="742950" lvl="1"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"What's the weather?" → direct response, no planning needed</a:t>
            </a:r>
          </a:p>
          <a:p>
            <a:pPr marL="285750"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none</a:t>
            </a:r>
            <a:r>
              <a:rPr lang="en-US" sz="1300" b="0" i="0" dirty="0">
                <a:effectLst/>
                <a:latin typeface="Inter" panose="02000503000000020004" pitchFamily="2" charset="0"/>
                <a:ea typeface="Inter" panose="02000503000000020004" pitchFamily="2" charset="0"/>
                <a:cs typeface="Inter" panose="02000503000000020004" pitchFamily="2" charset="0"/>
              </a:rPr>
              <a:t> → Deterministic execution without LLM planning. Used for predefined workflows or catalog-matched prompts.</a:t>
            </a:r>
          </a:p>
          <a:p>
            <a:pPr marL="742950" lvl="1"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Matched catalog entry → fixed execution path</a:t>
            </a:r>
          </a:p>
        </p:txBody>
      </p:sp>
      <p:sp>
        <p:nvSpPr>
          <p:cNvPr id="5" name="TextBox 4">
            <a:extLst>
              <a:ext uri="{FF2B5EF4-FFF2-40B4-BE49-F238E27FC236}">
                <a16:creationId xmlns:a16="http://schemas.microsoft.com/office/drawing/2014/main" id="{29F36FB4-6D4A-1E46-A9F5-FB9484653C9F}"/>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1/3)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Service Layer contains business logic. the Orchestrator Service processes prompts through 4 phases.</a:t>
            </a:r>
          </a:p>
        </p:txBody>
      </p:sp>
      <p:cxnSp>
        <p:nvCxnSpPr>
          <p:cNvPr id="7" name="Straight Connector 6">
            <a:extLst>
              <a:ext uri="{FF2B5EF4-FFF2-40B4-BE49-F238E27FC236}">
                <a16:creationId xmlns:a16="http://schemas.microsoft.com/office/drawing/2014/main" id="{D0DD6D50-D5CB-43A9-3D9D-E81F1C72F3AB}"/>
              </a:ext>
            </a:extLst>
          </p:cNvPr>
          <p:cNvCxnSpPr>
            <a:cxnSpLocks/>
          </p:cNvCxnSpPr>
          <p:nvPr/>
        </p:nvCxnSpPr>
        <p:spPr>
          <a:xfrm>
            <a:off x="5548185" y="1161505"/>
            <a:ext cx="0" cy="4735319"/>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8" name="Footer Placeholder 10">
            <a:extLst>
              <a:ext uri="{FF2B5EF4-FFF2-40B4-BE49-F238E27FC236}">
                <a16:creationId xmlns:a16="http://schemas.microsoft.com/office/drawing/2014/main" id="{81D91C4D-78B7-1A8E-FF7B-902FA955588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302232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795E-0AE9-1032-46DA-9C8E226C795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1AC7E32-EA83-342D-FDDE-843837EAE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A5725CCF-6B2D-729F-C66C-3E411EED982F}"/>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BB1C5F4C-891A-FB25-0641-61827CDE28F6}"/>
              </a:ext>
            </a:extLst>
          </p:cNvPr>
          <p:cNvSpPr>
            <a:spLocks noGrp="1"/>
          </p:cNvSpPr>
          <p:nvPr>
            <p:ph type="sldNum" sz="quarter" idx="12"/>
          </p:nvPr>
        </p:nvSpPr>
        <p:spPr/>
        <p:txBody>
          <a:bodyPr/>
          <a:lstStyle/>
          <a:p>
            <a:fld id="{48F19E39-9933-F648-B2F3-3AC17C0DC986}" type="slidenum">
              <a:rPr lang="en-US" smtClean="0">
                <a:solidFill>
                  <a:schemeClr val="bg1"/>
                </a:solidFill>
              </a:rPr>
              <a:t>20</a:t>
            </a:fld>
            <a:endParaRPr lang="en-US" dirty="0">
              <a:solidFill>
                <a:schemeClr val="bg1"/>
              </a:solidFill>
            </a:endParaRPr>
          </a:p>
        </p:txBody>
      </p:sp>
      <p:sp>
        <p:nvSpPr>
          <p:cNvPr id="2" name="TextBox 1">
            <a:extLst>
              <a:ext uri="{FF2B5EF4-FFF2-40B4-BE49-F238E27FC236}">
                <a16:creationId xmlns:a16="http://schemas.microsoft.com/office/drawing/2014/main" id="{5F1F2FAA-1212-92AA-5C1A-C274F6E54009}"/>
              </a:ext>
            </a:extLst>
          </p:cNvPr>
          <p:cNvSpPr txBox="1"/>
          <p:nvPr/>
        </p:nvSpPr>
        <p:spPr>
          <a:xfrm>
            <a:off x="596348" y="2181174"/>
            <a:ext cx="5060736" cy="3293209"/>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Call LLM Provider</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Uses specialized LLM roles depending on the step:</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Planner</a:t>
            </a:r>
            <a:r>
              <a:rPr lang="en-US" sz="1300" b="0" i="0" dirty="0">
                <a:effectLst/>
                <a:latin typeface="Inter" panose="02000503000000020004" pitchFamily="2" charset="0"/>
                <a:ea typeface="Inter" panose="02000503000000020004" pitchFamily="2" charset="0"/>
                <a:cs typeface="Inter" panose="02000503000000020004" pitchFamily="2" charset="0"/>
              </a:rPr>
              <a:t> → decides what to do next</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Reflector</a:t>
            </a:r>
            <a:r>
              <a:rPr lang="en-US" sz="1300" b="0" i="0" dirty="0">
                <a:effectLst/>
                <a:latin typeface="Inter" panose="02000503000000020004" pitchFamily="2" charset="0"/>
                <a:ea typeface="Inter" panose="02000503000000020004" pitchFamily="2" charset="0"/>
                <a:cs typeface="Inter" panose="02000503000000020004" pitchFamily="2" charset="0"/>
              </a:rPr>
              <a:t> → evaluates intermediate results</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Responder</a:t>
            </a:r>
            <a:r>
              <a:rPr lang="en-US" sz="1300" b="0" i="0" dirty="0">
                <a:effectLst/>
                <a:latin typeface="Inter" panose="02000503000000020004" pitchFamily="2" charset="0"/>
                <a:ea typeface="Inter" panose="02000503000000020004" pitchFamily="2" charset="0"/>
                <a:cs typeface="Inter" panose="02000503000000020004" pitchFamily="2" charset="0"/>
              </a:rPr>
              <a:t> → generates user-facing output</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LLM calls go through the resilient adapter layer (circuit breakers, retries, fallbacks)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Invoke MCP Tools</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The platform provides </a:t>
            </a:r>
            <a:r>
              <a:rPr lang="en-US" sz="1300" b="1" i="0" dirty="0">
                <a:effectLst/>
                <a:latin typeface="Inter" panose="02000503000000020004" pitchFamily="2" charset="0"/>
                <a:ea typeface="Inter" panose="02000503000000020004" pitchFamily="2" charset="0"/>
                <a:cs typeface="Inter" panose="02000503000000020004" pitchFamily="2" charset="0"/>
              </a:rPr>
              <a:t>34 MCP tools</a:t>
            </a:r>
            <a:r>
              <a:rPr lang="en-US" sz="1300" b="0" i="0" dirty="0">
                <a:effectLst/>
                <a:latin typeface="Inter" panose="02000503000000020004" pitchFamily="2" charset="0"/>
                <a:ea typeface="Inter" panose="02000503000000020004" pitchFamily="2" charset="0"/>
                <a:cs typeface="Inter" panose="02000503000000020004" pitchFamily="2" charset="0"/>
              </a:rPr>
              <a:t> across 17 categories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Before invocation, </a:t>
            </a:r>
            <a:r>
              <a:rPr lang="en-US" sz="1300" b="1" i="0" dirty="0">
                <a:effectLst/>
                <a:latin typeface="Inter" panose="02000503000000020004" pitchFamily="2" charset="0"/>
                <a:ea typeface="Inter" panose="02000503000000020004" pitchFamily="2" charset="0"/>
                <a:cs typeface="Inter" panose="02000503000000020004" pitchFamily="2" charset="0"/>
              </a:rPr>
              <a:t>RBAC check</a:t>
            </a:r>
            <a:r>
              <a:rPr lang="en-US" sz="1300" b="0" i="0" dirty="0">
                <a:effectLst/>
                <a:latin typeface="Inter" panose="02000503000000020004" pitchFamily="2" charset="0"/>
                <a:ea typeface="Inter" panose="02000503000000020004" pitchFamily="2" charset="0"/>
                <a:cs typeface="Inter" panose="02000503000000020004" pitchFamily="2" charset="0"/>
              </a:rPr>
              <a:t> verifies the user has the required scope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Tools include: graph queries, cache operations, security checks, data export, etc.</a:t>
            </a: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graph.secure_query</a:t>
            </a:r>
            <a:r>
              <a:rPr lang="en-US" sz="1300" b="0" i="0" dirty="0">
                <a:effectLst/>
                <a:latin typeface="Inter" panose="02000503000000020004" pitchFamily="2" charset="0"/>
                <a:ea typeface="Inter" panose="02000503000000020004" pitchFamily="2" charset="0"/>
                <a:cs typeface="Inter" panose="02000503000000020004" pitchFamily="2" charset="0"/>
              </a:rPr>
              <a:t> tool invoked with generated Cypher</a:t>
            </a:r>
          </a:p>
        </p:txBody>
      </p:sp>
      <p:sp>
        <p:nvSpPr>
          <p:cNvPr id="3" name="TextBox 2">
            <a:extLst>
              <a:ext uri="{FF2B5EF4-FFF2-40B4-BE49-F238E27FC236}">
                <a16:creationId xmlns:a16="http://schemas.microsoft.com/office/drawing/2014/main" id="{EF371F2F-2F5A-F805-CC2C-2FAED0843D82}"/>
              </a:ext>
            </a:extLst>
          </p:cNvPr>
          <p:cNvSpPr txBox="1"/>
          <p:nvPr/>
        </p:nvSpPr>
        <p:spPr>
          <a:xfrm>
            <a:off x="5657085" y="2181174"/>
            <a:ext cx="6261097" cy="3939540"/>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3. Graph Mode Pipeline (if applicable)</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For GRAPH intent, triggers the </a:t>
            </a:r>
            <a:r>
              <a:rPr lang="en-US" sz="1300" b="1" i="0" dirty="0">
                <a:effectLst/>
                <a:latin typeface="Inter" panose="02000503000000020004" pitchFamily="2" charset="0"/>
                <a:ea typeface="Inter" panose="02000503000000020004" pitchFamily="2" charset="0"/>
                <a:cs typeface="Inter" panose="02000503000000020004" pitchFamily="2" charset="0"/>
              </a:rPr>
              <a:t>NL-to-Cypher pipeline</a:t>
            </a:r>
            <a:r>
              <a:rPr lang="en-US" sz="1300" b="0" i="0" dirty="0">
                <a:effectLst/>
                <a:latin typeface="Inter" panose="02000503000000020004" pitchFamily="2" charset="0"/>
                <a:ea typeface="Inter" panose="02000503000000020004" pitchFamily="2" charset="0"/>
                <a:cs typeface="Inter" panose="02000503000000020004" pitchFamily="2" charset="0"/>
              </a:rPr>
              <a:t>:</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Normalize natural language input</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Generate Cypher query via LLM</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Validate query safety (read-only, depth limits, tenant boundaries)</a:t>
            </a: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Execute on Memgraph</a:t>
            </a:r>
            <a:endParaRPr lang="en-US" sz="1300" dirty="0">
              <a:latin typeface="Inter" panose="02000503000000020004" pitchFamily="2" charset="0"/>
              <a:ea typeface="Inter" panose="02000503000000020004" pitchFamily="2" charset="0"/>
              <a:cs typeface="Inter" panose="02000503000000020004" pitchFamily="2" charset="0"/>
            </a:endParaRPr>
          </a:p>
          <a:p>
            <a:pPr marL="742950" lvl="1"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Build natural language response from results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4. Persist Step</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Each completed step is immediately saved to PostgreSQL via the database adapter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Step record includes: { id, action, input, output, </a:t>
            </a:r>
            <a:r>
              <a:rPr lang="en-US" sz="1300" b="0" i="0" dirty="0" err="1">
                <a:effectLst/>
                <a:latin typeface="Inter" panose="02000503000000020004" pitchFamily="2" charset="0"/>
                <a:ea typeface="Inter" panose="02000503000000020004" pitchFamily="2" charset="0"/>
                <a:cs typeface="Inter" panose="02000503000000020004" pitchFamily="2" charset="0"/>
              </a:rPr>
              <a:t>latency_ms</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started_at</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0" i="0" dirty="0" err="1">
                <a:effectLst/>
                <a:latin typeface="Inter" panose="02000503000000020004" pitchFamily="2" charset="0"/>
                <a:ea typeface="Inter" panose="02000503000000020004" pitchFamily="2" charset="0"/>
                <a:cs typeface="Inter" panose="02000503000000020004" pitchFamily="2" charset="0"/>
              </a:rPr>
              <a:t>finished_at</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Enables audit trail, crash recovery, and step-by-step debugging</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5. Use Redis</a:t>
            </a:r>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Session state</a:t>
            </a:r>
            <a:r>
              <a:rPr lang="en-US" sz="1300" b="0" i="0" dirty="0">
                <a:effectLst/>
                <a:latin typeface="Inter" panose="02000503000000020004" pitchFamily="2" charset="0"/>
                <a:ea typeface="Inter" panose="02000503000000020004" pitchFamily="2" charset="0"/>
                <a:cs typeface="Inter" panose="02000503000000020004" pitchFamily="2" charset="0"/>
              </a:rPr>
              <a:t> → maintains conversation context across steps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Cache</a:t>
            </a:r>
            <a:r>
              <a:rPr lang="en-US" sz="1300" b="0" i="0" dirty="0">
                <a:effectLst/>
                <a:latin typeface="Inter" panose="02000503000000020004" pitchFamily="2" charset="0"/>
                <a:ea typeface="Inter" panose="02000503000000020004" pitchFamily="2" charset="0"/>
                <a:cs typeface="Inter" panose="02000503000000020004" pitchFamily="2" charset="0"/>
              </a:rPr>
              <a:t> → stores intermediate results for efficiency</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Cancellation flag</a:t>
            </a:r>
            <a:r>
              <a:rPr lang="en-US" sz="1300" b="0" i="0" dirty="0">
                <a:effectLst/>
                <a:latin typeface="Inter" panose="02000503000000020004" pitchFamily="2" charset="0"/>
                <a:ea typeface="Inter" panose="02000503000000020004" pitchFamily="2" charset="0"/>
                <a:cs typeface="Inter" panose="02000503000000020004" pitchFamily="2" charset="0"/>
              </a:rPr>
              <a:t> → checked between steps for cooperative cancellation</a:t>
            </a:r>
          </a:p>
        </p:txBody>
      </p:sp>
      <p:sp>
        <p:nvSpPr>
          <p:cNvPr id="5" name="TextBox 4">
            <a:extLst>
              <a:ext uri="{FF2B5EF4-FFF2-40B4-BE49-F238E27FC236}">
                <a16:creationId xmlns:a16="http://schemas.microsoft.com/office/drawing/2014/main" id="{23E18B38-1793-0382-3185-4D717D26887C}"/>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2/3)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Service Layer contains business logic. the Orchestrator Service processes prompts through 4 phases.</a:t>
            </a:r>
          </a:p>
        </p:txBody>
      </p:sp>
      <p:cxnSp>
        <p:nvCxnSpPr>
          <p:cNvPr id="7" name="Straight Connector 6">
            <a:extLst>
              <a:ext uri="{FF2B5EF4-FFF2-40B4-BE49-F238E27FC236}">
                <a16:creationId xmlns:a16="http://schemas.microsoft.com/office/drawing/2014/main" id="{050B3BB0-709D-DC32-68F7-9827E618D599}"/>
              </a:ext>
            </a:extLst>
          </p:cNvPr>
          <p:cNvCxnSpPr>
            <a:cxnSpLocks/>
          </p:cNvCxnSpPr>
          <p:nvPr/>
        </p:nvCxnSpPr>
        <p:spPr>
          <a:xfrm>
            <a:off x="5657085" y="2322075"/>
            <a:ext cx="0" cy="3474584"/>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281B494A-6CF8-342F-A845-0AC7DC42AF2E}"/>
              </a:ext>
            </a:extLst>
          </p:cNvPr>
          <p:cNvSpPr txBox="1"/>
          <p:nvPr/>
        </p:nvSpPr>
        <p:spPr>
          <a:xfrm>
            <a:off x="596347" y="1161505"/>
            <a:ext cx="11127819" cy="923330"/>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PHASE 3: Step Execution</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Execute each TODO item, invoking LLMs, tools, and databases as needed. </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For each step in the TODO plan, the orchestrator</a:t>
            </a:r>
            <a:r>
              <a:rPr lang="en-US" sz="1400" dirty="0">
                <a:latin typeface="Inter" panose="02000503000000020004" pitchFamily="2" charset="0"/>
                <a:ea typeface="Inter" panose="02000503000000020004" pitchFamily="2" charset="0"/>
                <a:cs typeface="Inter" panose="02000503000000020004" pitchFamily="2" charset="0"/>
              </a:rPr>
              <a:t>:</a:t>
            </a:r>
            <a:endParaRPr lang="en-US" sz="1400" b="1" i="0" dirty="0">
              <a:effectLst/>
              <a:latin typeface="Inter" panose="02000503000000020004" pitchFamily="2" charset="0"/>
              <a:ea typeface="Inter" panose="02000503000000020004" pitchFamily="2" charset="0"/>
              <a:cs typeface="Inter" panose="02000503000000020004" pitchFamily="2" charset="0"/>
            </a:endParaRPr>
          </a:p>
        </p:txBody>
      </p:sp>
      <p:sp>
        <p:nvSpPr>
          <p:cNvPr id="10" name="Footer Placeholder 10">
            <a:extLst>
              <a:ext uri="{FF2B5EF4-FFF2-40B4-BE49-F238E27FC236}">
                <a16:creationId xmlns:a16="http://schemas.microsoft.com/office/drawing/2014/main" id="{AD577C6E-4AF6-4F19-E3DC-19D52DC0D1B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194700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DBA31-E0EC-362E-C1ED-1EFCF765FA2E}"/>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7F76D16-A6EC-79E3-BF6C-2D22850ED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3980FE84-BFC9-A6B3-0B2C-34D532E6BA16}"/>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657CCD28-671C-84AC-DD81-FFEE66223F99}"/>
              </a:ext>
            </a:extLst>
          </p:cNvPr>
          <p:cNvSpPr>
            <a:spLocks noGrp="1"/>
          </p:cNvSpPr>
          <p:nvPr>
            <p:ph type="sldNum" sz="quarter" idx="12"/>
          </p:nvPr>
        </p:nvSpPr>
        <p:spPr/>
        <p:txBody>
          <a:bodyPr/>
          <a:lstStyle/>
          <a:p>
            <a:fld id="{48F19E39-9933-F648-B2F3-3AC17C0DC986}" type="slidenum">
              <a:rPr lang="en-US" smtClean="0">
                <a:solidFill>
                  <a:schemeClr val="bg1"/>
                </a:solidFill>
              </a:rPr>
              <a:t>21</a:t>
            </a:fld>
            <a:endParaRPr lang="en-US" dirty="0">
              <a:solidFill>
                <a:schemeClr val="bg1"/>
              </a:solidFill>
            </a:endParaRPr>
          </a:p>
        </p:txBody>
      </p:sp>
      <p:sp>
        <p:nvSpPr>
          <p:cNvPr id="2" name="TextBox 1">
            <a:extLst>
              <a:ext uri="{FF2B5EF4-FFF2-40B4-BE49-F238E27FC236}">
                <a16:creationId xmlns:a16="http://schemas.microsoft.com/office/drawing/2014/main" id="{B7D430D5-4D8F-277E-9323-F4061FCB150A}"/>
              </a:ext>
            </a:extLst>
          </p:cNvPr>
          <p:cNvSpPr txBox="1"/>
          <p:nvPr/>
        </p:nvSpPr>
        <p:spPr>
          <a:xfrm>
            <a:off x="596347" y="1610183"/>
            <a:ext cx="5658228" cy="4185761"/>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1. Build Response</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Calls </a:t>
            </a:r>
            <a:r>
              <a:rPr lang="en-US" sz="1300" b="0" i="0" dirty="0" err="1">
                <a:effectLst/>
                <a:latin typeface="Inter" panose="02000503000000020004" pitchFamily="2" charset="0"/>
                <a:ea typeface="Inter" panose="02000503000000020004" pitchFamily="2" charset="0"/>
                <a:cs typeface="Inter" panose="02000503000000020004" pitchFamily="2" charset="0"/>
              </a:rPr>
              <a:t>build_response</a:t>
            </a:r>
            <a:r>
              <a:rPr lang="en-US" sz="1300" b="0" i="0" dirty="0">
                <a:effectLst/>
                <a:latin typeface="Inter" panose="02000503000000020004" pitchFamily="2" charset="0"/>
                <a:ea typeface="Inter" panose="02000503000000020004" pitchFamily="2" charset="0"/>
                <a:cs typeface="Inter" panose="02000503000000020004" pitchFamily="2" charset="0"/>
              </a:rPr>
              <a:t>() to aggregate results from all steps.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Selects response mode based on execution outcome:</a:t>
            </a:r>
          </a:p>
          <a:p>
            <a:pPr marL="742950" lvl="1" indent="-285750">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fallback-only</a:t>
            </a:r>
            <a:r>
              <a:rPr lang="en-US" sz="1300" b="0" i="0" dirty="0">
                <a:effectLst/>
                <a:latin typeface="Inter" panose="02000503000000020004" pitchFamily="2" charset="0"/>
                <a:ea typeface="Inter" panose="02000503000000020004" pitchFamily="2" charset="0"/>
                <a:cs typeface="Inter" panose="02000503000000020004" pitchFamily="2" charset="0"/>
              </a:rPr>
              <a:t> → uses cached/default response if LLM failed</a:t>
            </a:r>
          </a:p>
          <a:p>
            <a:pPr marL="742950" lvl="1" indent="-285750">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llm</a:t>
            </a:r>
            <a:r>
              <a:rPr lang="en-US" sz="1300" b="1" i="0" dirty="0">
                <a:effectLst/>
                <a:latin typeface="Inter" panose="02000503000000020004" pitchFamily="2" charset="0"/>
                <a:ea typeface="Inter" panose="02000503000000020004" pitchFamily="2" charset="0"/>
                <a:cs typeface="Inter" panose="02000503000000020004" pitchFamily="2" charset="0"/>
              </a:rPr>
              <a:t>-best-effort</a:t>
            </a:r>
            <a:r>
              <a:rPr lang="en-US" sz="1300" b="0" i="0" dirty="0">
                <a:effectLst/>
                <a:latin typeface="Inter" panose="02000503000000020004" pitchFamily="2" charset="0"/>
                <a:ea typeface="Inter" panose="02000503000000020004" pitchFamily="2" charset="0"/>
                <a:cs typeface="Inter" panose="02000503000000020004" pitchFamily="2" charset="0"/>
              </a:rPr>
              <a:t> → uses LLM-generated response with quality validation</a:t>
            </a:r>
          </a:p>
          <a:p>
            <a:pPr marL="742950" lvl="1" indent="-285750" algn="l">
              <a:buFont typeface="Arial" panose="020B0604020202020204" pitchFamily="34" charset="0"/>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2. Canonical Output Structure</a:t>
            </a:r>
            <a:endParaRPr lang="en-US" sz="1300" dirty="0">
              <a:solidFill>
                <a:srgbClr val="000000"/>
              </a:solidFill>
              <a:latin typeface="Courier New" panose="02070309020205020404" pitchFamily="49" charset="0"/>
              <a:ea typeface="Inter" panose="02000503000000020004" pitchFamily="2" charset="0"/>
              <a:cs typeface="Inter" panose="02000503000000020004" pitchFamily="2" charset="0"/>
            </a:endParaRPr>
          </a:p>
          <a:p>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"goal"</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"Find collaborating institutions"</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"steps"</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step1</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step2</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step3</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"outputs"</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"Found 5 institutions..."</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"todos"</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completed_todo1</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completed_todo2</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"metrics"</a:t>
            </a:r>
            <a:r>
              <a:rPr lang="en-US" sz="1200" b="0" dirty="0">
                <a:solidFill>
                  <a:srgbClr val="000000"/>
                </a:solidFill>
                <a:effectLst/>
                <a:latin typeface="Menlo" panose="020B0609030804020204" pitchFamily="49" charset="0"/>
              </a:rPr>
              <a:t>: { </a:t>
            </a:r>
            <a:r>
              <a:rPr lang="en-US" sz="1200" b="0" dirty="0">
                <a:solidFill>
                  <a:srgbClr val="0451A5"/>
                </a:solidFill>
                <a:effectLst/>
                <a:latin typeface="Menlo" panose="020B0609030804020204" pitchFamily="49" charset="0"/>
              </a:rPr>
              <a:t>"duration_ms"</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2340</a:t>
            </a:r>
            <a:r>
              <a:rPr lang="en-US" sz="1200" b="0" dirty="0">
                <a:solidFill>
                  <a:srgbClr val="000000"/>
                </a:solidFill>
                <a:effectLst/>
                <a:latin typeface="Menlo" panose="020B0609030804020204" pitchFamily="49" charset="0"/>
              </a:rPr>
              <a:t>, </a:t>
            </a:r>
            <a:r>
              <a:rPr lang="en-US" sz="1200" b="0" dirty="0">
                <a:solidFill>
                  <a:srgbClr val="0451A5"/>
                </a:solidFill>
                <a:effectLst/>
                <a:latin typeface="Menlo" panose="020B0609030804020204" pitchFamily="49" charset="0"/>
              </a:rPr>
              <a:t>"tokens"</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1850</a:t>
            </a:r>
            <a:r>
              <a:rPr lang="en-US" sz="1200" b="0" dirty="0">
                <a:solidFill>
                  <a:srgbClr val="000000"/>
                </a:solidFill>
                <a:effectLst/>
                <a:latin typeface="Menlo" panose="020B0609030804020204" pitchFamily="49" charset="0"/>
              </a:rPr>
              <a:t> }</a:t>
            </a:r>
          </a:p>
          <a:p>
            <a:r>
              <a:rPr lang="en-US" sz="1200" b="0" dirty="0">
                <a:solidFill>
                  <a:srgbClr val="000000"/>
                </a:solidFill>
                <a:effectLst/>
                <a:latin typeface="Menlo" panose="020B0609030804020204" pitchFamily="49" charset="0"/>
              </a:rPr>
              <a:t>}</a:t>
            </a:r>
            <a:endParaRPr lang="en-US" sz="1200" b="1" i="0" dirty="0">
              <a:solidFill>
                <a:srgbClr val="000000"/>
              </a:solidFill>
              <a:effectLst/>
              <a:latin typeface="Courier New" panose="02070309020205020404" pitchFamily="49"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3. Normalize Output</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Structures final output as text (for display) + optional JSON payload (for programmatic use)</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Ensures consistent format regardless of execution path</a:t>
            </a:r>
          </a:p>
          <a:p>
            <a:pPr algn="l"/>
            <a:endParaRPr lang="en-US" sz="1300" b="0" i="0" dirty="0">
              <a:effectLst/>
              <a:latin typeface="Inter" panose="02000503000000020004" pitchFamily="2" charset="0"/>
              <a:ea typeface="Inter" panose="02000503000000020004" pitchFamily="2" charset="0"/>
              <a:cs typeface="Inter" panose="02000503000000020004" pitchFamily="2" charset="0"/>
            </a:endParaRPr>
          </a:p>
        </p:txBody>
      </p:sp>
      <p:sp>
        <p:nvSpPr>
          <p:cNvPr id="3" name="TextBox 2">
            <a:extLst>
              <a:ext uri="{FF2B5EF4-FFF2-40B4-BE49-F238E27FC236}">
                <a16:creationId xmlns:a16="http://schemas.microsoft.com/office/drawing/2014/main" id="{12BDFADF-A39D-8DDC-DC99-E03EB7E0F9BE}"/>
              </a:ext>
            </a:extLst>
          </p:cNvPr>
          <p:cNvSpPr txBox="1"/>
          <p:nvPr/>
        </p:nvSpPr>
        <p:spPr>
          <a:xfrm>
            <a:off x="6376087" y="1610183"/>
            <a:ext cx="5542095" cy="3693319"/>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4. Safety &amp; Compliance</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PIIScrubber</a:t>
            </a:r>
            <a:r>
              <a:rPr lang="en-US" sz="1300" b="1" dirty="0">
                <a:latin typeface="Inter" panose="02000503000000020004" pitchFamily="2" charset="0"/>
                <a:ea typeface="Inter" panose="02000503000000020004" pitchFamily="2" charset="0"/>
                <a:cs typeface="Inter" panose="02000503000000020004" pitchFamily="2" charset="0"/>
              </a:rPr>
              <a:t>:</a:t>
            </a:r>
            <a:r>
              <a:rPr lang="en-US" sz="1300" dirty="0">
                <a:latin typeface="Inter" panose="02000503000000020004" pitchFamily="2" charset="0"/>
                <a:ea typeface="Inter" panose="02000503000000020004" pitchFamily="2" charset="0"/>
                <a:cs typeface="Inter" panose="02000503000000020004" pitchFamily="2" charset="0"/>
              </a:rPr>
              <a:t> Redacts personally identifiable information (emails, phones)</a:t>
            </a:r>
          </a:p>
          <a:p>
            <a:pPr marL="285750" indent="-285750">
              <a:buFontTx/>
              <a:buChar char="-"/>
            </a:pPr>
            <a:r>
              <a:rPr lang="en-US" sz="1300" b="1" dirty="0" err="1">
                <a:latin typeface="Inter" panose="02000503000000020004" pitchFamily="2" charset="0"/>
                <a:ea typeface="Inter" panose="02000503000000020004" pitchFamily="2" charset="0"/>
                <a:cs typeface="Inter" panose="02000503000000020004" pitchFamily="2" charset="0"/>
              </a:rPr>
              <a:t>OutputGuard</a:t>
            </a:r>
            <a:r>
              <a:rPr lang="en-US" sz="1300" b="1" dirty="0">
                <a:latin typeface="Inter" panose="02000503000000020004" pitchFamily="2" charset="0"/>
                <a:ea typeface="Inter" panose="02000503000000020004" pitchFamily="2" charset="0"/>
                <a:cs typeface="Inter" panose="02000503000000020004" pitchFamily="2" charset="0"/>
              </a:rPr>
              <a:t>: </a:t>
            </a:r>
            <a:r>
              <a:rPr lang="en-US" sz="1300" dirty="0">
                <a:latin typeface="Inter" panose="02000503000000020004" pitchFamily="2" charset="0"/>
                <a:ea typeface="Inter" panose="02000503000000020004" pitchFamily="2" charset="0"/>
                <a:cs typeface="Inter" panose="02000503000000020004" pitchFamily="2" charset="0"/>
              </a:rPr>
              <a:t>Filters patterns that might leak internal information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Both checks run on every response before it reaches the user</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5. Persist Final State</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Saves complete agent run result to PostgreSQL (</a:t>
            </a:r>
            <a:r>
              <a:rPr lang="en-US" sz="1300" b="0" i="0" dirty="0" err="1">
                <a:effectLst/>
                <a:latin typeface="Inter" panose="02000503000000020004" pitchFamily="2" charset="0"/>
                <a:ea typeface="Inter" panose="02000503000000020004" pitchFamily="2" charset="0"/>
                <a:cs typeface="Inter" panose="02000503000000020004" pitchFamily="2" charset="0"/>
              </a:rPr>
              <a:t>result_json</a:t>
            </a:r>
            <a:r>
              <a:rPr lang="en-US" sz="1300" b="0" i="0" dirty="0">
                <a:effectLst/>
                <a:latin typeface="Inter" panose="02000503000000020004" pitchFamily="2" charset="0"/>
                <a:ea typeface="Inter" panose="02000503000000020004" pitchFamily="2" charset="0"/>
                <a:cs typeface="Inter" panose="02000503000000020004" pitchFamily="2" charset="0"/>
              </a:rPr>
              <a:t> column)</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Updates status to succeeded or failed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Records final metrics for billing and analytics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6. Observability</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Prometheus metrics</a:t>
            </a:r>
            <a:r>
              <a:rPr lang="en-US" sz="1300" b="0" i="0" dirty="0">
                <a:effectLst/>
                <a:latin typeface="Inter" panose="02000503000000020004" pitchFamily="2" charset="0"/>
                <a:ea typeface="Inter" panose="02000503000000020004" pitchFamily="2" charset="0"/>
                <a:cs typeface="Inter" panose="02000503000000020004" pitchFamily="2" charset="0"/>
              </a:rPr>
              <a:t> → emits counters, histograms, gauges for monitoring dashboards</a:t>
            </a:r>
          </a:p>
          <a:p>
            <a:pPr marL="285750" indent="-285750" algn="l">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OpenTelemetry</a:t>
            </a:r>
            <a:r>
              <a:rPr lang="en-US" sz="1300" b="1" i="0" dirty="0">
                <a:effectLst/>
                <a:latin typeface="Inter" panose="02000503000000020004" pitchFamily="2" charset="0"/>
                <a:ea typeface="Inter" panose="02000503000000020004" pitchFamily="2" charset="0"/>
                <a:cs typeface="Inter" panose="02000503000000020004" pitchFamily="2" charset="0"/>
              </a:rPr>
              <a:t> traces</a:t>
            </a:r>
            <a:r>
              <a:rPr lang="en-US" sz="1300" b="0" i="0" dirty="0">
                <a:effectLst/>
                <a:latin typeface="Inter" panose="02000503000000020004" pitchFamily="2" charset="0"/>
                <a:ea typeface="Inter" panose="02000503000000020004" pitchFamily="2" charset="0"/>
                <a:cs typeface="Inter" panose="02000503000000020004" pitchFamily="2" charset="0"/>
              </a:rPr>
              <a:t> → distributed tracing spans for debugging and performance analysis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Enables alerting, capacity planning, and SLA tracking</a:t>
            </a:r>
          </a:p>
        </p:txBody>
      </p:sp>
      <p:sp>
        <p:nvSpPr>
          <p:cNvPr id="5" name="TextBox 4">
            <a:extLst>
              <a:ext uri="{FF2B5EF4-FFF2-40B4-BE49-F238E27FC236}">
                <a16:creationId xmlns:a16="http://schemas.microsoft.com/office/drawing/2014/main" id="{18A5CE11-C9C9-2F61-DDC4-E246D155035E}"/>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3/3)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Service Layer contains business logic. the Orchestrator Service processes prompts through 4 phases.</a:t>
            </a:r>
          </a:p>
        </p:txBody>
      </p:sp>
      <p:cxnSp>
        <p:nvCxnSpPr>
          <p:cNvPr id="7" name="Straight Connector 6">
            <a:extLst>
              <a:ext uri="{FF2B5EF4-FFF2-40B4-BE49-F238E27FC236}">
                <a16:creationId xmlns:a16="http://schemas.microsoft.com/office/drawing/2014/main" id="{83713271-A6B5-F0AC-2236-F08F1E8926AE}"/>
              </a:ext>
            </a:extLst>
          </p:cNvPr>
          <p:cNvCxnSpPr>
            <a:cxnSpLocks/>
          </p:cNvCxnSpPr>
          <p:nvPr/>
        </p:nvCxnSpPr>
        <p:spPr>
          <a:xfrm>
            <a:off x="6254575" y="1610183"/>
            <a:ext cx="0" cy="3893374"/>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2744BF5D-88DD-625A-9200-52040CFE3424}"/>
              </a:ext>
            </a:extLst>
          </p:cNvPr>
          <p:cNvSpPr txBox="1"/>
          <p:nvPr/>
        </p:nvSpPr>
        <p:spPr>
          <a:xfrm>
            <a:off x="596347" y="1161505"/>
            <a:ext cx="11127819" cy="307777"/>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PHASE 4: Finalization &amp; Response Generation: </a:t>
            </a:r>
            <a:r>
              <a:rPr lang="en-US" sz="1400" i="0" dirty="0">
                <a:effectLst/>
                <a:latin typeface="Inter" panose="02000503000000020004" pitchFamily="2" charset="0"/>
                <a:ea typeface="Inter" panose="02000503000000020004" pitchFamily="2" charset="0"/>
                <a:cs typeface="Inter" panose="02000503000000020004" pitchFamily="2" charset="0"/>
              </a:rPr>
              <a:t>Assemble the final response with safety checks and observability.</a:t>
            </a:r>
          </a:p>
        </p:txBody>
      </p:sp>
      <p:sp>
        <p:nvSpPr>
          <p:cNvPr id="18" name="Footer Placeholder 10">
            <a:extLst>
              <a:ext uri="{FF2B5EF4-FFF2-40B4-BE49-F238E27FC236}">
                <a16:creationId xmlns:a16="http://schemas.microsoft.com/office/drawing/2014/main" id="{952CE390-02E1-B446-1CB6-87BD6D537153}"/>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79976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C375-2693-AC3F-6178-40CF605B35E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255B66C3-29CA-9161-A2CB-AA9DE5CF6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538FE69-0CCE-1DE2-9432-7D71C1719FB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6A20E72-19E8-7D50-A503-CBC45740C8E6}"/>
              </a:ext>
            </a:extLst>
          </p:cNvPr>
          <p:cNvSpPr>
            <a:spLocks noGrp="1"/>
          </p:cNvSpPr>
          <p:nvPr>
            <p:ph type="sldNum" sz="quarter" idx="12"/>
          </p:nvPr>
        </p:nvSpPr>
        <p:spPr/>
        <p:txBody>
          <a:bodyPr/>
          <a:lstStyle/>
          <a:p>
            <a:fld id="{48F19E39-9933-F648-B2F3-3AC17C0DC986}" type="slidenum">
              <a:rPr lang="en-US" smtClean="0">
                <a:solidFill>
                  <a:schemeClr val="bg1"/>
                </a:solidFill>
              </a:rPr>
              <a:t>22</a:t>
            </a:fld>
            <a:endParaRPr lang="en-US" dirty="0">
              <a:solidFill>
                <a:schemeClr val="bg1"/>
              </a:solidFill>
            </a:endParaRPr>
          </a:p>
        </p:txBody>
      </p:sp>
      <p:sp>
        <p:nvSpPr>
          <p:cNvPr id="2" name="TextBox 1">
            <a:extLst>
              <a:ext uri="{FF2B5EF4-FFF2-40B4-BE49-F238E27FC236}">
                <a16:creationId xmlns:a16="http://schemas.microsoft.com/office/drawing/2014/main" id="{3D91DE74-FC41-AE51-C9C5-94EF153C117D}"/>
              </a:ext>
            </a:extLst>
          </p:cNvPr>
          <p:cNvSpPr txBox="1"/>
          <p:nvPr/>
        </p:nvSpPr>
        <p:spPr>
          <a:xfrm>
            <a:off x="596347" y="1161505"/>
            <a:ext cx="8014253" cy="4693593"/>
          </a:xfrm>
          <a:prstGeom prst="rect">
            <a:avLst/>
          </a:prstGeom>
          <a:noFill/>
        </p:spPr>
        <p:txBody>
          <a:bodyPr wrap="square" rtlCol="0">
            <a:spAutoFit/>
          </a:bodyPr>
          <a:lstStyle/>
          <a:p>
            <a:pPr algn="l"/>
            <a:r>
              <a:rPr lang="en-US" sz="1300" b="1" i="0" dirty="0" err="1">
                <a:effectLst/>
                <a:latin typeface="Inter" panose="02000503000000020004" pitchFamily="2" charset="0"/>
                <a:ea typeface="Inter" panose="02000503000000020004" pitchFamily="2" charset="0"/>
                <a:cs typeface="Inter" panose="02000503000000020004" pitchFamily="2" charset="0"/>
              </a:rPr>
              <a:t>Ollama</a:t>
            </a:r>
            <a:r>
              <a:rPr lang="en-US" sz="1300" b="1" i="0" dirty="0">
                <a:effectLst/>
                <a:latin typeface="Inter" panose="02000503000000020004" pitchFamily="2" charset="0"/>
                <a:ea typeface="Inter" panose="02000503000000020004" pitchFamily="2" charset="0"/>
                <a:cs typeface="Inter" panose="02000503000000020004" pitchFamily="2" charset="0"/>
              </a:rPr>
              <a:t> (Local Hosting)</a:t>
            </a:r>
          </a:p>
          <a:p>
            <a:r>
              <a:rPr lang="en-US" sz="1300" b="0" i="0" dirty="0">
                <a:effectLst/>
                <a:latin typeface="Inter" panose="02000503000000020004" pitchFamily="2" charset="0"/>
                <a:ea typeface="Inter" panose="02000503000000020004" pitchFamily="2" charset="0"/>
                <a:cs typeface="Inter" panose="02000503000000020004" pitchFamily="2" charset="0"/>
              </a:rPr>
              <a:t>A local LLM inference server that runs open-weight models on your own hardware.</a:t>
            </a: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Data sovereignty</a:t>
            </a:r>
            <a:r>
              <a:rPr lang="en-US" sz="1300" b="0" i="0" dirty="0">
                <a:effectLst/>
                <a:latin typeface="Inter" panose="02000503000000020004" pitchFamily="2" charset="0"/>
                <a:ea typeface="Inter" panose="02000503000000020004" pitchFamily="2" charset="0"/>
                <a:cs typeface="Inter" panose="02000503000000020004" pitchFamily="2" charset="0"/>
              </a:rPr>
              <a:t> → prompts and responses never leave your infrastructure</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No API costs</a:t>
            </a:r>
            <a:r>
              <a:rPr lang="en-US" sz="1300" b="0" i="0" dirty="0">
                <a:effectLst/>
                <a:latin typeface="Inter" panose="02000503000000020004" pitchFamily="2" charset="0"/>
                <a:ea typeface="Inter" panose="02000503000000020004" pitchFamily="2" charset="0"/>
                <a:cs typeface="Inter" panose="02000503000000020004" pitchFamily="2" charset="0"/>
              </a:rPr>
              <a:t> → only pay for compute resources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Offline capable</a:t>
            </a:r>
            <a:r>
              <a:rPr lang="en-US" sz="1300" b="0" i="0" dirty="0">
                <a:effectLst/>
                <a:latin typeface="Inter" panose="02000503000000020004" pitchFamily="2" charset="0"/>
                <a:ea typeface="Inter" panose="02000503000000020004" pitchFamily="2" charset="0"/>
                <a:cs typeface="Inter" panose="02000503000000020004" pitchFamily="2" charset="0"/>
              </a:rPr>
              <a:t> → works without internet connectivity</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Customization</a:t>
            </a:r>
            <a:r>
              <a:rPr lang="en-US" sz="1300" b="0" i="0" dirty="0">
                <a:effectLst/>
                <a:latin typeface="Inter" panose="02000503000000020004" pitchFamily="2" charset="0"/>
                <a:ea typeface="Inter" panose="02000503000000020004" pitchFamily="2" charset="0"/>
                <a:cs typeface="Inter" panose="02000503000000020004" pitchFamily="2" charset="0"/>
              </a:rPr>
              <a:t> → fine-tune models for domain-specific tasks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Supported Models:</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Phi-3 Mini</a:t>
            </a:r>
            <a:r>
              <a:rPr lang="en-US" sz="1300" b="0" i="0" dirty="0">
                <a:effectLst/>
                <a:latin typeface="Inter" panose="02000503000000020004" pitchFamily="2" charset="0"/>
                <a:ea typeface="Inter" panose="02000503000000020004" pitchFamily="2" charset="0"/>
                <a:cs typeface="Inter" panose="02000503000000020004" pitchFamily="2" charset="0"/>
              </a:rPr>
              <a:t> → Microsoft's small-but-capable model (3.8B parameters), optimized for reasoning</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Mistral / </a:t>
            </a:r>
            <a:r>
              <a:rPr lang="en-US" sz="1300" b="1" i="0" dirty="0" err="1">
                <a:effectLst/>
                <a:latin typeface="Inter" panose="02000503000000020004" pitchFamily="2" charset="0"/>
                <a:ea typeface="Inter" panose="02000503000000020004" pitchFamily="2" charset="0"/>
                <a:cs typeface="Inter" panose="02000503000000020004" pitchFamily="2" charset="0"/>
              </a:rPr>
              <a:t>Mixtral</a:t>
            </a:r>
            <a:r>
              <a:rPr lang="en-US" sz="1300" b="0" i="0" dirty="0">
                <a:effectLst/>
                <a:latin typeface="Inter" panose="02000503000000020004" pitchFamily="2" charset="0"/>
                <a:ea typeface="Inter" panose="02000503000000020004" pitchFamily="2" charset="0"/>
                <a:cs typeface="Inter" panose="02000503000000020004" pitchFamily="2" charset="0"/>
              </a:rPr>
              <a:t> → High-quality open models from Mistral AI, excellent reasoning-to-size ratio</a:t>
            </a:r>
          </a:p>
          <a:p>
            <a:pPr marL="285750" indent="-285750" algn="l">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LLaMA</a:t>
            </a:r>
            <a:r>
              <a:rPr lang="en-US" sz="1300" b="1" i="0" dirty="0">
                <a:effectLst/>
                <a:latin typeface="Inter" panose="02000503000000020004" pitchFamily="2" charset="0"/>
                <a:ea typeface="Inter" panose="02000503000000020004" pitchFamily="2" charset="0"/>
                <a:cs typeface="Inter" panose="02000503000000020004" pitchFamily="2" charset="0"/>
              </a:rPr>
              <a:t> 2/3</a:t>
            </a:r>
            <a:r>
              <a:rPr lang="en-US" sz="1300" b="0" i="0" dirty="0">
                <a:effectLst/>
                <a:latin typeface="Inter" panose="02000503000000020004" pitchFamily="2" charset="0"/>
                <a:ea typeface="Inter" panose="02000503000000020004" pitchFamily="2" charset="0"/>
                <a:cs typeface="Inter" panose="02000503000000020004" pitchFamily="2" charset="0"/>
              </a:rPr>
              <a:t> → Meta's open foundation models (7B–70B), widely adopted baseline</a:t>
            </a:r>
          </a:p>
          <a:p>
            <a:pPr marL="285750" indent="-285750" algn="l">
              <a:buFontTx/>
              <a:buChar char="-"/>
            </a:pPr>
            <a:r>
              <a:rPr lang="en-US" sz="1300" b="1" i="0" dirty="0" err="1">
                <a:effectLst/>
                <a:latin typeface="Inter" panose="02000503000000020004" pitchFamily="2" charset="0"/>
                <a:ea typeface="Inter" panose="02000503000000020004" pitchFamily="2" charset="0"/>
                <a:cs typeface="Inter" panose="02000503000000020004" pitchFamily="2" charset="0"/>
              </a:rPr>
              <a:t>Qwen</a:t>
            </a:r>
            <a:r>
              <a:rPr lang="en-US" sz="1300" b="0" i="0" dirty="0">
                <a:effectLst/>
                <a:latin typeface="Inter" panose="02000503000000020004" pitchFamily="2" charset="0"/>
                <a:ea typeface="Inter" panose="02000503000000020004" pitchFamily="2" charset="0"/>
                <a:cs typeface="Inter" panose="02000503000000020004" pitchFamily="2" charset="0"/>
              </a:rPr>
              <a:t> → Alibaba's multilingual models, strong on diverse languages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Gemma</a:t>
            </a:r>
            <a:r>
              <a:rPr lang="en-US" sz="1300" b="0" i="0" dirty="0">
                <a:effectLst/>
                <a:latin typeface="Inter" panose="02000503000000020004" pitchFamily="2" charset="0"/>
                <a:ea typeface="Inter" panose="02000503000000020004" pitchFamily="2" charset="0"/>
                <a:cs typeface="Inter" panose="02000503000000020004" pitchFamily="2" charset="0"/>
              </a:rPr>
              <a:t> → Google's lightweight models, optimized for efficiency</a:t>
            </a:r>
          </a:p>
          <a:p>
            <a:pPr algn="l"/>
            <a:endParaRPr lang="en-US" sz="1300" b="1" dirty="0">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OpenAI (Cloud)</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Hosted API</a:t>
            </a:r>
            <a:r>
              <a:rPr lang="en-US" sz="1300" b="0" i="0" dirty="0">
                <a:effectLst/>
                <a:latin typeface="Inter" panose="02000503000000020004" pitchFamily="2" charset="0"/>
                <a:ea typeface="Inter" panose="02000503000000020004" pitchFamily="2" charset="0"/>
                <a:cs typeface="Inter" panose="02000503000000020004" pitchFamily="2" charset="0"/>
              </a:rPr>
              <a:t> with state-of-the-art proprietary models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Benefits:</a:t>
            </a:r>
            <a:r>
              <a:rPr lang="en-US" sz="1300" b="0" i="0" dirty="0">
                <a:effectLst/>
                <a:latin typeface="Inter" panose="02000503000000020004" pitchFamily="2" charset="0"/>
                <a:ea typeface="Inter" panose="02000503000000020004" pitchFamily="2" charset="0"/>
                <a:cs typeface="Inter" panose="02000503000000020004" pitchFamily="2" charset="0"/>
              </a:rPr>
              <a:t> Zero infrastructure, automatic updates, rich features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Models:</a:t>
            </a:r>
            <a:r>
              <a:rPr lang="en-US" sz="1300" b="0" i="0" dirty="0">
                <a:effectLst/>
                <a:latin typeface="Inter" panose="02000503000000020004" pitchFamily="2" charset="0"/>
                <a:ea typeface="Inter" panose="02000503000000020004" pitchFamily="2" charset="0"/>
                <a:cs typeface="Inter" panose="02000503000000020004" pitchFamily="2" charset="0"/>
              </a:rPr>
              <a:t> GPT-4/4o/4 Turbo, GPT-3.5 Turbo</a:t>
            </a:r>
          </a:p>
          <a:p>
            <a:pPr algn="l">
              <a:buFont typeface="Arial" panose="020B0604020202020204" pitchFamily="34" charset="0"/>
              <a:buChar char="•"/>
            </a:pPr>
            <a:endParaRPr lang="en-US" sz="1300" b="0" i="1"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Azure OpenAI / Others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Enterprise-grade</a:t>
            </a:r>
            <a:r>
              <a:rPr lang="en-US" sz="1300" b="0" i="0" dirty="0">
                <a:effectLst/>
                <a:latin typeface="Inter" panose="02000503000000020004" pitchFamily="2" charset="0"/>
                <a:ea typeface="Inter" panose="02000503000000020004" pitchFamily="2" charset="0"/>
                <a:cs typeface="Inter" panose="02000503000000020004" pitchFamily="2" charset="0"/>
              </a:rPr>
              <a:t> OpenAI access via Azure or compatible providers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Benefits:</a:t>
            </a:r>
            <a:r>
              <a:rPr lang="en-US" sz="1300" b="0" i="0" dirty="0">
                <a:effectLst/>
                <a:latin typeface="Inter" panose="02000503000000020004" pitchFamily="2" charset="0"/>
                <a:ea typeface="Inter" panose="02000503000000020004" pitchFamily="2" charset="0"/>
                <a:cs typeface="Inter" panose="02000503000000020004" pitchFamily="2" charset="0"/>
              </a:rPr>
              <a:t> Compliance certs, regional data residency, SLA guarantees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Compatible:</a:t>
            </a:r>
            <a:r>
              <a:rPr lang="en-US" sz="1300" b="0" i="0" dirty="0">
                <a:effectLst/>
                <a:latin typeface="Inter" panose="02000503000000020004" pitchFamily="2" charset="0"/>
                <a:ea typeface="Inter" panose="02000503000000020004" pitchFamily="2" charset="0"/>
                <a:cs typeface="Inter" panose="02000503000000020004" pitchFamily="2" charset="0"/>
              </a:rPr>
              <a:t> Azure OpenAI, Anthropic Claude, </a:t>
            </a:r>
            <a:r>
              <a:rPr lang="en-US" sz="1300" b="0" i="0" dirty="0" err="1">
                <a:effectLst/>
                <a:latin typeface="Inter" panose="02000503000000020004" pitchFamily="2" charset="0"/>
                <a:ea typeface="Inter" panose="02000503000000020004" pitchFamily="2" charset="0"/>
                <a:cs typeface="Inter" panose="02000503000000020004" pitchFamily="2" charset="0"/>
              </a:rPr>
              <a:t>vLLM</a:t>
            </a:r>
            <a:r>
              <a:rPr lang="en-US" sz="1300" b="0" i="0" dirty="0">
                <a:effectLst/>
                <a:latin typeface="Inter" panose="02000503000000020004" pitchFamily="2" charset="0"/>
                <a:ea typeface="Inter" panose="02000503000000020004" pitchFamily="2" charset="0"/>
                <a:cs typeface="Inter" panose="02000503000000020004" pitchFamily="2" charset="0"/>
              </a:rPr>
              <a:t>, text-generation-inference</a:t>
            </a:r>
          </a:p>
        </p:txBody>
      </p:sp>
      <p:sp>
        <p:nvSpPr>
          <p:cNvPr id="5" name="TextBox 4">
            <a:extLst>
              <a:ext uri="{FF2B5EF4-FFF2-40B4-BE49-F238E27FC236}">
                <a16:creationId xmlns:a16="http://schemas.microsoft.com/office/drawing/2014/main" id="{7E99C776-7756-855C-3AF2-1CEE6EC622A5}"/>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LLM PROVIDERS (Model-Agnostic Architecture)</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works with any OpenAI-compatible API — local or cloud.</a:t>
            </a:r>
          </a:p>
        </p:txBody>
      </p:sp>
      <p:sp>
        <p:nvSpPr>
          <p:cNvPr id="6" name="TextBox 5">
            <a:extLst>
              <a:ext uri="{FF2B5EF4-FFF2-40B4-BE49-F238E27FC236}">
                <a16:creationId xmlns:a16="http://schemas.microsoft.com/office/drawing/2014/main" id="{7937F99E-614F-9F36-23A1-D170265B1799}"/>
              </a:ext>
            </a:extLst>
          </p:cNvPr>
          <p:cNvSpPr txBox="1"/>
          <p:nvPr/>
        </p:nvSpPr>
        <p:spPr>
          <a:xfrm>
            <a:off x="8687358" y="2331056"/>
            <a:ext cx="3036813" cy="352404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Provider Selection Hierarchy</a:t>
            </a:r>
          </a:p>
          <a:p>
            <a:pPr lvl="1"/>
            <a:br>
              <a:rPr lang="en-US" sz="1300" dirty="0">
                <a:latin typeface="Inter" panose="02000503000000020004" pitchFamily="2" charset="0"/>
                <a:ea typeface="Inter" panose="02000503000000020004" pitchFamily="2" charset="0"/>
                <a:cs typeface="Inter" panose="02000503000000020004" pitchFamily="2" charset="0"/>
              </a:rPr>
            </a:br>
            <a:r>
              <a:rPr lang="en-US" sz="1300" dirty="0">
                <a:latin typeface="Inter" panose="02000503000000020004" pitchFamily="2" charset="0"/>
                <a:ea typeface="Inter" panose="02000503000000020004" pitchFamily="2" charset="0"/>
                <a:cs typeface="Inter" panose="02000503000000020004" pitchFamily="2" charset="0"/>
              </a:rPr>
              <a:t>Request-level override</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Session-level default</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Tenant-level default</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Global platform default</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This allows: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Users to override for specific requests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Teams to set their preferred provider</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Platform admins to set organization-wide defaults</a:t>
            </a:r>
          </a:p>
        </p:txBody>
      </p:sp>
      <p:cxnSp>
        <p:nvCxnSpPr>
          <p:cNvPr id="9" name="Straight Connector 8">
            <a:extLst>
              <a:ext uri="{FF2B5EF4-FFF2-40B4-BE49-F238E27FC236}">
                <a16:creationId xmlns:a16="http://schemas.microsoft.com/office/drawing/2014/main" id="{EF6ED88F-DB3A-52D1-7F5B-154F363E4348}"/>
              </a:ext>
            </a:extLst>
          </p:cNvPr>
          <p:cNvCxnSpPr>
            <a:cxnSpLocks/>
          </p:cNvCxnSpPr>
          <p:nvPr/>
        </p:nvCxnSpPr>
        <p:spPr>
          <a:xfrm>
            <a:off x="8610600" y="1380955"/>
            <a:ext cx="0" cy="4474143"/>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16" name="Footer Placeholder 10">
            <a:extLst>
              <a:ext uri="{FF2B5EF4-FFF2-40B4-BE49-F238E27FC236}">
                <a16:creationId xmlns:a16="http://schemas.microsoft.com/office/drawing/2014/main" id="{4A34FCDF-32C1-F73A-2314-4E676E500EE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8" name="Picture 17">
            <a:extLst>
              <a:ext uri="{FF2B5EF4-FFF2-40B4-BE49-F238E27FC236}">
                <a16:creationId xmlns:a16="http://schemas.microsoft.com/office/drawing/2014/main" id="{9BBE2DAA-7ACC-359E-9DD6-29D8DA637AE9}"/>
              </a:ext>
            </a:extLst>
          </p:cNvPr>
          <p:cNvPicPr>
            <a:picLocks noChangeAspect="1"/>
          </p:cNvPicPr>
          <p:nvPr/>
        </p:nvPicPr>
        <p:blipFill>
          <a:blip r:embed="rId3"/>
          <a:stretch>
            <a:fillRect/>
          </a:stretch>
        </p:blipFill>
        <p:spPr>
          <a:xfrm>
            <a:off x="9128760" y="406127"/>
            <a:ext cx="1706879" cy="1794584"/>
          </a:xfrm>
          <a:prstGeom prst="rect">
            <a:avLst/>
          </a:prstGeom>
        </p:spPr>
      </p:pic>
    </p:spTree>
    <p:extLst>
      <p:ext uri="{BB962C8B-B14F-4D97-AF65-F5344CB8AC3E}">
        <p14:creationId xmlns:p14="http://schemas.microsoft.com/office/powerpoint/2010/main" val="678105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A798B-B582-857E-B15E-A97C50B6738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9BBB5D2-A2AD-184F-9AD4-6C52C881D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4A6783B-54B5-FF9E-8FCA-8B51AB2BB18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45BCF922-EAA9-196E-BBBA-1781B028E536}"/>
              </a:ext>
            </a:extLst>
          </p:cNvPr>
          <p:cNvSpPr>
            <a:spLocks noGrp="1"/>
          </p:cNvSpPr>
          <p:nvPr>
            <p:ph type="sldNum" sz="quarter" idx="12"/>
          </p:nvPr>
        </p:nvSpPr>
        <p:spPr/>
        <p:txBody>
          <a:bodyPr/>
          <a:lstStyle/>
          <a:p>
            <a:fld id="{48F19E39-9933-F648-B2F3-3AC17C0DC986}" type="slidenum">
              <a:rPr lang="en-US" smtClean="0">
                <a:solidFill>
                  <a:schemeClr val="bg1"/>
                </a:solidFill>
              </a:rPr>
              <a:t>23</a:t>
            </a:fld>
            <a:endParaRPr lang="en-US" dirty="0">
              <a:solidFill>
                <a:schemeClr val="bg1"/>
              </a:solidFill>
            </a:endParaRPr>
          </a:p>
        </p:txBody>
      </p:sp>
      <p:sp>
        <p:nvSpPr>
          <p:cNvPr id="2" name="TextBox 1">
            <a:extLst>
              <a:ext uri="{FF2B5EF4-FFF2-40B4-BE49-F238E27FC236}">
                <a16:creationId xmlns:a16="http://schemas.microsoft.com/office/drawing/2014/main" id="{88796CA4-DF48-AA07-85FF-6D4E461D4DF7}"/>
              </a:ext>
            </a:extLst>
          </p:cNvPr>
          <p:cNvSpPr txBox="1"/>
          <p:nvPr/>
        </p:nvSpPr>
        <p:spPr>
          <a:xfrm>
            <a:off x="596347" y="1161505"/>
            <a:ext cx="11127823" cy="95410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Tool Registry</a:t>
            </a:r>
            <a:r>
              <a:rPr lang="en-US" sz="1400" b="0" i="0" dirty="0">
                <a:effectLst/>
                <a:latin typeface="Inter" panose="02000503000000020004" pitchFamily="2" charset="0"/>
                <a:ea typeface="Inter" panose="02000503000000020004" pitchFamily="2" charset="0"/>
                <a:cs typeface="Inter" panose="02000503000000020004" pitchFamily="2" charset="0"/>
              </a:rPr>
              <a:t> → All tool definitions (manifests) stored in PostgreSQL (name, description, input schema, scopes, rate limits). Enables query available tools.</a:t>
            </a:r>
          </a:p>
          <a:p>
            <a:pPr algn="l"/>
            <a:r>
              <a:rPr lang="en-US" sz="1400" b="1" i="0" dirty="0">
                <a:effectLst/>
                <a:latin typeface="Inter" panose="02000503000000020004" pitchFamily="2" charset="0"/>
                <a:ea typeface="Inter" panose="02000503000000020004" pitchFamily="2" charset="0"/>
                <a:cs typeface="Inter" panose="02000503000000020004" pitchFamily="2" charset="0"/>
              </a:rPr>
              <a:t>Tool Policies</a:t>
            </a:r>
            <a:r>
              <a:rPr lang="en-US" sz="1400" b="0" i="0" dirty="0">
                <a:effectLst/>
                <a:latin typeface="Inter" panose="02000503000000020004" pitchFamily="2" charset="0"/>
                <a:ea typeface="Inter" panose="02000503000000020004" pitchFamily="2" charset="0"/>
                <a:cs typeface="Inter" panose="02000503000000020004" pitchFamily="2" charset="0"/>
              </a:rPr>
              <a:t> → RBAC per tool. JWT scopes checked before invocation → 403 if unauthorized.</a:t>
            </a:r>
          </a:p>
          <a:p>
            <a:pPr algn="l"/>
            <a:r>
              <a:rPr lang="en-US" sz="1400" b="1" i="0" dirty="0">
                <a:effectLst/>
                <a:latin typeface="Inter" panose="02000503000000020004" pitchFamily="2" charset="0"/>
                <a:ea typeface="Inter" panose="02000503000000020004" pitchFamily="2" charset="0"/>
                <a:cs typeface="Inter" panose="02000503000000020004" pitchFamily="2" charset="0"/>
              </a:rPr>
              <a:t>MCP Runtime</a:t>
            </a:r>
            <a:r>
              <a:rPr lang="en-US" sz="1400" b="0" i="0" dirty="0">
                <a:effectLst/>
                <a:latin typeface="Inter" panose="02000503000000020004" pitchFamily="2" charset="0"/>
                <a:ea typeface="Inter" panose="02000503000000020004" pitchFamily="2" charset="0"/>
                <a:cs typeface="Inter" panose="02000503000000020004" pitchFamily="2" charset="0"/>
              </a:rPr>
              <a:t> → </a:t>
            </a:r>
            <a:r>
              <a:rPr lang="en-US" sz="1400" b="0" i="0" dirty="0" err="1">
                <a:effectLst/>
                <a:latin typeface="Inter" panose="02000503000000020004" pitchFamily="2" charset="0"/>
                <a:ea typeface="Inter" panose="02000503000000020004" pitchFamily="2" charset="0"/>
                <a:cs typeface="Inter" panose="02000503000000020004" pitchFamily="2" charset="0"/>
              </a:rPr>
              <a:t>ToolContext</a:t>
            </a:r>
            <a:r>
              <a:rPr lang="en-US" sz="1400" b="0" i="0" dirty="0">
                <a:effectLst/>
                <a:latin typeface="Inter" panose="02000503000000020004" pitchFamily="2" charset="0"/>
                <a:ea typeface="Inter" panose="02000503000000020004" pitchFamily="2" charset="0"/>
                <a:cs typeface="Inter" panose="02000503000000020004" pitchFamily="2" charset="0"/>
              </a:rPr>
              <a:t> carries identity/permissions. All calls audited (inputs, outputs, caller, duration).</a:t>
            </a:r>
          </a:p>
        </p:txBody>
      </p:sp>
      <p:sp>
        <p:nvSpPr>
          <p:cNvPr id="5" name="TextBox 4">
            <a:extLst>
              <a:ext uri="{FF2B5EF4-FFF2-40B4-BE49-F238E27FC236}">
                <a16:creationId xmlns:a16="http://schemas.microsoft.com/office/drawing/2014/main" id="{959027DB-C143-600A-46A6-ACC155F0C916}"/>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1/5)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3" name="TextBox 2">
            <a:extLst>
              <a:ext uri="{FF2B5EF4-FFF2-40B4-BE49-F238E27FC236}">
                <a16:creationId xmlns:a16="http://schemas.microsoft.com/office/drawing/2014/main" id="{C5F8DCE4-2157-24DA-1197-071AD6E824F8}"/>
              </a:ext>
            </a:extLst>
          </p:cNvPr>
          <p:cNvSpPr txBox="1"/>
          <p:nvPr/>
        </p:nvSpPr>
        <p:spPr>
          <a:xfrm>
            <a:off x="596347" y="2285112"/>
            <a:ext cx="4039277" cy="3539430"/>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Tool Invocation Flow</a:t>
            </a:r>
          </a:p>
          <a:p>
            <a:pPr algn="l"/>
            <a:endParaRPr lang="en-US" sz="1400" b="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0" i="0" dirty="0">
                <a:effectLst/>
                <a:latin typeface="Inter" panose="02000503000000020004" pitchFamily="2" charset="0"/>
                <a:ea typeface="Inter" panose="02000503000000020004" pitchFamily="2" charset="0"/>
                <a:cs typeface="Inter" panose="02000503000000020004" pitchFamily="2" charset="0"/>
              </a:rPr>
              <a:t>User Request</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dirty="0">
                <a:latin typeface="Inter" panose="02000503000000020004" pitchFamily="2" charset="0"/>
                <a:ea typeface="Inter" panose="02000503000000020004" pitchFamily="2" charset="0"/>
                <a:cs typeface="Inter" panose="02000503000000020004" pitchFamily="2" charset="0"/>
              </a:rPr>
              <a:t>I</a:t>
            </a:r>
            <a:r>
              <a:rPr lang="en-US" sz="1400" b="0" i="0" dirty="0">
                <a:effectLst/>
                <a:latin typeface="Inter" panose="02000503000000020004" pitchFamily="2" charset="0"/>
                <a:ea typeface="Inter" panose="02000503000000020004" pitchFamily="2" charset="0"/>
                <a:cs typeface="Inter" panose="02000503000000020004" pitchFamily="2" charset="0"/>
              </a:rPr>
              <a:t>nput </a:t>
            </a:r>
            <a:r>
              <a:rPr lang="en-US" sz="1400" dirty="0">
                <a:latin typeface="Inter" panose="02000503000000020004" pitchFamily="2" charset="0"/>
                <a:ea typeface="Inter" panose="02000503000000020004" pitchFamily="2" charset="0"/>
                <a:cs typeface="Inter" panose="02000503000000020004" pitchFamily="2" charset="0"/>
              </a:rPr>
              <a:t>S</a:t>
            </a:r>
            <a:r>
              <a:rPr lang="en-US" sz="1400" b="0" i="0" dirty="0">
                <a:effectLst/>
                <a:latin typeface="Inter" panose="02000503000000020004" pitchFamily="2" charset="0"/>
                <a:ea typeface="Inter" panose="02000503000000020004" pitchFamily="2" charset="0"/>
                <a:cs typeface="Inter" panose="02000503000000020004" pitchFamily="2" charset="0"/>
              </a:rPr>
              <a:t>tructure Validation via JSON Schema</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 If invalid input → 400 Bad Request</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RBAC Check (If caller has required scopes)</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 If missing scope → 403 Forbidden</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Execute Tool (actual operation)</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 </a:t>
            </a:r>
            <a:r>
              <a:rPr lang="en-US" sz="1400" dirty="0">
                <a:latin typeface="Inter" panose="02000503000000020004" pitchFamily="2" charset="0"/>
                <a:ea typeface="Inter" panose="02000503000000020004" pitchFamily="2" charset="0"/>
                <a:cs typeface="Inter" panose="02000503000000020004" pitchFamily="2" charset="0"/>
              </a:rPr>
              <a:t>If e</a:t>
            </a:r>
            <a:r>
              <a:rPr lang="en-US" sz="1400" b="0" i="0" dirty="0">
                <a:effectLst/>
                <a:latin typeface="Inter" panose="02000503000000020004" pitchFamily="2" charset="0"/>
                <a:ea typeface="Inter" panose="02000503000000020004" pitchFamily="2" charset="0"/>
                <a:cs typeface="Inter" panose="02000503000000020004" pitchFamily="2" charset="0"/>
              </a:rPr>
              <a:t>xecution error → 500 with error details</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Log All </a:t>
            </a:r>
            <a:r>
              <a:rPr lang="en-US" sz="1400" dirty="0">
                <a:latin typeface="Inter" panose="02000503000000020004" pitchFamily="2" charset="0"/>
                <a:ea typeface="Inter" panose="02000503000000020004" pitchFamily="2" charset="0"/>
                <a:cs typeface="Inter" panose="02000503000000020004" pitchFamily="2" charset="0"/>
              </a:rPr>
              <a:t>A</a:t>
            </a:r>
            <a:r>
              <a:rPr lang="en-US" sz="1400" b="0" i="0" dirty="0">
                <a:effectLst/>
                <a:latin typeface="Inter" panose="02000503000000020004" pitchFamily="2" charset="0"/>
                <a:ea typeface="Inter" panose="02000503000000020004" pitchFamily="2" charset="0"/>
                <a:cs typeface="Inter" panose="02000503000000020004" pitchFamily="2" charset="0"/>
              </a:rPr>
              <a:t>ttempts, Even </a:t>
            </a:r>
            <a:r>
              <a:rPr lang="en-US" sz="1400" dirty="0">
                <a:latin typeface="Inter" panose="02000503000000020004" pitchFamily="2" charset="0"/>
                <a:ea typeface="Inter" panose="02000503000000020004" pitchFamily="2" charset="0"/>
                <a:cs typeface="Inter" panose="02000503000000020004" pitchFamily="2" charset="0"/>
              </a:rPr>
              <a:t>F</a:t>
            </a:r>
            <a:r>
              <a:rPr lang="en-US" sz="1400" b="0" i="0" dirty="0">
                <a:effectLst/>
                <a:latin typeface="Inter" panose="02000503000000020004" pitchFamily="2" charset="0"/>
                <a:ea typeface="Inter" panose="02000503000000020004" pitchFamily="2" charset="0"/>
                <a:cs typeface="Inter" panose="02000503000000020004" pitchFamily="2" charset="0"/>
              </a:rPr>
              <a:t>ailures</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Return Result</a:t>
            </a:r>
            <a:endParaRPr lang="en-US" sz="1300" dirty="0">
              <a:latin typeface="Inter" panose="02000503000000020004" pitchFamily="2" charset="0"/>
              <a:ea typeface="Inter" panose="02000503000000020004" pitchFamily="2" charset="0"/>
              <a:cs typeface="Inter" panose="02000503000000020004" pitchFamily="2" charset="0"/>
            </a:endParaRPr>
          </a:p>
        </p:txBody>
      </p:sp>
      <p:sp>
        <p:nvSpPr>
          <p:cNvPr id="6" name="TextBox 5">
            <a:extLst>
              <a:ext uri="{FF2B5EF4-FFF2-40B4-BE49-F238E27FC236}">
                <a16:creationId xmlns:a16="http://schemas.microsoft.com/office/drawing/2014/main" id="{6CA0E7E6-7BAA-B89A-73AA-548EA226ABCC}"/>
              </a:ext>
            </a:extLst>
          </p:cNvPr>
          <p:cNvSpPr txBox="1"/>
          <p:nvPr/>
        </p:nvSpPr>
        <p:spPr>
          <a:xfrm>
            <a:off x="5691138" y="2285112"/>
            <a:ext cx="6161338"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Tool Manifest (PostgreSQL Record)</a:t>
            </a:r>
          </a:p>
        </p:txBody>
      </p:sp>
      <p:cxnSp>
        <p:nvCxnSpPr>
          <p:cNvPr id="13" name="Straight Connector 12">
            <a:extLst>
              <a:ext uri="{FF2B5EF4-FFF2-40B4-BE49-F238E27FC236}">
                <a16:creationId xmlns:a16="http://schemas.microsoft.com/office/drawing/2014/main" id="{08E9B82F-AA17-59C3-7A27-A80093686A95}"/>
              </a:ext>
            </a:extLst>
          </p:cNvPr>
          <p:cNvCxnSpPr>
            <a:cxnSpLocks/>
          </p:cNvCxnSpPr>
          <p:nvPr/>
        </p:nvCxnSpPr>
        <p:spPr>
          <a:xfrm>
            <a:off x="5116203" y="2285112"/>
            <a:ext cx="0" cy="3790637"/>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11287420-EBF9-C26F-F10C-7B817322DB78}"/>
              </a:ext>
            </a:extLst>
          </p:cNvPr>
          <p:cNvSpPr txBox="1"/>
          <p:nvPr/>
        </p:nvSpPr>
        <p:spPr>
          <a:xfrm>
            <a:off x="5691138" y="2557510"/>
            <a:ext cx="6161338" cy="3231654"/>
          </a:xfrm>
          <a:prstGeom prst="rect">
            <a:avLst/>
          </a:prstGeom>
          <a:noFill/>
        </p:spPr>
        <p:txBody>
          <a:bodyPr wrap="square" rtlCol="0">
            <a:spAutoFit/>
          </a:bodyPr>
          <a:lstStyle/>
          <a:p>
            <a:r>
              <a:rPr lang="en-US" sz="1200" b="0" dirty="0">
                <a:solidFill>
                  <a:srgbClr val="000000"/>
                </a:solidFill>
                <a:effectLst/>
                <a:latin typeface="Menlo" panose="020B0609030804020204" pitchFamily="49" charset="0"/>
              </a:rPr>
              <a:t>{</a:t>
            </a:r>
          </a:p>
          <a:p>
            <a:r>
              <a:rPr lang="en-US" sz="1200" dirty="0">
                <a:solidFill>
                  <a:srgbClr val="0451A5"/>
                </a:solidFill>
                <a:latin typeface="Menlo" panose="020B0609030804020204" pitchFamily="49" charset="0"/>
              </a:rPr>
              <a:t>   </a:t>
            </a:r>
            <a:r>
              <a:rPr lang="en-US" sz="1200" b="0" dirty="0">
                <a:solidFill>
                  <a:srgbClr val="0451A5"/>
                </a:solidFill>
                <a:effectLst/>
                <a:latin typeface="Menlo" panose="020B0609030804020204" pitchFamily="49" charset="0"/>
              </a:rPr>
              <a:t>"name"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"graph.secure_query"</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Unique</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tool</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identifier</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"description"</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"Execute tenant-isolated Cypher query"</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   "input_schema"</a:t>
            </a:r>
            <a:r>
              <a:rPr lang="en-US" sz="1200" b="0" dirty="0">
                <a:solidFill>
                  <a:srgbClr val="000000"/>
                </a:solidFill>
                <a:effectLst/>
                <a:latin typeface="Menlo" panose="020B0609030804020204" pitchFamily="49" charset="0"/>
              </a:rPr>
              <a:t>: {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JSON</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Schema</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for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parameter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validation</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"type"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"object"</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      "properties"</a:t>
            </a:r>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"cypher"</a:t>
            </a:r>
            <a:r>
              <a:rPr lang="en-US" sz="1200" b="0" dirty="0">
                <a:solidFill>
                  <a:srgbClr val="000000"/>
                </a:solidFill>
                <a:effectLst/>
                <a:latin typeface="Menlo" panose="020B0609030804020204" pitchFamily="49" charset="0"/>
              </a:rPr>
              <a:t>: { </a:t>
            </a:r>
            <a:r>
              <a:rPr lang="en-US" sz="1200" b="0" dirty="0">
                <a:solidFill>
                  <a:srgbClr val="0451A5"/>
                </a:solidFill>
                <a:effectLst/>
                <a:latin typeface="Menlo" panose="020B0609030804020204" pitchFamily="49" charset="0"/>
              </a:rPr>
              <a:t>"type"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"string"</a:t>
            </a:r>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"params"</a:t>
            </a:r>
            <a:r>
              <a:rPr lang="en-US" sz="1200" b="0" dirty="0">
                <a:solidFill>
                  <a:srgbClr val="000000"/>
                </a:solidFill>
                <a:effectLst/>
                <a:latin typeface="Menlo" panose="020B0609030804020204" pitchFamily="49" charset="0"/>
              </a:rPr>
              <a:t>: { </a:t>
            </a:r>
            <a:r>
              <a:rPr lang="en-US" sz="1200" b="0" dirty="0">
                <a:solidFill>
                  <a:srgbClr val="0451A5"/>
                </a:solidFill>
                <a:effectLst/>
                <a:latin typeface="Menlo" panose="020B0609030804020204" pitchFamily="49" charset="0"/>
              </a:rPr>
              <a:t>"type"</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"object"</a:t>
            </a:r>
            <a:r>
              <a:rPr lang="en-US" sz="1200" b="0" dirty="0">
                <a:solidFill>
                  <a:srgbClr val="000000"/>
                </a:solidFill>
                <a:effectLst/>
                <a:latin typeface="Menlo" panose="020B0609030804020204" pitchFamily="49" charset="0"/>
              </a:rPr>
              <a:t> }</a:t>
            </a:r>
          </a:p>
          <a:p>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"required"</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"cypher"</a:t>
            </a:r>
            <a:r>
              <a:rPr lang="en-US" sz="1200" b="0" dirty="0">
                <a:solidFill>
                  <a:srgbClr val="000000"/>
                </a:solidFill>
                <a:effectLst/>
                <a:latin typeface="Menlo" panose="020B0609030804020204" pitchFamily="49" charset="0"/>
              </a:rPr>
              <a:t>]</a:t>
            </a:r>
          </a:p>
          <a:p>
            <a:r>
              <a:rPr lang="en-US" sz="1200" b="0" dirty="0">
                <a:solidFill>
                  <a:srgbClr val="000000"/>
                </a:solidFill>
                <a:effectLst/>
                <a:latin typeface="Menlo" panose="020B0609030804020204" pitchFamily="49" charset="0"/>
              </a:rPr>
              <a:t>   },</a:t>
            </a:r>
          </a:p>
          <a:p>
            <a:r>
              <a:rPr lang="en-US" sz="1200" b="0" dirty="0">
                <a:solidFill>
                  <a:srgbClr val="0451A5"/>
                </a:solidFill>
                <a:effectLst/>
                <a:latin typeface="Menlo" panose="020B0609030804020204" pitchFamily="49" charset="0"/>
              </a:rPr>
              <a:t>   "required_scopes"</a:t>
            </a:r>
            <a:r>
              <a:rPr lang="en-US" sz="1200" b="0" dirty="0">
                <a:solidFill>
                  <a:srgbClr val="000000"/>
                </a:solidFill>
                <a:effectLst/>
                <a:latin typeface="Menlo" panose="020B0609030804020204" pitchFamily="49" charset="0"/>
              </a:rPr>
              <a:t>: [</a:t>
            </a:r>
            <a:r>
              <a:rPr lang="en-US" sz="1200" b="0" dirty="0">
                <a:solidFill>
                  <a:srgbClr val="A31515"/>
                </a:solidFill>
                <a:effectLst/>
                <a:latin typeface="Menlo" panose="020B0609030804020204" pitchFamily="49" charset="0"/>
              </a:rPr>
              <a:t>"graph:read"</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Authorization</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"rate_limit"</a:t>
            </a:r>
            <a:r>
              <a:rPr lang="en-US" sz="1200" b="0" dirty="0">
                <a:solidFill>
                  <a:srgbClr val="000000"/>
                </a:solidFill>
                <a:effectLst/>
                <a:latin typeface="Menlo" panose="020B0609030804020204" pitchFamily="49" charset="0"/>
              </a:rPr>
              <a:t>: { </a:t>
            </a:r>
            <a:r>
              <a:rPr lang="en-US" sz="1200" b="0" dirty="0">
                <a:solidFill>
                  <a:srgbClr val="CD3131"/>
                </a:solidFill>
                <a:effectLst/>
                <a:latin typeface="Menlo" panose="020B0609030804020204" pitchFamily="49" charset="0"/>
              </a:rPr>
              <a:t>#</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Per-user,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100</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requests</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per</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60</a:t>
            </a:r>
            <a:r>
              <a:rPr lang="en-US" sz="1200" b="0" dirty="0">
                <a:solidFill>
                  <a:srgbClr val="000000"/>
                </a:solidFill>
                <a:effectLst/>
                <a:latin typeface="Menlo" panose="020B0609030804020204" pitchFamily="49" charset="0"/>
              </a:rPr>
              <a:t> </a:t>
            </a:r>
            <a:r>
              <a:rPr lang="en-US" sz="1200" b="0" dirty="0">
                <a:solidFill>
                  <a:srgbClr val="CD3131"/>
                </a:solidFill>
                <a:effectLst/>
                <a:latin typeface="Menlo" panose="020B0609030804020204" pitchFamily="49" charset="0"/>
              </a:rPr>
              <a:t>seconds</a:t>
            </a:r>
            <a:endParaRPr lang="en-US" sz="1200" b="0" dirty="0">
              <a:solidFill>
                <a:srgbClr val="000000"/>
              </a:solidFill>
              <a:effectLst/>
              <a:latin typeface="Menlo" panose="020B0609030804020204" pitchFamily="49" charset="0"/>
            </a:endParaRPr>
          </a:p>
          <a:p>
            <a:r>
              <a:rPr lang="en-US" sz="1200" b="0" dirty="0">
                <a:solidFill>
                  <a:srgbClr val="0451A5"/>
                </a:solidFill>
                <a:effectLst/>
                <a:latin typeface="Menlo" panose="020B0609030804020204" pitchFamily="49" charset="0"/>
              </a:rPr>
              <a:t>      "requests"</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100</a:t>
            </a:r>
            <a:r>
              <a:rPr lang="en-US" sz="1200" b="0" dirty="0">
                <a:solidFill>
                  <a:srgbClr val="000000"/>
                </a:solidFill>
                <a:effectLst/>
                <a:latin typeface="Menlo" panose="020B0609030804020204" pitchFamily="49" charset="0"/>
              </a:rPr>
              <a:t>,</a:t>
            </a:r>
          </a:p>
          <a:p>
            <a:r>
              <a:rPr lang="en-US" sz="1200" b="0" dirty="0">
                <a:solidFill>
                  <a:srgbClr val="0451A5"/>
                </a:solidFill>
                <a:effectLst/>
                <a:latin typeface="Menlo" panose="020B0609030804020204" pitchFamily="49" charset="0"/>
              </a:rPr>
              <a:t>      "window"</a:t>
            </a:r>
            <a:r>
              <a:rPr lang="en-US" sz="1200" b="0" dirty="0">
                <a:solidFill>
                  <a:srgbClr val="000000"/>
                </a:solidFill>
                <a:effectLst/>
                <a:latin typeface="Menlo" panose="020B0609030804020204" pitchFamily="49" charset="0"/>
              </a:rPr>
              <a:t>: </a:t>
            </a:r>
            <a:r>
              <a:rPr lang="en-US" sz="1200" b="0" dirty="0">
                <a:solidFill>
                  <a:srgbClr val="098658"/>
                </a:solidFill>
                <a:effectLst/>
                <a:latin typeface="Menlo" panose="020B0609030804020204" pitchFamily="49" charset="0"/>
              </a:rPr>
              <a:t>60</a:t>
            </a:r>
            <a:endParaRPr lang="en-US" sz="1200" b="0" dirty="0">
              <a:solidFill>
                <a:srgbClr val="000000"/>
              </a:solidFill>
              <a:effectLst/>
              <a:latin typeface="Menlo" panose="020B0609030804020204" pitchFamily="49" charset="0"/>
            </a:endParaRPr>
          </a:p>
          <a:p>
            <a:r>
              <a:rPr lang="en-US" sz="1200" b="0" dirty="0">
                <a:solidFill>
                  <a:srgbClr val="000000"/>
                </a:solidFill>
                <a:effectLst/>
                <a:latin typeface="Menlo" panose="020B0609030804020204" pitchFamily="49" charset="0"/>
              </a:rPr>
              <a:t>   }</a:t>
            </a:r>
          </a:p>
          <a:p>
            <a:r>
              <a:rPr lang="en-US" sz="1200" b="0" dirty="0">
                <a:solidFill>
                  <a:srgbClr val="000000"/>
                </a:solidFill>
                <a:effectLst/>
                <a:latin typeface="Menlo" panose="020B0609030804020204" pitchFamily="49" charset="0"/>
              </a:rPr>
              <a:t>}</a:t>
            </a:r>
          </a:p>
        </p:txBody>
      </p:sp>
      <p:sp>
        <p:nvSpPr>
          <p:cNvPr id="28" name="Footer Placeholder 10">
            <a:extLst>
              <a:ext uri="{FF2B5EF4-FFF2-40B4-BE49-F238E27FC236}">
                <a16:creationId xmlns:a16="http://schemas.microsoft.com/office/drawing/2014/main" id="{3D1E8F6A-17A1-CC3B-6F8F-1C24AEECAEDB}"/>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973106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E166-A747-4E40-4D8C-7465B3A584D9}"/>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2C02B3D-77FC-1223-DBAC-AB0E43AE19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D010EE7-E6C4-1C00-1037-3A8C6E14524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45F0C99-B679-FD1C-E5CC-AA009D4DFC1E}"/>
              </a:ext>
            </a:extLst>
          </p:cNvPr>
          <p:cNvSpPr>
            <a:spLocks noGrp="1"/>
          </p:cNvSpPr>
          <p:nvPr>
            <p:ph type="sldNum" sz="quarter" idx="12"/>
          </p:nvPr>
        </p:nvSpPr>
        <p:spPr/>
        <p:txBody>
          <a:bodyPr/>
          <a:lstStyle/>
          <a:p>
            <a:fld id="{48F19E39-9933-F648-B2F3-3AC17C0DC986}" type="slidenum">
              <a:rPr lang="en-US" smtClean="0">
                <a:solidFill>
                  <a:schemeClr val="bg1"/>
                </a:solidFill>
              </a:rPr>
              <a:t>24</a:t>
            </a:fld>
            <a:endParaRPr lang="en-US" dirty="0">
              <a:solidFill>
                <a:schemeClr val="bg1"/>
              </a:solidFill>
            </a:endParaRPr>
          </a:p>
        </p:txBody>
      </p:sp>
      <p:sp>
        <p:nvSpPr>
          <p:cNvPr id="2" name="TextBox 1">
            <a:extLst>
              <a:ext uri="{FF2B5EF4-FFF2-40B4-BE49-F238E27FC236}">
                <a16:creationId xmlns:a16="http://schemas.microsoft.com/office/drawing/2014/main" id="{BAD8D572-CFEB-162C-15A8-8FE9BAD7F7EA}"/>
              </a:ext>
            </a:extLst>
          </p:cNvPr>
          <p:cNvSpPr txBox="1"/>
          <p:nvPr/>
        </p:nvSpPr>
        <p:spPr>
          <a:xfrm>
            <a:off x="596345"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 GRAPH: Query and interact with Memgraph</a:t>
            </a:r>
          </a:p>
        </p:txBody>
      </p:sp>
      <p:sp>
        <p:nvSpPr>
          <p:cNvPr id="5" name="TextBox 4">
            <a:extLst>
              <a:ext uri="{FF2B5EF4-FFF2-40B4-BE49-F238E27FC236}">
                <a16:creationId xmlns:a16="http://schemas.microsoft.com/office/drawing/2014/main" id="{3E0AB8A4-A0E5-8623-9B39-B90AD898BCE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2/5)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16" name="Table 15">
            <a:extLst>
              <a:ext uri="{FF2B5EF4-FFF2-40B4-BE49-F238E27FC236}">
                <a16:creationId xmlns:a16="http://schemas.microsoft.com/office/drawing/2014/main" id="{F5217D83-37EB-FA72-F343-0A8A8A42A76B}"/>
              </a:ext>
            </a:extLst>
          </p:cNvPr>
          <p:cNvGraphicFramePr>
            <a:graphicFrameLocks noGrp="1"/>
          </p:cNvGraphicFramePr>
          <p:nvPr>
            <p:extLst>
              <p:ext uri="{D42A27DB-BD31-4B8C-83A1-F6EECF244321}">
                <p14:modId xmlns:p14="http://schemas.microsoft.com/office/powerpoint/2010/main" val="1015438964"/>
              </p:ext>
            </p:extLst>
          </p:nvPr>
        </p:nvGraphicFramePr>
        <p:xfrm>
          <a:off x="596343" y="1552207"/>
          <a:ext cx="11127823" cy="1301712"/>
        </p:xfrm>
        <a:graphic>
          <a:graphicData uri="http://schemas.openxmlformats.org/drawingml/2006/table">
            <a:tbl>
              <a:tblPr>
                <a:tableStyleId>{00A15C55-8517-42AA-B614-E9B94910E393}</a:tableStyleId>
              </a:tblPr>
              <a:tblGrid>
                <a:gridCol w="1569338">
                  <a:extLst>
                    <a:ext uri="{9D8B030D-6E8A-4147-A177-3AD203B41FA5}">
                      <a16:colId xmlns:a16="http://schemas.microsoft.com/office/drawing/2014/main" val="3150803962"/>
                    </a:ext>
                  </a:extLst>
                </a:gridCol>
                <a:gridCol w="2278992">
                  <a:extLst>
                    <a:ext uri="{9D8B030D-6E8A-4147-A177-3AD203B41FA5}">
                      <a16:colId xmlns:a16="http://schemas.microsoft.com/office/drawing/2014/main" val="2281182877"/>
                    </a:ext>
                  </a:extLst>
                </a:gridCol>
                <a:gridCol w="7279493">
                  <a:extLst>
                    <a:ext uri="{9D8B030D-6E8A-4147-A177-3AD203B41FA5}">
                      <a16:colId xmlns:a16="http://schemas.microsoft.com/office/drawing/2014/main" val="2643179328"/>
                    </a:ext>
                  </a:extLst>
                </a:gridCol>
              </a:tblGrid>
              <a:tr h="0">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Tool</a:t>
                      </a:r>
                    </a:p>
                  </a:txBody>
                  <a:tcPr marL="31531" marR="31531" marT="15766" marB="15766" anchor="b"/>
                </a:tc>
                <a:tc>
                  <a:txBody>
                    <a:bodyPr/>
                    <a:lstStyle/>
                    <a:p>
                      <a:pPr algn="l" fontAlgn="b"/>
                      <a:r>
                        <a:rPr lang="en-US" sz="1300" b="1">
                          <a:solidFill>
                            <a:schemeClr val="tx1"/>
                          </a:solidFill>
                          <a:effectLst/>
                          <a:latin typeface="Inter" panose="02000503000000020004" pitchFamily="2" charset="0"/>
                          <a:ea typeface="Inter" panose="02000503000000020004" pitchFamily="2" charset="0"/>
                          <a:cs typeface="Inter" panose="02000503000000020004" pitchFamily="2" charset="0"/>
                        </a:rPr>
                        <a:t>Description</a:t>
                      </a:r>
                    </a:p>
                  </a:txBody>
                  <a:tcPr marL="31531" marR="31531" marT="15766" marB="15766" anchor="b"/>
                </a:tc>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Example</a:t>
                      </a:r>
                    </a:p>
                  </a:txBody>
                  <a:tcPr marL="31531" marR="31531" marT="15766" marB="15766" anchor="b"/>
                </a:tc>
                <a:extLst>
                  <a:ext uri="{0D108BD9-81ED-4DB2-BD59-A6C34878D82A}">
                    <a16:rowId xmlns:a16="http://schemas.microsoft.com/office/drawing/2014/main" val="3284975162"/>
                  </a:ext>
                </a:extLst>
              </a:tr>
              <a:tr h="0">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query</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Execute raw Cypher</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MATCH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b:Blast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RETURN count(b) → Returns count of all Blast nodes</a:t>
                      </a:r>
                    </a:p>
                  </a:txBody>
                  <a:tcPr marL="31531" marR="31531" marT="15766" marB="15766" anchor="ctr"/>
                </a:tc>
                <a:extLst>
                  <a:ext uri="{0D108BD9-81ED-4DB2-BD59-A6C34878D82A}">
                    <a16:rowId xmlns:a16="http://schemas.microsoft.com/office/drawing/2014/main" val="2638235279"/>
                  </a:ext>
                </a:extLst>
              </a:tr>
              <a:tr h="67532">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secure_query</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Cypher with tenant isolation</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MATCH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b:Blast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)-[:OUTPUT]-&gt;(</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f:File</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RETURN b, f LIMIT 10 → Only returns data for caller's tenant</a:t>
                      </a:r>
                    </a:p>
                  </a:txBody>
                  <a:tcPr marL="31531" marR="31531" marT="15766" marB="15766" anchor="ctr"/>
                </a:tc>
                <a:extLst>
                  <a:ext uri="{0D108BD9-81ED-4DB2-BD59-A6C34878D82A}">
                    <a16:rowId xmlns:a16="http://schemas.microsoft.com/office/drawing/2014/main" val="173059845"/>
                  </a:ext>
                </a:extLst>
              </a:tr>
              <a:tr h="60996">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generate_cypher</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NL-to-Cypher translation</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"How many Blast nodes are there?" → Generates: MATCH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b:Blast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RETURN count(b)</a:t>
                      </a:r>
                    </a:p>
                  </a:txBody>
                  <a:tcPr marL="31531" marR="31531" marT="15766" marB="15766" anchor="ctr"/>
                </a:tc>
                <a:extLst>
                  <a:ext uri="{0D108BD9-81ED-4DB2-BD59-A6C34878D82A}">
                    <a16:rowId xmlns:a16="http://schemas.microsoft.com/office/drawing/2014/main" val="591292315"/>
                  </a:ext>
                </a:extLst>
              </a:tr>
              <a:tr h="0">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schema</a:t>
                      </a:r>
                    </a:p>
                  </a:txBody>
                  <a:tcPr marL="31531" marR="31531" marT="15766" marB="15766"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Get graph schema</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Returns: Nodes: [Blast, </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BlastDb</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BlastedSeq, File], Relationships: [OUTPUT, INPUT]</a:t>
                      </a:r>
                    </a:p>
                  </a:txBody>
                  <a:tcPr marL="31531" marR="31531" marT="15766" marB="15766" anchor="ctr"/>
                </a:tc>
                <a:extLst>
                  <a:ext uri="{0D108BD9-81ED-4DB2-BD59-A6C34878D82A}">
                    <a16:rowId xmlns:a16="http://schemas.microsoft.com/office/drawing/2014/main" val="3071464602"/>
                  </a:ext>
                </a:extLst>
              </a:tr>
              <a:tr h="60996">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explain</a:t>
                      </a:r>
                    </a:p>
                  </a:txBody>
                  <a:tcPr marL="31531" marR="31531" marT="15766" marB="15766"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Query plan without execution</a:t>
                      </a:r>
                    </a:p>
                  </a:txBody>
                  <a:tcPr marL="31531" marR="31531" marT="15766" marB="15766" anchor="ctr"/>
                </a:tc>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"Profile the query that finds top Blast by outdegree" → Returns EXPLAIN output only</a:t>
                      </a:r>
                    </a:p>
                  </a:txBody>
                  <a:tcPr marL="31531" marR="31531" marT="15766" marB="15766" anchor="ctr"/>
                </a:tc>
                <a:extLst>
                  <a:ext uri="{0D108BD9-81ED-4DB2-BD59-A6C34878D82A}">
                    <a16:rowId xmlns:a16="http://schemas.microsoft.com/office/drawing/2014/main" val="406869943"/>
                  </a:ext>
                </a:extLst>
              </a:tr>
            </a:tbl>
          </a:graphicData>
        </a:graphic>
      </p:graphicFrame>
      <p:sp>
        <p:nvSpPr>
          <p:cNvPr id="17" name="TextBox 16">
            <a:extLst>
              <a:ext uri="{FF2B5EF4-FFF2-40B4-BE49-F238E27FC236}">
                <a16:creationId xmlns:a16="http://schemas.microsoft.com/office/drawing/2014/main" id="{CA2A2AB8-918B-EBAF-E450-E9F7D5BBB0A7}"/>
              </a:ext>
            </a:extLst>
          </p:cNvPr>
          <p:cNvSpPr txBox="1"/>
          <p:nvPr/>
        </p:nvSpPr>
        <p:spPr>
          <a:xfrm>
            <a:off x="596343" y="2959752"/>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2) SECURITY — Inspect permissions and access control</a:t>
            </a:r>
          </a:p>
        </p:txBody>
      </p:sp>
      <p:graphicFrame>
        <p:nvGraphicFramePr>
          <p:cNvPr id="18" name="Table 17">
            <a:extLst>
              <a:ext uri="{FF2B5EF4-FFF2-40B4-BE49-F238E27FC236}">
                <a16:creationId xmlns:a16="http://schemas.microsoft.com/office/drawing/2014/main" id="{0FDC1132-C765-5217-569A-9152755098D4}"/>
              </a:ext>
            </a:extLst>
          </p:cNvPr>
          <p:cNvGraphicFramePr>
            <a:graphicFrameLocks noGrp="1"/>
          </p:cNvGraphicFramePr>
          <p:nvPr>
            <p:extLst>
              <p:ext uri="{D42A27DB-BD31-4B8C-83A1-F6EECF244321}">
                <p14:modId xmlns:p14="http://schemas.microsoft.com/office/powerpoint/2010/main" val="1625105992"/>
              </p:ext>
            </p:extLst>
          </p:nvPr>
        </p:nvGraphicFramePr>
        <p:xfrm>
          <a:off x="596346" y="3339130"/>
          <a:ext cx="11127822" cy="1098624"/>
        </p:xfrm>
        <a:graphic>
          <a:graphicData uri="http://schemas.openxmlformats.org/drawingml/2006/table">
            <a:tbl>
              <a:tblPr>
                <a:tableStyleId>{00A15C55-8517-42AA-B614-E9B94910E393}</a:tableStyleId>
              </a:tblPr>
              <a:tblGrid>
                <a:gridCol w="1581369">
                  <a:extLst>
                    <a:ext uri="{9D8B030D-6E8A-4147-A177-3AD203B41FA5}">
                      <a16:colId xmlns:a16="http://schemas.microsoft.com/office/drawing/2014/main" val="1597318453"/>
                    </a:ext>
                  </a:extLst>
                </a:gridCol>
                <a:gridCol w="1864895">
                  <a:extLst>
                    <a:ext uri="{9D8B030D-6E8A-4147-A177-3AD203B41FA5}">
                      <a16:colId xmlns:a16="http://schemas.microsoft.com/office/drawing/2014/main" val="3817386341"/>
                    </a:ext>
                  </a:extLst>
                </a:gridCol>
                <a:gridCol w="7681558">
                  <a:extLst>
                    <a:ext uri="{9D8B030D-6E8A-4147-A177-3AD203B41FA5}">
                      <a16:colId xmlns:a16="http://schemas.microsoft.com/office/drawing/2014/main" val="92339433"/>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2246" marR="42246" marT="21123" marB="21123"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2246" marR="42246" marT="21123" marB="21123"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2246" marR="42246" marT="21123" marB="21123" anchor="b"/>
                </a:tc>
                <a:extLst>
                  <a:ext uri="{0D108BD9-81ED-4DB2-BD59-A6C34878D82A}">
                    <a16:rowId xmlns:a16="http://schemas.microsoft.com/office/drawing/2014/main" val="993310920"/>
                  </a:ext>
                </a:extLst>
              </a:tr>
              <a:tr h="0">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describe_principal</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Show current identity</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"u-123", tenant: "</a:t>
                      </a:r>
                      <a:r>
                        <a:rPr lang="en-US" sz="1200" dirty="0" err="1">
                          <a:effectLst/>
                          <a:latin typeface="Inter" panose="02000503000000020004" pitchFamily="2" charset="0"/>
                          <a:ea typeface="Inter" panose="02000503000000020004" pitchFamily="2" charset="0"/>
                          <a:cs typeface="Inter" panose="02000503000000020004" pitchFamily="2" charset="0"/>
                        </a:rPr>
                        <a:t>cineca</a:t>
                      </a:r>
                      <a:r>
                        <a:rPr lang="en-US" sz="1200" dirty="0">
                          <a:effectLst/>
                          <a:latin typeface="Inter" panose="02000503000000020004" pitchFamily="2" charset="0"/>
                          <a:ea typeface="Inter" panose="02000503000000020004" pitchFamily="2" charset="0"/>
                          <a:cs typeface="Inter" panose="02000503000000020004" pitchFamily="2" charset="0"/>
                        </a:rPr>
                        <a:t>", roles: ["operator"], scopes: ["</a:t>
                      </a:r>
                      <a:r>
                        <a:rPr lang="en-US" sz="1200" dirty="0" err="1">
                          <a:effectLst/>
                          <a:latin typeface="Inter" panose="02000503000000020004" pitchFamily="2" charset="0"/>
                          <a:ea typeface="Inter" panose="02000503000000020004" pitchFamily="2" charset="0"/>
                          <a:cs typeface="Inter" panose="02000503000000020004" pitchFamily="2" charset="0"/>
                        </a:rPr>
                        <a:t>graph:read</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42246" marR="42246" marT="21123" marB="21123" anchor="ctr"/>
                </a:tc>
                <a:extLst>
                  <a:ext uri="{0D108BD9-81ED-4DB2-BD59-A6C34878D82A}">
                    <a16:rowId xmlns:a16="http://schemas.microsoft.com/office/drawing/2014/main" val="3041174264"/>
                  </a:ext>
                </a:extLst>
              </a:tr>
              <a:tr h="0">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allowed_operations</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List permitted actions</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"Do I have permission to run write queries?" → Returns: { </a:t>
                      </a:r>
                      <a:r>
                        <a:rPr lang="en-US" sz="1200" dirty="0" err="1">
                          <a:effectLst/>
                          <a:latin typeface="Inter" panose="02000503000000020004" pitchFamily="2" charset="0"/>
                          <a:ea typeface="Inter" panose="02000503000000020004" pitchFamily="2" charset="0"/>
                          <a:cs typeface="Inter" panose="02000503000000020004" pitchFamily="2" charset="0"/>
                        </a:rPr>
                        <a:t>graph:read</a:t>
                      </a:r>
                      <a:r>
                        <a:rPr lang="en-US" sz="1200" dirty="0">
                          <a:effectLst/>
                          <a:latin typeface="Inter" panose="02000503000000020004" pitchFamily="2" charset="0"/>
                          <a:ea typeface="Inter" panose="02000503000000020004" pitchFamily="2" charset="0"/>
                          <a:cs typeface="Inter" panose="02000503000000020004" pitchFamily="2" charset="0"/>
                        </a:rPr>
                        <a:t>: ✓, </a:t>
                      </a:r>
                      <a:r>
                        <a:rPr lang="en-US" sz="1200" dirty="0" err="1">
                          <a:effectLst/>
                          <a:latin typeface="Inter" panose="02000503000000020004" pitchFamily="2" charset="0"/>
                          <a:ea typeface="Inter" panose="02000503000000020004" pitchFamily="2" charset="0"/>
                          <a:cs typeface="Inter" panose="02000503000000020004" pitchFamily="2" charset="0"/>
                        </a:rPr>
                        <a:t>graph:write</a:t>
                      </a:r>
                      <a:r>
                        <a:rPr lang="en-US" sz="1200" dirty="0">
                          <a:effectLst/>
                          <a:latin typeface="Inter" panose="02000503000000020004" pitchFamily="2" charset="0"/>
                          <a:ea typeface="Inter" panose="02000503000000020004" pitchFamily="2" charset="0"/>
                          <a:cs typeface="Inter" panose="02000503000000020004" pitchFamily="2" charset="0"/>
                        </a:rPr>
                        <a:t>: ✗, </a:t>
                      </a:r>
                      <a:r>
                        <a:rPr lang="en-US" sz="1200" dirty="0" err="1">
                          <a:effectLst/>
                          <a:latin typeface="Inter" panose="02000503000000020004" pitchFamily="2" charset="0"/>
                          <a:ea typeface="Inter" panose="02000503000000020004" pitchFamily="2" charset="0"/>
                          <a:cs typeface="Inter" panose="02000503000000020004" pitchFamily="2" charset="0"/>
                        </a:rPr>
                        <a:t>admin:all</a:t>
                      </a:r>
                      <a:r>
                        <a:rPr lang="en-US" sz="1200" dirty="0">
                          <a:effectLst/>
                          <a:latin typeface="Inter" panose="02000503000000020004" pitchFamily="2" charset="0"/>
                          <a:ea typeface="Inter" panose="02000503000000020004" pitchFamily="2" charset="0"/>
                          <a:cs typeface="Inter" panose="02000503000000020004" pitchFamily="2" charset="0"/>
                        </a:rPr>
                        <a:t>: ✗ }</a:t>
                      </a:r>
                    </a:p>
                  </a:txBody>
                  <a:tcPr marL="42246" marR="42246" marT="21123" marB="21123" anchor="ctr"/>
                </a:tc>
                <a:extLst>
                  <a:ext uri="{0D108BD9-81ED-4DB2-BD59-A6C34878D82A}">
                    <a16:rowId xmlns:a16="http://schemas.microsoft.com/office/drawing/2014/main" val="1857407763"/>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validate</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Check specific operation</a:t>
                      </a:r>
                    </a:p>
                  </a:txBody>
                  <a:tcPr marL="42246" marR="42246" marT="21123" marB="2112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"Can I delete Blast nodes?" → Returns: { allowed: false, reason: "Missing scope: </a:t>
                      </a:r>
                      <a:r>
                        <a:rPr lang="en-US" sz="1200" dirty="0" err="1">
                          <a:effectLst/>
                          <a:latin typeface="Inter" panose="02000503000000020004" pitchFamily="2" charset="0"/>
                          <a:ea typeface="Inter" panose="02000503000000020004" pitchFamily="2" charset="0"/>
                          <a:cs typeface="Inter" panose="02000503000000020004" pitchFamily="2" charset="0"/>
                        </a:rPr>
                        <a:t>graph:write</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42246" marR="42246" marT="21123" marB="21123" anchor="ctr"/>
                </a:tc>
                <a:extLst>
                  <a:ext uri="{0D108BD9-81ED-4DB2-BD59-A6C34878D82A}">
                    <a16:rowId xmlns:a16="http://schemas.microsoft.com/office/drawing/2014/main" val="4269558861"/>
                  </a:ext>
                </a:extLst>
              </a:tr>
            </a:tbl>
          </a:graphicData>
        </a:graphic>
      </p:graphicFrame>
      <p:sp>
        <p:nvSpPr>
          <p:cNvPr id="19" name="TextBox 18">
            <a:extLst>
              <a:ext uri="{FF2B5EF4-FFF2-40B4-BE49-F238E27FC236}">
                <a16:creationId xmlns:a16="http://schemas.microsoft.com/office/drawing/2014/main" id="{67E87EA1-3BA0-E980-61C6-2091D7F3DE0E}"/>
              </a:ext>
            </a:extLst>
          </p:cNvPr>
          <p:cNvSpPr txBox="1"/>
          <p:nvPr/>
        </p:nvSpPr>
        <p:spPr>
          <a:xfrm>
            <a:off x="596342" y="4512997"/>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3) SYSTEM — Platform health and configuration</a:t>
            </a:r>
          </a:p>
        </p:txBody>
      </p:sp>
      <p:graphicFrame>
        <p:nvGraphicFramePr>
          <p:cNvPr id="21" name="Table 20">
            <a:extLst>
              <a:ext uri="{FF2B5EF4-FFF2-40B4-BE49-F238E27FC236}">
                <a16:creationId xmlns:a16="http://schemas.microsoft.com/office/drawing/2014/main" id="{9BF9AFF1-2986-9E38-7444-939C48551387}"/>
              </a:ext>
            </a:extLst>
          </p:cNvPr>
          <p:cNvGraphicFramePr>
            <a:graphicFrameLocks noGrp="1"/>
          </p:cNvGraphicFramePr>
          <p:nvPr>
            <p:extLst>
              <p:ext uri="{D42A27DB-BD31-4B8C-83A1-F6EECF244321}">
                <p14:modId xmlns:p14="http://schemas.microsoft.com/office/powerpoint/2010/main" val="1003528581"/>
              </p:ext>
            </p:extLst>
          </p:nvPr>
        </p:nvGraphicFramePr>
        <p:xfrm>
          <a:off x="596342" y="4896017"/>
          <a:ext cx="11127822" cy="1166130"/>
        </p:xfrm>
        <a:graphic>
          <a:graphicData uri="http://schemas.openxmlformats.org/drawingml/2006/table">
            <a:tbl>
              <a:tblPr>
                <a:tableStyleId>{00A15C55-8517-42AA-B614-E9B94910E393}</a:tableStyleId>
              </a:tblPr>
              <a:tblGrid>
                <a:gridCol w="1581369">
                  <a:extLst>
                    <a:ext uri="{9D8B030D-6E8A-4147-A177-3AD203B41FA5}">
                      <a16:colId xmlns:a16="http://schemas.microsoft.com/office/drawing/2014/main" val="3179314500"/>
                    </a:ext>
                  </a:extLst>
                </a:gridCol>
                <a:gridCol w="1876926">
                  <a:extLst>
                    <a:ext uri="{9D8B030D-6E8A-4147-A177-3AD203B41FA5}">
                      <a16:colId xmlns:a16="http://schemas.microsoft.com/office/drawing/2014/main" val="2032445130"/>
                    </a:ext>
                  </a:extLst>
                </a:gridCol>
                <a:gridCol w="7669527">
                  <a:extLst>
                    <a:ext uri="{9D8B030D-6E8A-4147-A177-3AD203B41FA5}">
                      <a16:colId xmlns:a16="http://schemas.microsoft.com/office/drawing/2014/main" val="2835918116"/>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7297" marR="47297" marT="23649" marB="23649"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7297" marR="47297" marT="23649" marB="23649"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7297" marR="47297" marT="23649" marB="23649" anchor="b"/>
                </a:tc>
                <a:extLst>
                  <a:ext uri="{0D108BD9-81ED-4DB2-BD59-A6C34878D82A}">
                    <a16:rowId xmlns:a16="http://schemas.microsoft.com/office/drawing/2014/main" val="3974403928"/>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health</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Component status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postgres</a:t>
                      </a:r>
                      <a:r>
                        <a:rPr lang="en-US" sz="1200" dirty="0">
                          <a:effectLst/>
                          <a:latin typeface="Inter" panose="02000503000000020004" pitchFamily="2" charset="0"/>
                          <a:ea typeface="Inter" panose="02000503000000020004" pitchFamily="2" charset="0"/>
                          <a:cs typeface="Inter" panose="02000503000000020004" pitchFamily="2" charset="0"/>
                        </a:rPr>
                        <a:t>: "healthy", </a:t>
                      </a:r>
                      <a:r>
                        <a:rPr lang="en-US" sz="1200" dirty="0" err="1">
                          <a:effectLst/>
                          <a:latin typeface="Inter" panose="02000503000000020004" pitchFamily="2" charset="0"/>
                          <a:ea typeface="Inter" panose="02000503000000020004" pitchFamily="2" charset="0"/>
                          <a:cs typeface="Inter" panose="02000503000000020004" pitchFamily="2" charset="0"/>
                        </a:rPr>
                        <a:t>redis</a:t>
                      </a:r>
                      <a:r>
                        <a:rPr lang="en-US" sz="1200" dirty="0">
                          <a:effectLst/>
                          <a:latin typeface="Inter" panose="02000503000000020004" pitchFamily="2" charset="0"/>
                          <a:ea typeface="Inter" panose="02000503000000020004" pitchFamily="2" charset="0"/>
                          <a:cs typeface="Inter" panose="02000503000000020004" pitchFamily="2" charset="0"/>
                        </a:rPr>
                        <a:t>: "healthy", </a:t>
                      </a:r>
                      <a:r>
                        <a:rPr lang="en-US" sz="1200" dirty="0" err="1">
                          <a:effectLst/>
                          <a:latin typeface="Inter" panose="02000503000000020004" pitchFamily="2" charset="0"/>
                          <a:ea typeface="Inter" panose="02000503000000020004" pitchFamily="2" charset="0"/>
                          <a:cs typeface="Inter" panose="02000503000000020004" pitchFamily="2" charset="0"/>
                        </a:rPr>
                        <a:t>memgraph</a:t>
                      </a:r>
                      <a:r>
                        <a:rPr lang="en-US" sz="1200" dirty="0">
                          <a:effectLst/>
                          <a:latin typeface="Inter" panose="02000503000000020004" pitchFamily="2" charset="0"/>
                          <a:ea typeface="Inter" panose="02000503000000020004" pitchFamily="2" charset="0"/>
                          <a:cs typeface="Inter" panose="02000503000000020004" pitchFamily="2" charset="0"/>
                        </a:rPr>
                        <a:t>: "healthy" }</a:t>
                      </a:r>
                    </a:p>
                  </a:txBody>
                  <a:tcPr marL="47297" marR="47297" marT="23649" marB="23649" anchor="ctr"/>
                </a:tc>
                <a:extLst>
                  <a:ext uri="{0D108BD9-81ED-4DB2-BD59-A6C34878D82A}">
                    <a16:rowId xmlns:a16="http://schemas.microsoft.com/office/drawing/2014/main" val="2870461141"/>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metrics</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Current metrics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active_jobs</a:t>
                      </a:r>
                      <a:r>
                        <a:rPr lang="en-US" sz="1200" dirty="0">
                          <a:effectLst/>
                          <a:latin typeface="Inter" panose="02000503000000020004" pitchFamily="2" charset="0"/>
                          <a:ea typeface="Inter" panose="02000503000000020004" pitchFamily="2" charset="0"/>
                          <a:cs typeface="Inter" panose="02000503000000020004" pitchFamily="2" charset="0"/>
                        </a:rPr>
                        <a:t>: 3, </a:t>
                      </a:r>
                      <a:r>
                        <a:rPr lang="en-US" sz="1200" dirty="0" err="1">
                          <a:effectLst/>
                          <a:latin typeface="Inter" panose="02000503000000020004" pitchFamily="2" charset="0"/>
                          <a:ea typeface="Inter" panose="02000503000000020004" pitchFamily="2" charset="0"/>
                          <a:cs typeface="Inter" panose="02000503000000020004" pitchFamily="2" charset="0"/>
                        </a:rPr>
                        <a:t>agent_runs_today</a:t>
                      </a:r>
                      <a:r>
                        <a:rPr lang="en-US" sz="1200" dirty="0">
                          <a:effectLst/>
                          <a:latin typeface="Inter" panose="02000503000000020004" pitchFamily="2" charset="0"/>
                          <a:ea typeface="Inter" panose="02000503000000020004" pitchFamily="2" charset="0"/>
                          <a:cs typeface="Inter" panose="02000503000000020004" pitchFamily="2" charset="0"/>
                        </a:rPr>
                        <a:t>: 127, </a:t>
                      </a:r>
                      <a:r>
                        <a:rPr lang="en-US" sz="1200" dirty="0" err="1">
                          <a:effectLst/>
                          <a:latin typeface="Inter" panose="02000503000000020004" pitchFamily="2" charset="0"/>
                          <a:ea typeface="Inter" panose="02000503000000020004" pitchFamily="2" charset="0"/>
                          <a:cs typeface="Inter" panose="02000503000000020004" pitchFamily="2" charset="0"/>
                        </a:rPr>
                        <a:t>llm_tokens_used</a:t>
                      </a:r>
                      <a:r>
                        <a:rPr lang="en-US" sz="1200" dirty="0">
                          <a:effectLst/>
                          <a:latin typeface="Inter" panose="02000503000000020004" pitchFamily="2" charset="0"/>
                          <a:ea typeface="Inter" panose="02000503000000020004" pitchFamily="2" charset="0"/>
                          <a:cs typeface="Inter" panose="02000503000000020004" pitchFamily="2" charset="0"/>
                        </a:rPr>
                        <a:t>: 45000 }</a:t>
                      </a:r>
                    </a:p>
                  </a:txBody>
                  <a:tcPr marL="47297" marR="47297" marT="23649" marB="23649" anchor="ctr"/>
                </a:tc>
                <a:extLst>
                  <a:ext uri="{0D108BD9-81ED-4DB2-BD59-A6C34878D82A}">
                    <a16:rowId xmlns:a16="http://schemas.microsoft.com/office/drawing/2014/main" val="2769352664"/>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config</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View configuration</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default_model</a:t>
                      </a:r>
                      <a:r>
                        <a:rPr lang="en-US" sz="1200" dirty="0">
                          <a:effectLst/>
                          <a:latin typeface="Inter" panose="02000503000000020004" pitchFamily="2" charset="0"/>
                          <a:ea typeface="Inter" panose="02000503000000020004" pitchFamily="2" charset="0"/>
                          <a:cs typeface="Inter" panose="02000503000000020004" pitchFamily="2" charset="0"/>
                        </a:rPr>
                        <a:t>: "gpt-4o", </a:t>
                      </a:r>
                      <a:r>
                        <a:rPr lang="en-US" sz="1200" dirty="0" err="1">
                          <a:effectLst/>
                          <a:latin typeface="Inter" panose="02000503000000020004" pitchFamily="2" charset="0"/>
                          <a:ea typeface="Inter" panose="02000503000000020004" pitchFamily="2" charset="0"/>
                          <a:cs typeface="Inter" panose="02000503000000020004" pitchFamily="2" charset="0"/>
                        </a:rPr>
                        <a:t>rate_limit</a:t>
                      </a:r>
                      <a:r>
                        <a:rPr lang="en-US" sz="1200" dirty="0">
                          <a:effectLst/>
                          <a:latin typeface="Inter" panose="02000503000000020004" pitchFamily="2" charset="0"/>
                          <a:ea typeface="Inter" panose="02000503000000020004" pitchFamily="2" charset="0"/>
                          <a:cs typeface="Inter" panose="02000503000000020004" pitchFamily="2" charset="0"/>
                        </a:rPr>
                        <a:t>: 100/min, tenant: "</a:t>
                      </a:r>
                      <a:r>
                        <a:rPr lang="en-US" sz="1200" dirty="0" err="1">
                          <a:effectLst/>
                          <a:latin typeface="Inter" panose="02000503000000020004" pitchFamily="2" charset="0"/>
                          <a:ea typeface="Inter" panose="02000503000000020004" pitchFamily="2" charset="0"/>
                          <a:cs typeface="Inter" panose="02000503000000020004" pitchFamily="2" charset="0"/>
                        </a:rPr>
                        <a:t>cineca</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47297" marR="47297" marT="23649" marB="23649" anchor="ctr"/>
                </a:tc>
                <a:extLst>
                  <a:ext uri="{0D108BD9-81ED-4DB2-BD59-A6C34878D82A}">
                    <a16:rowId xmlns:a16="http://schemas.microsoft.com/office/drawing/2014/main" val="2229832840"/>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Overall status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api</a:t>
                      </a:r>
                      <a:r>
                        <a:rPr lang="en-US" sz="1200" dirty="0">
                          <a:effectLst/>
                          <a:latin typeface="Inter" panose="02000503000000020004" pitchFamily="2" charset="0"/>
                          <a:ea typeface="Inter" panose="02000503000000020004" pitchFamily="2" charset="0"/>
                          <a:cs typeface="Inter" panose="02000503000000020004" pitchFamily="2" charset="0"/>
                        </a:rPr>
                        <a:t>: "running", workers: 2, </a:t>
                      </a:r>
                      <a:r>
                        <a:rPr lang="en-US" sz="1200" dirty="0" err="1">
                          <a:effectLst/>
                          <a:latin typeface="Inter" panose="02000503000000020004" pitchFamily="2" charset="0"/>
                          <a:ea typeface="Inter" panose="02000503000000020004" pitchFamily="2" charset="0"/>
                          <a:cs typeface="Inter" panose="02000503000000020004" pitchFamily="2" charset="0"/>
                        </a:rPr>
                        <a:t>queue_depth</a:t>
                      </a:r>
                      <a:r>
                        <a:rPr lang="en-US" sz="1200" dirty="0">
                          <a:effectLst/>
                          <a:latin typeface="Inter" panose="02000503000000020004" pitchFamily="2" charset="0"/>
                          <a:ea typeface="Inter" panose="02000503000000020004" pitchFamily="2" charset="0"/>
                          <a:cs typeface="Inter" panose="02000503000000020004" pitchFamily="2" charset="0"/>
                        </a:rPr>
                        <a:t>: 5 }</a:t>
                      </a:r>
                    </a:p>
                  </a:txBody>
                  <a:tcPr marL="47297" marR="47297" marT="23649" marB="23649" anchor="ctr"/>
                </a:tc>
                <a:extLst>
                  <a:ext uri="{0D108BD9-81ED-4DB2-BD59-A6C34878D82A}">
                    <a16:rowId xmlns:a16="http://schemas.microsoft.com/office/drawing/2014/main" val="24903734"/>
                  </a:ext>
                </a:extLst>
              </a:tr>
            </a:tbl>
          </a:graphicData>
        </a:graphic>
      </p:graphicFrame>
      <p:sp>
        <p:nvSpPr>
          <p:cNvPr id="3" name="Footer Placeholder 10">
            <a:extLst>
              <a:ext uri="{FF2B5EF4-FFF2-40B4-BE49-F238E27FC236}">
                <a16:creationId xmlns:a16="http://schemas.microsoft.com/office/drawing/2014/main" id="{70D78716-FB13-9FEB-640C-007D0C41A125}"/>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330478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D8985-53AB-BD97-A2CB-29420604011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0086CF1-A280-A741-2A43-E673E9E85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49261B3-2412-8115-5425-CF635084E403}"/>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7823D084-DAB5-CA3F-4EDF-4A64F46EFD2B}"/>
              </a:ext>
            </a:extLst>
          </p:cNvPr>
          <p:cNvSpPr>
            <a:spLocks noGrp="1"/>
          </p:cNvSpPr>
          <p:nvPr>
            <p:ph type="sldNum" sz="quarter" idx="12"/>
          </p:nvPr>
        </p:nvSpPr>
        <p:spPr/>
        <p:txBody>
          <a:bodyPr/>
          <a:lstStyle/>
          <a:p>
            <a:fld id="{48F19E39-9933-F648-B2F3-3AC17C0DC986}" type="slidenum">
              <a:rPr lang="en-US" smtClean="0">
                <a:solidFill>
                  <a:schemeClr val="bg1"/>
                </a:solidFill>
              </a:rPr>
              <a:t>25</a:t>
            </a:fld>
            <a:endParaRPr lang="en-US" dirty="0">
              <a:solidFill>
                <a:schemeClr val="bg1"/>
              </a:solidFill>
            </a:endParaRPr>
          </a:p>
        </p:txBody>
      </p:sp>
      <p:sp>
        <p:nvSpPr>
          <p:cNvPr id="2" name="TextBox 1">
            <a:extLst>
              <a:ext uri="{FF2B5EF4-FFF2-40B4-BE49-F238E27FC236}">
                <a16:creationId xmlns:a16="http://schemas.microsoft.com/office/drawing/2014/main" id="{9C163538-AE2C-B053-5F59-227EBF0E8AE9}"/>
              </a:ext>
            </a:extLst>
          </p:cNvPr>
          <p:cNvSpPr txBox="1"/>
          <p:nvPr/>
        </p:nvSpPr>
        <p:spPr>
          <a:xfrm>
            <a:off x="596343"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4) CACHE — Redis cache operations</a:t>
            </a:r>
          </a:p>
        </p:txBody>
      </p:sp>
      <p:sp>
        <p:nvSpPr>
          <p:cNvPr id="5" name="TextBox 4">
            <a:extLst>
              <a:ext uri="{FF2B5EF4-FFF2-40B4-BE49-F238E27FC236}">
                <a16:creationId xmlns:a16="http://schemas.microsoft.com/office/drawing/2014/main" id="{BE77D5B3-30B8-F369-D16D-5F2CFB8E02D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3/5) </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3" name="Table 2">
            <a:extLst>
              <a:ext uri="{FF2B5EF4-FFF2-40B4-BE49-F238E27FC236}">
                <a16:creationId xmlns:a16="http://schemas.microsoft.com/office/drawing/2014/main" id="{9E146ED0-75DF-3BBC-4341-570989948DF5}"/>
              </a:ext>
            </a:extLst>
          </p:cNvPr>
          <p:cNvGraphicFramePr>
            <a:graphicFrameLocks noGrp="1"/>
          </p:cNvGraphicFramePr>
          <p:nvPr>
            <p:extLst>
              <p:ext uri="{D42A27DB-BD31-4B8C-83A1-F6EECF244321}">
                <p14:modId xmlns:p14="http://schemas.microsoft.com/office/powerpoint/2010/main" val="1604814350"/>
              </p:ext>
            </p:extLst>
          </p:nvPr>
        </p:nvGraphicFramePr>
        <p:xfrm>
          <a:off x="596345" y="1502668"/>
          <a:ext cx="11127822" cy="1166130"/>
        </p:xfrm>
        <a:graphic>
          <a:graphicData uri="http://schemas.openxmlformats.org/drawingml/2006/table">
            <a:tbl>
              <a:tblPr>
                <a:tableStyleId>{00A15C55-8517-42AA-B614-E9B94910E393}</a:tableStyleId>
              </a:tblPr>
              <a:tblGrid>
                <a:gridCol w="1024110">
                  <a:extLst>
                    <a:ext uri="{9D8B030D-6E8A-4147-A177-3AD203B41FA5}">
                      <a16:colId xmlns:a16="http://schemas.microsoft.com/office/drawing/2014/main" val="2522181129"/>
                    </a:ext>
                  </a:extLst>
                </a:gridCol>
                <a:gridCol w="2002420">
                  <a:extLst>
                    <a:ext uri="{9D8B030D-6E8A-4147-A177-3AD203B41FA5}">
                      <a16:colId xmlns:a16="http://schemas.microsoft.com/office/drawing/2014/main" val="1372164977"/>
                    </a:ext>
                  </a:extLst>
                </a:gridCol>
                <a:gridCol w="8101292">
                  <a:extLst>
                    <a:ext uri="{9D8B030D-6E8A-4147-A177-3AD203B41FA5}">
                      <a16:colId xmlns:a16="http://schemas.microsoft.com/office/drawing/2014/main" val="3761978161"/>
                    </a:ext>
                  </a:extLst>
                </a:gridCol>
              </a:tblGrid>
              <a:tr h="0">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Tool</a:t>
                      </a:r>
                    </a:p>
                  </a:txBody>
                  <a:tcPr marL="47297" marR="47297" marT="23649" marB="23649" anchor="b"/>
                </a:tc>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Description</a:t>
                      </a:r>
                    </a:p>
                  </a:txBody>
                  <a:tcPr marL="47297" marR="47297" marT="23649" marB="23649" anchor="b"/>
                </a:tc>
                <a:tc>
                  <a:txBody>
                    <a:bodyPr/>
                    <a:lstStyle/>
                    <a:p>
                      <a:pPr algn="l" fontAlgn="b"/>
                      <a:r>
                        <a:rPr lang="en-US" sz="1300" b="1" dirty="0">
                          <a:solidFill>
                            <a:schemeClr val="tx1"/>
                          </a:solidFill>
                          <a:effectLst/>
                          <a:latin typeface="Inter" panose="02000503000000020004" pitchFamily="2" charset="0"/>
                          <a:ea typeface="Inter" panose="02000503000000020004" pitchFamily="2" charset="0"/>
                          <a:cs typeface="Inter" panose="02000503000000020004" pitchFamily="2" charset="0"/>
                        </a:rPr>
                        <a:t>Example</a:t>
                      </a:r>
                    </a:p>
                  </a:txBody>
                  <a:tcPr marL="47297" marR="47297" marT="23649" marB="23649" anchor="b"/>
                </a:tc>
                <a:extLst>
                  <a:ext uri="{0D108BD9-81ED-4DB2-BD59-A6C34878D82A}">
                    <a16:rowId xmlns:a16="http://schemas.microsoft.com/office/drawing/2014/main" val="4162966157"/>
                  </a:ext>
                </a:extLst>
              </a:tr>
              <a:tr h="0">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get</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Read cached value</a:t>
                      </a:r>
                    </a:p>
                  </a:txBody>
                  <a:tcPr marL="47297" marR="47297" marT="23649" marB="23649" anchor="ctr"/>
                </a:tc>
                <a:tc>
                  <a:txBody>
                    <a:bodyPr/>
                    <a:lstStyle/>
                    <a:p>
                      <a:pPr algn="l" fontAlgn="base"/>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cache.get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blast_count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 Returns: 186 (cached from previous query)</a:t>
                      </a:r>
                    </a:p>
                  </a:txBody>
                  <a:tcPr marL="47297" marR="47297" marT="23649" marB="23649" anchor="ctr"/>
                </a:tc>
                <a:extLst>
                  <a:ext uri="{0D108BD9-81ED-4DB2-BD59-A6C34878D82A}">
                    <a16:rowId xmlns:a16="http://schemas.microsoft.com/office/drawing/2014/main" val="2088201658"/>
                  </a:ext>
                </a:extLst>
              </a:tr>
              <a:tr h="0">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set</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Store value</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cache.set("blast_count", 186, ttl=3600) → Caches result for 1 hour</a:t>
                      </a:r>
                    </a:p>
                  </a:txBody>
                  <a:tcPr marL="47297" marR="47297" marT="23649" marB="23649" anchor="ctr"/>
                </a:tc>
                <a:extLst>
                  <a:ext uri="{0D108BD9-81ED-4DB2-BD59-A6C34878D82A}">
                    <a16:rowId xmlns:a16="http://schemas.microsoft.com/office/drawing/2014/main" val="3408476617"/>
                  </a:ext>
                </a:extLst>
              </a:tr>
              <a:tr h="0">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delete</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Remove key</a:t>
                      </a:r>
                    </a:p>
                  </a:txBody>
                  <a:tcPr marL="47297" marR="47297" marT="23649" marB="23649" anchor="ctr"/>
                </a:tc>
                <a:tc>
                  <a:txBody>
                    <a:bodyPr/>
                    <a:lstStyle/>
                    <a:p>
                      <a:pPr algn="l" fontAlgn="base"/>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cache.delete</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a:t>
                      </a:r>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blast_count</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 → Removes cached value</a:t>
                      </a:r>
                    </a:p>
                  </a:txBody>
                  <a:tcPr marL="47297" marR="47297" marT="23649" marB="23649" anchor="ctr"/>
                </a:tc>
                <a:extLst>
                  <a:ext uri="{0D108BD9-81ED-4DB2-BD59-A6C34878D82A}">
                    <a16:rowId xmlns:a16="http://schemas.microsoft.com/office/drawing/2014/main" val="92748770"/>
                  </a:ext>
                </a:extLst>
              </a:tr>
              <a:tr h="0">
                <a:tc>
                  <a:txBody>
                    <a:bodyPr/>
                    <a:lstStyle/>
                    <a:p>
                      <a:pPr algn="l" fontAlgn="base"/>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invalidate</a:t>
                      </a:r>
                    </a:p>
                  </a:txBody>
                  <a:tcPr marL="47297" marR="47297" marT="23649" marB="23649" anchor="ctr"/>
                </a:tc>
                <a:tc>
                  <a:txBody>
                    <a:bodyPr/>
                    <a:lstStyle/>
                    <a:p>
                      <a:pPr algn="l" fontAlgn="base"/>
                      <a:r>
                        <a:rPr lang="en-US" sz="1200">
                          <a:solidFill>
                            <a:schemeClr val="tx1"/>
                          </a:solidFill>
                          <a:effectLst/>
                          <a:latin typeface="Inter" panose="02000503000000020004" pitchFamily="2" charset="0"/>
                          <a:ea typeface="Inter" panose="02000503000000020004" pitchFamily="2" charset="0"/>
                          <a:cs typeface="Inter" panose="02000503000000020004" pitchFamily="2" charset="0"/>
                        </a:rPr>
                        <a:t>Clear pattern</a:t>
                      </a:r>
                    </a:p>
                  </a:txBody>
                  <a:tcPr marL="47297" marR="47297" marT="23649" marB="23649" anchor="ctr"/>
                </a:tc>
                <a:tc>
                  <a:txBody>
                    <a:bodyPr/>
                    <a:lstStyle/>
                    <a:p>
                      <a:pPr algn="l" fontAlgn="base"/>
                      <a:r>
                        <a:rPr lang="en-US" sz="1200" dirty="0" err="1">
                          <a:solidFill>
                            <a:schemeClr val="tx1"/>
                          </a:solidFill>
                          <a:effectLst/>
                          <a:latin typeface="Inter" panose="02000503000000020004" pitchFamily="2" charset="0"/>
                          <a:ea typeface="Inter" panose="02000503000000020004" pitchFamily="2" charset="0"/>
                          <a:cs typeface="Inter" panose="02000503000000020004" pitchFamily="2" charset="0"/>
                        </a:rPr>
                        <a:t>cache.invalidate</a:t>
                      </a:r>
                      <a:r>
                        <a:rPr lang="en-US" sz="1200" dirty="0">
                          <a:solidFill>
                            <a:schemeClr val="tx1"/>
                          </a:solidFill>
                          <a:effectLst/>
                          <a:latin typeface="Inter" panose="02000503000000020004" pitchFamily="2" charset="0"/>
                          <a:ea typeface="Inter" panose="02000503000000020004" pitchFamily="2" charset="0"/>
                          <a:cs typeface="Inter" panose="02000503000000020004" pitchFamily="2" charset="0"/>
                        </a:rPr>
                        <a:t>("blast_*") → Clears all Blast-related cache entries</a:t>
                      </a:r>
                    </a:p>
                  </a:txBody>
                  <a:tcPr marL="47297" marR="47297" marT="23649" marB="23649" anchor="ctr"/>
                </a:tc>
                <a:extLst>
                  <a:ext uri="{0D108BD9-81ED-4DB2-BD59-A6C34878D82A}">
                    <a16:rowId xmlns:a16="http://schemas.microsoft.com/office/drawing/2014/main" val="1482178121"/>
                  </a:ext>
                </a:extLst>
              </a:tr>
            </a:tbl>
          </a:graphicData>
        </a:graphic>
      </p:graphicFrame>
      <p:sp>
        <p:nvSpPr>
          <p:cNvPr id="6" name="TextBox 5">
            <a:extLst>
              <a:ext uri="{FF2B5EF4-FFF2-40B4-BE49-F238E27FC236}">
                <a16:creationId xmlns:a16="http://schemas.microsoft.com/office/drawing/2014/main" id="{CE55CF29-8071-7F74-A24C-2F49279513FB}"/>
              </a:ext>
            </a:extLst>
          </p:cNvPr>
          <p:cNvSpPr txBox="1"/>
          <p:nvPr/>
        </p:nvSpPr>
        <p:spPr>
          <a:xfrm>
            <a:off x="596344" y="2754200"/>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5) CATALOG — Tool and resource discovery</a:t>
            </a:r>
          </a:p>
        </p:txBody>
      </p:sp>
      <p:graphicFrame>
        <p:nvGraphicFramePr>
          <p:cNvPr id="7" name="Table 6">
            <a:extLst>
              <a:ext uri="{FF2B5EF4-FFF2-40B4-BE49-F238E27FC236}">
                <a16:creationId xmlns:a16="http://schemas.microsoft.com/office/drawing/2014/main" id="{95F3622A-FE66-6FD0-3CBF-A149D860EC9F}"/>
              </a:ext>
            </a:extLst>
          </p:cNvPr>
          <p:cNvGraphicFramePr>
            <a:graphicFrameLocks noGrp="1"/>
          </p:cNvGraphicFramePr>
          <p:nvPr>
            <p:extLst>
              <p:ext uri="{D42A27DB-BD31-4B8C-83A1-F6EECF244321}">
                <p14:modId xmlns:p14="http://schemas.microsoft.com/office/powerpoint/2010/main" val="332120134"/>
              </p:ext>
            </p:extLst>
          </p:nvPr>
        </p:nvGraphicFramePr>
        <p:xfrm>
          <a:off x="596345" y="3147379"/>
          <a:ext cx="11127822" cy="995408"/>
        </p:xfrm>
        <a:graphic>
          <a:graphicData uri="http://schemas.openxmlformats.org/drawingml/2006/table">
            <a:tbl>
              <a:tblPr>
                <a:tableStyleId>{00A15C55-8517-42AA-B614-E9B94910E393}</a:tableStyleId>
              </a:tblPr>
              <a:tblGrid>
                <a:gridCol w="1019094">
                  <a:extLst>
                    <a:ext uri="{9D8B030D-6E8A-4147-A177-3AD203B41FA5}">
                      <a16:colId xmlns:a16="http://schemas.microsoft.com/office/drawing/2014/main" val="83260923"/>
                    </a:ext>
                  </a:extLst>
                </a:gridCol>
                <a:gridCol w="2021840">
                  <a:extLst>
                    <a:ext uri="{9D8B030D-6E8A-4147-A177-3AD203B41FA5}">
                      <a16:colId xmlns:a16="http://schemas.microsoft.com/office/drawing/2014/main" val="1666248448"/>
                    </a:ext>
                  </a:extLst>
                </a:gridCol>
                <a:gridCol w="8086888">
                  <a:extLst>
                    <a:ext uri="{9D8B030D-6E8A-4147-A177-3AD203B41FA5}">
                      <a16:colId xmlns:a16="http://schemas.microsoft.com/office/drawing/2014/main" val="1902005214"/>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2162" marR="62162" marT="31081" marB="31081" anchor="b"/>
                </a:tc>
                <a:extLst>
                  <a:ext uri="{0D108BD9-81ED-4DB2-BD59-A6C34878D82A}">
                    <a16:rowId xmlns:a16="http://schemas.microsoft.com/office/drawing/2014/main" val="688405405"/>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discover</a:t>
                      </a:r>
                    </a:p>
                  </a:txBody>
                  <a:tcPr marL="62162" marR="62162" marT="31081" marB="3108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List resources</a:t>
                      </a:r>
                    </a:p>
                  </a:txBody>
                  <a:tcPr marL="62162" marR="62162" marT="31081" marB="3108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 </a:t>
                      </a:r>
                      <a:r>
                        <a:rPr lang="en-US" sz="1200" dirty="0" err="1">
                          <a:effectLst/>
                          <a:latin typeface="Inter" panose="02000503000000020004" pitchFamily="2" charset="0"/>
                          <a:ea typeface="Inter" panose="02000503000000020004" pitchFamily="2" charset="0"/>
                          <a:cs typeface="Inter" panose="02000503000000020004" pitchFamily="2" charset="0"/>
                        </a:rPr>
                        <a:t>node_types</a:t>
                      </a:r>
                      <a:r>
                        <a:rPr lang="en-US" sz="1200" dirty="0">
                          <a:effectLst/>
                          <a:latin typeface="Inter" panose="02000503000000020004" pitchFamily="2" charset="0"/>
                          <a:ea typeface="Inter" panose="02000503000000020004" pitchFamily="2" charset="0"/>
                          <a:cs typeface="Inter" panose="02000503000000020004" pitchFamily="2" charset="0"/>
                        </a:rPr>
                        <a:t>: ["Blast", "</a:t>
                      </a:r>
                      <a:r>
                        <a:rPr lang="en-US" sz="1200" dirty="0" err="1">
                          <a:effectLst/>
                          <a:latin typeface="Inter" panose="02000503000000020004" pitchFamily="2" charset="0"/>
                          <a:ea typeface="Inter" panose="02000503000000020004" pitchFamily="2" charset="0"/>
                          <a:cs typeface="Inter" panose="02000503000000020004" pitchFamily="2" charset="0"/>
                        </a:rPr>
                        <a:t>BlastDb</a:t>
                      </a:r>
                      <a:r>
                        <a:rPr lang="en-US" sz="1200" dirty="0">
                          <a:effectLst/>
                          <a:latin typeface="Inter" panose="02000503000000020004" pitchFamily="2" charset="0"/>
                          <a:ea typeface="Inter" panose="02000503000000020004" pitchFamily="2" charset="0"/>
                          <a:cs typeface="Inter" panose="02000503000000020004" pitchFamily="2" charset="0"/>
                        </a:rPr>
                        <a:t>", "File"], tools: 34, models: 3 }</a:t>
                      </a:r>
                    </a:p>
                  </a:txBody>
                  <a:tcPr marL="62162" marR="62162" marT="31081" marB="31081" anchor="ctr"/>
                </a:tc>
                <a:extLst>
                  <a:ext uri="{0D108BD9-81ED-4DB2-BD59-A6C34878D82A}">
                    <a16:rowId xmlns:a16="http://schemas.microsoft.com/office/drawing/2014/main" val="1385610150"/>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describe</a:t>
                      </a:r>
                    </a:p>
                  </a:txBody>
                  <a:tcPr marL="62162" marR="62162" marT="31081" marB="3108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Resource details</a:t>
                      </a:r>
                    </a:p>
                  </a:txBody>
                  <a:tcPr marL="62162" marR="62162" marT="31081" marB="31081"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catalog.describe</a:t>
                      </a:r>
                      <a:r>
                        <a:rPr lang="en-US" sz="1200" dirty="0">
                          <a:effectLst/>
                          <a:latin typeface="Inter" panose="02000503000000020004" pitchFamily="2" charset="0"/>
                          <a:ea typeface="Inter" panose="02000503000000020004" pitchFamily="2" charset="0"/>
                          <a:cs typeface="Inter" panose="02000503000000020004" pitchFamily="2" charset="0"/>
                        </a:rPr>
                        <a:t>("Blast") → Returns properties: [</a:t>
                      </a:r>
                      <a:r>
                        <a:rPr lang="en-US" sz="1200" dirty="0" err="1">
                          <a:effectLst/>
                          <a:latin typeface="Inter" panose="02000503000000020004" pitchFamily="2" charset="0"/>
                          <a:ea typeface="Inter" panose="02000503000000020004" pitchFamily="2" charset="0"/>
                          <a:cs typeface="Inter" panose="02000503000000020004" pitchFamily="2" charset="0"/>
                        </a:rPr>
                        <a:t>blast_version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blasttype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dbname</a:t>
                      </a:r>
                      <a:r>
                        <a:rPr lang="en-US" sz="1200" dirty="0">
                          <a:effectLst/>
                          <a:latin typeface="Inter" panose="02000503000000020004" pitchFamily="2" charset="0"/>
                          <a:ea typeface="Inter" panose="02000503000000020004" pitchFamily="2" charset="0"/>
                          <a:cs typeface="Inter" panose="02000503000000020004" pitchFamily="2" charset="0"/>
                        </a:rPr>
                        <a:t>, status, ...]</a:t>
                      </a:r>
                    </a:p>
                  </a:txBody>
                  <a:tcPr marL="62162" marR="62162" marT="31081" marB="31081" anchor="ctr"/>
                </a:tc>
                <a:extLst>
                  <a:ext uri="{0D108BD9-81ED-4DB2-BD59-A6C34878D82A}">
                    <a16:rowId xmlns:a16="http://schemas.microsoft.com/office/drawing/2014/main" val="1744867277"/>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search</a:t>
                      </a:r>
                    </a:p>
                  </a:txBody>
                  <a:tcPr marL="62162" marR="62162" marT="31081" marB="3108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Search catalogs</a:t>
                      </a:r>
                    </a:p>
                  </a:txBody>
                  <a:tcPr marL="62162" marR="62162" marT="31081" marB="31081"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catalog.search</a:t>
                      </a:r>
                      <a:r>
                        <a:rPr lang="en-US" sz="1200" dirty="0">
                          <a:effectLst/>
                          <a:latin typeface="Inter" panose="02000503000000020004" pitchFamily="2" charset="0"/>
                          <a:ea typeface="Inter" panose="02000503000000020004" pitchFamily="2" charset="0"/>
                          <a:cs typeface="Inter" panose="02000503000000020004" pitchFamily="2" charset="0"/>
                        </a:rPr>
                        <a:t>("sequence") → Returns: [BlastedSeq, </a:t>
                      </a:r>
                      <a:r>
                        <a:rPr lang="en-US" sz="1200" dirty="0" err="1">
                          <a:effectLst/>
                          <a:latin typeface="Inter" panose="02000503000000020004" pitchFamily="2" charset="0"/>
                          <a:ea typeface="Inter" panose="02000503000000020004" pitchFamily="2" charset="0"/>
                          <a:cs typeface="Inter" panose="02000503000000020004" pitchFamily="2" charset="0"/>
                        </a:rPr>
                        <a:t>BlastSeq</a:t>
                      </a:r>
                      <a:r>
                        <a:rPr lang="en-US" sz="1200" dirty="0">
                          <a:effectLst/>
                          <a:latin typeface="Inter" panose="02000503000000020004" pitchFamily="2" charset="0"/>
                          <a:ea typeface="Inter" panose="02000503000000020004" pitchFamily="2" charset="0"/>
                          <a:cs typeface="Inter" panose="02000503000000020004" pitchFamily="2" charset="0"/>
                        </a:rPr>
                        <a:t>]</a:t>
                      </a:r>
                    </a:p>
                  </a:txBody>
                  <a:tcPr marL="62162" marR="62162" marT="31081" marB="31081" anchor="ctr"/>
                </a:tc>
                <a:extLst>
                  <a:ext uri="{0D108BD9-81ED-4DB2-BD59-A6C34878D82A}">
                    <a16:rowId xmlns:a16="http://schemas.microsoft.com/office/drawing/2014/main" val="2324026965"/>
                  </a:ext>
                </a:extLst>
              </a:tr>
            </a:tbl>
          </a:graphicData>
        </a:graphic>
      </p:graphicFrame>
      <p:sp>
        <p:nvSpPr>
          <p:cNvPr id="8" name="TextBox 7">
            <a:extLst>
              <a:ext uri="{FF2B5EF4-FFF2-40B4-BE49-F238E27FC236}">
                <a16:creationId xmlns:a16="http://schemas.microsoft.com/office/drawing/2014/main" id="{62685A7D-74BF-2B2A-2491-39382461497C}"/>
              </a:ext>
            </a:extLst>
          </p:cNvPr>
          <p:cNvSpPr txBox="1"/>
          <p:nvPr/>
        </p:nvSpPr>
        <p:spPr>
          <a:xfrm>
            <a:off x="532087" y="4250663"/>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6) MODEL — LLM provider management</a:t>
            </a:r>
          </a:p>
        </p:txBody>
      </p:sp>
      <p:graphicFrame>
        <p:nvGraphicFramePr>
          <p:cNvPr id="9" name="Table 8">
            <a:extLst>
              <a:ext uri="{FF2B5EF4-FFF2-40B4-BE49-F238E27FC236}">
                <a16:creationId xmlns:a16="http://schemas.microsoft.com/office/drawing/2014/main" id="{BD01DF13-4336-0E54-9D31-95299AFE6D73}"/>
              </a:ext>
            </a:extLst>
          </p:cNvPr>
          <p:cNvGraphicFramePr>
            <a:graphicFrameLocks noGrp="1"/>
          </p:cNvGraphicFramePr>
          <p:nvPr>
            <p:extLst>
              <p:ext uri="{D42A27DB-BD31-4B8C-83A1-F6EECF244321}">
                <p14:modId xmlns:p14="http://schemas.microsoft.com/office/powerpoint/2010/main" val="1986972746"/>
              </p:ext>
            </p:extLst>
          </p:nvPr>
        </p:nvGraphicFramePr>
        <p:xfrm>
          <a:off x="596344" y="4667989"/>
          <a:ext cx="11127822" cy="1166130"/>
        </p:xfrm>
        <a:graphic>
          <a:graphicData uri="http://schemas.openxmlformats.org/drawingml/2006/table">
            <a:tbl>
              <a:tblPr>
                <a:tableStyleId>{00A15C55-8517-42AA-B614-E9B94910E393}</a:tableStyleId>
              </a:tblPr>
              <a:tblGrid>
                <a:gridCol w="1019095">
                  <a:extLst>
                    <a:ext uri="{9D8B030D-6E8A-4147-A177-3AD203B41FA5}">
                      <a16:colId xmlns:a16="http://schemas.microsoft.com/office/drawing/2014/main" val="693901893"/>
                    </a:ext>
                  </a:extLst>
                </a:gridCol>
                <a:gridCol w="2032000">
                  <a:extLst>
                    <a:ext uri="{9D8B030D-6E8A-4147-A177-3AD203B41FA5}">
                      <a16:colId xmlns:a16="http://schemas.microsoft.com/office/drawing/2014/main" val="1102337711"/>
                    </a:ext>
                  </a:extLst>
                </a:gridCol>
                <a:gridCol w="8076727">
                  <a:extLst>
                    <a:ext uri="{9D8B030D-6E8A-4147-A177-3AD203B41FA5}">
                      <a16:colId xmlns:a16="http://schemas.microsoft.com/office/drawing/2014/main" val="2121153081"/>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7297" marR="47297" marT="23649" marB="23649"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7297" marR="47297" marT="23649" marB="23649"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7297" marR="47297" marT="23649" marB="23649" anchor="b"/>
                </a:tc>
                <a:extLst>
                  <a:ext uri="{0D108BD9-81ED-4DB2-BD59-A6C34878D82A}">
                    <a16:rowId xmlns:a16="http://schemas.microsoft.com/office/drawing/2014/main" val="537865125"/>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list</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Available models</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Returns: ["gpt-4o", "gpt-3.5-turbo", "phi3:mini (</a:t>
                      </a:r>
                      <a:r>
                        <a:rPr lang="en-US" sz="1200" dirty="0" err="1">
                          <a:effectLst/>
                          <a:latin typeface="Inter" panose="02000503000000020004" pitchFamily="2" charset="0"/>
                          <a:ea typeface="Inter" panose="02000503000000020004" pitchFamily="2" charset="0"/>
                          <a:cs typeface="Inter" panose="02000503000000020004" pitchFamily="2" charset="0"/>
                        </a:rPr>
                        <a:t>Ollama</a:t>
                      </a:r>
                      <a:r>
                        <a:rPr lang="en-US" sz="1200" dirty="0">
                          <a:effectLst/>
                          <a:latin typeface="Inter" panose="02000503000000020004" pitchFamily="2" charset="0"/>
                          <a:ea typeface="Inter" panose="02000503000000020004" pitchFamily="2" charset="0"/>
                          <a:cs typeface="Inter" panose="02000503000000020004" pitchFamily="2" charset="0"/>
                        </a:rPr>
                        <a:t>)"]</a:t>
                      </a:r>
                    </a:p>
                  </a:txBody>
                  <a:tcPr marL="47297" marR="47297" marT="23649" marB="23649" anchor="ctr"/>
                </a:tc>
                <a:extLst>
                  <a:ext uri="{0D108BD9-81ED-4DB2-BD59-A6C34878D82A}">
                    <a16:rowId xmlns:a16="http://schemas.microsoft.com/office/drawing/2014/main" val="2182609787"/>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info</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Model details</a:t>
                      </a:r>
                    </a:p>
                  </a:txBody>
                  <a:tcPr marL="47297" marR="47297" marT="23649" marB="23649"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model.info</a:t>
                      </a:r>
                      <a:r>
                        <a:rPr lang="en-US" sz="1200" dirty="0">
                          <a:effectLst/>
                          <a:latin typeface="Inter" panose="02000503000000020004" pitchFamily="2" charset="0"/>
                          <a:ea typeface="Inter" panose="02000503000000020004" pitchFamily="2" charset="0"/>
                          <a:cs typeface="Inter" panose="02000503000000020004" pitchFamily="2" charset="0"/>
                        </a:rPr>
                        <a:t>("gpt-4o") → Returns: { </a:t>
                      </a:r>
                      <a:r>
                        <a:rPr lang="en-US" sz="1200" dirty="0" err="1">
                          <a:effectLst/>
                          <a:latin typeface="Inter" panose="02000503000000020004" pitchFamily="2" charset="0"/>
                          <a:ea typeface="Inter" panose="02000503000000020004" pitchFamily="2" charset="0"/>
                          <a:cs typeface="Inter" panose="02000503000000020004" pitchFamily="2" charset="0"/>
                        </a:rPr>
                        <a:t>context_window</a:t>
                      </a:r>
                      <a:r>
                        <a:rPr lang="en-US" sz="1200" dirty="0">
                          <a:effectLst/>
                          <a:latin typeface="Inter" panose="02000503000000020004" pitchFamily="2" charset="0"/>
                          <a:ea typeface="Inter" panose="02000503000000020004" pitchFamily="2" charset="0"/>
                          <a:cs typeface="Inter" panose="02000503000000020004" pitchFamily="2" charset="0"/>
                        </a:rPr>
                        <a:t>: 128k, cost: $0.01/1k tokens }</a:t>
                      </a:r>
                    </a:p>
                  </a:txBody>
                  <a:tcPr marL="47297" marR="47297" marT="23649" marB="23649" anchor="ctr"/>
                </a:tc>
                <a:extLst>
                  <a:ext uri="{0D108BD9-81ED-4DB2-BD59-A6C34878D82A}">
                    <a16:rowId xmlns:a16="http://schemas.microsoft.com/office/drawing/2014/main" val="1280442257"/>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warmup</a:t>
                      </a:r>
                    </a:p>
                  </a:txBody>
                  <a:tcPr marL="47297" marR="47297" marT="23649" marB="23649"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Pre-load model</a:t>
                      </a:r>
                    </a:p>
                  </a:txBody>
                  <a:tcPr marL="47297" marR="47297" marT="23649" marB="23649"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model.warmup</a:t>
                      </a:r>
                      <a:r>
                        <a:rPr lang="en-US" sz="1200" dirty="0">
                          <a:effectLst/>
                          <a:latin typeface="Inter" panose="02000503000000020004" pitchFamily="2" charset="0"/>
                          <a:ea typeface="Inter" panose="02000503000000020004" pitchFamily="2" charset="0"/>
                          <a:cs typeface="Inter" panose="02000503000000020004" pitchFamily="2" charset="0"/>
                        </a:rPr>
                        <a:t>("phi3:mini") → Loads model into GPU memory for faster first response</a:t>
                      </a:r>
                    </a:p>
                  </a:txBody>
                  <a:tcPr marL="47297" marR="47297" marT="23649" marB="23649" anchor="ctr"/>
                </a:tc>
                <a:extLst>
                  <a:ext uri="{0D108BD9-81ED-4DB2-BD59-A6C34878D82A}">
                    <a16:rowId xmlns:a16="http://schemas.microsoft.com/office/drawing/2014/main" val="531676760"/>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switch</a:t>
                      </a:r>
                    </a:p>
                  </a:txBody>
                  <a:tcPr marL="47297" marR="47297" marT="23649" marB="23649"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Change model</a:t>
                      </a:r>
                    </a:p>
                  </a:txBody>
                  <a:tcPr marL="47297" marR="47297" marT="23649" marB="23649"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model.switch</a:t>
                      </a:r>
                      <a:r>
                        <a:rPr lang="en-US" sz="1200" dirty="0">
                          <a:effectLst/>
                          <a:latin typeface="Inter" panose="02000503000000020004" pitchFamily="2" charset="0"/>
                          <a:ea typeface="Inter" panose="02000503000000020004" pitchFamily="2" charset="0"/>
                          <a:cs typeface="Inter" panose="02000503000000020004" pitchFamily="2" charset="0"/>
                        </a:rPr>
                        <a:t>("gpt-3.5-turbo") → Sets as active model for this session</a:t>
                      </a:r>
                    </a:p>
                  </a:txBody>
                  <a:tcPr marL="47297" marR="47297" marT="23649" marB="23649" anchor="ctr"/>
                </a:tc>
                <a:extLst>
                  <a:ext uri="{0D108BD9-81ED-4DB2-BD59-A6C34878D82A}">
                    <a16:rowId xmlns:a16="http://schemas.microsoft.com/office/drawing/2014/main" val="813070991"/>
                  </a:ext>
                </a:extLst>
              </a:tr>
            </a:tbl>
          </a:graphicData>
        </a:graphic>
      </p:graphicFrame>
      <p:sp>
        <p:nvSpPr>
          <p:cNvPr id="15" name="Footer Placeholder 10">
            <a:extLst>
              <a:ext uri="{FF2B5EF4-FFF2-40B4-BE49-F238E27FC236}">
                <a16:creationId xmlns:a16="http://schemas.microsoft.com/office/drawing/2014/main" id="{45B8A7F7-28CC-178C-3472-3AA2B302FFF3}"/>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362706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CA567-7B71-62E2-9EBD-AB0848AFFD4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3476BB7-6DB3-8A43-F250-050A48E07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7228078-0F14-075B-E42E-C3FFCC4BBFA7}"/>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92BA0F0-6C91-3DD5-FA8B-38D256554B53}"/>
              </a:ext>
            </a:extLst>
          </p:cNvPr>
          <p:cNvSpPr>
            <a:spLocks noGrp="1"/>
          </p:cNvSpPr>
          <p:nvPr>
            <p:ph type="sldNum" sz="quarter" idx="12"/>
          </p:nvPr>
        </p:nvSpPr>
        <p:spPr/>
        <p:txBody>
          <a:bodyPr/>
          <a:lstStyle/>
          <a:p>
            <a:fld id="{48F19E39-9933-F648-B2F3-3AC17C0DC986}" type="slidenum">
              <a:rPr lang="en-US" smtClean="0">
                <a:solidFill>
                  <a:schemeClr val="bg1"/>
                </a:solidFill>
              </a:rPr>
              <a:t>26</a:t>
            </a:fld>
            <a:endParaRPr lang="en-US" dirty="0">
              <a:solidFill>
                <a:schemeClr val="bg1"/>
              </a:solidFill>
            </a:endParaRPr>
          </a:p>
        </p:txBody>
      </p:sp>
      <p:sp>
        <p:nvSpPr>
          <p:cNvPr id="2" name="TextBox 1">
            <a:extLst>
              <a:ext uri="{FF2B5EF4-FFF2-40B4-BE49-F238E27FC236}">
                <a16:creationId xmlns:a16="http://schemas.microsoft.com/office/drawing/2014/main" id="{80B81082-B1C3-740C-4FB1-D288F540ED41}"/>
              </a:ext>
            </a:extLst>
          </p:cNvPr>
          <p:cNvSpPr txBox="1"/>
          <p:nvPr/>
        </p:nvSpPr>
        <p:spPr>
          <a:xfrm>
            <a:off x="596345"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7) AGENT — Agent state management</a:t>
            </a:r>
          </a:p>
        </p:txBody>
      </p:sp>
      <p:sp>
        <p:nvSpPr>
          <p:cNvPr id="5" name="TextBox 4">
            <a:extLst>
              <a:ext uri="{FF2B5EF4-FFF2-40B4-BE49-F238E27FC236}">
                <a16:creationId xmlns:a16="http://schemas.microsoft.com/office/drawing/2014/main" id="{47C6347E-A878-8B9F-9562-D6B2CC2B00EF}"/>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4/5)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6" name="TextBox 5">
            <a:extLst>
              <a:ext uri="{FF2B5EF4-FFF2-40B4-BE49-F238E27FC236}">
                <a16:creationId xmlns:a16="http://schemas.microsoft.com/office/drawing/2014/main" id="{977E46AD-30BD-AC00-AE29-8CA45D35688F}"/>
              </a:ext>
            </a:extLst>
          </p:cNvPr>
          <p:cNvSpPr txBox="1"/>
          <p:nvPr/>
        </p:nvSpPr>
        <p:spPr>
          <a:xfrm>
            <a:off x="596344" y="2773661"/>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8) ANALYTICS — Data analysis operations</a:t>
            </a:r>
          </a:p>
        </p:txBody>
      </p:sp>
      <p:sp>
        <p:nvSpPr>
          <p:cNvPr id="8" name="TextBox 7">
            <a:extLst>
              <a:ext uri="{FF2B5EF4-FFF2-40B4-BE49-F238E27FC236}">
                <a16:creationId xmlns:a16="http://schemas.microsoft.com/office/drawing/2014/main" id="{80B35EDC-B57C-2421-95C4-47A5EF5CA1B3}"/>
              </a:ext>
            </a:extLst>
          </p:cNvPr>
          <p:cNvSpPr txBox="1"/>
          <p:nvPr/>
        </p:nvSpPr>
        <p:spPr>
          <a:xfrm>
            <a:off x="612802" y="4471418"/>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9) ADMIN — Database administration (admin-only)</a:t>
            </a:r>
          </a:p>
        </p:txBody>
      </p:sp>
      <p:graphicFrame>
        <p:nvGraphicFramePr>
          <p:cNvPr id="13" name="Table 12">
            <a:extLst>
              <a:ext uri="{FF2B5EF4-FFF2-40B4-BE49-F238E27FC236}">
                <a16:creationId xmlns:a16="http://schemas.microsoft.com/office/drawing/2014/main" id="{6A8F8EA8-EF41-76D7-E3D7-9BC1122E00AD}"/>
              </a:ext>
            </a:extLst>
          </p:cNvPr>
          <p:cNvGraphicFramePr>
            <a:graphicFrameLocks noGrp="1"/>
          </p:cNvGraphicFramePr>
          <p:nvPr>
            <p:extLst>
              <p:ext uri="{D42A27DB-BD31-4B8C-83A1-F6EECF244321}">
                <p14:modId xmlns:p14="http://schemas.microsoft.com/office/powerpoint/2010/main" val="2131488655"/>
              </p:ext>
            </p:extLst>
          </p:nvPr>
        </p:nvGraphicFramePr>
        <p:xfrm>
          <a:off x="596344" y="1617848"/>
          <a:ext cx="11063568" cy="1041128"/>
        </p:xfrm>
        <a:graphic>
          <a:graphicData uri="http://schemas.openxmlformats.org/drawingml/2006/table">
            <a:tbl>
              <a:tblPr>
                <a:tableStyleId>{00A15C55-8517-42AA-B614-E9B94910E393}</a:tableStyleId>
              </a:tblPr>
              <a:tblGrid>
                <a:gridCol w="1181656">
                  <a:extLst>
                    <a:ext uri="{9D8B030D-6E8A-4147-A177-3AD203B41FA5}">
                      <a16:colId xmlns:a16="http://schemas.microsoft.com/office/drawing/2014/main" val="1274676978"/>
                    </a:ext>
                  </a:extLst>
                </a:gridCol>
                <a:gridCol w="1917700">
                  <a:extLst>
                    <a:ext uri="{9D8B030D-6E8A-4147-A177-3AD203B41FA5}">
                      <a16:colId xmlns:a16="http://schemas.microsoft.com/office/drawing/2014/main" val="578674625"/>
                    </a:ext>
                  </a:extLst>
                </a:gridCol>
                <a:gridCol w="7964212">
                  <a:extLst>
                    <a:ext uri="{9D8B030D-6E8A-4147-A177-3AD203B41FA5}">
                      <a16:colId xmlns:a16="http://schemas.microsoft.com/office/drawing/2014/main" val="1731695562"/>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2162" marR="62162" marT="31081" marB="310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2162" marR="62162" marT="31081" marB="31081" anchor="b"/>
                </a:tc>
                <a:extLst>
                  <a:ext uri="{0D108BD9-81ED-4DB2-BD59-A6C34878D82A}">
                    <a16:rowId xmlns:a16="http://schemas.microsoft.com/office/drawing/2014/main" val="618004588"/>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context</a:t>
                      </a:r>
                    </a:p>
                  </a:txBody>
                  <a:tcPr marL="62162" marR="62162" marT="31081" marB="310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Current context</a:t>
                      </a:r>
                    </a:p>
                  </a:txBody>
                  <a:tcPr marL="62162" marR="62162" marT="31081" marB="310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Returns last 5 messages + current graph schema + user permissions</a:t>
                      </a:r>
                    </a:p>
                  </a:txBody>
                  <a:tcPr marL="62162" marR="62162" marT="31081" marB="31081" anchor="ctr"/>
                </a:tc>
                <a:extLst>
                  <a:ext uri="{0D108BD9-81ED-4DB2-BD59-A6C34878D82A}">
                    <a16:rowId xmlns:a16="http://schemas.microsoft.com/office/drawing/2014/main" val="3806441788"/>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history</a:t>
                      </a:r>
                    </a:p>
                  </a:txBody>
                  <a:tcPr marL="62162" marR="62162" marT="31081" marB="310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Past interactions</a:t>
                      </a:r>
                    </a:p>
                  </a:txBody>
                  <a:tcPr marL="62162" marR="62162" marT="31081" marB="310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Returns: [{ prompt: "Count Blast nodes", response: "186", timestamp: ... }]</a:t>
                      </a:r>
                    </a:p>
                  </a:txBody>
                  <a:tcPr marL="62162" marR="62162" marT="31081" marB="31081" anchor="ctr"/>
                </a:tc>
                <a:extLst>
                  <a:ext uri="{0D108BD9-81ED-4DB2-BD59-A6C34878D82A}">
                    <a16:rowId xmlns:a16="http://schemas.microsoft.com/office/drawing/2014/main" val="3814237535"/>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state</a:t>
                      </a:r>
                    </a:p>
                  </a:txBody>
                  <a:tcPr marL="62162" marR="62162" marT="31081" marB="310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Read/write state</a:t>
                      </a:r>
                    </a:p>
                  </a:txBody>
                  <a:tcPr marL="62162" marR="62162" marT="31081" marB="31081" anchor="ctr"/>
                </a:tc>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agent.state.set</a:t>
                      </a:r>
                      <a:r>
                        <a:rPr lang="en-US" sz="1300" dirty="0">
                          <a:effectLst/>
                          <a:latin typeface="Inter" panose="02000503000000020004" pitchFamily="2" charset="0"/>
                          <a:ea typeface="Inter" panose="02000503000000020004" pitchFamily="2" charset="0"/>
                          <a:cs typeface="Inter" panose="02000503000000020004" pitchFamily="2" charset="0"/>
                        </a:rPr>
                        <a:t>("</a:t>
                      </a:r>
                      <a:r>
                        <a:rPr lang="en-US" sz="1300" dirty="0" err="1">
                          <a:effectLst/>
                          <a:latin typeface="Inter" panose="02000503000000020004" pitchFamily="2" charset="0"/>
                          <a:ea typeface="Inter" panose="02000503000000020004" pitchFamily="2" charset="0"/>
                          <a:cs typeface="Inter" panose="02000503000000020004" pitchFamily="2" charset="0"/>
                        </a:rPr>
                        <a:t>last_query_type</a:t>
                      </a:r>
                      <a:r>
                        <a:rPr lang="en-US" sz="1300" dirty="0">
                          <a:effectLst/>
                          <a:latin typeface="Inter" panose="02000503000000020004" pitchFamily="2" charset="0"/>
                          <a:ea typeface="Inter" panose="02000503000000020004" pitchFamily="2" charset="0"/>
                          <a:cs typeface="Inter" panose="02000503000000020004" pitchFamily="2" charset="0"/>
                        </a:rPr>
                        <a:t>", "graph") → Persists for session</a:t>
                      </a:r>
                    </a:p>
                  </a:txBody>
                  <a:tcPr marL="62162" marR="62162" marT="31081" marB="31081" anchor="ctr"/>
                </a:tc>
                <a:extLst>
                  <a:ext uri="{0D108BD9-81ED-4DB2-BD59-A6C34878D82A}">
                    <a16:rowId xmlns:a16="http://schemas.microsoft.com/office/drawing/2014/main" val="3415942728"/>
                  </a:ext>
                </a:extLst>
              </a:tr>
            </a:tbl>
          </a:graphicData>
        </a:graphic>
      </p:graphicFrame>
      <p:graphicFrame>
        <p:nvGraphicFramePr>
          <p:cNvPr id="18" name="Table 17">
            <a:extLst>
              <a:ext uri="{FF2B5EF4-FFF2-40B4-BE49-F238E27FC236}">
                <a16:creationId xmlns:a16="http://schemas.microsoft.com/office/drawing/2014/main" id="{F456F79F-0D38-7CDC-026B-77546BB950C6}"/>
              </a:ext>
            </a:extLst>
          </p:cNvPr>
          <p:cNvGraphicFramePr>
            <a:graphicFrameLocks noGrp="1"/>
          </p:cNvGraphicFramePr>
          <p:nvPr>
            <p:extLst>
              <p:ext uri="{D42A27DB-BD31-4B8C-83A1-F6EECF244321}">
                <p14:modId xmlns:p14="http://schemas.microsoft.com/office/powerpoint/2010/main" val="3517504175"/>
              </p:ext>
            </p:extLst>
          </p:nvPr>
        </p:nvGraphicFramePr>
        <p:xfrm>
          <a:off x="612802" y="3191408"/>
          <a:ext cx="11047110" cy="1170040"/>
        </p:xfrm>
        <a:graphic>
          <a:graphicData uri="http://schemas.openxmlformats.org/drawingml/2006/table">
            <a:tbl>
              <a:tblPr>
                <a:tableStyleId>{00A15C55-8517-42AA-B614-E9B94910E393}</a:tableStyleId>
              </a:tblPr>
              <a:tblGrid>
                <a:gridCol w="1190598">
                  <a:extLst>
                    <a:ext uri="{9D8B030D-6E8A-4147-A177-3AD203B41FA5}">
                      <a16:colId xmlns:a16="http://schemas.microsoft.com/office/drawing/2014/main" val="4037642119"/>
                    </a:ext>
                  </a:extLst>
                </a:gridCol>
                <a:gridCol w="1892303">
                  <a:extLst>
                    <a:ext uri="{9D8B030D-6E8A-4147-A177-3AD203B41FA5}">
                      <a16:colId xmlns:a16="http://schemas.microsoft.com/office/drawing/2014/main" val="2174613240"/>
                    </a:ext>
                  </a:extLst>
                </a:gridCol>
                <a:gridCol w="7964209">
                  <a:extLst>
                    <a:ext uri="{9D8B030D-6E8A-4147-A177-3AD203B41FA5}">
                      <a16:colId xmlns:a16="http://schemas.microsoft.com/office/drawing/2014/main" val="1305851843"/>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44859" marR="44859" marT="22430" marB="22430"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44859" marR="44859" marT="22430" marB="22430"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44859" marR="44859" marT="22430" marB="22430" anchor="b"/>
                </a:tc>
                <a:extLst>
                  <a:ext uri="{0D108BD9-81ED-4DB2-BD59-A6C34878D82A}">
                    <a16:rowId xmlns:a16="http://schemas.microsoft.com/office/drawing/2014/main" val="1174328533"/>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query</a:t>
                      </a:r>
                    </a:p>
                  </a:txBody>
                  <a:tcPr marL="44859" marR="44859" marT="22430" marB="22430"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Analytical query</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"Which output type (File, </a:t>
                      </a:r>
                      <a:r>
                        <a:rPr lang="en-US" sz="1300" dirty="0" err="1">
                          <a:effectLst/>
                          <a:latin typeface="Inter" panose="02000503000000020004" pitchFamily="2" charset="0"/>
                          <a:ea typeface="Inter" panose="02000503000000020004" pitchFamily="2" charset="0"/>
                          <a:cs typeface="Inter" panose="02000503000000020004" pitchFamily="2" charset="0"/>
                        </a:rPr>
                        <a:t>BlastDb</a:t>
                      </a:r>
                      <a:r>
                        <a:rPr lang="en-US" sz="1300" dirty="0">
                          <a:effectLst/>
                          <a:latin typeface="Inter" panose="02000503000000020004" pitchFamily="2" charset="0"/>
                          <a:ea typeface="Inter" panose="02000503000000020004" pitchFamily="2" charset="0"/>
                          <a:cs typeface="Inter" panose="02000503000000020004" pitchFamily="2" charset="0"/>
                        </a:rPr>
                        <a:t>, BlastedSeq) is most frequently produced?" → Returns aggregated counts</a:t>
                      </a:r>
                    </a:p>
                  </a:txBody>
                  <a:tcPr marL="44859" marR="44859" marT="22430" marB="22430" anchor="ctr"/>
                </a:tc>
                <a:extLst>
                  <a:ext uri="{0D108BD9-81ED-4DB2-BD59-A6C34878D82A}">
                    <a16:rowId xmlns:a16="http://schemas.microsoft.com/office/drawing/2014/main" val="30764494"/>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aggregate</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Compute aggregations</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"Compute completeness ratio: Blast nodes having both </a:t>
                      </a:r>
                      <a:r>
                        <a:rPr lang="en-US" sz="1300" dirty="0" err="1">
                          <a:effectLst/>
                          <a:latin typeface="Inter" panose="02000503000000020004" pitchFamily="2" charset="0"/>
                          <a:ea typeface="Inter" panose="02000503000000020004" pitchFamily="2" charset="0"/>
                          <a:cs typeface="Inter" panose="02000503000000020004" pitchFamily="2" charset="0"/>
                        </a:rPr>
                        <a:t>blast_version</a:t>
                      </a:r>
                      <a:r>
                        <a:rPr lang="en-US" sz="1300" dirty="0">
                          <a:effectLst/>
                          <a:latin typeface="Inter" panose="02000503000000020004" pitchFamily="2" charset="0"/>
                          <a:ea typeface="Inter" panose="02000503000000020004" pitchFamily="2" charset="0"/>
                          <a:cs typeface="Inter" panose="02000503000000020004" pitchFamily="2" charset="0"/>
                        </a:rPr>
                        <a:t> and </a:t>
                      </a:r>
                      <a:r>
                        <a:rPr lang="en-US" sz="1300" dirty="0" err="1">
                          <a:effectLst/>
                          <a:latin typeface="Inter" panose="02000503000000020004" pitchFamily="2" charset="0"/>
                          <a:ea typeface="Inter" panose="02000503000000020004" pitchFamily="2" charset="0"/>
                          <a:cs typeface="Inter" panose="02000503000000020004" pitchFamily="2" charset="0"/>
                        </a:rPr>
                        <a:t>blasttype</a:t>
                      </a:r>
                      <a:r>
                        <a:rPr lang="en-US" sz="1300" dirty="0">
                          <a:effectLst/>
                          <a:latin typeface="Inter" panose="02000503000000020004" pitchFamily="2" charset="0"/>
                          <a:ea typeface="Inter" panose="02000503000000020004" pitchFamily="2" charset="0"/>
                          <a:cs typeface="Inter" panose="02000503000000020004" pitchFamily="2" charset="0"/>
                        </a:rPr>
                        <a:t>" → Returns: 78%</a:t>
                      </a:r>
                    </a:p>
                  </a:txBody>
                  <a:tcPr marL="44859" marR="44859" marT="22430" marB="22430" anchor="ctr"/>
                </a:tc>
                <a:extLst>
                  <a:ext uri="{0D108BD9-81ED-4DB2-BD59-A6C34878D82A}">
                    <a16:rowId xmlns:a16="http://schemas.microsoft.com/office/drawing/2014/main" val="856517052"/>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visualize</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Generate viz data</a:t>
                      </a:r>
                    </a:p>
                  </a:txBody>
                  <a:tcPr marL="44859" marR="44859" marT="22430" marB="22430"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Returns chart-ready JSON: { labels: ["File", "</a:t>
                      </a:r>
                      <a:r>
                        <a:rPr lang="en-US" sz="1300" dirty="0" err="1">
                          <a:effectLst/>
                          <a:latin typeface="Inter" panose="02000503000000020004" pitchFamily="2" charset="0"/>
                          <a:ea typeface="Inter" panose="02000503000000020004" pitchFamily="2" charset="0"/>
                          <a:cs typeface="Inter" panose="02000503000000020004" pitchFamily="2" charset="0"/>
                        </a:rPr>
                        <a:t>BlastDb</a:t>
                      </a:r>
                      <a:r>
                        <a:rPr lang="en-US" sz="1300" dirty="0">
                          <a:effectLst/>
                          <a:latin typeface="Inter" panose="02000503000000020004" pitchFamily="2" charset="0"/>
                          <a:ea typeface="Inter" panose="02000503000000020004" pitchFamily="2" charset="0"/>
                          <a:cs typeface="Inter" panose="02000503000000020004" pitchFamily="2" charset="0"/>
                        </a:rPr>
                        <a:t>"], values: [120, 66] }</a:t>
                      </a:r>
                    </a:p>
                  </a:txBody>
                  <a:tcPr marL="44859" marR="44859" marT="22430" marB="22430" anchor="ctr"/>
                </a:tc>
                <a:extLst>
                  <a:ext uri="{0D108BD9-81ED-4DB2-BD59-A6C34878D82A}">
                    <a16:rowId xmlns:a16="http://schemas.microsoft.com/office/drawing/2014/main" val="865793067"/>
                  </a:ext>
                </a:extLst>
              </a:tr>
            </a:tbl>
          </a:graphicData>
        </a:graphic>
      </p:graphicFrame>
      <p:graphicFrame>
        <p:nvGraphicFramePr>
          <p:cNvPr id="19" name="Table 18">
            <a:extLst>
              <a:ext uri="{FF2B5EF4-FFF2-40B4-BE49-F238E27FC236}">
                <a16:creationId xmlns:a16="http://schemas.microsoft.com/office/drawing/2014/main" id="{E052BDDB-81B3-C16F-A443-1A2A7D0E2322}"/>
              </a:ext>
            </a:extLst>
          </p:cNvPr>
          <p:cNvGraphicFramePr>
            <a:graphicFrameLocks noGrp="1"/>
          </p:cNvGraphicFramePr>
          <p:nvPr>
            <p:extLst>
              <p:ext uri="{D42A27DB-BD31-4B8C-83A1-F6EECF244321}">
                <p14:modId xmlns:p14="http://schemas.microsoft.com/office/powerpoint/2010/main" val="57417815"/>
              </p:ext>
            </p:extLst>
          </p:nvPr>
        </p:nvGraphicFramePr>
        <p:xfrm>
          <a:off x="612802" y="4889166"/>
          <a:ext cx="11047110" cy="1064440"/>
        </p:xfrm>
        <a:graphic>
          <a:graphicData uri="http://schemas.openxmlformats.org/drawingml/2006/table">
            <a:tbl>
              <a:tblPr>
                <a:tableStyleId>{00A15C55-8517-42AA-B614-E9B94910E393}</a:tableStyleId>
              </a:tblPr>
              <a:tblGrid>
                <a:gridCol w="1203298">
                  <a:extLst>
                    <a:ext uri="{9D8B030D-6E8A-4147-A177-3AD203B41FA5}">
                      <a16:colId xmlns:a16="http://schemas.microsoft.com/office/drawing/2014/main" val="1593335958"/>
                    </a:ext>
                  </a:extLst>
                </a:gridCol>
                <a:gridCol w="1879600">
                  <a:extLst>
                    <a:ext uri="{9D8B030D-6E8A-4147-A177-3AD203B41FA5}">
                      <a16:colId xmlns:a16="http://schemas.microsoft.com/office/drawing/2014/main" val="234716255"/>
                    </a:ext>
                  </a:extLst>
                </a:gridCol>
                <a:gridCol w="7964212">
                  <a:extLst>
                    <a:ext uri="{9D8B030D-6E8A-4147-A177-3AD203B41FA5}">
                      <a16:colId xmlns:a16="http://schemas.microsoft.com/office/drawing/2014/main" val="951055304"/>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7990" marR="67990" marT="33995" marB="33995"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7990" marR="67990" marT="33995" marB="33995"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7990" marR="67990" marT="33995" marB="33995" anchor="b"/>
                </a:tc>
                <a:extLst>
                  <a:ext uri="{0D108BD9-81ED-4DB2-BD59-A6C34878D82A}">
                    <a16:rowId xmlns:a16="http://schemas.microsoft.com/office/drawing/2014/main" val="1198209216"/>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create_index</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Add index</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"Create an index on Blast(blast_version)" → CREATE INDEX ON :Blast(blast_version)</a:t>
                      </a:r>
                    </a:p>
                  </a:txBody>
                  <a:tcPr marL="67990" marR="67990" marT="33995" marB="33995" anchor="ctr"/>
                </a:tc>
                <a:extLst>
                  <a:ext uri="{0D108BD9-81ED-4DB2-BD59-A6C34878D82A}">
                    <a16:rowId xmlns:a16="http://schemas.microsoft.com/office/drawing/2014/main" val="3685329558"/>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drop_index</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Remove index</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DROP INDEX ON :Blast(blast_version)</a:t>
                      </a:r>
                    </a:p>
                  </a:txBody>
                  <a:tcPr marL="67990" marR="67990" marT="33995" marB="33995" anchor="ctr"/>
                </a:tc>
                <a:extLst>
                  <a:ext uri="{0D108BD9-81ED-4DB2-BD59-A6C34878D82A}">
                    <a16:rowId xmlns:a16="http://schemas.microsoft.com/office/drawing/2014/main" val="4247676258"/>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constraint</a:t>
                      </a:r>
                    </a:p>
                  </a:txBody>
                  <a:tcPr marL="67990" marR="67990" marT="33995" marB="33995"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Add constraint</a:t>
                      </a:r>
                    </a:p>
                  </a:txBody>
                  <a:tcPr marL="67990" marR="67990" marT="33995" marB="33995"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CREATE CONSTRAINT ON (</a:t>
                      </a:r>
                      <a:r>
                        <a:rPr lang="en-US" sz="1300" dirty="0" err="1">
                          <a:effectLst/>
                          <a:latin typeface="Inter" panose="02000503000000020004" pitchFamily="2" charset="0"/>
                          <a:ea typeface="Inter" panose="02000503000000020004" pitchFamily="2" charset="0"/>
                          <a:cs typeface="Inter" panose="02000503000000020004" pitchFamily="2" charset="0"/>
                        </a:rPr>
                        <a:t>b:Blast</a:t>
                      </a:r>
                      <a:r>
                        <a:rPr lang="en-US" sz="1300" dirty="0">
                          <a:effectLst/>
                          <a:latin typeface="Inter" panose="02000503000000020004" pitchFamily="2" charset="0"/>
                          <a:ea typeface="Inter" panose="02000503000000020004" pitchFamily="2" charset="0"/>
                          <a:cs typeface="Inter" panose="02000503000000020004" pitchFamily="2" charset="0"/>
                        </a:rPr>
                        <a:t>) ASSERT </a:t>
                      </a:r>
                      <a:r>
                        <a:rPr lang="en-US" sz="1300" dirty="0" err="1">
                          <a:effectLst/>
                          <a:latin typeface="Inter" panose="02000503000000020004" pitchFamily="2" charset="0"/>
                          <a:ea typeface="Inter" panose="02000503000000020004" pitchFamily="2" charset="0"/>
                          <a:cs typeface="Inter" panose="02000503000000020004" pitchFamily="2" charset="0"/>
                        </a:rPr>
                        <a:t>b.task_id</a:t>
                      </a:r>
                      <a:r>
                        <a:rPr lang="en-US" sz="1300" dirty="0">
                          <a:effectLst/>
                          <a:latin typeface="Inter" panose="02000503000000020004" pitchFamily="2" charset="0"/>
                          <a:ea typeface="Inter" panose="02000503000000020004" pitchFamily="2" charset="0"/>
                          <a:cs typeface="Inter" panose="02000503000000020004" pitchFamily="2" charset="0"/>
                        </a:rPr>
                        <a:t> IS UNIQUE</a:t>
                      </a:r>
                    </a:p>
                  </a:txBody>
                  <a:tcPr marL="67990" marR="67990" marT="33995" marB="33995" anchor="ctr"/>
                </a:tc>
                <a:extLst>
                  <a:ext uri="{0D108BD9-81ED-4DB2-BD59-A6C34878D82A}">
                    <a16:rowId xmlns:a16="http://schemas.microsoft.com/office/drawing/2014/main" val="1325310990"/>
                  </a:ext>
                </a:extLst>
              </a:tr>
            </a:tbl>
          </a:graphicData>
        </a:graphic>
      </p:graphicFrame>
      <p:sp>
        <p:nvSpPr>
          <p:cNvPr id="20" name="Footer Placeholder 10">
            <a:extLst>
              <a:ext uri="{FF2B5EF4-FFF2-40B4-BE49-F238E27FC236}">
                <a16:creationId xmlns:a16="http://schemas.microsoft.com/office/drawing/2014/main" id="{74164004-B9FE-679A-E0CE-D49D6DE07F2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22253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B0044-48B5-6413-93E6-CF976B3BF8A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D4FBC1A-003B-54CC-8F88-97FBDF346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C939360E-98FE-80B5-0D94-FF76816C2FD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AE672B5C-AFA1-093F-5AB7-596631A81651}"/>
              </a:ext>
            </a:extLst>
          </p:cNvPr>
          <p:cNvSpPr>
            <a:spLocks noGrp="1"/>
          </p:cNvSpPr>
          <p:nvPr>
            <p:ph type="sldNum" sz="quarter" idx="12"/>
          </p:nvPr>
        </p:nvSpPr>
        <p:spPr/>
        <p:txBody>
          <a:bodyPr/>
          <a:lstStyle/>
          <a:p>
            <a:fld id="{48F19E39-9933-F648-B2F3-3AC17C0DC986}" type="slidenum">
              <a:rPr lang="en-US" smtClean="0">
                <a:solidFill>
                  <a:schemeClr val="bg1"/>
                </a:solidFill>
              </a:rPr>
              <a:t>27</a:t>
            </a:fld>
            <a:endParaRPr lang="en-US" dirty="0">
              <a:solidFill>
                <a:schemeClr val="bg1"/>
              </a:solidFill>
            </a:endParaRPr>
          </a:p>
        </p:txBody>
      </p:sp>
      <p:sp>
        <p:nvSpPr>
          <p:cNvPr id="2" name="TextBox 1">
            <a:extLst>
              <a:ext uri="{FF2B5EF4-FFF2-40B4-BE49-F238E27FC236}">
                <a16:creationId xmlns:a16="http://schemas.microsoft.com/office/drawing/2014/main" id="{190BF92A-5452-EF4B-9EB6-F0CD8E618DCF}"/>
              </a:ext>
            </a:extLst>
          </p:cNvPr>
          <p:cNvSpPr txBox="1"/>
          <p:nvPr/>
        </p:nvSpPr>
        <p:spPr>
          <a:xfrm>
            <a:off x="596345" y="1170449"/>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10) ETL — Data import/export and transformation</a:t>
            </a:r>
          </a:p>
        </p:txBody>
      </p:sp>
      <p:sp>
        <p:nvSpPr>
          <p:cNvPr id="5" name="TextBox 4">
            <a:extLst>
              <a:ext uri="{FF2B5EF4-FFF2-40B4-BE49-F238E27FC236}">
                <a16:creationId xmlns:a16="http://schemas.microsoft.com/office/drawing/2014/main" id="{207602E6-4C16-745E-7AAB-B260C09B188A}"/>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 - (Part 5/5)</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Model Context Protocol (MCP) tool the agent can invoke is registered, validated, authorized, and audited.</a:t>
            </a:r>
            <a:endParaRPr lang="en-US" sz="16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6" name="TextBox 5">
            <a:extLst>
              <a:ext uri="{FF2B5EF4-FFF2-40B4-BE49-F238E27FC236}">
                <a16:creationId xmlns:a16="http://schemas.microsoft.com/office/drawing/2014/main" id="{F5D59182-EDF8-A0C6-56D9-6AFD166EB83C}"/>
              </a:ext>
            </a:extLst>
          </p:cNvPr>
          <p:cNvSpPr txBox="1"/>
          <p:nvPr/>
        </p:nvSpPr>
        <p:spPr>
          <a:xfrm>
            <a:off x="596345" y="2654235"/>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11) CRUD — Graph node operations</a:t>
            </a:r>
          </a:p>
        </p:txBody>
      </p:sp>
      <p:sp>
        <p:nvSpPr>
          <p:cNvPr id="8" name="TextBox 7">
            <a:extLst>
              <a:ext uri="{FF2B5EF4-FFF2-40B4-BE49-F238E27FC236}">
                <a16:creationId xmlns:a16="http://schemas.microsoft.com/office/drawing/2014/main" id="{1617B23D-9D0C-DC6C-9ED3-A0867AB31C32}"/>
              </a:ext>
            </a:extLst>
          </p:cNvPr>
          <p:cNvSpPr txBox="1"/>
          <p:nvPr/>
        </p:nvSpPr>
        <p:spPr>
          <a:xfrm>
            <a:off x="596343" y="4147080"/>
            <a:ext cx="1112782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12) EXPORT — Output format conversions</a:t>
            </a:r>
          </a:p>
        </p:txBody>
      </p:sp>
      <p:graphicFrame>
        <p:nvGraphicFramePr>
          <p:cNvPr id="3" name="Table 2">
            <a:extLst>
              <a:ext uri="{FF2B5EF4-FFF2-40B4-BE49-F238E27FC236}">
                <a16:creationId xmlns:a16="http://schemas.microsoft.com/office/drawing/2014/main" id="{FE4E7B2C-2E7F-A01B-B4E1-FBFAB1208C31}"/>
              </a:ext>
            </a:extLst>
          </p:cNvPr>
          <p:cNvGraphicFramePr>
            <a:graphicFrameLocks noGrp="1"/>
          </p:cNvGraphicFramePr>
          <p:nvPr>
            <p:extLst>
              <p:ext uri="{D42A27DB-BD31-4B8C-83A1-F6EECF244321}">
                <p14:modId xmlns:p14="http://schemas.microsoft.com/office/powerpoint/2010/main" val="576664159"/>
              </p:ext>
            </p:extLst>
          </p:nvPr>
        </p:nvGraphicFramePr>
        <p:xfrm>
          <a:off x="612802" y="1546254"/>
          <a:ext cx="11111364" cy="967080"/>
        </p:xfrm>
        <a:graphic>
          <a:graphicData uri="http://schemas.openxmlformats.org/drawingml/2006/table">
            <a:tbl>
              <a:tblPr>
                <a:tableStyleId>{00A15C55-8517-42AA-B614-E9B94910E393}</a:tableStyleId>
              </a:tblPr>
              <a:tblGrid>
                <a:gridCol w="1127098">
                  <a:extLst>
                    <a:ext uri="{9D8B030D-6E8A-4147-A177-3AD203B41FA5}">
                      <a16:colId xmlns:a16="http://schemas.microsoft.com/office/drawing/2014/main" val="3890671171"/>
                    </a:ext>
                  </a:extLst>
                </a:gridCol>
                <a:gridCol w="1447800">
                  <a:extLst>
                    <a:ext uri="{9D8B030D-6E8A-4147-A177-3AD203B41FA5}">
                      <a16:colId xmlns:a16="http://schemas.microsoft.com/office/drawing/2014/main" val="1864920568"/>
                    </a:ext>
                  </a:extLst>
                </a:gridCol>
                <a:gridCol w="8536466">
                  <a:extLst>
                    <a:ext uri="{9D8B030D-6E8A-4147-A177-3AD203B41FA5}">
                      <a16:colId xmlns:a16="http://schemas.microsoft.com/office/drawing/2014/main" val="1655617302"/>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55080" marR="55080" marT="27540" marB="27540"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55080" marR="55080" marT="27540" marB="27540"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55080" marR="55080" marT="27540" marB="27540" anchor="b"/>
                </a:tc>
                <a:extLst>
                  <a:ext uri="{0D108BD9-81ED-4DB2-BD59-A6C34878D82A}">
                    <a16:rowId xmlns:a16="http://schemas.microsoft.com/office/drawing/2014/main" val="1112678591"/>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import</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Load data</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etl.import("samples.csv", target="Sample") → Creates Sample nodes from CSV</a:t>
                      </a:r>
                    </a:p>
                  </a:txBody>
                  <a:tcPr marL="55080" marR="55080" marT="27540" marB="27540" anchor="ctr"/>
                </a:tc>
                <a:extLst>
                  <a:ext uri="{0D108BD9-81ED-4DB2-BD59-A6C34878D82A}">
                    <a16:rowId xmlns:a16="http://schemas.microsoft.com/office/drawing/2014/main" val="3895223522"/>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Extract data</a:t>
                      </a:r>
                    </a:p>
                  </a:txBody>
                  <a:tcPr marL="55080" marR="55080" marT="27540" marB="27540"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"Export the top 10 BlastedSeq with most inbound OUTPUT" → Returns downloadable dataset</a:t>
                      </a:r>
                    </a:p>
                  </a:txBody>
                  <a:tcPr marL="55080" marR="55080" marT="27540" marB="27540" anchor="ctr"/>
                </a:tc>
                <a:extLst>
                  <a:ext uri="{0D108BD9-81ED-4DB2-BD59-A6C34878D82A}">
                    <a16:rowId xmlns:a16="http://schemas.microsoft.com/office/drawing/2014/main" val="587153316"/>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transform</a:t>
                      </a:r>
                    </a:p>
                  </a:txBody>
                  <a:tcPr marL="55080" marR="55080" marT="27540" marB="27540"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Transform data</a:t>
                      </a:r>
                    </a:p>
                  </a:txBody>
                  <a:tcPr marL="55080" marR="55080" marT="27540" marB="27540"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"Set default value </a:t>
                      </a:r>
                      <a:r>
                        <a:rPr lang="en-US" sz="1200" dirty="0" err="1">
                          <a:effectLst/>
                          <a:latin typeface="Inter" panose="02000503000000020004" pitchFamily="2" charset="0"/>
                          <a:ea typeface="Inter" panose="02000503000000020004" pitchFamily="2" charset="0"/>
                          <a:cs typeface="Inter" panose="02000503000000020004" pitchFamily="2" charset="0"/>
                        </a:rPr>
                        <a:t>blast_version</a:t>
                      </a:r>
                      <a:r>
                        <a:rPr lang="en-US" sz="1200" dirty="0">
                          <a:effectLst/>
                          <a:latin typeface="Inter" panose="02000503000000020004" pitchFamily="2" charset="0"/>
                          <a:ea typeface="Inter" panose="02000503000000020004" pitchFamily="2" charset="0"/>
                          <a:cs typeface="Inter" panose="02000503000000020004" pitchFamily="2" charset="0"/>
                        </a:rPr>
                        <a:t>='N/A' for Blast where missing" → Bulk update</a:t>
                      </a:r>
                    </a:p>
                  </a:txBody>
                  <a:tcPr marL="55080" marR="55080" marT="27540" marB="27540" anchor="ctr"/>
                </a:tc>
                <a:extLst>
                  <a:ext uri="{0D108BD9-81ED-4DB2-BD59-A6C34878D82A}">
                    <a16:rowId xmlns:a16="http://schemas.microsoft.com/office/drawing/2014/main" val="29161045"/>
                  </a:ext>
                </a:extLst>
              </a:tr>
            </a:tbl>
          </a:graphicData>
        </a:graphic>
      </p:graphicFrame>
      <p:graphicFrame>
        <p:nvGraphicFramePr>
          <p:cNvPr id="7" name="Table 6">
            <a:extLst>
              <a:ext uri="{FF2B5EF4-FFF2-40B4-BE49-F238E27FC236}">
                <a16:creationId xmlns:a16="http://schemas.microsoft.com/office/drawing/2014/main" id="{28B82B42-5F30-A6DB-798E-8F192734CC8B}"/>
              </a:ext>
            </a:extLst>
          </p:cNvPr>
          <p:cNvGraphicFramePr>
            <a:graphicFrameLocks noGrp="1"/>
          </p:cNvGraphicFramePr>
          <p:nvPr>
            <p:extLst>
              <p:ext uri="{D42A27DB-BD31-4B8C-83A1-F6EECF244321}">
                <p14:modId xmlns:p14="http://schemas.microsoft.com/office/powerpoint/2010/main" val="3839752193"/>
              </p:ext>
            </p:extLst>
          </p:nvPr>
        </p:nvGraphicFramePr>
        <p:xfrm>
          <a:off x="596345" y="3051274"/>
          <a:ext cx="11111364" cy="1006544"/>
        </p:xfrm>
        <a:graphic>
          <a:graphicData uri="http://schemas.openxmlformats.org/drawingml/2006/table">
            <a:tbl>
              <a:tblPr>
                <a:tableStyleId>{00A15C55-8517-42AA-B614-E9B94910E393}</a:tableStyleId>
              </a:tblPr>
              <a:tblGrid>
                <a:gridCol w="1156256">
                  <a:extLst>
                    <a:ext uri="{9D8B030D-6E8A-4147-A177-3AD203B41FA5}">
                      <a16:colId xmlns:a16="http://schemas.microsoft.com/office/drawing/2014/main" val="3533862356"/>
                    </a:ext>
                  </a:extLst>
                </a:gridCol>
                <a:gridCol w="1422400">
                  <a:extLst>
                    <a:ext uri="{9D8B030D-6E8A-4147-A177-3AD203B41FA5}">
                      <a16:colId xmlns:a16="http://schemas.microsoft.com/office/drawing/2014/main" val="1931519433"/>
                    </a:ext>
                  </a:extLst>
                </a:gridCol>
                <a:gridCol w="8532708">
                  <a:extLst>
                    <a:ext uri="{9D8B030D-6E8A-4147-A177-3AD203B41FA5}">
                      <a16:colId xmlns:a16="http://schemas.microsoft.com/office/drawing/2014/main" val="927902067"/>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64945" marR="64945" marT="32473" marB="32473"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64945" marR="64945" marT="32473" marB="32473"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64945" marR="64945" marT="32473" marB="32473" anchor="b"/>
                </a:tc>
                <a:extLst>
                  <a:ext uri="{0D108BD9-81ED-4DB2-BD59-A6C34878D82A}">
                    <a16:rowId xmlns:a16="http://schemas.microsoft.com/office/drawing/2014/main" val="3758067799"/>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create_node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Create 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crud.create("Blast", { task_id: "task-001", status: "running" })</a:t>
                      </a:r>
                    </a:p>
                  </a:txBody>
                  <a:tcPr marL="64945" marR="64945" marT="32473" marB="32473" anchor="ctr"/>
                </a:tc>
                <a:extLst>
                  <a:ext uri="{0D108BD9-81ED-4DB2-BD59-A6C34878D82A}">
                    <a16:rowId xmlns:a16="http://schemas.microsoft.com/office/drawing/2014/main" val="3872739445"/>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update_node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Update 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crud.update("Blast", { id: "blast-123" }, { status: "completed" })</a:t>
                      </a:r>
                    </a:p>
                  </a:txBody>
                  <a:tcPr marL="64945" marR="64945" marT="32473" marB="32473" anchor="ctr"/>
                </a:tc>
                <a:extLst>
                  <a:ext uri="{0D108BD9-81ED-4DB2-BD59-A6C34878D82A}">
                    <a16:rowId xmlns:a16="http://schemas.microsoft.com/office/drawing/2014/main" val="672364845"/>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delete_node</a:t>
                      </a:r>
                    </a:p>
                  </a:txBody>
                  <a:tcPr marL="64945" marR="64945" marT="32473" marB="32473"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Delete node</a:t>
                      </a:r>
                    </a:p>
                  </a:txBody>
                  <a:tcPr marL="64945" marR="64945" marT="32473" marB="32473"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"Delete Blast nodes with no OUTPUT edges" (admin-only, prompts for confirmation)</a:t>
                      </a:r>
                    </a:p>
                  </a:txBody>
                  <a:tcPr marL="64945" marR="64945" marT="32473" marB="32473" anchor="ctr"/>
                </a:tc>
                <a:extLst>
                  <a:ext uri="{0D108BD9-81ED-4DB2-BD59-A6C34878D82A}">
                    <a16:rowId xmlns:a16="http://schemas.microsoft.com/office/drawing/2014/main" val="2149109670"/>
                  </a:ext>
                </a:extLst>
              </a:tr>
            </a:tbl>
          </a:graphicData>
        </a:graphic>
      </p:graphicFrame>
      <p:graphicFrame>
        <p:nvGraphicFramePr>
          <p:cNvPr id="9" name="Table 8">
            <a:extLst>
              <a:ext uri="{FF2B5EF4-FFF2-40B4-BE49-F238E27FC236}">
                <a16:creationId xmlns:a16="http://schemas.microsoft.com/office/drawing/2014/main" id="{D9BE0F26-DD5C-D867-A380-F0A35563BFA5}"/>
              </a:ext>
            </a:extLst>
          </p:cNvPr>
          <p:cNvGraphicFramePr>
            <a:graphicFrameLocks noGrp="1"/>
          </p:cNvGraphicFramePr>
          <p:nvPr>
            <p:extLst>
              <p:ext uri="{D42A27DB-BD31-4B8C-83A1-F6EECF244321}">
                <p14:modId xmlns:p14="http://schemas.microsoft.com/office/powerpoint/2010/main" val="574750352"/>
              </p:ext>
            </p:extLst>
          </p:nvPr>
        </p:nvGraphicFramePr>
        <p:xfrm>
          <a:off x="596343" y="4595758"/>
          <a:ext cx="11094906" cy="1341536"/>
        </p:xfrm>
        <a:graphic>
          <a:graphicData uri="http://schemas.openxmlformats.org/drawingml/2006/table">
            <a:tbl>
              <a:tblPr>
                <a:tableStyleId>{00A15C55-8517-42AA-B614-E9B94910E393}</a:tableStyleId>
              </a:tblPr>
              <a:tblGrid>
                <a:gridCol w="1139798">
                  <a:extLst>
                    <a:ext uri="{9D8B030D-6E8A-4147-A177-3AD203B41FA5}">
                      <a16:colId xmlns:a16="http://schemas.microsoft.com/office/drawing/2014/main" val="4239331642"/>
                    </a:ext>
                  </a:extLst>
                </a:gridCol>
                <a:gridCol w="1460500">
                  <a:extLst>
                    <a:ext uri="{9D8B030D-6E8A-4147-A177-3AD203B41FA5}">
                      <a16:colId xmlns:a16="http://schemas.microsoft.com/office/drawing/2014/main" val="4177309721"/>
                    </a:ext>
                  </a:extLst>
                </a:gridCol>
                <a:gridCol w="8494608">
                  <a:extLst>
                    <a:ext uri="{9D8B030D-6E8A-4147-A177-3AD203B41FA5}">
                      <a16:colId xmlns:a16="http://schemas.microsoft.com/office/drawing/2014/main" val="2706944684"/>
                    </a:ext>
                  </a:extLst>
                </a:gridCol>
              </a:tblGrid>
              <a:tr h="0">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Tool</a:t>
                      </a:r>
                    </a:p>
                  </a:txBody>
                  <a:tcPr marL="57254" marR="57254" marT="28627" marB="28627"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57254" marR="57254" marT="28627" marB="28627"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marL="57254" marR="57254" marT="28627" marB="28627" anchor="b"/>
                </a:tc>
                <a:extLst>
                  <a:ext uri="{0D108BD9-81ED-4DB2-BD59-A6C34878D82A}">
                    <a16:rowId xmlns:a16="http://schemas.microsoft.com/office/drawing/2014/main" val="2013213286"/>
                  </a:ext>
                </a:extLst>
              </a:tr>
              <a:tr h="0">
                <a:tc>
                  <a:txBody>
                    <a:bodyPr/>
                    <a:lstStyle/>
                    <a:p>
                      <a:pPr algn="l" fontAlgn="ctr"/>
                      <a:endParaRPr lang="en-US" sz="1200" b="0" dirty="0">
                        <a:effectLst/>
                        <a:latin typeface="Inter" panose="02000503000000020004" pitchFamily="2" charset="0"/>
                        <a:ea typeface="Inter" panose="02000503000000020004" pitchFamily="2" charset="0"/>
                        <a:cs typeface="Inter" panose="02000503000000020004" pitchFamily="2" charset="0"/>
                      </a:endParaRPr>
                    </a:p>
                    <a:p>
                      <a:pPr algn="l" fontAlgn="base"/>
                      <a:r>
                        <a:rPr lang="en-US" sz="1200" b="0" dirty="0">
                          <a:effectLst/>
                          <a:latin typeface="Inter" panose="02000503000000020004" pitchFamily="2" charset="0"/>
                          <a:ea typeface="Inter" panose="02000503000000020004" pitchFamily="2" charset="0"/>
                          <a:cs typeface="Inter" panose="02000503000000020004" pitchFamily="2" charset="0"/>
                        </a:rPr>
                        <a:t>csv</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 as CSV</a:t>
                      </a: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Query results → blast_version,blasttype,status\n"2.12.0","blastn","success"\n...</a:t>
                      </a:r>
                    </a:p>
                  </a:txBody>
                  <a:tcPr marL="57254" marR="57254" marT="28627" marB="28627" anchor="ctr"/>
                </a:tc>
                <a:extLst>
                  <a:ext uri="{0D108BD9-81ED-4DB2-BD59-A6C34878D82A}">
                    <a16:rowId xmlns:a16="http://schemas.microsoft.com/office/drawing/2014/main" val="185082722"/>
                  </a:ext>
                </a:extLst>
              </a:tr>
              <a:tr h="0">
                <a:tc>
                  <a:txBody>
                    <a:bodyPr/>
                    <a:lstStyle/>
                    <a:p>
                      <a:pPr algn="l" fontAlgn="ctr"/>
                      <a:endParaRPr lang="en-US" sz="1200" b="0" dirty="0">
                        <a:effectLst/>
                        <a:latin typeface="Inter" panose="02000503000000020004" pitchFamily="2" charset="0"/>
                        <a:ea typeface="Inter" panose="02000503000000020004" pitchFamily="2" charset="0"/>
                        <a:cs typeface="Inter" panose="02000503000000020004" pitchFamily="2" charset="0"/>
                      </a:endParaRPr>
                    </a:p>
                    <a:p>
                      <a:pPr algn="l" fontAlgn="base"/>
                      <a:r>
                        <a:rPr lang="en-US" sz="1200" b="0" dirty="0" err="1">
                          <a:effectLst/>
                          <a:latin typeface="Inter" panose="02000503000000020004" pitchFamily="2" charset="0"/>
                          <a:ea typeface="Inter" panose="02000503000000020004" pitchFamily="2" charset="0"/>
                          <a:cs typeface="Inter" panose="02000503000000020004" pitchFamily="2" charset="0"/>
                        </a:rPr>
                        <a:t>json</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 as JSON</a:t>
                      </a: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Query results → [{ "blast_version": "2.12.0", "blasttype": "blastn", ... }]</a:t>
                      </a:r>
                    </a:p>
                  </a:txBody>
                  <a:tcPr marL="57254" marR="57254" marT="28627" marB="28627" anchor="ctr"/>
                </a:tc>
                <a:extLst>
                  <a:ext uri="{0D108BD9-81ED-4DB2-BD59-A6C34878D82A}">
                    <a16:rowId xmlns:a16="http://schemas.microsoft.com/office/drawing/2014/main" val="2046593188"/>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cypher</a:t>
                      </a:r>
                    </a:p>
                  </a:txBody>
                  <a:tcPr marL="57254" marR="57254" marT="28627" marB="2862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Export as Cypher</a:t>
                      </a:r>
                    </a:p>
                  </a:txBody>
                  <a:tcPr marL="57254" marR="57254" marT="28627" marB="2862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Nodes → CREATE (:Blast { </a:t>
                      </a:r>
                      <a:r>
                        <a:rPr lang="en-US" sz="1200" dirty="0" err="1">
                          <a:effectLst/>
                          <a:latin typeface="Inter" panose="02000503000000020004" pitchFamily="2" charset="0"/>
                          <a:ea typeface="Inter" panose="02000503000000020004" pitchFamily="2" charset="0"/>
                          <a:cs typeface="Inter" panose="02000503000000020004" pitchFamily="2" charset="0"/>
                        </a:rPr>
                        <a:t>blast_version</a:t>
                      </a:r>
                      <a:r>
                        <a:rPr lang="en-US" sz="1200" dirty="0">
                          <a:effectLst/>
                          <a:latin typeface="Inter" panose="02000503000000020004" pitchFamily="2" charset="0"/>
                          <a:ea typeface="Inter" panose="02000503000000020004" pitchFamily="2" charset="0"/>
                          <a:cs typeface="Inter" panose="02000503000000020004" pitchFamily="2" charset="0"/>
                        </a:rPr>
                        <a:t>: "2.12.0", </a:t>
                      </a:r>
                      <a:r>
                        <a:rPr lang="en-US" sz="1200" dirty="0" err="1">
                          <a:effectLst/>
                          <a:latin typeface="Inter" panose="02000503000000020004" pitchFamily="2" charset="0"/>
                          <a:ea typeface="Inter" panose="02000503000000020004" pitchFamily="2" charset="0"/>
                          <a:cs typeface="Inter" panose="02000503000000020004" pitchFamily="2" charset="0"/>
                        </a:rPr>
                        <a:t>blasttype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blastn</a:t>
                      </a:r>
                      <a:r>
                        <a:rPr lang="en-US" sz="1200" dirty="0">
                          <a:effectLst/>
                          <a:latin typeface="Inter" panose="02000503000000020004" pitchFamily="2" charset="0"/>
                          <a:ea typeface="Inter" panose="02000503000000020004" pitchFamily="2" charset="0"/>
                          <a:cs typeface="Inter" panose="02000503000000020004" pitchFamily="2" charset="0"/>
                        </a:rPr>
                        <a:t>" })</a:t>
                      </a:r>
                    </a:p>
                  </a:txBody>
                  <a:tcPr marL="57254" marR="57254" marT="28627" marB="28627" anchor="ctr"/>
                </a:tc>
                <a:extLst>
                  <a:ext uri="{0D108BD9-81ED-4DB2-BD59-A6C34878D82A}">
                    <a16:rowId xmlns:a16="http://schemas.microsoft.com/office/drawing/2014/main" val="3698144600"/>
                  </a:ext>
                </a:extLst>
              </a:tr>
            </a:tbl>
          </a:graphicData>
        </a:graphic>
      </p:graphicFrame>
      <p:sp>
        <p:nvSpPr>
          <p:cNvPr id="10" name="Footer Placeholder 10">
            <a:extLst>
              <a:ext uri="{FF2B5EF4-FFF2-40B4-BE49-F238E27FC236}">
                <a16:creationId xmlns:a16="http://schemas.microsoft.com/office/drawing/2014/main" id="{94FFEBAE-82B7-23FD-43D7-148A6211112D}"/>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104406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60B88-AE39-23A2-A9E5-3F5AE8BC9BC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D68F6A8-6321-42AE-F38B-08C874487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4BF751D-38C1-111F-BA0D-0BF3A7D0B72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4054DEA-D9D7-43C4-2142-39852492895D}"/>
              </a:ext>
            </a:extLst>
          </p:cNvPr>
          <p:cNvSpPr>
            <a:spLocks noGrp="1"/>
          </p:cNvSpPr>
          <p:nvPr>
            <p:ph type="sldNum" sz="quarter" idx="12"/>
          </p:nvPr>
        </p:nvSpPr>
        <p:spPr/>
        <p:txBody>
          <a:bodyPr/>
          <a:lstStyle/>
          <a:p>
            <a:fld id="{48F19E39-9933-F648-B2F3-3AC17C0DC986}" type="slidenum">
              <a:rPr lang="en-US" smtClean="0">
                <a:solidFill>
                  <a:schemeClr val="bg1"/>
                </a:solidFill>
              </a:rPr>
              <a:t>28</a:t>
            </a:fld>
            <a:endParaRPr lang="en-US" dirty="0">
              <a:solidFill>
                <a:schemeClr val="bg1"/>
              </a:solidFill>
            </a:endParaRPr>
          </a:p>
        </p:txBody>
      </p:sp>
      <p:sp>
        <p:nvSpPr>
          <p:cNvPr id="2" name="TextBox 1">
            <a:extLst>
              <a:ext uri="{FF2B5EF4-FFF2-40B4-BE49-F238E27FC236}">
                <a16:creationId xmlns:a16="http://schemas.microsoft.com/office/drawing/2014/main" id="{7B99AA9E-DE3B-F985-94DE-5FFFB582B78C}"/>
              </a:ext>
            </a:extLst>
          </p:cNvPr>
          <p:cNvSpPr txBox="1"/>
          <p:nvPr/>
        </p:nvSpPr>
        <p:spPr>
          <a:xfrm>
            <a:off x="596347" y="1559134"/>
            <a:ext cx="6089266" cy="4093428"/>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1. Normalize </a:t>
            </a:r>
            <a:r>
              <a:rPr lang="en-US" sz="1300" i="0" dirty="0">
                <a:effectLst/>
                <a:latin typeface="Inter" panose="02000503000000020004" pitchFamily="2" charset="0"/>
                <a:ea typeface="Inter" panose="02000503000000020004" pitchFamily="2" charset="0"/>
                <a:cs typeface="Inter" panose="02000503000000020004" pitchFamily="2" charset="0"/>
              </a:rPr>
              <a:t>(</a:t>
            </a:r>
            <a:r>
              <a:rPr lang="en-US" sz="1300" b="0" i="0" dirty="0">
                <a:effectLst/>
                <a:latin typeface="Inter" panose="02000503000000020004" pitchFamily="2" charset="0"/>
                <a:ea typeface="Inter" panose="02000503000000020004" pitchFamily="2" charset="0"/>
                <a:cs typeface="Inter" panose="02000503000000020004" pitchFamily="2" charset="0"/>
              </a:rPr>
              <a:t>Standardize input (Make all lowercase, remove fillers)</a:t>
            </a:r>
            <a:r>
              <a:rPr lang="en-US" sz="1300" dirty="0">
                <a:latin typeface="Inter" panose="02000503000000020004" pitchFamily="2" charset="0"/>
                <a:ea typeface="Inter" panose="02000503000000020004" pitchFamily="2" charset="0"/>
                <a:cs typeface="Inter" panose="02000503000000020004" pitchFamily="2" charset="0"/>
              </a:rPr>
              <a:t>)</a:t>
            </a:r>
            <a:endParaRPr lang="en-US" sz="130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"Hey, how many Blast nodes??" → "count blast nodes"</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2. Catalog Lookup</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Check for pre-validated pattern match)</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matched → use cached Cypher (fast, deterministic)</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If not → proceed to LLM</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3. Generate Cypher</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LLM generates query using schema context)</a:t>
            </a:r>
          </a:p>
          <a:p>
            <a:pPr marL="285750" indent="-285750">
              <a:buFontTx/>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b="0" dirty="0">
                <a:solidFill>
                  <a:srgbClr val="A31515"/>
                </a:solidFill>
                <a:effectLst/>
                <a:latin typeface="Inter" panose="02000503000000020004" pitchFamily="2" charset="0"/>
                <a:ea typeface="Inter" panose="02000503000000020004" pitchFamily="2" charset="0"/>
                <a:cs typeface="Inter" panose="02000503000000020004" pitchFamily="2" charset="0"/>
              </a:rPr>
              <a:t>"Which BlastedSeq has the most inbound OUTPUT?”</a:t>
            </a:r>
            <a:r>
              <a:rPr lang="en-US" sz="1300" dirty="0">
                <a:solidFill>
                  <a:srgbClr val="000000"/>
                </a:solidFill>
                <a:latin typeface="Inter" panose="02000503000000020004" pitchFamily="2" charset="0"/>
                <a:ea typeface="Inter" panose="02000503000000020004" pitchFamily="2" charset="0"/>
                <a:cs typeface="Inter" panose="02000503000000020004" pitchFamily="2" charset="0"/>
              </a:rPr>
              <a:t> </a:t>
            </a: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 </a:t>
            </a:r>
            <a:b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b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LLM Generates →</a:t>
            </a:r>
            <a:br>
              <a:rPr lang="en-US" sz="1300" b="0" i="0" dirty="0">
                <a:effectLst/>
                <a:latin typeface="Inter" panose="02000503000000020004" pitchFamily="2" charset="0"/>
                <a:ea typeface="Inter" panose="02000503000000020004" pitchFamily="2" charset="0"/>
                <a:cs typeface="Inter" panose="02000503000000020004" pitchFamily="2" charset="0"/>
              </a:rPr>
            </a:br>
            <a:r>
              <a:rPr lang="en-US" sz="1300" b="0" dirty="0">
                <a:solidFill>
                  <a:srgbClr val="008000"/>
                </a:solidFill>
                <a:effectLst/>
                <a:latin typeface="Inter" panose="02000503000000020004" pitchFamily="2" charset="0"/>
                <a:ea typeface="Inter" panose="02000503000000020004" pitchFamily="2" charset="0"/>
                <a:cs typeface="Inter" panose="02000503000000020004" pitchFamily="2" charset="0"/>
              </a:rPr>
              <a:t>MATCH (</a:t>
            </a:r>
            <a:r>
              <a:rPr lang="en-US" sz="1300" b="0" dirty="0" err="1">
                <a:solidFill>
                  <a:srgbClr val="008000"/>
                </a:solidFill>
                <a:effectLst/>
                <a:latin typeface="Inter" panose="02000503000000020004" pitchFamily="2" charset="0"/>
                <a:ea typeface="Inter" panose="02000503000000020004" pitchFamily="2" charset="0"/>
                <a:cs typeface="Inter" panose="02000503000000020004" pitchFamily="2" charset="0"/>
              </a:rPr>
              <a:t>b:Blast</a:t>
            </a:r>
            <a:r>
              <a:rPr lang="en-US" sz="1300" b="0" dirty="0">
                <a:solidFill>
                  <a:srgbClr val="008000"/>
                </a:solidFill>
                <a:effectLst/>
                <a:latin typeface="Inter" panose="02000503000000020004" pitchFamily="2" charset="0"/>
                <a:ea typeface="Inter" panose="02000503000000020004" pitchFamily="2" charset="0"/>
                <a:cs typeface="Inter" panose="02000503000000020004" pitchFamily="2" charset="0"/>
              </a:rPr>
              <a:t>)-[:OUTPUT]-&gt;(</a:t>
            </a:r>
            <a:r>
              <a:rPr lang="en-US" sz="1300" b="0" dirty="0" err="1">
                <a:solidFill>
                  <a:srgbClr val="008000"/>
                </a:solidFill>
                <a:effectLst/>
                <a:latin typeface="Inter" panose="02000503000000020004" pitchFamily="2" charset="0"/>
                <a:ea typeface="Inter" panose="02000503000000020004" pitchFamily="2" charset="0"/>
                <a:cs typeface="Inter" panose="02000503000000020004" pitchFamily="2" charset="0"/>
              </a:rPr>
              <a:t>s:BlastedSeq</a:t>
            </a:r>
            <a:r>
              <a:rPr lang="en-US" sz="1300" b="0" dirty="0">
                <a:solidFill>
                  <a:srgbClr val="008000"/>
                </a:solidFill>
                <a:effectLst/>
                <a:latin typeface="Inter" panose="02000503000000020004" pitchFamily="2" charset="0"/>
                <a:ea typeface="Inter" panose="02000503000000020004" pitchFamily="2" charset="0"/>
                <a:cs typeface="Inter" panose="02000503000000020004" pitchFamily="2" charset="0"/>
              </a:rPr>
              <a:t>) RETURN s, count(b) ORDER BY count DESC LIMIT 10</a:t>
            </a:r>
            <a:endPar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4. Validate </a:t>
            </a:r>
            <a:r>
              <a:rPr lang="en-US" sz="1300" i="0" dirty="0">
                <a:effectLst/>
                <a:latin typeface="Inter" panose="02000503000000020004" pitchFamily="2" charset="0"/>
                <a:ea typeface="Inter" panose="02000503000000020004" pitchFamily="2" charset="0"/>
                <a:cs typeface="Inter" panose="02000503000000020004" pitchFamily="2" charset="0"/>
              </a:rPr>
              <a:t>(6-Layer)</a:t>
            </a:r>
          </a:p>
          <a:p>
            <a:pPr marL="285750" indent="-285750">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Syntax check, Tenant boundary, Query depth, timeout, result size limits</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Read-only enforcement (blocks DELETE, SET unless admin)</a:t>
            </a: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5. Execute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b="0" i="0" dirty="0">
                <a:effectLst/>
                <a:latin typeface="Inter" panose="02000503000000020004" pitchFamily="2" charset="0"/>
                <a:ea typeface="Inter" panose="02000503000000020004" pitchFamily="2" charset="0"/>
                <a:cs typeface="Inter" panose="02000503000000020004" pitchFamily="2" charset="0"/>
              </a:rPr>
              <a:t>Run on Memgraph via </a:t>
            </a:r>
            <a:r>
              <a:rPr lang="en-US" sz="1300" dirty="0">
                <a:latin typeface="Inter" panose="02000503000000020004" pitchFamily="2" charset="0"/>
                <a:ea typeface="Inter" panose="02000503000000020004" pitchFamily="2" charset="0"/>
                <a:cs typeface="Inter" panose="02000503000000020004" pitchFamily="2" charset="0"/>
              </a:rPr>
              <a:t> graph.secure_query)</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Tenant isolation enforced, timing metrics captured</a:t>
            </a:r>
          </a:p>
        </p:txBody>
      </p:sp>
      <p:sp>
        <p:nvSpPr>
          <p:cNvPr id="5" name="TextBox 4">
            <a:extLst>
              <a:ext uri="{FF2B5EF4-FFF2-40B4-BE49-F238E27FC236}">
                <a16:creationId xmlns:a16="http://schemas.microsoft.com/office/drawing/2014/main" id="{95E95803-A4E1-D747-494E-2B656FCAC8BE}"/>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NL-to-CYPHER PIPELINE (Graph Mode)</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Once the orchestrator detects GRAPH intent, a 6-stage NL-to-Cypher pipeline is triggered.</a:t>
            </a:r>
          </a:p>
        </p:txBody>
      </p:sp>
      <p:cxnSp>
        <p:nvCxnSpPr>
          <p:cNvPr id="13" name="Straight Connector 12">
            <a:extLst>
              <a:ext uri="{FF2B5EF4-FFF2-40B4-BE49-F238E27FC236}">
                <a16:creationId xmlns:a16="http://schemas.microsoft.com/office/drawing/2014/main" id="{6DAF6809-2328-7300-DFA2-329F20305B17}"/>
              </a:ext>
            </a:extLst>
          </p:cNvPr>
          <p:cNvCxnSpPr>
            <a:cxnSpLocks/>
          </p:cNvCxnSpPr>
          <p:nvPr/>
        </p:nvCxnSpPr>
        <p:spPr>
          <a:xfrm>
            <a:off x="6812010" y="1559134"/>
            <a:ext cx="0" cy="4308872"/>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203A3572-9593-CD16-2125-B53F1A1DCB2B}"/>
              </a:ext>
            </a:extLst>
          </p:cNvPr>
          <p:cNvSpPr txBox="1"/>
          <p:nvPr/>
        </p:nvSpPr>
        <p:spPr>
          <a:xfrm>
            <a:off x="6938408" y="1559134"/>
            <a:ext cx="5058520" cy="4308872"/>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6. Summarize</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LLM converts results to natural language + structured data</a:t>
            </a:r>
          </a:p>
          <a:p>
            <a:pPr algn="l">
              <a:buFont typeface="Arial" panose="020B0604020202020204" pitchFamily="34" charset="0"/>
              <a:buChar char="•"/>
            </a:pPr>
            <a:r>
              <a:rPr lang="en-US" sz="1300" b="0" i="1" dirty="0">
                <a:effectLst/>
                <a:latin typeface="Inter" panose="02000503000000020004" pitchFamily="2" charset="0"/>
                <a:ea typeface="Inter" panose="02000503000000020004" pitchFamily="2" charset="0"/>
                <a:cs typeface="Inter" panose="02000503000000020004" pitchFamily="2" charset="0"/>
              </a:rPr>
              <a:t>Example:</a:t>
            </a:r>
            <a:r>
              <a:rPr lang="en-US" sz="1300" b="0" i="0" dirty="0">
                <a:effectLst/>
                <a:latin typeface="Inter" panose="02000503000000020004" pitchFamily="2" charset="0"/>
                <a:ea typeface="Inter" panose="02000503000000020004" pitchFamily="2" charset="0"/>
                <a:cs typeface="Inter" panose="02000503000000020004" pitchFamily="2" charset="0"/>
              </a:rPr>
              <a:t> </a:t>
            </a:r>
            <a:r>
              <a:rPr lang="en-US" sz="1300" b="1" i="0" dirty="0">
                <a:effectLst/>
                <a:latin typeface="Inter" panose="02000503000000020004" pitchFamily="2" charset="0"/>
                <a:ea typeface="Inter" panose="02000503000000020004" pitchFamily="2" charset="0"/>
                <a:cs typeface="Inter" panose="02000503000000020004" pitchFamily="2" charset="0"/>
              </a:rPr>
              <a:t> </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Natural language:</a:t>
            </a:r>
            <a:r>
              <a:rPr lang="en-US" sz="1300" b="0" i="0" dirty="0">
                <a:effectLst/>
                <a:latin typeface="Inter" panose="02000503000000020004" pitchFamily="2" charset="0"/>
                <a:ea typeface="Inter" panose="02000503000000020004" pitchFamily="2" charset="0"/>
                <a:cs typeface="Inter" panose="02000503000000020004" pitchFamily="2" charset="0"/>
              </a:rPr>
              <a:t> "The BlastedSeq with the most connections is 'BlastedSeq-001' with 15 inbound OUTPUT relationships from Blast nodes.”</a:t>
            </a:r>
          </a:p>
          <a:p>
            <a:pPr marL="285750" indent="-285750" algn="l">
              <a:buFontTx/>
              <a:buChar char="-"/>
            </a:pPr>
            <a:r>
              <a:rPr lang="en-US" sz="1300" b="1" i="0" dirty="0">
                <a:effectLst/>
                <a:latin typeface="Inter" panose="02000503000000020004" pitchFamily="2" charset="0"/>
                <a:ea typeface="Inter" panose="02000503000000020004" pitchFamily="2" charset="0"/>
                <a:cs typeface="Inter" panose="02000503000000020004" pitchFamily="2" charset="0"/>
              </a:rPr>
              <a:t>Structured data:</a:t>
            </a:r>
            <a:r>
              <a:rPr lang="en-US" sz="1300" b="0" i="0" dirty="0">
                <a:effectLst/>
                <a:latin typeface="Inter" panose="02000503000000020004" pitchFamily="2" charset="0"/>
                <a:ea typeface="Inter" panose="02000503000000020004" pitchFamily="2" charset="0"/>
                <a:cs typeface="Inter" panose="02000503000000020004" pitchFamily="2" charset="0"/>
              </a:rPr>
              <a:t> { node: "BlastedSeq-001", count: 15 }</a:t>
            </a: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endParaRPr lang="en-US" sz="1300" b="0" i="0" dirty="0">
              <a:effectLst/>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End-to-End Example</a:t>
            </a:r>
          </a:p>
          <a:p>
            <a:endParaRPr lang="en-US" sz="1200" dirty="0">
              <a:solidFill>
                <a:srgbClr val="A31515"/>
              </a:solidFill>
              <a:latin typeface="Menlo" panose="020B0609030804020204" pitchFamily="49" charset="0"/>
            </a:endParaRPr>
          </a:p>
          <a:p>
            <a:r>
              <a:rPr lang="en-US" sz="1200" b="0" dirty="0">
                <a:solidFill>
                  <a:srgbClr val="A31515"/>
                </a:solidFill>
                <a:effectLst/>
                <a:latin typeface="Menlo" panose="020B0609030804020204" pitchFamily="49" charset="0"/>
              </a:rPr>
              <a:t>"Show 5 Blast pairs outputting to same BlastedSeq"</a:t>
            </a:r>
            <a:br>
              <a:rPr lang="en-US" sz="1200" b="0" dirty="0">
                <a:solidFill>
                  <a:srgbClr val="000000"/>
                </a:solidFill>
                <a:effectLst/>
                <a:latin typeface="Menlo" panose="020B0609030804020204" pitchFamily="49" charset="0"/>
              </a:rPr>
            </a:br>
            <a:endParaRPr lang="en-US" sz="1200" dirty="0">
              <a:solidFill>
                <a:srgbClr val="A31515"/>
              </a:solidFill>
              <a:latin typeface="Menlo" panose="020B0609030804020204" pitchFamily="49" charset="0"/>
            </a:endParaRPr>
          </a:p>
          <a:p>
            <a:r>
              <a:rPr lang="en-US" sz="1200" b="0" dirty="0">
                <a:solidFill>
                  <a:srgbClr val="098658"/>
                </a:solidFill>
                <a:effectLst/>
                <a:latin typeface="Menlo" panose="020B0609030804020204" pitchFamily="49" charset="0"/>
              </a:rPr>
              <a:t>1</a:t>
            </a:r>
            <a:r>
              <a:rPr lang="en-US" sz="1200" b="0" dirty="0">
                <a:solidFill>
                  <a:srgbClr val="000000"/>
                </a:solidFill>
                <a:effectLst/>
                <a:latin typeface="Menlo" panose="020B0609030804020204" pitchFamily="49" charset="0"/>
              </a:rPr>
              <a:t>. Normalize → </a:t>
            </a:r>
            <a:r>
              <a:rPr lang="en-US" sz="1200" b="0" dirty="0">
                <a:solidFill>
                  <a:srgbClr val="A31515"/>
                </a:solidFill>
                <a:effectLst/>
                <a:latin typeface="Menlo" panose="020B0609030804020204" pitchFamily="49" charset="0"/>
              </a:rPr>
              <a:t>"blast pairs same blastedseq limit 5"</a:t>
            </a:r>
            <a:endParaRPr lang="en-US" sz="1200" b="0" dirty="0">
              <a:solidFill>
                <a:srgbClr val="000000"/>
              </a:solidFill>
              <a:effectLst/>
              <a:latin typeface="Menlo" panose="020B0609030804020204" pitchFamily="49" charset="0"/>
            </a:endParaRPr>
          </a:p>
          <a:p>
            <a:r>
              <a:rPr lang="en-US" sz="1200" b="0" dirty="0">
                <a:solidFill>
                  <a:srgbClr val="098658"/>
                </a:solidFill>
                <a:effectLst/>
                <a:latin typeface="Menlo" panose="020B0609030804020204" pitchFamily="49" charset="0"/>
              </a:rPr>
              <a:t>2</a:t>
            </a:r>
            <a:r>
              <a:rPr lang="en-US" sz="1200" b="0" dirty="0">
                <a:solidFill>
                  <a:srgbClr val="000000"/>
                </a:solidFill>
                <a:effectLst/>
                <a:latin typeface="Menlo" panose="020B0609030804020204" pitchFamily="49" charset="0"/>
              </a:rPr>
              <a:t>. Catalog → No match → LLM</a:t>
            </a:r>
          </a:p>
          <a:p>
            <a:r>
              <a:rPr lang="en-US" sz="1200" b="0" dirty="0">
                <a:solidFill>
                  <a:srgbClr val="098658"/>
                </a:solidFill>
                <a:effectLst/>
                <a:latin typeface="Menlo" panose="020B0609030804020204" pitchFamily="49" charset="0"/>
              </a:rPr>
              <a:t>3</a:t>
            </a:r>
            <a:r>
              <a:rPr lang="en-US" sz="1200" b="0" dirty="0">
                <a:solidFill>
                  <a:srgbClr val="000000"/>
                </a:solidFill>
                <a:effectLst/>
                <a:latin typeface="Menlo" panose="020B0609030804020204" pitchFamily="49" charset="0"/>
              </a:rPr>
              <a:t>. Generate → </a:t>
            </a:r>
          </a:p>
          <a:p>
            <a:r>
              <a:rPr lang="en-US" sz="1200" b="0" dirty="0">
                <a:solidFill>
                  <a:srgbClr val="008000"/>
                </a:solidFill>
                <a:effectLst/>
                <a:latin typeface="Menlo" panose="020B0609030804020204" pitchFamily="49" charset="0"/>
              </a:rPr>
              <a:t>MATCH (b1:Blast)-[:OUTPUT]-&gt;(s)&lt;-[:OUTPUT]-(b2:Blast) WHERE b1&lt;&gt;b2 LIMIT 5</a:t>
            </a:r>
            <a:endParaRPr lang="en-US" sz="1200" b="0" dirty="0">
              <a:solidFill>
                <a:srgbClr val="000000"/>
              </a:solidFill>
              <a:effectLst/>
              <a:latin typeface="Menlo" panose="020B0609030804020204" pitchFamily="49" charset="0"/>
            </a:endParaRPr>
          </a:p>
          <a:p>
            <a:r>
              <a:rPr lang="en-US" sz="1200" b="0" dirty="0">
                <a:solidFill>
                  <a:srgbClr val="098658"/>
                </a:solidFill>
                <a:effectLst/>
                <a:latin typeface="Menlo" panose="020B0609030804020204" pitchFamily="49" charset="0"/>
              </a:rPr>
              <a:t>4</a:t>
            </a:r>
            <a:r>
              <a:rPr lang="en-US" sz="1200" b="0" dirty="0">
                <a:solidFill>
                  <a:srgbClr val="000000"/>
                </a:solidFill>
                <a:effectLst/>
                <a:latin typeface="Menlo" panose="020B0609030804020204" pitchFamily="49" charset="0"/>
              </a:rPr>
              <a:t>. Validate → ✓ Read-only ✓ Tenant ✓ Depth ✓ Timeout</a:t>
            </a:r>
          </a:p>
          <a:p>
            <a:r>
              <a:rPr lang="en-US" sz="1200" b="0" dirty="0">
                <a:solidFill>
                  <a:srgbClr val="098658"/>
                </a:solidFill>
                <a:effectLst/>
                <a:latin typeface="Menlo" panose="020B0609030804020204" pitchFamily="49" charset="0"/>
              </a:rPr>
              <a:t>5</a:t>
            </a:r>
            <a:r>
              <a:rPr lang="en-US" sz="1200" b="0" dirty="0">
                <a:solidFill>
                  <a:srgbClr val="000000"/>
                </a:solidFill>
                <a:effectLst/>
                <a:latin typeface="Menlo" panose="020B0609030804020204" pitchFamily="49" charset="0"/>
              </a:rPr>
              <a:t>. Execute → Returns </a:t>
            </a:r>
            <a:r>
              <a:rPr lang="en-US" sz="1200" b="0" dirty="0">
                <a:solidFill>
                  <a:srgbClr val="098658"/>
                </a:solidFill>
                <a:effectLst/>
                <a:latin typeface="Menlo" panose="020B0609030804020204" pitchFamily="49" charset="0"/>
              </a:rPr>
              <a:t>5</a:t>
            </a:r>
            <a:r>
              <a:rPr lang="en-US" sz="1200" b="0" dirty="0">
                <a:solidFill>
                  <a:srgbClr val="000000"/>
                </a:solidFill>
                <a:effectLst/>
                <a:latin typeface="Menlo" panose="020B0609030804020204" pitchFamily="49" charset="0"/>
              </a:rPr>
              <a:t> pairs</a:t>
            </a:r>
          </a:p>
          <a:p>
            <a:r>
              <a:rPr lang="en-US" sz="1200" b="0" dirty="0">
                <a:solidFill>
                  <a:srgbClr val="098658"/>
                </a:solidFill>
                <a:effectLst/>
                <a:latin typeface="Menlo" panose="020B0609030804020204" pitchFamily="49" charset="0"/>
              </a:rPr>
              <a:t>6</a:t>
            </a:r>
            <a:r>
              <a:rPr lang="en-US" sz="1200" b="0" dirty="0">
                <a:solidFill>
                  <a:srgbClr val="000000"/>
                </a:solidFill>
                <a:effectLst/>
                <a:latin typeface="Menlo" panose="020B0609030804020204" pitchFamily="49" charset="0"/>
              </a:rPr>
              <a:t>. Summarize → </a:t>
            </a:r>
          </a:p>
          <a:p>
            <a:r>
              <a:rPr lang="en-US" sz="1200" b="0" dirty="0">
                <a:solidFill>
                  <a:srgbClr val="A31515"/>
                </a:solidFill>
                <a:effectLst/>
                <a:latin typeface="Menlo" panose="020B0609030804020204" pitchFamily="49" charset="0"/>
              </a:rPr>
              <a:t>"Found 5 Blast pairs sharing BlastedSeq targets..."</a:t>
            </a:r>
            <a:endParaRPr lang="en-US" sz="1200" b="0" dirty="0">
              <a:solidFill>
                <a:srgbClr val="000000"/>
              </a:solidFill>
              <a:effectLst/>
              <a:latin typeface="Menlo" panose="020B0609030804020204" pitchFamily="49" charset="0"/>
            </a:endParaRPr>
          </a:p>
        </p:txBody>
      </p:sp>
      <p:sp>
        <p:nvSpPr>
          <p:cNvPr id="10" name="TextBox 9">
            <a:extLst>
              <a:ext uri="{FF2B5EF4-FFF2-40B4-BE49-F238E27FC236}">
                <a16:creationId xmlns:a16="http://schemas.microsoft.com/office/drawing/2014/main" id="{797D482B-2F08-34D2-3649-15361E0FFE2E}"/>
              </a:ext>
            </a:extLst>
          </p:cNvPr>
          <p:cNvSpPr txBox="1"/>
          <p:nvPr/>
        </p:nvSpPr>
        <p:spPr>
          <a:xfrm>
            <a:off x="596346" y="1159801"/>
            <a:ext cx="11127815" cy="30777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6 Pipeline Stages</a:t>
            </a:r>
          </a:p>
        </p:txBody>
      </p:sp>
      <p:sp>
        <p:nvSpPr>
          <p:cNvPr id="18" name="Footer Placeholder 10">
            <a:extLst>
              <a:ext uri="{FF2B5EF4-FFF2-40B4-BE49-F238E27FC236}">
                <a16:creationId xmlns:a16="http://schemas.microsoft.com/office/drawing/2014/main" id="{A1C5C7F4-FFDB-E39E-567C-93154D80317B}"/>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342163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FDCD-43BD-90D3-DE7C-DF2CD0E4D6D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87CE7F7-2AC0-EF06-3402-6BB0C9DCA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595CB13-A8EA-CF9E-91E8-C5BF50621DE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88C9801-A7D8-0627-4A21-98298991D985}"/>
              </a:ext>
            </a:extLst>
          </p:cNvPr>
          <p:cNvSpPr>
            <a:spLocks noGrp="1"/>
          </p:cNvSpPr>
          <p:nvPr>
            <p:ph type="sldNum" sz="quarter" idx="12"/>
          </p:nvPr>
        </p:nvSpPr>
        <p:spPr/>
        <p:txBody>
          <a:bodyPr/>
          <a:lstStyle/>
          <a:p>
            <a:fld id="{48F19E39-9933-F648-B2F3-3AC17C0DC986}" type="slidenum">
              <a:rPr lang="en-US" smtClean="0">
                <a:solidFill>
                  <a:schemeClr val="bg1"/>
                </a:solidFill>
              </a:rPr>
              <a:t>29</a:t>
            </a:fld>
            <a:endParaRPr lang="en-US" dirty="0">
              <a:solidFill>
                <a:schemeClr val="bg1"/>
              </a:solidFill>
            </a:endParaRPr>
          </a:p>
        </p:txBody>
      </p:sp>
      <p:sp>
        <p:nvSpPr>
          <p:cNvPr id="2" name="TextBox 1">
            <a:extLst>
              <a:ext uri="{FF2B5EF4-FFF2-40B4-BE49-F238E27FC236}">
                <a16:creationId xmlns:a16="http://schemas.microsoft.com/office/drawing/2014/main" id="{2BCEECD7-72CF-C6EB-683F-597574FC8C0C}"/>
              </a:ext>
            </a:extLst>
          </p:cNvPr>
          <p:cNvSpPr txBox="1"/>
          <p:nvPr/>
        </p:nvSpPr>
        <p:spPr>
          <a:xfrm>
            <a:off x="584555" y="1077726"/>
            <a:ext cx="5745830"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Database Comparison</a:t>
            </a:r>
          </a:p>
        </p:txBody>
      </p:sp>
      <p:sp>
        <p:nvSpPr>
          <p:cNvPr id="5" name="TextBox 4">
            <a:extLst>
              <a:ext uri="{FF2B5EF4-FFF2-40B4-BE49-F238E27FC236}">
                <a16:creationId xmlns:a16="http://schemas.microsoft.com/office/drawing/2014/main" id="{7B1EBDD5-8129-94DF-E529-FB7576895E2D}"/>
              </a:ext>
            </a:extLst>
          </p:cNvPr>
          <p:cNvSpPr txBox="1"/>
          <p:nvPr/>
        </p:nvSpPr>
        <p:spPr>
          <a:xfrm>
            <a:off x="596348" y="374273"/>
            <a:ext cx="11127823" cy="646331"/>
          </a:xfrm>
          <a:prstGeom prst="rect">
            <a:avLst/>
          </a:prstGeom>
          <a:noFill/>
        </p:spPr>
        <p:txBody>
          <a:bodyPr wrap="square" rtlCol="0">
            <a:spAutoFit/>
          </a:bodyPr>
          <a:lstStyle/>
          <a:p>
            <a:pPr algn="l"/>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1/4)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There are 3-database architecture: Redis for speed, PostgreSQL for durability, Memgraph for relationships.</a:t>
            </a:r>
          </a:p>
        </p:txBody>
      </p:sp>
      <p:graphicFrame>
        <p:nvGraphicFramePr>
          <p:cNvPr id="28" name="Table 27">
            <a:extLst>
              <a:ext uri="{FF2B5EF4-FFF2-40B4-BE49-F238E27FC236}">
                <a16:creationId xmlns:a16="http://schemas.microsoft.com/office/drawing/2014/main" id="{C3AF3425-EC8B-1F9A-A564-7D27CD6EBF8C}"/>
              </a:ext>
            </a:extLst>
          </p:cNvPr>
          <p:cNvGraphicFramePr>
            <a:graphicFrameLocks noGrp="1"/>
          </p:cNvGraphicFramePr>
          <p:nvPr>
            <p:extLst>
              <p:ext uri="{D42A27DB-BD31-4B8C-83A1-F6EECF244321}">
                <p14:modId xmlns:p14="http://schemas.microsoft.com/office/powerpoint/2010/main" val="886114537"/>
              </p:ext>
            </p:extLst>
          </p:nvPr>
        </p:nvGraphicFramePr>
        <p:xfrm>
          <a:off x="2216240" y="1526404"/>
          <a:ext cx="7765960" cy="4415693"/>
        </p:xfrm>
        <a:graphic>
          <a:graphicData uri="http://schemas.openxmlformats.org/drawingml/2006/table">
            <a:tbl>
              <a:tblPr>
                <a:tableStyleId>{5C22544A-7EE6-4342-B048-85BDC9FD1C3A}</a:tableStyleId>
              </a:tblPr>
              <a:tblGrid>
                <a:gridCol w="1352281">
                  <a:extLst>
                    <a:ext uri="{9D8B030D-6E8A-4147-A177-3AD203B41FA5}">
                      <a16:colId xmlns:a16="http://schemas.microsoft.com/office/drawing/2014/main" val="193041113"/>
                    </a:ext>
                  </a:extLst>
                </a:gridCol>
                <a:gridCol w="2305318">
                  <a:extLst>
                    <a:ext uri="{9D8B030D-6E8A-4147-A177-3AD203B41FA5}">
                      <a16:colId xmlns:a16="http://schemas.microsoft.com/office/drawing/2014/main" val="3192205475"/>
                    </a:ext>
                  </a:extLst>
                </a:gridCol>
                <a:gridCol w="2137893">
                  <a:extLst>
                    <a:ext uri="{9D8B030D-6E8A-4147-A177-3AD203B41FA5}">
                      <a16:colId xmlns:a16="http://schemas.microsoft.com/office/drawing/2014/main" val="141033650"/>
                    </a:ext>
                  </a:extLst>
                </a:gridCol>
                <a:gridCol w="1970468">
                  <a:extLst>
                    <a:ext uri="{9D8B030D-6E8A-4147-A177-3AD203B41FA5}">
                      <a16:colId xmlns:a16="http://schemas.microsoft.com/office/drawing/2014/main" val="2056709493"/>
                    </a:ext>
                  </a:extLst>
                </a:gridCol>
              </a:tblGrid>
              <a:tr h="258130">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Aspect</a:t>
                      </a:r>
                    </a:p>
                  </a:txBody>
                  <a:tcPr marR="36876" marT="18438" marB="18438"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Redis</a:t>
                      </a:r>
                    </a:p>
                  </a:txBody>
                  <a:tcPr marR="36876" marT="18438" marB="18438"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PostgreSQL</a:t>
                      </a:r>
                    </a:p>
                  </a:txBody>
                  <a:tcPr marR="36876" marT="18438" marB="18438"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Memgraph</a:t>
                      </a:r>
                    </a:p>
                  </a:txBody>
                  <a:tcPr marR="36876" marT="18438" marB="18438" anchor="b"/>
                </a:tc>
                <a:extLst>
                  <a:ext uri="{0D108BD9-81ED-4DB2-BD59-A6C34878D82A}">
                    <a16:rowId xmlns:a16="http://schemas.microsoft.com/office/drawing/2014/main" val="1033299651"/>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Role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Speed layer</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Durability layer</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Relationship layer</a:t>
                      </a:r>
                    </a:p>
                  </a:txBody>
                  <a:tcPr marR="36876" marT="18438" marB="18438" anchor="ctr"/>
                </a:tc>
                <a:extLst>
                  <a:ext uri="{0D108BD9-81ED-4DB2-BD59-A6C34878D82A}">
                    <a16:rowId xmlns:a16="http://schemas.microsoft.com/office/drawing/2014/main" val="3512912944"/>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Use Case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Cache, queues, rate limits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State, audit, config</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Graph queries, lineage</a:t>
                      </a:r>
                    </a:p>
                  </a:txBody>
                  <a:tcPr marR="36876" marT="18438" marB="18438" anchor="ctr"/>
                </a:tc>
                <a:extLst>
                  <a:ext uri="{0D108BD9-81ED-4DB2-BD59-A6C34878D82A}">
                    <a16:rowId xmlns:a16="http://schemas.microsoft.com/office/drawing/2014/main" val="2001767136"/>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Data Model</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Key-value + structures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Relational tables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Property graph</a:t>
                      </a:r>
                    </a:p>
                  </a:txBody>
                  <a:tcPr marR="36876" marT="18438" marB="18438" anchor="ctr"/>
                </a:tc>
                <a:extLst>
                  <a:ext uri="{0D108BD9-81ED-4DB2-BD59-A6C34878D82A}">
                    <a16:rowId xmlns:a16="http://schemas.microsoft.com/office/drawing/2014/main" val="2547962264"/>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Query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Commands (GET, SET, LPUSH)</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SQL</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Cypher</a:t>
                      </a:r>
                    </a:p>
                  </a:txBody>
                  <a:tcPr marR="36876" marT="18438" marB="18438" anchor="ctr"/>
                </a:tc>
                <a:extLst>
                  <a:ext uri="{0D108BD9-81ED-4DB2-BD59-A6C34878D82A}">
                    <a16:rowId xmlns:a16="http://schemas.microsoft.com/office/drawing/2014/main" val="2828951956"/>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Persistence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Optional (RDB/AOF)</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Always (WAL, ACID)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Always (WAL)</a:t>
                      </a:r>
                    </a:p>
                  </a:txBody>
                  <a:tcPr marR="36876" marT="18438" marB="18438" anchor="ctr"/>
                </a:tc>
                <a:extLst>
                  <a:ext uri="{0D108BD9-81ED-4DB2-BD59-A6C34878D82A}">
                    <a16:rowId xmlns:a16="http://schemas.microsoft.com/office/drawing/2014/main" val="2788839731"/>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Consistency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Eventual</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Strong (ACID)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Strong (ACID)</a:t>
                      </a:r>
                    </a:p>
                  </a:txBody>
                  <a:tcPr marR="36876" marT="18438" marB="18438" anchor="ctr"/>
                </a:tc>
                <a:extLst>
                  <a:ext uri="{0D108BD9-81ED-4DB2-BD59-A6C34878D82A}">
                    <a16:rowId xmlns:a16="http://schemas.microsoft.com/office/drawing/2014/main" val="619192708"/>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Scaling</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Horizontal (cluster)</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Vertical (replicas)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Vertical</a:t>
                      </a:r>
                    </a:p>
                  </a:txBody>
                  <a:tcPr marR="36876" marT="18438" marB="18438" anchor="ctr"/>
                </a:tc>
                <a:extLst>
                  <a:ext uri="{0D108BD9-81ED-4DB2-BD59-A6C34878D82A}">
                    <a16:rowId xmlns:a16="http://schemas.microsoft.com/office/drawing/2014/main" val="3459560307"/>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Latency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Sub-ms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Low ms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Low ms (in-memory)</a:t>
                      </a:r>
                    </a:p>
                  </a:txBody>
                  <a:tcPr marR="36876" marT="18438" marB="18438" anchor="ctr"/>
                </a:tc>
                <a:extLst>
                  <a:ext uri="{0D108BD9-81ED-4DB2-BD59-A6C34878D82A}">
                    <a16:rowId xmlns:a16="http://schemas.microsoft.com/office/drawing/2014/main" val="2492089900"/>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Transactions</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Limited (Lua scripts)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Full ACID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Full ACID</a:t>
                      </a:r>
                    </a:p>
                  </a:txBody>
                  <a:tcPr marR="36876" marT="18438" marB="18438" anchor="ctr"/>
                </a:tc>
                <a:extLst>
                  <a:ext uri="{0D108BD9-81ED-4DB2-BD59-A6C34878D82A}">
                    <a16:rowId xmlns:a16="http://schemas.microsoft.com/office/drawing/2014/main" val="3514105814"/>
                  </a:ext>
                </a:extLst>
              </a:tr>
              <a:tr h="25813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Memory</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In-memory</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Disk + cache</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In-memory + disk</a:t>
                      </a:r>
                    </a:p>
                  </a:txBody>
                  <a:tcPr marR="36876" marT="18438" marB="18438" anchor="ctr"/>
                </a:tc>
                <a:extLst>
                  <a:ext uri="{0D108BD9-81ED-4DB2-BD59-A6C34878D82A}">
                    <a16:rowId xmlns:a16="http://schemas.microsoft.com/office/drawing/2014/main" val="210659019"/>
                  </a:ext>
                </a:extLst>
              </a:tr>
              <a:tr h="479385">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Platform Keys</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session:*, jobs:queue:*, ratelimit:*</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agent_runs, jobs, audit_logs</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:Blast, :File, [:OUTPUT]</a:t>
                      </a:r>
                    </a:p>
                  </a:txBody>
                  <a:tcPr marR="36876" marT="18438" marB="18438" anchor="ctr"/>
                </a:tc>
                <a:extLst>
                  <a:ext uri="{0D108BD9-81ED-4DB2-BD59-A6C34878D82A}">
                    <a16:rowId xmlns:a16="http://schemas.microsoft.com/office/drawing/2014/main" val="1650788257"/>
                  </a:ext>
                </a:extLst>
              </a:tr>
              <a:tr h="368757">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Failure Mode</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Data loss if not persisted</a:t>
                      </a:r>
                    </a:p>
                  </a:txBody>
                  <a:tcPr marR="36876" marT="18438" marB="18438"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Safe (WAL)</a:t>
                      </a:r>
                    </a:p>
                  </a:txBody>
                  <a:tcPr marR="36876" marT="18438" marB="18438"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Safe (WAL)</a:t>
                      </a:r>
                    </a:p>
                  </a:txBody>
                  <a:tcPr marR="36876" marT="18438" marB="18438" anchor="ctr"/>
                </a:tc>
                <a:extLst>
                  <a:ext uri="{0D108BD9-81ED-4DB2-BD59-A6C34878D82A}">
                    <a16:rowId xmlns:a16="http://schemas.microsoft.com/office/drawing/2014/main" val="3739466087"/>
                  </a:ext>
                </a:extLst>
              </a:tr>
            </a:tbl>
          </a:graphicData>
        </a:graphic>
      </p:graphicFrame>
      <p:sp>
        <p:nvSpPr>
          <p:cNvPr id="29" name="Footer Placeholder 10">
            <a:extLst>
              <a:ext uri="{FF2B5EF4-FFF2-40B4-BE49-F238E27FC236}">
                <a16:creationId xmlns:a16="http://schemas.microsoft.com/office/drawing/2014/main" id="{FB6A897E-63EF-690D-5D56-E0143391EE6D}"/>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437131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C460B-BB8C-AF68-3EE3-FD87DD552FC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54084D02-22BF-328D-C3B2-445E81228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878AD5DF-A982-B622-827A-D066D112122F}"/>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51E9FE02-DF06-B226-CC5C-25B9F53BD526}"/>
              </a:ext>
            </a:extLst>
          </p:cNvPr>
          <p:cNvSpPr>
            <a:spLocks noGrp="1"/>
          </p:cNvSpPr>
          <p:nvPr>
            <p:ph type="sldNum" sz="quarter" idx="12"/>
          </p:nvPr>
        </p:nvSpPr>
        <p:spPr/>
        <p:txBody>
          <a:bodyPr/>
          <a:lstStyle/>
          <a:p>
            <a:fld id="{48F19E39-9933-F648-B2F3-3AC17C0DC986}" type="slidenum">
              <a:rPr lang="en-US" smtClean="0">
                <a:solidFill>
                  <a:schemeClr val="bg1"/>
                </a:solidFill>
              </a:rPr>
              <a:t>30</a:t>
            </a:fld>
            <a:endParaRPr lang="en-US" dirty="0">
              <a:solidFill>
                <a:schemeClr val="bg1"/>
              </a:solidFill>
            </a:endParaRPr>
          </a:p>
        </p:txBody>
      </p:sp>
      <p:sp>
        <p:nvSpPr>
          <p:cNvPr id="2" name="TextBox 1">
            <a:extLst>
              <a:ext uri="{FF2B5EF4-FFF2-40B4-BE49-F238E27FC236}">
                <a16:creationId xmlns:a16="http://schemas.microsoft.com/office/drawing/2014/main" id="{738D1C8B-7898-8E04-90D0-8B795A40A912}"/>
              </a:ext>
            </a:extLst>
          </p:cNvPr>
          <p:cNvSpPr txBox="1"/>
          <p:nvPr/>
        </p:nvSpPr>
        <p:spPr>
          <a:xfrm>
            <a:off x="596347" y="1385503"/>
            <a:ext cx="5745830"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Cache (Fast Lookups)</a:t>
            </a:r>
          </a:p>
        </p:txBody>
      </p:sp>
      <p:sp>
        <p:nvSpPr>
          <p:cNvPr id="5" name="TextBox 4">
            <a:extLst>
              <a:ext uri="{FF2B5EF4-FFF2-40B4-BE49-F238E27FC236}">
                <a16:creationId xmlns:a16="http://schemas.microsoft.com/office/drawing/2014/main" id="{62D9C7CA-C6CA-A106-83EF-E31EDD98CACD}"/>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2/4)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Redis for Speed (Cache &amp; Queues): In-memory data store for caching, queueing, and real-time coordination.</a:t>
            </a:r>
          </a:p>
        </p:txBody>
      </p:sp>
      <p:graphicFrame>
        <p:nvGraphicFramePr>
          <p:cNvPr id="20" name="Table 19">
            <a:extLst>
              <a:ext uri="{FF2B5EF4-FFF2-40B4-BE49-F238E27FC236}">
                <a16:creationId xmlns:a16="http://schemas.microsoft.com/office/drawing/2014/main" id="{DDAA7639-21BC-5A6E-FF5A-3C42E2F4BB4D}"/>
              </a:ext>
            </a:extLst>
          </p:cNvPr>
          <p:cNvGraphicFramePr>
            <a:graphicFrameLocks noGrp="1"/>
          </p:cNvGraphicFramePr>
          <p:nvPr>
            <p:extLst>
              <p:ext uri="{D42A27DB-BD31-4B8C-83A1-F6EECF244321}">
                <p14:modId xmlns:p14="http://schemas.microsoft.com/office/powerpoint/2010/main" val="3446443283"/>
              </p:ext>
            </p:extLst>
          </p:nvPr>
        </p:nvGraphicFramePr>
        <p:xfrm>
          <a:off x="596346" y="1784836"/>
          <a:ext cx="6001522" cy="1356360"/>
        </p:xfrm>
        <a:graphic>
          <a:graphicData uri="http://schemas.openxmlformats.org/drawingml/2006/table">
            <a:tbl>
              <a:tblPr>
                <a:tableStyleId>{5C22544A-7EE6-4342-B048-85BDC9FD1C3A}</a:tableStyleId>
              </a:tblPr>
              <a:tblGrid>
                <a:gridCol w="1695298">
                  <a:extLst>
                    <a:ext uri="{9D8B030D-6E8A-4147-A177-3AD203B41FA5}">
                      <a16:colId xmlns:a16="http://schemas.microsoft.com/office/drawing/2014/main" val="2702520725"/>
                    </a:ext>
                  </a:extLst>
                </a:gridCol>
                <a:gridCol w="1399823">
                  <a:extLst>
                    <a:ext uri="{9D8B030D-6E8A-4147-A177-3AD203B41FA5}">
                      <a16:colId xmlns:a16="http://schemas.microsoft.com/office/drawing/2014/main" val="4208285811"/>
                    </a:ext>
                  </a:extLst>
                </a:gridCol>
                <a:gridCol w="2906401">
                  <a:extLst>
                    <a:ext uri="{9D8B030D-6E8A-4147-A177-3AD203B41FA5}">
                      <a16:colId xmlns:a16="http://schemas.microsoft.com/office/drawing/2014/main" val="3785976547"/>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Example</a:t>
                      </a:r>
                    </a:p>
                  </a:txBody>
                  <a:tcPr anchor="b"/>
                </a:tc>
                <a:extLst>
                  <a:ext uri="{0D108BD9-81ED-4DB2-BD59-A6C34878D82A}">
                    <a16:rowId xmlns:a16="http://schemas.microsoft.com/office/drawing/2014/main" val="2827958542"/>
                  </a:ext>
                </a:extLst>
              </a:tr>
              <a:tr h="141561">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session:{id}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Session data</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User context, conversation history</a:t>
                      </a:r>
                    </a:p>
                  </a:txBody>
                  <a:tcPr anchor="ctr"/>
                </a:tc>
                <a:extLst>
                  <a:ext uri="{0D108BD9-81ED-4DB2-BD59-A6C34878D82A}">
                    <a16:rowId xmlns:a16="http://schemas.microsoft.com/office/drawing/2014/main" val="3506242124"/>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tenant:config:{id}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Tenant settings</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Rate limits, default models</a:t>
                      </a:r>
                    </a:p>
                  </a:txBody>
                  <a:tcPr anchor="ctr"/>
                </a:tc>
                <a:extLst>
                  <a:ext uri="{0D108BD9-81ED-4DB2-BD59-A6C34878D82A}">
                    <a16:rowId xmlns:a16="http://schemas.microsoft.com/office/drawing/2014/main" val="2253587763"/>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model:defaults:{id}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Model preferences</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Per-user/tenant model choices</a:t>
                      </a:r>
                    </a:p>
                  </a:txBody>
                  <a:tcPr anchor="ctr"/>
                </a:tc>
                <a:extLst>
                  <a:ext uri="{0D108BD9-81ED-4DB2-BD59-A6C34878D82A}">
                    <a16:rowId xmlns:a16="http://schemas.microsoft.com/office/drawing/2014/main" val="1282923244"/>
                  </a:ext>
                </a:extLst>
              </a:tr>
            </a:tbl>
          </a:graphicData>
        </a:graphic>
      </p:graphicFrame>
      <p:sp>
        <p:nvSpPr>
          <p:cNvPr id="21" name="TextBox 20">
            <a:extLst>
              <a:ext uri="{FF2B5EF4-FFF2-40B4-BE49-F238E27FC236}">
                <a16:creationId xmlns:a16="http://schemas.microsoft.com/office/drawing/2014/main" id="{63D73D3E-3B9C-7055-CEF8-0A95857A15B8}"/>
              </a:ext>
            </a:extLst>
          </p:cNvPr>
          <p:cNvSpPr txBox="1"/>
          <p:nvPr/>
        </p:nvSpPr>
        <p:spPr>
          <a:xfrm>
            <a:off x="584555" y="3324248"/>
            <a:ext cx="6013313"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Cache (Fast Lookups)</a:t>
            </a:r>
          </a:p>
        </p:txBody>
      </p:sp>
      <p:graphicFrame>
        <p:nvGraphicFramePr>
          <p:cNvPr id="22" name="Table 21">
            <a:extLst>
              <a:ext uri="{FF2B5EF4-FFF2-40B4-BE49-F238E27FC236}">
                <a16:creationId xmlns:a16="http://schemas.microsoft.com/office/drawing/2014/main" id="{736C5223-E6D3-0986-1196-ADCDFAABEAB8}"/>
              </a:ext>
            </a:extLst>
          </p:cNvPr>
          <p:cNvGraphicFramePr>
            <a:graphicFrameLocks noGrp="1"/>
          </p:cNvGraphicFramePr>
          <p:nvPr/>
        </p:nvGraphicFramePr>
        <p:xfrm>
          <a:off x="596346" y="3722397"/>
          <a:ext cx="6001522" cy="1356360"/>
        </p:xfrm>
        <a:graphic>
          <a:graphicData uri="http://schemas.openxmlformats.org/drawingml/2006/table">
            <a:tbl>
              <a:tblPr>
                <a:tableStyleId>{5C22544A-7EE6-4342-B048-85BDC9FD1C3A}</a:tableStyleId>
              </a:tblPr>
              <a:tblGrid>
                <a:gridCol w="1582912">
                  <a:extLst>
                    <a:ext uri="{9D8B030D-6E8A-4147-A177-3AD203B41FA5}">
                      <a16:colId xmlns:a16="http://schemas.microsoft.com/office/drawing/2014/main" val="1545720441"/>
                    </a:ext>
                  </a:extLst>
                </a:gridCol>
                <a:gridCol w="1049866">
                  <a:extLst>
                    <a:ext uri="{9D8B030D-6E8A-4147-A177-3AD203B41FA5}">
                      <a16:colId xmlns:a16="http://schemas.microsoft.com/office/drawing/2014/main" val="11806056"/>
                    </a:ext>
                  </a:extLst>
                </a:gridCol>
                <a:gridCol w="3368744">
                  <a:extLst>
                    <a:ext uri="{9D8B030D-6E8A-4147-A177-3AD203B41FA5}">
                      <a16:colId xmlns:a16="http://schemas.microsoft.com/office/drawing/2014/main" val="3650982326"/>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Operations</a:t>
                      </a:r>
                    </a:p>
                  </a:txBody>
                  <a:tcPr anchor="b"/>
                </a:tc>
                <a:extLst>
                  <a:ext uri="{0D108BD9-81ED-4DB2-BD59-A6C34878D82A}">
                    <a16:rowId xmlns:a16="http://schemas.microsoft.com/office/drawing/2014/main" val="3796018194"/>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jobs:queue</a:t>
                      </a:r>
                      <a:r>
                        <a:rPr lang="en-US" sz="1300" dirty="0">
                          <a:effectLst/>
                          <a:latin typeface="Inter" panose="02000503000000020004" pitchFamily="2" charset="0"/>
                          <a:ea typeface="Inter" panose="02000503000000020004" pitchFamily="2" charset="0"/>
                          <a:cs typeface="Inter" panose="02000503000000020004" pitchFamily="2" charset="0"/>
                        </a:rPr>
                        <a:t>:{type}</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Job queue</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LPUSH to enqueue, BRPOP to consume</a:t>
                      </a:r>
                    </a:p>
                  </a:txBody>
                  <a:tcPr anchor="ctr"/>
                </a:tc>
                <a:extLst>
                  <a:ext uri="{0D108BD9-81ED-4DB2-BD59-A6C34878D82A}">
                    <a16:rowId xmlns:a16="http://schemas.microsoft.com/office/drawing/2014/main" val="728789889"/>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jobs:events</a:t>
                      </a:r>
                      <a:r>
                        <a:rPr lang="en-US" sz="1300" dirty="0">
                          <a:effectLst/>
                          <a:latin typeface="Inter" panose="02000503000000020004" pitchFamily="2" charset="0"/>
                          <a:ea typeface="Inter" panose="02000503000000020004" pitchFamily="2" charset="0"/>
                          <a:cs typeface="Inter" panose="02000503000000020004" pitchFamily="2" charset="0"/>
                        </a:rPr>
                        <a:t>:{id}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SSE event buffer</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Ring buffer for progress streaming</a:t>
                      </a:r>
                    </a:p>
                  </a:txBody>
                  <a:tcPr anchor="ctr"/>
                </a:tc>
                <a:extLst>
                  <a:ext uri="{0D108BD9-81ED-4DB2-BD59-A6C34878D82A}">
                    <a16:rowId xmlns:a16="http://schemas.microsoft.com/office/drawing/2014/main" val="1967563577"/>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jobs:state:{id}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Job state</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HASH with status, timestamps, metadata</a:t>
                      </a:r>
                    </a:p>
                  </a:txBody>
                  <a:tcPr anchor="ctr"/>
                </a:tc>
                <a:extLst>
                  <a:ext uri="{0D108BD9-81ED-4DB2-BD59-A6C34878D82A}">
                    <a16:rowId xmlns:a16="http://schemas.microsoft.com/office/drawing/2014/main" val="2378573543"/>
                  </a:ext>
                </a:extLst>
              </a:tr>
            </a:tbl>
          </a:graphicData>
        </a:graphic>
      </p:graphicFrame>
      <p:sp>
        <p:nvSpPr>
          <p:cNvPr id="23" name="TextBox 22">
            <a:extLst>
              <a:ext uri="{FF2B5EF4-FFF2-40B4-BE49-F238E27FC236}">
                <a16:creationId xmlns:a16="http://schemas.microsoft.com/office/drawing/2014/main" id="{4D5BF13C-2BF1-D0FF-D5DC-15C1EAFF45DB}"/>
              </a:ext>
            </a:extLst>
          </p:cNvPr>
          <p:cNvSpPr txBox="1"/>
          <p:nvPr/>
        </p:nvSpPr>
        <p:spPr>
          <a:xfrm>
            <a:off x="6744626" y="1385503"/>
            <a:ext cx="4979545"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Rate Limiting (Sliding Window)</a:t>
            </a:r>
          </a:p>
        </p:txBody>
      </p:sp>
      <p:graphicFrame>
        <p:nvGraphicFramePr>
          <p:cNvPr id="24" name="Table 23">
            <a:extLst>
              <a:ext uri="{FF2B5EF4-FFF2-40B4-BE49-F238E27FC236}">
                <a16:creationId xmlns:a16="http://schemas.microsoft.com/office/drawing/2014/main" id="{A836F3E2-383F-727A-402C-1C4048C5D407}"/>
              </a:ext>
            </a:extLst>
          </p:cNvPr>
          <p:cNvGraphicFramePr>
            <a:graphicFrameLocks noGrp="1"/>
          </p:cNvGraphicFramePr>
          <p:nvPr/>
        </p:nvGraphicFramePr>
        <p:xfrm>
          <a:off x="6744624" y="1783443"/>
          <a:ext cx="4979546" cy="1356360"/>
        </p:xfrm>
        <a:graphic>
          <a:graphicData uri="http://schemas.openxmlformats.org/drawingml/2006/table">
            <a:tbl>
              <a:tblPr>
                <a:tableStyleId>{5C22544A-7EE6-4342-B048-85BDC9FD1C3A}</a:tableStyleId>
              </a:tblPr>
              <a:tblGrid>
                <a:gridCol w="2105865">
                  <a:extLst>
                    <a:ext uri="{9D8B030D-6E8A-4147-A177-3AD203B41FA5}">
                      <a16:colId xmlns:a16="http://schemas.microsoft.com/office/drawing/2014/main" val="1677668574"/>
                    </a:ext>
                  </a:extLst>
                </a:gridCol>
                <a:gridCol w="2873681">
                  <a:extLst>
                    <a:ext uri="{9D8B030D-6E8A-4147-A177-3AD203B41FA5}">
                      <a16:colId xmlns:a16="http://schemas.microsoft.com/office/drawing/2014/main" val="4235213615"/>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extLst>
                  <a:ext uri="{0D108BD9-81ED-4DB2-BD59-A6C34878D82A}">
                    <a16:rowId xmlns:a16="http://schemas.microsoft.com/office/drawing/2014/main" val="1475604694"/>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ratelimit:user</a:t>
                      </a:r>
                      <a:r>
                        <a:rPr lang="en-US" sz="1300" dirty="0">
                          <a:effectLst/>
                          <a:latin typeface="Inter" panose="02000503000000020004" pitchFamily="2" charset="0"/>
                          <a:ea typeface="Inter" panose="02000503000000020004" pitchFamily="2" charset="0"/>
                          <a:cs typeface="Inter" panose="02000503000000020004" pitchFamily="2" charset="0"/>
                        </a:rPr>
                        <a:t>:{id}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Per-user quotas (e.g., 100 req/min)</a:t>
                      </a:r>
                    </a:p>
                  </a:txBody>
                  <a:tcPr anchor="ctr"/>
                </a:tc>
                <a:extLst>
                  <a:ext uri="{0D108BD9-81ED-4DB2-BD59-A6C34878D82A}">
                    <a16:rowId xmlns:a16="http://schemas.microsoft.com/office/drawing/2014/main" val="1231383227"/>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ratelimit:tenant</a:t>
                      </a:r>
                      <a:r>
                        <a:rPr lang="en-US" sz="1300" dirty="0">
                          <a:effectLst/>
                          <a:latin typeface="Inter" panose="02000503000000020004" pitchFamily="2" charset="0"/>
                          <a:ea typeface="Inter" panose="02000503000000020004" pitchFamily="2" charset="0"/>
                          <a:cs typeface="Inter" panose="02000503000000020004" pitchFamily="2" charset="0"/>
                        </a:rPr>
                        <a:t>:{id}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Per-org quotas</a:t>
                      </a:r>
                    </a:p>
                  </a:txBody>
                  <a:tcPr anchor="ctr"/>
                </a:tc>
                <a:extLst>
                  <a:ext uri="{0D108BD9-81ED-4DB2-BD59-A6C34878D82A}">
                    <a16:rowId xmlns:a16="http://schemas.microsoft.com/office/drawing/2014/main" val="4129733778"/>
                  </a:ext>
                </a:extLst>
              </a:tr>
              <a:tr h="0">
                <a:tc>
                  <a:txBody>
                    <a:bodyPr/>
                    <a:lstStyle/>
                    <a:p>
                      <a:pPr algn="l" fontAlgn="base"/>
                      <a:r>
                        <a:rPr lang="en-US" sz="1300" dirty="0" err="1">
                          <a:effectLst/>
                          <a:latin typeface="Inter" panose="02000503000000020004" pitchFamily="2" charset="0"/>
                          <a:ea typeface="Inter" panose="02000503000000020004" pitchFamily="2" charset="0"/>
                          <a:cs typeface="Inter" panose="02000503000000020004" pitchFamily="2" charset="0"/>
                        </a:rPr>
                        <a:t>ratelimit:endpoint</a:t>
                      </a:r>
                      <a:r>
                        <a:rPr lang="en-US" sz="1300" dirty="0">
                          <a:effectLst/>
                          <a:latin typeface="Inter" panose="02000503000000020004" pitchFamily="2" charset="0"/>
                          <a:ea typeface="Inter" panose="02000503000000020004" pitchFamily="2" charset="0"/>
                          <a:cs typeface="Inter" panose="02000503000000020004" pitchFamily="2" charset="0"/>
                        </a:rPr>
                        <a:t>:{path}</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Per-endpoint throttling</a:t>
                      </a:r>
                    </a:p>
                  </a:txBody>
                  <a:tcPr anchor="ctr"/>
                </a:tc>
                <a:extLst>
                  <a:ext uri="{0D108BD9-81ED-4DB2-BD59-A6C34878D82A}">
                    <a16:rowId xmlns:a16="http://schemas.microsoft.com/office/drawing/2014/main" val="2422466033"/>
                  </a:ext>
                </a:extLst>
              </a:tr>
            </a:tbl>
          </a:graphicData>
        </a:graphic>
      </p:graphicFrame>
      <p:sp>
        <p:nvSpPr>
          <p:cNvPr id="25" name="TextBox 24">
            <a:extLst>
              <a:ext uri="{FF2B5EF4-FFF2-40B4-BE49-F238E27FC236}">
                <a16:creationId xmlns:a16="http://schemas.microsoft.com/office/drawing/2014/main" id="{19959B37-5622-D167-084C-34D6CCC6F069}"/>
              </a:ext>
            </a:extLst>
          </p:cNvPr>
          <p:cNvSpPr txBox="1"/>
          <p:nvPr/>
        </p:nvSpPr>
        <p:spPr>
          <a:xfrm>
            <a:off x="6744624" y="3324248"/>
            <a:ext cx="4904690" cy="307777"/>
          </a:xfrm>
          <a:prstGeom prst="rect">
            <a:avLst/>
          </a:prstGeom>
          <a:noFill/>
        </p:spPr>
        <p:txBody>
          <a:bodyPr wrap="square" rtlCol="0">
            <a:spAutoFit/>
          </a:bodyPr>
          <a:lstStyle/>
          <a:p>
            <a:pPr algn="l"/>
            <a:r>
              <a:rPr lang="en-US" sz="1400" b="1" i="0" dirty="0">
                <a:solidFill>
                  <a:srgbClr val="000000"/>
                </a:solidFill>
                <a:effectLst/>
                <a:latin typeface="Inter" panose="02000503000000020004" pitchFamily="2" charset="0"/>
                <a:ea typeface="Inter" panose="02000503000000020004" pitchFamily="2" charset="0"/>
                <a:cs typeface="Inter" panose="02000503000000020004" pitchFamily="2" charset="0"/>
              </a:rPr>
              <a:t>Control (System Coordination)</a:t>
            </a:r>
          </a:p>
        </p:txBody>
      </p:sp>
      <p:graphicFrame>
        <p:nvGraphicFramePr>
          <p:cNvPr id="26" name="Table 25">
            <a:extLst>
              <a:ext uri="{FF2B5EF4-FFF2-40B4-BE49-F238E27FC236}">
                <a16:creationId xmlns:a16="http://schemas.microsoft.com/office/drawing/2014/main" id="{CA1D4839-2FB9-77DD-A198-200BEF5FF4C4}"/>
              </a:ext>
            </a:extLst>
          </p:cNvPr>
          <p:cNvGraphicFramePr>
            <a:graphicFrameLocks noGrp="1"/>
          </p:cNvGraphicFramePr>
          <p:nvPr/>
        </p:nvGraphicFramePr>
        <p:xfrm>
          <a:off x="6744626" y="3726158"/>
          <a:ext cx="4979544" cy="1356360"/>
        </p:xfrm>
        <a:graphic>
          <a:graphicData uri="http://schemas.openxmlformats.org/drawingml/2006/table">
            <a:tbl>
              <a:tblPr>
                <a:tableStyleId>{5C22544A-7EE6-4342-B048-85BDC9FD1C3A}</a:tableStyleId>
              </a:tblPr>
              <a:tblGrid>
                <a:gridCol w="1676885">
                  <a:extLst>
                    <a:ext uri="{9D8B030D-6E8A-4147-A177-3AD203B41FA5}">
                      <a16:colId xmlns:a16="http://schemas.microsoft.com/office/drawing/2014/main" val="2480894800"/>
                    </a:ext>
                  </a:extLst>
                </a:gridCol>
                <a:gridCol w="3302659">
                  <a:extLst>
                    <a:ext uri="{9D8B030D-6E8A-4147-A177-3AD203B41FA5}">
                      <a16:colId xmlns:a16="http://schemas.microsoft.com/office/drawing/2014/main" val="2527086451"/>
                    </a:ext>
                  </a:extLst>
                </a:gridCol>
              </a:tblGrid>
              <a:tr h="0">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Key Pattern</a:t>
                      </a:r>
                    </a:p>
                  </a:txBody>
                  <a:tcPr anchor="b"/>
                </a:tc>
                <a:tc>
                  <a:txBody>
                    <a:bodyPr/>
                    <a:lstStyle/>
                    <a:p>
                      <a:pPr algn="l" fontAlgn="b"/>
                      <a:r>
                        <a:rPr lang="en-US" sz="1300" b="1" dirty="0">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anchor="b"/>
                </a:tc>
                <a:extLst>
                  <a:ext uri="{0D108BD9-81ED-4DB2-BD59-A6C34878D82A}">
                    <a16:rowId xmlns:a16="http://schemas.microsoft.com/office/drawing/2014/main" val="1804643124"/>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idempotency:{key}</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Prevents duplicate job creation</a:t>
                      </a:r>
                    </a:p>
                  </a:txBody>
                  <a:tcPr anchor="ctr"/>
                </a:tc>
                <a:extLst>
                  <a:ext uri="{0D108BD9-81ED-4DB2-BD59-A6C34878D82A}">
                    <a16:rowId xmlns:a16="http://schemas.microsoft.com/office/drawing/2014/main" val="1596147074"/>
                  </a:ext>
                </a:extLst>
              </a:tr>
              <a:tr h="0">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circuit:{provider}</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Circuit breaker state for LLM providers</a:t>
                      </a:r>
                    </a:p>
                  </a:txBody>
                  <a:tcPr anchor="ctr"/>
                </a:tc>
                <a:extLst>
                  <a:ext uri="{0D108BD9-81ED-4DB2-BD59-A6C34878D82A}">
                    <a16:rowId xmlns:a16="http://schemas.microsoft.com/office/drawing/2014/main" val="1864337269"/>
                  </a:ext>
                </a:extLst>
              </a:tr>
              <a:tr h="0">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jobs:cancel:{id}</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Cancellation flag for cooperative shutdown</a:t>
                      </a:r>
                    </a:p>
                  </a:txBody>
                  <a:tcPr anchor="ctr"/>
                </a:tc>
                <a:extLst>
                  <a:ext uri="{0D108BD9-81ED-4DB2-BD59-A6C34878D82A}">
                    <a16:rowId xmlns:a16="http://schemas.microsoft.com/office/drawing/2014/main" val="3374593363"/>
                  </a:ext>
                </a:extLst>
              </a:tr>
            </a:tbl>
          </a:graphicData>
        </a:graphic>
      </p:graphicFrame>
      <p:sp>
        <p:nvSpPr>
          <p:cNvPr id="3" name="Footer Placeholder 10">
            <a:extLst>
              <a:ext uri="{FF2B5EF4-FFF2-40B4-BE49-F238E27FC236}">
                <a16:creationId xmlns:a16="http://schemas.microsoft.com/office/drawing/2014/main" id="{A8B4ADEF-8567-B9DA-0F34-4E2C1149C6C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747794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1F0E-2205-6470-F177-3A3C05D60713}"/>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99CA1B1C-F0E7-F74E-9277-8F69E15DA4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376C391-3273-7795-533D-D6EC19F3537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52E12FB-CD8E-8B38-CDA4-7D77D00AD386}"/>
              </a:ext>
            </a:extLst>
          </p:cNvPr>
          <p:cNvSpPr>
            <a:spLocks noGrp="1"/>
          </p:cNvSpPr>
          <p:nvPr>
            <p:ph type="sldNum" sz="quarter" idx="12"/>
          </p:nvPr>
        </p:nvSpPr>
        <p:spPr/>
        <p:txBody>
          <a:bodyPr/>
          <a:lstStyle/>
          <a:p>
            <a:fld id="{48F19E39-9933-F648-B2F3-3AC17C0DC986}" type="slidenum">
              <a:rPr lang="en-US" smtClean="0">
                <a:solidFill>
                  <a:schemeClr val="bg1"/>
                </a:solidFill>
              </a:rPr>
              <a:t>31</a:t>
            </a:fld>
            <a:endParaRPr lang="en-US" dirty="0">
              <a:solidFill>
                <a:schemeClr val="bg1"/>
              </a:solidFill>
            </a:endParaRPr>
          </a:p>
        </p:txBody>
      </p:sp>
      <p:sp>
        <p:nvSpPr>
          <p:cNvPr id="5" name="TextBox 4">
            <a:extLst>
              <a:ext uri="{FF2B5EF4-FFF2-40B4-BE49-F238E27FC236}">
                <a16:creationId xmlns:a16="http://schemas.microsoft.com/office/drawing/2014/main" id="{841AD92F-FCB0-8839-5AE0-C8AB95937CF1}"/>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3/4)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PostgreSQL for durability: Relational database for durable state, audit trails, and transactional operations. </a:t>
            </a:r>
          </a:p>
        </p:txBody>
      </p:sp>
      <p:graphicFrame>
        <p:nvGraphicFramePr>
          <p:cNvPr id="7" name="Table 6">
            <a:extLst>
              <a:ext uri="{FF2B5EF4-FFF2-40B4-BE49-F238E27FC236}">
                <a16:creationId xmlns:a16="http://schemas.microsoft.com/office/drawing/2014/main" id="{026FC881-435A-3D79-6828-1B62C1EAEFAC}"/>
              </a:ext>
            </a:extLst>
          </p:cNvPr>
          <p:cNvGraphicFramePr>
            <a:graphicFrameLocks noGrp="1"/>
          </p:cNvGraphicFramePr>
          <p:nvPr>
            <p:extLst>
              <p:ext uri="{D42A27DB-BD31-4B8C-83A1-F6EECF244321}">
                <p14:modId xmlns:p14="http://schemas.microsoft.com/office/powerpoint/2010/main" val="3168235043"/>
              </p:ext>
            </p:extLst>
          </p:nvPr>
        </p:nvGraphicFramePr>
        <p:xfrm>
          <a:off x="596348" y="1336248"/>
          <a:ext cx="11063562" cy="4640232"/>
        </p:xfrm>
        <a:graphic>
          <a:graphicData uri="http://schemas.openxmlformats.org/drawingml/2006/table">
            <a:tbl>
              <a:tblPr>
                <a:tableStyleId>{5C22544A-7EE6-4342-B048-85BDC9FD1C3A}</a:tableStyleId>
              </a:tblPr>
              <a:tblGrid>
                <a:gridCol w="1388569">
                  <a:extLst>
                    <a:ext uri="{9D8B030D-6E8A-4147-A177-3AD203B41FA5}">
                      <a16:colId xmlns:a16="http://schemas.microsoft.com/office/drawing/2014/main" val="3334739358"/>
                    </a:ext>
                  </a:extLst>
                </a:gridCol>
                <a:gridCol w="1706137">
                  <a:extLst>
                    <a:ext uri="{9D8B030D-6E8A-4147-A177-3AD203B41FA5}">
                      <a16:colId xmlns:a16="http://schemas.microsoft.com/office/drawing/2014/main" val="2506301985"/>
                    </a:ext>
                  </a:extLst>
                </a:gridCol>
                <a:gridCol w="3412273">
                  <a:extLst>
                    <a:ext uri="{9D8B030D-6E8A-4147-A177-3AD203B41FA5}">
                      <a16:colId xmlns:a16="http://schemas.microsoft.com/office/drawing/2014/main" val="2664383306"/>
                    </a:ext>
                  </a:extLst>
                </a:gridCol>
                <a:gridCol w="4556583">
                  <a:extLst>
                    <a:ext uri="{9D8B030D-6E8A-4147-A177-3AD203B41FA5}">
                      <a16:colId xmlns:a16="http://schemas.microsoft.com/office/drawing/2014/main" val="12624816"/>
                    </a:ext>
                  </a:extLst>
                </a:gridCol>
              </a:tblGrid>
              <a:tr h="165638">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Table Names</a:t>
                      </a:r>
                    </a:p>
                  </a:txBody>
                  <a:tcPr marR="14953" marT="7477" marB="7477" anchor="ctr"/>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Purpose</a:t>
                      </a:r>
                    </a:p>
                  </a:txBody>
                  <a:tcPr marR="14953" marT="7477" marB="7477" anchor="ctr"/>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Key Fields</a:t>
                      </a:r>
                    </a:p>
                  </a:txBody>
                  <a:tcPr marR="14953" marT="7477" marB="7477" anchor="ctr"/>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Details</a:t>
                      </a:r>
                    </a:p>
                  </a:txBody>
                  <a:tcPr marR="14953" marT="7477" marB="7477" anchor="ctr"/>
                </a:tc>
                <a:extLst>
                  <a:ext uri="{0D108BD9-81ED-4DB2-BD59-A6C34878D82A}">
                    <a16:rowId xmlns:a16="http://schemas.microsoft.com/office/drawing/2014/main" val="3773440674"/>
                  </a:ext>
                </a:extLst>
              </a:tr>
              <a:tr h="116730">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tenants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Multi-tenant configs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name, </a:t>
                      </a:r>
                      <a:r>
                        <a:rPr lang="en-US" sz="1200" dirty="0" err="1">
                          <a:effectLst/>
                          <a:latin typeface="Inter" panose="02000503000000020004" pitchFamily="2" charset="0"/>
                          <a:ea typeface="Inter" panose="02000503000000020004" pitchFamily="2" charset="0"/>
                          <a:cs typeface="Inter" panose="02000503000000020004" pitchFamily="2" charset="0"/>
                        </a:rPr>
                        <a:t>admin_email</a:t>
                      </a:r>
                      <a:r>
                        <a:rPr lang="en-US" sz="1200" dirty="0">
                          <a:effectLst/>
                          <a:latin typeface="Inter" panose="02000503000000020004" pitchFamily="2" charset="0"/>
                          <a:ea typeface="Inter" panose="02000503000000020004" pitchFamily="2" charset="0"/>
                          <a:cs typeface="Inter" panose="02000503000000020004" pitchFamily="2" charset="0"/>
                        </a:rPr>
                        <a:t>, metadata</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Tenant isolation. Unique lowercase name. Cascade deletes.</a:t>
                      </a:r>
                    </a:p>
                  </a:txBody>
                  <a:tcPr marR="14953" marT="7477" marB="7477" anchor="ctr"/>
                </a:tc>
                <a:extLst>
                  <a:ext uri="{0D108BD9-81ED-4DB2-BD59-A6C34878D82A}">
                    <a16:rowId xmlns:a16="http://schemas.microsoft.com/office/drawing/2014/main" val="1688940475"/>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agent_runs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Execution records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a:t>
                      </a:r>
                      <a:r>
                        <a:rPr lang="en-US" sz="1200" dirty="0" err="1">
                          <a:effectLst/>
                          <a:latin typeface="Inter" panose="02000503000000020004" pitchFamily="2" charset="0"/>
                          <a:ea typeface="Inter" panose="02000503000000020004" pitchFamily="2" charset="0"/>
                          <a:cs typeface="Inter" panose="02000503000000020004" pitchFamily="2" charset="0"/>
                        </a:rPr>
                        <a:t>session_id</a:t>
                      </a:r>
                      <a:r>
                        <a:rPr lang="en-US" sz="1200" dirty="0">
                          <a:effectLst/>
                          <a:latin typeface="Inter" panose="02000503000000020004" pitchFamily="2" charset="0"/>
                          <a:ea typeface="Inter" panose="02000503000000020004" pitchFamily="2" charset="0"/>
                          <a:cs typeface="Inter" panose="02000503000000020004" pitchFamily="2" charset="0"/>
                        </a:rPr>
                        <a:t>, status, </a:t>
                      </a:r>
                      <a:r>
                        <a:rPr lang="en-US" sz="1200" dirty="0" err="1">
                          <a:effectLst/>
                          <a:latin typeface="Inter" panose="02000503000000020004" pitchFamily="2" charset="0"/>
                          <a:ea typeface="Inter" panose="02000503000000020004" pitchFamily="2" charset="0"/>
                          <a:cs typeface="Inter" panose="02000503000000020004" pitchFamily="2" charset="0"/>
                        </a:rPr>
                        <a:t>result_json</a:t>
                      </a:r>
                      <a:r>
                        <a:rPr lang="en-US" sz="1200" dirty="0">
                          <a:effectLst/>
                          <a:latin typeface="Inter" panose="02000503000000020004" pitchFamily="2" charset="0"/>
                          <a:ea typeface="Inter" panose="02000503000000020004" pitchFamily="2" charset="0"/>
                          <a:cs typeface="Inter" panose="02000503000000020004" pitchFamily="2" charset="0"/>
                        </a:rPr>
                        <a:t>, todos, </a:t>
                      </a:r>
                    </a:p>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steps, metrics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Status: </a:t>
                      </a:r>
                      <a:r>
                        <a:rPr lang="en-US" sz="1200" dirty="0" err="1">
                          <a:effectLst/>
                          <a:latin typeface="Inter" panose="02000503000000020004" pitchFamily="2" charset="0"/>
                          <a:ea typeface="Inter" panose="02000503000000020004" pitchFamily="2" charset="0"/>
                          <a:cs typeface="Inter" panose="02000503000000020004" pitchFamily="2" charset="0"/>
                        </a:rPr>
                        <a:t>queued→running→succeeded</a:t>
                      </a:r>
                      <a:r>
                        <a:rPr lang="en-US" sz="1200" dirty="0">
                          <a:effectLst/>
                          <a:latin typeface="Inter" panose="02000503000000020004" pitchFamily="2" charset="0"/>
                          <a:ea typeface="Inter" panose="02000503000000020004" pitchFamily="2" charset="0"/>
                          <a:cs typeface="Inter" panose="02000503000000020004" pitchFamily="2" charset="0"/>
                        </a:rPr>
                        <a:t>/failed. ETags for caching.</a:t>
                      </a:r>
                    </a:p>
                  </a:txBody>
                  <a:tcPr marR="14953" marT="7477" marB="7477" anchor="ctr"/>
                </a:tc>
                <a:extLst>
                  <a:ext uri="{0D108BD9-81ED-4DB2-BD59-A6C34878D82A}">
                    <a16:rowId xmlns:a16="http://schemas.microsoft.com/office/drawing/2014/main" val="54444659"/>
                  </a:ext>
                </a:extLst>
              </a:tr>
              <a:tr h="224636">
                <a:tc>
                  <a:txBody>
                    <a:bodyPr/>
                    <a:lstStyle/>
                    <a:p>
                      <a:pPr algn="l" fontAlgn="base"/>
                      <a:r>
                        <a:rPr lang="en-US" sz="1200" b="1" dirty="0" err="1">
                          <a:effectLst/>
                          <a:latin typeface="Inter" panose="02000503000000020004" pitchFamily="2" charset="0"/>
                          <a:ea typeface="Inter" panose="02000503000000020004" pitchFamily="2" charset="0"/>
                          <a:cs typeface="Inter" panose="02000503000000020004" pitchFamily="2" charset="0"/>
                        </a:rPr>
                        <a:t>agent_sessions</a:t>
                      </a:r>
                      <a:endParaRPr lang="en-US" sz="1200" b="1"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Conversation state</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a:t>
                      </a:r>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status, </a:t>
                      </a:r>
                      <a:r>
                        <a:rPr lang="en-US" sz="1200" dirty="0" err="1">
                          <a:effectLst/>
                          <a:latin typeface="Inter" panose="02000503000000020004" pitchFamily="2" charset="0"/>
                          <a:ea typeface="Inter" panose="02000503000000020004" pitchFamily="2" charset="0"/>
                          <a:cs typeface="Inter" panose="02000503000000020004" pitchFamily="2" charset="0"/>
                        </a:rPr>
                        <a:t>llm_preferences</a:t>
                      </a:r>
                      <a:r>
                        <a:rPr lang="en-US" sz="1200" dirty="0">
                          <a:effectLst/>
                          <a:latin typeface="Inter" panose="02000503000000020004" pitchFamily="2" charset="0"/>
                          <a:ea typeface="Inter" panose="02000503000000020004" pitchFamily="2" charset="0"/>
                          <a:cs typeface="Inter" panose="02000503000000020004" pitchFamily="2" charset="0"/>
                        </a:rPr>
                        <a:t>, tools, </a:t>
                      </a:r>
                    </a:p>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max_steps</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 active→completed/cancelled. Configures tools &amp; limits.</a:t>
                      </a:r>
                    </a:p>
                  </a:txBody>
                  <a:tcPr marR="14953" marT="7477" marB="7477" anchor="ctr"/>
                </a:tc>
                <a:extLst>
                  <a:ext uri="{0D108BD9-81ED-4DB2-BD59-A6C34878D82A}">
                    <a16:rowId xmlns:a16="http://schemas.microsoft.com/office/drawing/2014/main" val="2474938671"/>
                  </a:ext>
                </a:extLst>
              </a:tr>
              <a:tr h="11673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agent_steps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Per-step records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a:t>
                      </a:r>
                      <a:r>
                        <a:rPr lang="en-US" sz="1200" dirty="0" err="1">
                          <a:effectLst/>
                          <a:latin typeface="Inter" panose="02000503000000020004" pitchFamily="2" charset="0"/>
                          <a:ea typeface="Inter" panose="02000503000000020004" pitchFamily="2" charset="0"/>
                          <a:cs typeface="Inter" panose="02000503000000020004" pitchFamily="2" charset="0"/>
                        </a:rPr>
                        <a:t>session_id</a:t>
                      </a:r>
                      <a:r>
                        <a:rPr lang="en-US" sz="1200" dirty="0">
                          <a:effectLst/>
                          <a:latin typeface="Inter" panose="02000503000000020004" pitchFamily="2" charset="0"/>
                          <a:ea typeface="Inter" panose="02000503000000020004" pitchFamily="2" charset="0"/>
                          <a:cs typeface="Inter" panose="02000503000000020004" pitchFamily="2" charset="0"/>
                        </a:rPr>
                        <a:t>, seq, type, input, output, status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Type: message/tool/system/error. Unique (session_id, seq).</a:t>
                      </a:r>
                    </a:p>
                  </a:txBody>
                  <a:tcPr marR="14953" marT="7477" marB="7477" anchor="ctr"/>
                </a:tc>
                <a:extLst>
                  <a:ext uri="{0D108BD9-81ED-4DB2-BD59-A6C34878D82A}">
                    <a16:rowId xmlns:a16="http://schemas.microsoft.com/office/drawing/2014/main" val="634787996"/>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Async job records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type, status, </a:t>
                      </a:r>
                      <a:r>
                        <a:rPr lang="en-US" sz="1200" dirty="0" err="1">
                          <a:effectLst/>
                          <a:latin typeface="Inter" panose="02000503000000020004" pitchFamily="2" charset="0"/>
                          <a:ea typeface="Inter" panose="02000503000000020004" pitchFamily="2" charset="0"/>
                          <a:cs typeface="Inter" panose="02000503000000020004" pitchFamily="2" charset="0"/>
                        </a:rPr>
                        <a:t>payload_json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result_json</a:t>
                      </a:r>
                      <a:r>
                        <a:rPr lang="en-US" sz="1200" dirty="0">
                          <a:effectLst/>
                          <a:latin typeface="Inter" panose="02000503000000020004" pitchFamily="2" charset="0"/>
                          <a:ea typeface="Inter" panose="02000503000000020004" pitchFamily="2" charset="0"/>
                          <a:cs typeface="Inter" panose="02000503000000020004" pitchFamily="2" charset="0"/>
                        </a:rPr>
                        <a:t>, </a:t>
                      </a:r>
                    </a:p>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idempotency_key</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 queued→running→finished/failed. Idempotency + ETags.</a:t>
                      </a:r>
                    </a:p>
                  </a:txBody>
                  <a:tcPr marR="14953" marT="7477" marB="7477" anchor="ctr"/>
                </a:tc>
                <a:extLst>
                  <a:ext uri="{0D108BD9-81ED-4DB2-BD59-A6C34878D82A}">
                    <a16:rowId xmlns:a16="http://schemas.microsoft.com/office/drawing/2014/main" val="867817106"/>
                  </a:ext>
                </a:extLst>
              </a:tr>
              <a:tr h="11673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job_events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Progress events</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job_id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event_type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event_json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created_at</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Append-only log. Used for SSE streams via to_sse_event().</a:t>
                      </a:r>
                    </a:p>
                  </a:txBody>
                  <a:tcPr marR="14953" marT="7477" marB="7477" anchor="ctr"/>
                </a:tc>
                <a:extLst>
                  <a:ext uri="{0D108BD9-81ED-4DB2-BD59-A6C34878D82A}">
                    <a16:rowId xmlns:a16="http://schemas.microsoft.com/office/drawing/2014/main" val="3585465594"/>
                  </a:ext>
                </a:extLst>
              </a:tr>
              <a:tr h="224636">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tools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MCP tool definitions</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name, version, input_schema, </a:t>
                      </a:r>
                      <a:r>
                        <a:rPr lang="en-US" sz="1200" dirty="0" err="1">
                          <a:effectLst/>
                          <a:latin typeface="Inter" panose="02000503000000020004" pitchFamily="2" charset="0"/>
                          <a:ea typeface="Inter" panose="02000503000000020004" pitchFamily="2" charset="0"/>
                          <a:cs typeface="Inter" panose="02000503000000020004" pitchFamily="2" charset="0"/>
                        </a:rPr>
                        <a:t>output_schema</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owner_tenant_id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Versioned. JSON Schema validation. Unique (name, version).</a:t>
                      </a:r>
                    </a:p>
                  </a:txBody>
                  <a:tcPr marR="14953" marT="7477" marB="7477" anchor="ctr"/>
                </a:tc>
                <a:extLst>
                  <a:ext uri="{0D108BD9-81ED-4DB2-BD59-A6C34878D82A}">
                    <a16:rowId xmlns:a16="http://schemas.microsoft.com/office/drawing/2014/main" val="3369603718"/>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tool_invocations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 execution audit</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eid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tool_name</a:t>
                      </a:r>
                      <a:r>
                        <a:rPr lang="en-US" sz="1200" dirty="0">
                          <a:effectLst/>
                          <a:latin typeface="Inter" panose="02000503000000020004" pitchFamily="2" charset="0"/>
                          <a:ea typeface="Inter" panose="02000503000000020004" pitchFamily="2" charset="0"/>
                          <a:cs typeface="Inter" panose="02000503000000020004" pitchFamily="2" charset="0"/>
                        </a:rPr>
                        <a:t>, status, </a:t>
                      </a:r>
                      <a:r>
                        <a:rPr lang="en-US" sz="1200" dirty="0" err="1">
                          <a:effectLst/>
                          <a:latin typeface="Inter" panose="02000503000000020004" pitchFamily="2" charset="0"/>
                          <a:ea typeface="Inter" panose="02000503000000020004" pitchFamily="2" charset="0"/>
                          <a:cs typeface="Inter" panose="02000503000000020004" pitchFamily="2" charset="0"/>
                        </a:rPr>
                        <a:t>params_json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result_json</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latency_ms</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Status: pending→running→finished/failed. Idempotency support.</a:t>
                      </a:r>
                    </a:p>
                  </a:txBody>
                  <a:tcPr marR="14953" marT="7477" marB="7477" anchor="ctr"/>
                </a:tc>
                <a:extLst>
                  <a:ext uri="{0D108BD9-81ED-4DB2-BD59-A6C34878D82A}">
                    <a16:rowId xmlns:a16="http://schemas.microsoft.com/office/drawing/2014/main" val="4149300938"/>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model_defaults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Default model selection</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scope, </a:t>
                      </a:r>
                      <a:r>
                        <a:rPr lang="en-US" sz="1200" dirty="0" err="1">
                          <a:effectLst/>
                          <a:latin typeface="Inter" panose="02000503000000020004" pitchFamily="2" charset="0"/>
                          <a:ea typeface="Inter" panose="02000503000000020004" pitchFamily="2" charset="0"/>
                          <a:cs typeface="Inter" panose="02000503000000020004" pitchFamily="2" charset="0"/>
                        </a:rPr>
                        <a:t>tenant_id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instance_id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Hierarchy: request → session → tenant → global.</a:t>
                      </a:r>
                    </a:p>
                  </a:txBody>
                  <a:tcPr marR="14953" marT="7477" marB="7477" anchor="ctr"/>
                </a:tc>
                <a:extLst>
                  <a:ext uri="{0D108BD9-81ED-4DB2-BD59-A6C34878D82A}">
                    <a16:rowId xmlns:a16="http://schemas.microsoft.com/office/drawing/2014/main" val="3597544400"/>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user_default_models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 model prefs</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tenant_id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chat_instance_id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Per-user preferences. Unique (user_id, tenant_id).</a:t>
                      </a:r>
                    </a:p>
                  </a:txBody>
                  <a:tcPr marR="14953" marT="7477" marB="7477" anchor="ctr"/>
                </a:tc>
                <a:extLst>
                  <a:ext uri="{0D108BD9-81ED-4DB2-BD59-A6C34878D82A}">
                    <a16:rowId xmlns:a16="http://schemas.microsoft.com/office/drawing/2014/main" val="639816749"/>
                  </a:ext>
                </a:extLst>
              </a:tr>
              <a:tr h="11673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providers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 provider registry</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name, type, </a:t>
                      </a:r>
                      <a:r>
                        <a:rPr lang="en-US" sz="1200" dirty="0" err="1">
                          <a:effectLst/>
                          <a:latin typeface="Inter" panose="02000503000000020004" pitchFamily="2" charset="0"/>
                          <a:ea typeface="Inter" panose="02000503000000020004" pitchFamily="2" charset="0"/>
                          <a:cs typeface="Inter" panose="02000503000000020004" pitchFamily="2" charset="0"/>
                        </a:rPr>
                        <a:t>base_url</a:t>
                      </a:r>
                      <a:r>
                        <a:rPr lang="en-US" sz="1200" dirty="0">
                          <a:effectLst/>
                          <a:latin typeface="Inter" panose="02000503000000020004" pitchFamily="2" charset="0"/>
                          <a:ea typeface="Inter" panose="02000503000000020004" pitchFamily="2" charset="0"/>
                          <a:cs typeface="Inter" panose="02000503000000020004" pitchFamily="2" charset="0"/>
                        </a:rPr>
                        <a:t>, model, </a:t>
                      </a:r>
                      <a:r>
                        <a:rPr lang="en-US" sz="1200" dirty="0" err="1">
                          <a:effectLst/>
                          <a:latin typeface="Inter" panose="02000503000000020004" pitchFamily="2" charset="0"/>
                          <a:ea typeface="Inter" panose="02000503000000020004" pitchFamily="2" charset="0"/>
                          <a:cs typeface="Inter" panose="02000503000000020004" pitchFamily="2" charset="0"/>
                        </a:rPr>
                        <a:t>config_json</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Type: openai_compatible/custom. Tenant or global scope.</a:t>
                      </a:r>
                    </a:p>
                  </a:txBody>
                  <a:tcPr marR="14953" marT="7477" marB="7477" anchor="ctr"/>
                </a:tc>
                <a:extLst>
                  <a:ext uri="{0D108BD9-81ED-4DB2-BD59-A6C34878D82A}">
                    <a16:rowId xmlns:a16="http://schemas.microsoft.com/office/drawing/2014/main" val="3390832988"/>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provider_secrets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Encrypted API keys</a:t>
                      </a:r>
                    </a:p>
                  </a:txBody>
                  <a:tcPr marR="14953" marT="7477" marB="7477"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provider_id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api_key_encrypted</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Separate table. Encrypted at rest. 1:1 with provider.</a:t>
                      </a:r>
                    </a:p>
                  </a:txBody>
                  <a:tcPr marR="14953" marT="7477" marB="7477" anchor="ctr"/>
                </a:tc>
                <a:extLst>
                  <a:ext uri="{0D108BD9-81ED-4DB2-BD59-A6C34878D82A}">
                    <a16:rowId xmlns:a16="http://schemas.microsoft.com/office/drawing/2014/main" val="2783429275"/>
                  </a:ext>
                </a:extLst>
              </a:tr>
              <a:tr h="22463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audit_logs</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Compliance trail</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action, </a:t>
                      </a:r>
                      <a:r>
                        <a:rPr lang="en-US" sz="1200" dirty="0" err="1">
                          <a:effectLst/>
                          <a:latin typeface="Inter" panose="02000503000000020004" pitchFamily="2" charset="0"/>
                          <a:ea typeface="Inter" panose="02000503000000020004" pitchFamily="2" charset="0"/>
                          <a:cs typeface="Inter" panose="02000503000000020004" pitchFamily="2" charset="0"/>
                        </a:rPr>
                        <a:t>resource_type</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resource_id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user_id</a:t>
                      </a:r>
                      <a:r>
                        <a:rPr lang="en-US" sz="1200" dirty="0">
                          <a:effectLst/>
                          <a:latin typeface="Inter" panose="02000503000000020004" pitchFamily="2" charset="0"/>
                          <a:ea typeface="Inter" panose="02000503000000020004" pitchFamily="2" charset="0"/>
                          <a:cs typeface="Inter" panose="02000503000000020004" pitchFamily="2" charset="0"/>
                        </a:rPr>
                        <a:t>, </a:t>
                      </a:r>
                    </a:p>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timestamp</a:t>
                      </a: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Actions: create/update/delete. Indexed for fast queries.</a:t>
                      </a:r>
                    </a:p>
                  </a:txBody>
                  <a:tcPr marR="14953" marT="7477" marB="7477" anchor="ctr"/>
                </a:tc>
                <a:extLst>
                  <a:ext uri="{0D108BD9-81ED-4DB2-BD59-A6C34878D82A}">
                    <a16:rowId xmlns:a16="http://schemas.microsoft.com/office/drawing/2014/main" val="3349448316"/>
                  </a:ext>
                </a:extLst>
              </a:tr>
              <a:tr h="224636">
                <a:tc>
                  <a:txBody>
                    <a:bodyPr/>
                    <a:lstStyle/>
                    <a:p>
                      <a:pPr algn="l" fontAlgn="base"/>
                      <a:r>
                        <a:rPr lang="en-US" sz="1200" b="1" dirty="0" err="1">
                          <a:effectLst/>
                          <a:latin typeface="Inter" panose="02000503000000020004" pitchFamily="2" charset="0"/>
                          <a:ea typeface="Inter" panose="02000503000000020004" pitchFamily="2" charset="0"/>
                          <a:cs typeface="Inter" panose="02000503000000020004" pitchFamily="2" charset="0"/>
                        </a:rPr>
                        <a:t>idempotency_keys</a:t>
                      </a:r>
                      <a:endParaRPr lang="en-US" sz="1200" b="1"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Request dedup</a:t>
                      </a: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key, </a:t>
                      </a:r>
                      <a:r>
                        <a:rPr lang="en-US" sz="1200" dirty="0" err="1">
                          <a:effectLst/>
                          <a:latin typeface="Inter" panose="02000503000000020004" pitchFamily="2" charset="0"/>
                          <a:ea typeface="Inter" panose="02000503000000020004" pitchFamily="2" charset="0"/>
                          <a:cs typeface="Inter" panose="02000503000000020004" pitchFamily="2" charset="0"/>
                        </a:rPr>
                        <a:t>owner_user_id</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response_body</a:t>
                      </a:r>
                      <a:r>
                        <a:rPr lang="en-US" sz="1200" dirty="0">
                          <a:effectLst/>
                          <a:latin typeface="Inter" panose="02000503000000020004" pitchFamily="2" charset="0"/>
                          <a:ea typeface="Inter" panose="02000503000000020004" pitchFamily="2" charset="0"/>
                          <a:cs typeface="Inter" panose="02000503000000020004" pitchFamily="2" charset="0"/>
                        </a:rPr>
                        <a:t>, </a:t>
                      </a:r>
                      <a:r>
                        <a:rPr lang="en-US" sz="1200" dirty="0" err="1">
                          <a:effectLst/>
                          <a:latin typeface="Inter" panose="02000503000000020004" pitchFamily="2" charset="0"/>
                          <a:ea typeface="Inter" panose="02000503000000020004" pitchFamily="2" charset="0"/>
                          <a:cs typeface="Inter" panose="02000503000000020004" pitchFamily="2" charset="0"/>
                        </a:rPr>
                        <a:t>status_code</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R="14953" marT="7477" marB="7477"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Prevents duplicates. Stores cached response for replay.</a:t>
                      </a:r>
                    </a:p>
                  </a:txBody>
                  <a:tcPr marR="14953" marT="7477" marB="7477" anchor="ctr"/>
                </a:tc>
                <a:extLst>
                  <a:ext uri="{0D108BD9-81ED-4DB2-BD59-A6C34878D82A}">
                    <a16:rowId xmlns:a16="http://schemas.microsoft.com/office/drawing/2014/main" val="1803373181"/>
                  </a:ext>
                </a:extLst>
              </a:tr>
            </a:tbl>
          </a:graphicData>
        </a:graphic>
      </p:graphicFrame>
      <p:sp>
        <p:nvSpPr>
          <p:cNvPr id="8" name="TextBox 7">
            <a:extLst>
              <a:ext uri="{FF2B5EF4-FFF2-40B4-BE49-F238E27FC236}">
                <a16:creationId xmlns:a16="http://schemas.microsoft.com/office/drawing/2014/main" id="{74799FB1-D7F8-FCA1-3865-1F2E21F4715D}"/>
              </a:ext>
            </a:extLst>
          </p:cNvPr>
          <p:cNvSpPr txBox="1"/>
          <p:nvPr/>
        </p:nvSpPr>
        <p:spPr>
          <a:xfrm>
            <a:off x="596348" y="1020604"/>
            <a:ext cx="5745830" cy="307777"/>
          </a:xfrm>
          <a:prstGeom prst="rect">
            <a:avLst/>
          </a:prstGeom>
          <a:noFill/>
        </p:spPr>
        <p:txBody>
          <a:bodyPr wrap="square" rtlCol="0">
            <a:spAutoFit/>
          </a:bodyPr>
          <a:lstStyle/>
          <a:p>
            <a:pPr algn="l" fontAlgn="b"/>
            <a:r>
              <a:rPr lang="en-US" sz="1400" b="1" dirty="0">
                <a:solidFill>
                  <a:srgbClr val="000000"/>
                </a:solidFill>
                <a:effectLst/>
                <a:latin typeface="Inter" panose="02000503000000020004" pitchFamily="2" charset="0"/>
                <a:ea typeface="Inter" panose="02000503000000020004" pitchFamily="2" charset="0"/>
                <a:cs typeface="Inter" panose="02000503000000020004" pitchFamily="2" charset="0"/>
              </a:rPr>
              <a:t>Core Tables</a:t>
            </a:r>
          </a:p>
        </p:txBody>
      </p:sp>
      <p:sp>
        <p:nvSpPr>
          <p:cNvPr id="9" name="Footer Placeholder 10">
            <a:extLst>
              <a:ext uri="{FF2B5EF4-FFF2-40B4-BE49-F238E27FC236}">
                <a16:creationId xmlns:a16="http://schemas.microsoft.com/office/drawing/2014/main" id="{75AA297D-B601-2FBE-C836-EFF09216A1B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261742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FBF06-39C8-6274-C829-7547515FDD69}"/>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0D7933A-960F-41D0-FFDD-F48FD89E2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7AD3D93-0269-D0E0-D6F4-F080C425F27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6218A1B-C71A-CC48-2412-21B3EE5E074F}"/>
              </a:ext>
            </a:extLst>
          </p:cNvPr>
          <p:cNvSpPr>
            <a:spLocks noGrp="1"/>
          </p:cNvSpPr>
          <p:nvPr>
            <p:ph type="sldNum" sz="quarter" idx="12"/>
          </p:nvPr>
        </p:nvSpPr>
        <p:spPr/>
        <p:txBody>
          <a:bodyPr/>
          <a:lstStyle/>
          <a:p>
            <a:fld id="{48F19E39-9933-F648-B2F3-3AC17C0DC986}" type="slidenum">
              <a:rPr lang="en-US" smtClean="0">
                <a:solidFill>
                  <a:schemeClr val="bg1"/>
                </a:solidFill>
              </a:rPr>
              <a:t>32</a:t>
            </a:fld>
            <a:endParaRPr lang="en-US" dirty="0">
              <a:solidFill>
                <a:schemeClr val="bg1"/>
              </a:solidFill>
            </a:endParaRPr>
          </a:p>
        </p:txBody>
      </p:sp>
      <p:sp>
        <p:nvSpPr>
          <p:cNvPr id="5" name="TextBox 4">
            <a:extLst>
              <a:ext uri="{FF2B5EF4-FFF2-40B4-BE49-F238E27FC236}">
                <a16:creationId xmlns:a16="http://schemas.microsoft.com/office/drawing/2014/main" id="{01B1E5EB-8AFC-576F-50FD-7BB5EFAB07CE}"/>
              </a:ext>
            </a:extLst>
          </p:cNvPr>
          <p:cNvSpPr txBox="1"/>
          <p:nvPr/>
        </p:nvSpPr>
        <p:spPr>
          <a:xfrm>
            <a:off x="596348" y="374273"/>
            <a:ext cx="11127823" cy="646331"/>
          </a:xfrm>
          <a:prstGeom prst="rect">
            <a:avLst/>
          </a:prstGeom>
          <a:noFill/>
        </p:spPr>
        <p:txBody>
          <a:bodyPr wrap="square" rtlCol="0">
            <a:spAutoFit/>
          </a:bodyPr>
          <a:lstStyle/>
          <a:p>
            <a:pPr algn="l"/>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4/4)</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Memgraph (Graph Database): Property graph database </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for bioinformatics data with native Cypher support.</a:t>
            </a: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 </a:t>
            </a:r>
          </a:p>
        </p:txBody>
      </p:sp>
      <p:graphicFrame>
        <p:nvGraphicFramePr>
          <p:cNvPr id="2" name="Table 1">
            <a:extLst>
              <a:ext uri="{FF2B5EF4-FFF2-40B4-BE49-F238E27FC236}">
                <a16:creationId xmlns:a16="http://schemas.microsoft.com/office/drawing/2014/main" id="{00D57977-4C77-B3A7-3DDC-85B37EBABB4F}"/>
              </a:ext>
            </a:extLst>
          </p:cNvPr>
          <p:cNvGraphicFramePr>
            <a:graphicFrameLocks noGrp="1"/>
          </p:cNvGraphicFramePr>
          <p:nvPr>
            <p:extLst>
              <p:ext uri="{D42A27DB-BD31-4B8C-83A1-F6EECF244321}">
                <p14:modId xmlns:p14="http://schemas.microsoft.com/office/powerpoint/2010/main" val="2485322225"/>
              </p:ext>
            </p:extLst>
          </p:nvPr>
        </p:nvGraphicFramePr>
        <p:xfrm>
          <a:off x="3283567" y="1161505"/>
          <a:ext cx="7498269" cy="3287130"/>
        </p:xfrm>
        <a:graphic>
          <a:graphicData uri="http://schemas.openxmlformats.org/drawingml/2006/table">
            <a:tbl>
              <a:tblPr>
                <a:tableStyleId>{5C22544A-7EE6-4342-B048-85BDC9FD1C3A}</a:tableStyleId>
              </a:tblPr>
              <a:tblGrid>
                <a:gridCol w="1140215">
                  <a:extLst>
                    <a:ext uri="{9D8B030D-6E8A-4147-A177-3AD203B41FA5}">
                      <a16:colId xmlns:a16="http://schemas.microsoft.com/office/drawing/2014/main" val="1404617888"/>
                    </a:ext>
                  </a:extLst>
                </a:gridCol>
                <a:gridCol w="2843561">
                  <a:extLst>
                    <a:ext uri="{9D8B030D-6E8A-4147-A177-3AD203B41FA5}">
                      <a16:colId xmlns:a16="http://schemas.microsoft.com/office/drawing/2014/main" val="2005349590"/>
                    </a:ext>
                  </a:extLst>
                </a:gridCol>
                <a:gridCol w="3514493">
                  <a:extLst>
                    <a:ext uri="{9D8B030D-6E8A-4147-A177-3AD203B41FA5}">
                      <a16:colId xmlns:a16="http://schemas.microsoft.com/office/drawing/2014/main" val="3992005329"/>
                    </a:ext>
                  </a:extLst>
                </a:gridCol>
              </a:tblGrid>
              <a:tr h="127005">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Node Label</a:t>
                      </a:r>
                    </a:p>
                  </a:txBody>
                  <a:tcPr marL="36261" marR="36261" marT="18131" marB="18131"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Key Properties</a:t>
                      </a:r>
                    </a:p>
                  </a:txBody>
                  <a:tcPr marL="36261" marR="36261" marT="18131" marB="18131"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Description</a:t>
                      </a:r>
                    </a:p>
                  </a:txBody>
                  <a:tcPr marL="36261" marR="36261" marT="18131" marB="18131" anchor="b"/>
                </a:tc>
                <a:extLst>
                  <a:ext uri="{0D108BD9-81ED-4DB2-BD59-A6C34878D82A}">
                    <a16:rowId xmlns:a16="http://schemas.microsoft.com/office/drawing/2014/main" val="6890571"/>
                  </a:ext>
                </a:extLst>
              </a:tr>
              <a:tr h="127005">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:User</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user_id, firstName, lastName, email</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Platform users</a:t>
                      </a:r>
                    </a:p>
                  </a:txBody>
                  <a:tcPr marL="36261" marR="36261" marT="18131" marB="18131" anchor="ctr"/>
                </a:tc>
                <a:extLst>
                  <a:ext uri="{0D108BD9-81ED-4DB2-BD59-A6C34878D82A}">
                    <a16:rowId xmlns:a16="http://schemas.microsoft.com/office/drawing/2014/main" val="3015500965"/>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:Institution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country, type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Research organizations</a:t>
                      </a:r>
                    </a:p>
                  </a:txBody>
                  <a:tcPr marL="36261" marR="36261" marT="18131" marB="18131" anchor="ctr"/>
                </a:tc>
                <a:extLst>
                  <a:ext uri="{0D108BD9-81ED-4DB2-BD59-A6C34878D82A}">
                    <a16:rowId xmlns:a16="http://schemas.microsoft.com/office/drawing/2014/main" val="706584137"/>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:Task</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task_id, status, start, tags</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Computational jobs (Blast, CreateDb, Bold, etc.)</a:t>
                      </a:r>
                    </a:p>
                  </a:txBody>
                  <a:tcPr marL="36261" marR="36261" marT="18131" marB="18131" anchor="ctr"/>
                </a:tc>
                <a:extLst>
                  <a:ext uri="{0D108BD9-81ED-4DB2-BD59-A6C34878D82A}">
                    <a16:rowId xmlns:a16="http://schemas.microsoft.com/office/drawing/2014/main" val="1310753836"/>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file_id, user_filename, size, extension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Data files (Fasta, BlastDb, Xml, BlastedSeq)</a:t>
                      </a:r>
                    </a:p>
                  </a:txBody>
                  <a:tcPr marL="36261" marR="36261" marT="18131" marB="18131" anchor="ctr"/>
                </a:tc>
                <a:extLst>
                  <a:ext uri="{0D108BD9-81ED-4DB2-BD59-A6C34878D82A}">
                    <a16:rowId xmlns:a16="http://schemas.microsoft.com/office/drawing/2014/main" val="867397670"/>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:Dataset</a:t>
                      </a:r>
                    </a:p>
                  </a:txBody>
                  <a:tcPr marL="36261" marR="36261" marT="18131" marB="1813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id, name, description, version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Data collections</a:t>
                      </a:r>
                    </a:p>
                  </a:txBody>
                  <a:tcPr marL="36261" marR="36261" marT="18131" marB="18131" anchor="ctr"/>
                </a:tc>
                <a:extLst>
                  <a:ext uri="{0D108BD9-81ED-4DB2-BD59-A6C34878D82A}">
                    <a16:rowId xmlns:a16="http://schemas.microsoft.com/office/drawing/2014/main" val="3173912345"/>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:Sample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organism, tissue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Biological samples</a:t>
                      </a:r>
                    </a:p>
                  </a:txBody>
                  <a:tcPr marL="36261" marR="36261" marT="18131" marB="18131" anchor="ctr"/>
                </a:tc>
                <a:extLst>
                  <a:ext uri="{0D108BD9-81ED-4DB2-BD59-A6C34878D82A}">
                    <a16:rowId xmlns:a16="http://schemas.microsoft.com/office/drawing/2014/main" val="188030968"/>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:Experiment</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protocol, date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Lab experiments</a:t>
                      </a:r>
                    </a:p>
                  </a:txBody>
                  <a:tcPr marL="36261" marR="36261" marT="18131" marB="18131" anchor="ctr"/>
                </a:tc>
                <a:extLst>
                  <a:ext uri="{0D108BD9-81ED-4DB2-BD59-A6C34878D82A}">
                    <a16:rowId xmlns:a16="http://schemas.microsoft.com/office/drawing/2014/main" val="3304110141"/>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:Publication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doi, title, journal, year</a:t>
                      </a:r>
                    </a:p>
                  </a:txBody>
                  <a:tcPr marL="36261" marR="36261" marT="18131" marB="1813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Research papers</a:t>
                      </a:r>
                    </a:p>
                  </a:txBody>
                  <a:tcPr marL="36261" marR="36261" marT="18131" marB="18131" anchor="ctr"/>
                </a:tc>
                <a:extLst>
                  <a:ext uri="{0D108BD9-81ED-4DB2-BD59-A6C34878D82A}">
                    <a16:rowId xmlns:a16="http://schemas.microsoft.com/office/drawing/2014/main" val="3089352134"/>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:Gene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symbol, name, chromosome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Genetic sequences</a:t>
                      </a:r>
                    </a:p>
                  </a:txBody>
                  <a:tcPr marL="36261" marR="36261" marT="18131" marB="18131" anchor="ctr"/>
                </a:tc>
                <a:extLst>
                  <a:ext uri="{0D108BD9-81ED-4DB2-BD59-A6C34878D82A}">
                    <a16:rowId xmlns:a16="http://schemas.microsoft.com/office/drawing/2014/main" val="3697264824"/>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:Protein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sequence, function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Protein data</a:t>
                      </a:r>
                    </a:p>
                  </a:txBody>
                  <a:tcPr marL="36261" marR="36261" marT="18131" marB="18131" anchor="ctr"/>
                </a:tc>
                <a:extLst>
                  <a:ext uri="{0D108BD9-81ED-4DB2-BD59-A6C34878D82A}">
                    <a16:rowId xmlns:a16="http://schemas.microsoft.com/office/drawing/2014/main" val="3422639900"/>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:Pathway</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description</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Biological pathways</a:t>
                      </a:r>
                    </a:p>
                  </a:txBody>
                  <a:tcPr marL="36261" marR="36261" marT="18131" marB="18131" anchor="ctr"/>
                </a:tc>
                <a:extLst>
                  <a:ext uri="{0D108BD9-81ED-4DB2-BD59-A6C34878D82A}">
                    <a16:rowId xmlns:a16="http://schemas.microsoft.com/office/drawing/2014/main" val="1415801019"/>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version, type</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Analysis tools</a:t>
                      </a:r>
                    </a:p>
                  </a:txBody>
                  <a:tcPr marL="36261" marR="36261" marT="18131" marB="18131" anchor="ctr"/>
                </a:tc>
                <a:extLst>
                  <a:ext uri="{0D108BD9-81ED-4DB2-BD59-A6C34878D82A}">
                    <a16:rowId xmlns:a16="http://schemas.microsoft.com/office/drawing/2014/main" val="3946562665"/>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:Workflow</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name, steps, inputs</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Pipeline definitions</a:t>
                      </a:r>
                    </a:p>
                  </a:txBody>
                  <a:tcPr marL="36261" marR="36261" marT="18131" marB="18131" anchor="ctr"/>
                </a:tc>
                <a:extLst>
                  <a:ext uri="{0D108BD9-81ED-4DB2-BD59-A6C34878D82A}">
                    <a16:rowId xmlns:a16="http://schemas.microsoft.com/office/drawing/2014/main" val="4131758488"/>
                  </a:ext>
                </a:extLst>
              </a:tr>
              <a:tr h="12700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:Result</a:t>
                      </a:r>
                    </a:p>
                  </a:txBody>
                  <a:tcPr marL="36261" marR="36261" marT="18131" marB="1813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id, type, metrics, timestamp</a:t>
                      </a:r>
                    </a:p>
                  </a:txBody>
                  <a:tcPr marL="36261" marR="36261" marT="18131" marB="1813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Analysis outputs</a:t>
                      </a:r>
                    </a:p>
                  </a:txBody>
                  <a:tcPr marL="36261" marR="36261" marT="18131" marB="18131" anchor="ctr"/>
                </a:tc>
                <a:extLst>
                  <a:ext uri="{0D108BD9-81ED-4DB2-BD59-A6C34878D82A}">
                    <a16:rowId xmlns:a16="http://schemas.microsoft.com/office/drawing/2014/main" val="2283764452"/>
                  </a:ext>
                </a:extLst>
              </a:tr>
            </a:tbl>
          </a:graphicData>
        </a:graphic>
      </p:graphicFrame>
      <p:graphicFrame>
        <p:nvGraphicFramePr>
          <p:cNvPr id="3" name="Table 2">
            <a:extLst>
              <a:ext uri="{FF2B5EF4-FFF2-40B4-BE49-F238E27FC236}">
                <a16:creationId xmlns:a16="http://schemas.microsoft.com/office/drawing/2014/main" id="{308D69ED-3285-0A75-FB77-1D6A0A355239}"/>
              </a:ext>
            </a:extLst>
          </p:cNvPr>
          <p:cNvGraphicFramePr>
            <a:graphicFrameLocks noGrp="1"/>
          </p:cNvGraphicFramePr>
          <p:nvPr>
            <p:extLst>
              <p:ext uri="{D42A27DB-BD31-4B8C-83A1-F6EECF244321}">
                <p14:modId xmlns:p14="http://schemas.microsoft.com/office/powerpoint/2010/main" val="85428100"/>
              </p:ext>
            </p:extLst>
          </p:nvPr>
        </p:nvGraphicFramePr>
        <p:xfrm>
          <a:off x="3283567" y="4589536"/>
          <a:ext cx="7498269" cy="1371600"/>
        </p:xfrm>
        <a:graphic>
          <a:graphicData uri="http://schemas.openxmlformats.org/drawingml/2006/table">
            <a:tbl>
              <a:tblPr>
                <a:tableStyleId>{5C22544A-7EE6-4342-B048-85BDC9FD1C3A}</a:tableStyleId>
              </a:tblPr>
              <a:tblGrid>
                <a:gridCol w="1184820">
                  <a:extLst>
                    <a:ext uri="{9D8B030D-6E8A-4147-A177-3AD203B41FA5}">
                      <a16:colId xmlns:a16="http://schemas.microsoft.com/office/drawing/2014/main" val="861995103"/>
                    </a:ext>
                  </a:extLst>
                </a:gridCol>
                <a:gridCol w="3813717">
                  <a:extLst>
                    <a:ext uri="{9D8B030D-6E8A-4147-A177-3AD203B41FA5}">
                      <a16:colId xmlns:a16="http://schemas.microsoft.com/office/drawing/2014/main" val="1249061332"/>
                    </a:ext>
                  </a:extLst>
                </a:gridCol>
                <a:gridCol w="2499732">
                  <a:extLst>
                    <a:ext uri="{9D8B030D-6E8A-4147-A177-3AD203B41FA5}">
                      <a16:colId xmlns:a16="http://schemas.microsoft.com/office/drawing/2014/main" val="2809218607"/>
                    </a:ext>
                  </a:extLst>
                </a:gridCol>
              </a:tblGrid>
              <a:tr h="0">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Relationship</a:t>
                      </a:r>
                    </a:p>
                  </a:txBody>
                  <a:tcPr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Pattern</a:t>
                      </a:r>
                    </a:p>
                  </a:txBody>
                  <a:tcPr anchor="b"/>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Properties</a:t>
                      </a:r>
                    </a:p>
                  </a:txBody>
                  <a:tcPr anchor="b"/>
                </a:tc>
                <a:extLst>
                  <a:ext uri="{0D108BD9-81ED-4DB2-BD59-A6C34878D82A}">
                    <a16:rowId xmlns:a16="http://schemas.microsoft.com/office/drawing/2014/main" val="2144590065"/>
                  </a:ext>
                </a:extLst>
              </a:tr>
              <a:tr h="0">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WORKS_AT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(User)-[:WORKS_AT]-&gt;(Institution)</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since, role, department</a:t>
                      </a:r>
                    </a:p>
                  </a:txBody>
                  <a:tcPr anchor="ctr"/>
                </a:tc>
                <a:extLst>
                  <a:ext uri="{0D108BD9-81ED-4DB2-BD59-A6C34878D82A}">
                    <a16:rowId xmlns:a16="http://schemas.microsoft.com/office/drawing/2014/main" val="1033247165"/>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RUNS</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(User)-[:RUNS]-&gt;(Task)</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when user executes a task</a:t>
                      </a:r>
                    </a:p>
                  </a:txBody>
                  <a:tcPr anchor="ctr"/>
                </a:tc>
                <a:extLst>
                  <a:ext uri="{0D108BD9-81ED-4DB2-BD59-A6C34878D82A}">
                    <a16:rowId xmlns:a16="http://schemas.microsoft.com/office/drawing/2014/main" val="4288815552"/>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INPUT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(File)-[:INPUT]-&gt;(Task)</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file consumed by task</a:t>
                      </a:r>
                    </a:p>
                  </a:txBody>
                  <a:tcPr anchor="ctr"/>
                </a:tc>
                <a:extLst>
                  <a:ext uri="{0D108BD9-81ED-4DB2-BD59-A6C34878D82A}">
                    <a16:rowId xmlns:a16="http://schemas.microsoft.com/office/drawing/2014/main" val="747130658"/>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OUTPUT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(Task)-[:OUTPUT]-&gt;(File)</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file produced by task</a:t>
                      </a:r>
                    </a:p>
                  </a:txBody>
                  <a:tcPr anchor="ctr"/>
                </a:tc>
                <a:extLst>
                  <a:ext uri="{0D108BD9-81ED-4DB2-BD59-A6C34878D82A}">
                    <a16:rowId xmlns:a16="http://schemas.microsoft.com/office/drawing/2014/main" val="3372302614"/>
                  </a:ext>
                </a:extLst>
              </a:tr>
            </a:tbl>
          </a:graphicData>
        </a:graphic>
      </p:graphicFrame>
      <p:sp>
        <p:nvSpPr>
          <p:cNvPr id="6" name="TextBox 5">
            <a:extLst>
              <a:ext uri="{FF2B5EF4-FFF2-40B4-BE49-F238E27FC236}">
                <a16:creationId xmlns:a16="http://schemas.microsoft.com/office/drawing/2014/main" id="{CDD131F7-5059-B085-3AAA-5551F479163C}"/>
              </a:ext>
            </a:extLst>
          </p:cNvPr>
          <p:cNvSpPr txBox="1"/>
          <p:nvPr/>
        </p:nvSpPr>
        <p:spPr>
          <a:xfrm>
            <a:off x="596347" y="1161505"/>
            <a:ext cx="2687219" cy="292388"/>
          </a:xfrm>
          <a:prstGeom prst="rect">
            <a:avLst/>
          </a:prstGeom>
          <a:noFill/>
        </p:spPr>
        <p:txBody>
          <a:bodyPr wrap="square" rtlCol="0">
            <a:spAutoFit/>
          </a:bodyPr>
          <a:lstStyle/>
          <a:p>
            <a:pPr algn="l"/>
            <a:r>
              <a:rPr lang="en-US" sz="1300" b="1" i="0" dirty="0">
                <a:solidFill>
                  <a:srgbClr val="000000"/>
                </a:solidFill>
                <a:effectLst/>
                <a:latin typeface="Inter" panose="02000503000000020004" pitchFamily="2" charset="0"/>
                <a:ea typeface="Inter" panose="02000503000000020004" pitchFamily="2" charset="0"/>
                <a:cs typeface="Inter" panose="02000503000000020004" pitchFamily="2" charset="0"/>
              </a:rPr>
              <a:t>Node Types (14 types):</a:t>
            </a:r>
          </a:p>
        </p:txBody>
      </p:sp>
      <p:sp>
        <p:nvSpPr>
          <p:cNvPr id="8" name="TextBox 7">
            <a:extLst>
              <a:ext uri="{FF2B5EF4-FFF2-40B4-BE49-F238E27FC236}">
                <a16:creationId xmlns:a16="http://schemas.microsoft.com/office/drawing/2014/main" id="{CEF0FE5C-BB1A-9A58-704F-704E6AD20B27}"/>
              </a:ext>
            </a:extLst>
          </p:cNvPr>
          <p:cNvSpPr txBox="1"/>
          <p:nvPr/>
        </p:nvSpPr>
        <p:spPr>
          <a:xfrm>
            <a:off x="596347" y="4589536"/>
            <a:ext cx="2687220" cy="292388"/>
          </a:xfrm>
          <a:prstGeom prst="rect">
            <a:avLst/>
          </a:prstGeom>
          <a:noFill/>
        </p:spPr>
        <p:txBody>
          <a:bodyPr wrap="square" rtlCol="0">
            <a:spAutoFit/>
          </a:bodyPr>
          <a:lstStyle/>
          <a:p>
            <a:pPr algn="l"/>
            <a:r>
              <a:rPr lang="en-US" sz="1300" b="1" i="0" dirty="0">
                <a:solidFill>
                  <a:srgbClr val="000000"/>
                </a:solidFill>
                <a:effectLst/>
                <a:latin typeface="Inter" panose="02000503000000020004" pitchFamily="2" charset="0"/>
                <a:ea typeface="Inter" panose="02000503000000020004" pitchFamily="2" charset="0"/>
                <a:cs typeface="Inter" panose="02000503000000020004" pitchFamily="2" charset="0"/>
              </a:rPr>
              <a:t>Relationship Types (4 types):</a:t>
            </a:r>
          </a:p>
        </p:txBody>
      </p:sp>
      <p:sp>
        <p:nvSpPr>
          <p:cNvPr id="9" name="Footer Placeholder 10">
            <a:extLst>
              <a:ext uri="{FF2B5EF4-FFF2-40B4-BE49-F238E27FC236}">
                <a16:creationId xmlns:a16="http://schemas.microsoft.com/office/drawing/2014/main" id="{2A159477-84EB-54FE-CEC9-7EEA2DD3CC1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5" name="Picture 14">
            <a:extLst>
              <a:ext uri="{FF2B5EF4-FFF2-40B4-BE49-F238E27FC236}">
                <a16:creationId xmlns:a16="http://schemas.microsoft.com/office/drawing/2014/main" id="{B9D74564-D55E-ECB1-5355-E9E27694C762}"/>
              </a:ext>
            </a:extLst>
          </p:cNvPr>
          <p:cNvPicPr>
            <a:picLocks noChangeAspect="1"/>
          </p:cNvPicPr>
          <p:nvPr/>
        </p:nvPicPr>
        <p:blipFill>
          <a:blip r:embed="rId3"/>
          <a:stretch>
            <a:fillRect/>
          </a:stretch>
        </p:blipFill>
        <p:spPr>
          <a:xfrm>
            <a:off x="596347" y="1795141"/>
            <a:ext cx="2569763" cy="2213264"/>
          </a:xfrm>
          <a:prstGeom prst="rect">
            <a:avLst/>
          </a:prstGeom>
        </p:spPr>
      </p:pic>
    </p:spTree>
    <p:extLst>
      <p:ext uri="{BB962C8B-B14F-4D97-AF65-F5344CB8AC3E}">
        <p14:creationId xmlns:p14="http://schemas.microsoft.com/office/powerpoint/2010/main" val="2215737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1321-CE9E-D90F-E921-B08DFB6952B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FD5A5C37-83F1-D7DC-BE0D-DDADDCC9D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2C1A85E-23A3-F714-6764-A619F97AD33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64A397BA-0305-D75D-510F-3936E553F1DE}"/>
              </a:ext>
            </a:extLst>
          </p:cNvPr>
          <p:cNvSpPr>
            <a:spLocks noGrp="1"/>
          </p:cNvSpPr>
          <p:nvPr>
            <p:ph type="sldNum" sz="quarter" idx="12"/>
          </p:nvPr>
        </p:nvSpPr>
        <p:spPr/>
        <p:txBody>
          <a:bodyPr/>
          <a:lstStyle/>
          <a:p>
            <a:fld id="{48F19E39-9933-F648-B2F3-3AC17C0DC986}" type="slidenum">
              <a:rPr lang="en-US" smtClean="0">
                <a:solidFill>
                  <a:schemeClr val="bg1"/>
                </a:solidFill>
              </a:rPr>
              <a:t>33</a:t>
            </a:fld>
            <a:endParaRPr lang="en-US" dirty="0">
              <a:solidFill>
                <a:schemeClr val="bg1"/>
              </a:solidFill>
            </a:endParaRPr>
          </a:p>
        </p:txBody>
      </p:sp>
      <p:sp>
        <p:nvSpPr>
          <p:cNvPr id="5" name="TextBox 4">
            <a:extLst>
              <a:ext uri="{FF2B5EF4-FFF2-40B4-BE49-F238E27FC236}">
                <a16:creationId xmlns:a16="http://schemas.microsoft.com/office/drawing/2014/main" id="{4794E1A3-C462-B526-C921-A6D5E6785557}"/>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ADAPTERS</a:t>
            </a:r>
          </a:p>
          <a:p>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connects to LLMs and databases through swappable adapters</a:t>
            </a:r>
          </a:p>
        </p:txBody>
      </p:sp>
      <p:sp>
        <p:nvSpPr>
          <p:cNvPr id="10" name="TextBox 9">
            <a:extLst>
              <a:ext uri="{FF2B5EF4-FFF2-40B4-BE49-F238E27FC236}">
                <a16:creationId xmlns:a16="http://schemas.microsoft.com/office/drawing/2014/main" id="{4D9A174A-96CC-9984-EAFE-6DAC569BDA98}"/>
              </a:ext>
            </a:extLst>
          </p:cNvPr>
          <p:cNvSpPr txBox="1"/>
          <p:nvPr/>
        </p:nvSpPr>
        <p:spPr>
          <a:xfrm>
            <a:off x="596346" y="1159801"/>
            <a:ext cx="11127815" cy="954107"/>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LLM Adapters</a:t>
            </a:r>
            <a:endParaRPr lang="en-US" sz="1400" b="1"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The platform supports multiple LLM providers through a unified adapter interface. </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Each adapter translates the platform's internal API to the provider's specific format.</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If you want to switch from OpenAI to Azure, you just swap the adapter. The rest of the code stays the same</a:t>
            </a:r>
          </a:p>
        </p:txBody>
      </p:sp>
      <p:graphicFrame>
        <p:nvGraphicFramePr>
          <p:cNvPr id="7" name="Table 6">
            <a:extLst>
              <a:ext uri="{FF2B5EF4-FFF2-40B4-BE49-F238E27FC236}">
                <a16:creationId xmlns:a16="http://schemas.microsoft.com/office/drawing/2014/main" id="{02679434-7DDC-3F31-2939-70DF725B7167}"/>
              </a:ext>
            </a:extLst>
          </p:cNvPr>
          <p:cNvGraphicFramePr>
            <a:graphicFrameLocks noGrp="1"/>
          </p:cNvGraphicFramePr>
          <p:nvPr>
            <p:extLst>
              <p:ext uri="{D42A27DB-BD31-4B8C-83A1-F6EECF244321}">
                <p14:modId xmlns:p14="http://schemas.microsoft.com/office/powerpoint/2010/main" val="155750261"/>
              </p:ext>
            </p:extLst>
          </p:nvPr>
        </p:nvGraphicFramePr>
        <p:xfrm>
          <a:off x="2711614" y="2187679"/>
          <a:ext cx="6897275" cy="1447800"/>
        </p:xfrm>
        <a:graphic>
          <a:graphicData uri="http://schemas.openxmlformats.org/drawingml/2006/table">
            <a:tbl>
              <a:tblPr>
                <a:tableStyleId>{7DF18680-E054-41AD-8BC1-D1AEF772440D}</a:tableStyleId>
              </a:tblPr>
              <a:tblGrid>
                <a:gridCol w="1332816">
                  <a:extLst>
                    <a:ext uri="{9D8B030D-6E8A-4147-A177-3AD203B41FA5}">
                      <a16:colId xmlns:a16="http://schemas.microsoft.com/office/drawing/2014/main" val="630331584"/>
                    </a:ext>
                  </a:extLst>
                </a:gridCol>
                <a:gridCol w="2497873">
                  <a:extLst>
                    <a:ext uri="{9D8B030D-6E8A-4147-A177-3AD203B41FA5}">
                      <a16:colId xmlns:a16="http://schemas.microsoft.com/office/drawing/2014/main" val="3478559801"/>
                    </a:ext>
                  </a:extLst>
                </a:gridCol>
                <a:gridCol w="3066586">
                  <a:extLst>
                    <a:ext uri="{9D8B030D-6E8A-4147-A177-3AD203B41FA5}">
                      <a16:colId xmlns:a16="http://schemas.microsoft.com/office/drawing/2014/main" val="1188982995"/>
                    </a:ext>
                  </a:extLst>
                </a:gridCol>
              </a:tblGrid>
              <a:tr h="153292">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Adapter</a:t>
                      </a:r>
                    </a:p>
                  </a:txBody>
                  <a:tcPr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Provider</a:t>
                      </a:r>
                    </a:p>
                  </a:txBody>
                  <a:tcPr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Use Case</a:t>
                      </a:r>
                    </a:p>
                  </a:txBody>
                  <a:tcPr anchor="b"/>
                </a:tc>
                <a:extLst>
                  <a:ext uri="{0D108BD9-81ED-4DB2-BD59-A6C34878D82A}">
                    <a16:rowId xmlns:a16="http://schemas.microsoft.com/office/drawing/2014/main" val="2089083299"/>
                  </a:ext>
                </a:extLst>
              </a:tr>
              <a:tr h="258176">
                <a:tc>
                  <a:txBody>
                    <a:bodyPr/>
                    <a:lstStyle/>
                    <a:p>
                      <a:pPr algn="l" fontAlgn="base"/>
                      <a:r>
                        <a:rPr lang="en-US" sz="1300" b="1" dirty="0" err="1">
                          <a:effectLst/>
                          <a:latin typeface="Inter" panose="02000503000000020004" pitchFamily="2" charset="0"/>
                          <a:ea typeface="Inter" panose="02000503000000020004" pitchFamily="2" charset="0"/>
                          <a:cs typeface="Inter" panose="02000503000000020004" pitchFamily="2" charset="0"/>
                        </a:rPr>
                        <a:t>Ollama</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Local (Phi-3, Mistral, </a:t>
                      </a:r>
                      <a:r>
                        <a:rPr lang="en-US" sz="1300" dirty="0" err="1">
                          <a:effectLst/>
                          <a:latin typeface="Inter" panose="02000503000000020004" pitchFamily="2" charset="0"/>
                          <a:ea typeface="Inter" panose="02000503000000020004" pitchFamily="2" charset="0"/>
                          <a:cs typeface="Inter" panose="02000503000000020004" pitchFamily="2" charset="0"/>
                        </a:rPr>
                        <a:t>LLaMA</a:t>
                      </a:r>
                      <a:r>
                        <a:rPr lang="en-US" sz="1300" dirty="0">
                          <a:effectLst/>
                          <a:latin typeface="Inter" panose="02000503000000020004" pitchFamily="2" charset="0"/>
                          <a:ea typeface="Inter" panose="02000503000000020004" pitchFamily="2" charset="0"/>
                          <a:cs typeface="Inter" panose="02000503000000020004" pitchFamily="2" charset="0"/>
                        </a:rPr>
                        <a:t>)</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Data sovereignty, no costs, offline</a:t>
                      </a:r>
                    </a:p>
                  </a:txBody>
                  <a:tcPr anchor="ctr"/>
                </a:tc>
                <a:extLst>
                  <a:ext uri="{0D108BD9-81ED-4DB2-BD59-A6C34878D82A}">
                    <a16:rowId xmlns:a16="http://schemas.microsoft.com/office/drawing/2014/main" val="3317824836"/>
                  </a:ext>
                </a:extLst>
              </a:tr>
              <a:tr h="258176">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OpenAI</a:t>
                      </a:r>
                      <a:endParaRPr lang="en-US" sz="130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GPT-4, GPT-3.5</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State-of-the-art, zero infra</a:t>
                      </a:r>
                    </a:p>
                  </a:txBody>
                  <a:tcPr anchor="ctr"/>
                </a:tc>
                <a:extLst>
                  <a:ext uri="{0D108BD9-81ED-4DB2-BD59-A6C34878D82A}">
                    <a16:rowId xmlns:a16="http://schemas.microsoft.com/office/drawing/2014/main" val="1597165167"/>
                  </a:ext>
                </a:extLst>
              </a:tr>
              <a:tr h="258176">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Azure OpenAI</a:t>
                      </a:r>
                      <a:endParaRPr lang="en-US" sz="130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Azure-hosted</a:t>
                      </a: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Enterprise compliance, SLA</a:t>
                      </a:r>
                    </a:p>
                  </a:txBody>
                  <a:tcPr anchor="ctr"/>
                </a:tc>
                <a:extLst>
                  <a:ext uri="{0D108BD9-81ED-4DB2-BD59-A6C34878D82A}">
                    <a16:rowId xmlns:a16="http://schemas.microsoft.com/office/drawing/2014/main" val="976529924"/>
                  </a:ext>
                </a:extLst>
              </a:tr>
              <a:tr h="153292">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Stub/Demo</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Mock responses</a:t>
                      </a:r>
                    </a:p>
                  </a:txBody>
                  <a:tcPr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Testing, CI/CD</a:t>
                      </a:r>
                    </a:p>
                  </a:txBody>
                  <a:tcPr anchor="ctr"/>
                </a:tc>
                <a:extLst>
                  <a:ext uri="{0D108BD9-81ED-4DB2-BD59-A6C34878D82A}">
                    <a16:rowId xmlns:a16="http://schemas.microsoft.com/office/drawing/2014/main" val="2754029398"/>
                  </a:ext>
                </a:extLst>
              </a:tr>
            </a:tbl>
          </a:graphicData>
        </a:graphic>
      </p:graphicFrame>
      <p:sp>
        <p:nvSpPr>
          <p:cNvPr id="8" name="TextBox 7">
            <a:extLst>
              <a:ext uri="{FF2B5EF4-FFF2-40B4-BE49-F238E27FC236}">
                <a16:creationId xmlns:a16="http://schemas.microsoft.com/office/drawing/2014/main" id="{6B4D0558-D8CE-9EE7-56A6-09E904C1125F}"/>
              </a:ext>
            </a:extLst>
          </p:cNvPr>
          <p:cNvSpPr txBox="1"/>
          <p:nvPr/>
        </p:nvSpPr>
        <p:spPr>
          <a:xfrm>
            <a:off x="596345" y="3620715"/>
            <a:ext cx="11127815" cy="738664"/>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Database Adapters</a:t>
            </a:r>
            <a:endParaRPr lang="en-US" sz="1400" b="1"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Using adapters means the orchestrator code just calls </a:t>
            </a:r>
            <a:r>
              <a:rPr lang="en-US" sz="1400" b="0" i="0" dirty="0" err="1">
                <a:effectLst/>
                <a:latin typeface="Inter" panose="02000503000000020004" pitchFamily="2" charset="0"/>
                <a:ea typeface="Inter" panose="02000503000000020004" pitchFamily="2" charset="0"/>
                <a:cs typeface="Inter" panose="02000503000000020004" pitchFamily="2" charset="0"/>
              </a:rPr>
              <a:t>cache.get</a:t>
            </a:r>
            <a:r>
              <a:rPr lang="en-US" sz="1400" b="0" i="0" dirty="0">
                <a:effectLst/>
                <a:latin typeface="Inter" panose="02000503000000020004" pitchFamily="2" charset="0"/>
                <a:ea typeface="Inter" panose="02000503000000020004" pitchFamily="2" charset="0"/>
                <a:cs typeface="Inter" panose="02000503000000020004" pitchFamily="2" charset="0"/>
              </a:rPr>
              <a:t>() or </a:t>
            </a:r>
            <a:r>
              <a:rPr lang="en-US" sz="1400" b="0" i="0" dirty="0" err="1">
                <a:effectLst/>
                <a:latin typeface="Inter" panose="02000503000000020004" pitchFamily="2" charset="0"/>
                <a:ea typeface="Inter" panose="02000503000000020004" pitchFamily="2" charset="0"/>
                <a:cs typeface="Inter" panose="02000503000000020004" pitchFamily="2" charset="0"/>
              </a:rPr>
              <a:t>graph.query</a:t>
            </a:r>
            <a:r>
              <a:rPr lang="en-US" sz="1400" b="0" i="0" dirty="0">
                <a:effectLst/>
                <a:latin typeface="Inter" panose="02000503000000020004" pitchFamily="2" charset="0"/>
                <a:ea typeface="Inter" panose="02000503000000020004" pitchFamily="2" charset="0"/>
                <a:cs typeface="Inter" panose="02000503000000020004" pitchFamily="2" charset="0"/>
              </a:rPr>
              <a:t>() without knowing the underlying implementation details. If you switch from Redis to Memcached, you only change the adapter, not the business logic.</a:t>
            </a:r>
          </a:p>
        </p:txBody>
      </p:sp>
      <p:graphicFrame>
        <p:nvGraphicFramePr>
          <p:cNvPr id="18" name="Table 17">
            <a:extLst>
              <a:ext uri="{FF2B5EF4-FFF2-40B4-BE49-F238E27FC236}">
                <a16:creationId xmlns:a16="http://schemas.microsoft.com/office/drawing/2014/main" id="{21B88DCE-FA02-A704-1358-6191C50BAB96}"/>
              </a:ext>
            </a:extLst>
          </p:cNvPr>
          <p:cNvGraphicFramePr>
            <a:graphicFrameLocks noGrp="1"/>
          </p:cNvGraphicFramePr>
          <p:nvPr>
            <p:extLst>
              <p:ext uri="{D42A27DB-BD31-4B8C-83A1-F6EECF244321}">
                <p14:modId xmlns:p14="http://schemas.microsoft.com/office/powerpoint/2010/main" val="3175922076"/>
              </p:ext>
            </p:extLst>
          </p:nvPr>
        </p:nvGraphicFramePr>
        <p:xfrm>
          <a:off x="947854" y="4429829"/>
          <a:ext cx="10361595" cy="1645920"/>
        </p:xfrm>
        <a:graphic>
          <a:graphicData uri="http://schemas.openxmlformats.org/drawingml/2006/table">
            <a:tbl>
              <a:tblPr>
                <a:tableStyleId>{7DF18680-E054-41AD-8BC1-D1AEF772440D}</a:tableStyleId>
              </a:tblPr>
              <a:tblGrid>
                <a:gridCol w="1217579">
                  <a:extLst>
                    <a:ext uri="{9D8B030D-6E8A-4147-A177-3AD203B41FA5}">
                      <a16:colId xmlns:a16="http://schemas.microsoft.com/office/drawing/2014/main" val="1916888631"/>
                    </a:ext>
                  </a:extLst>
                </a:gridCol>
                <a:gridCol w="3433213">
                  <a:extLst>
                    <a:ext uri="{9D8B030D-6E8A-4147-A177-3AD203B41FA5}">
                      <a16:colId xmlns:a16="http://schemas.microsoft.com/office/drawing/2014/main" val="2673884235"/>
                    </a:ext>
                  </a:extLst>
                </a:gridCol>
                <a:gridCol w="5710803">
                  <a:extLst>
                    <a:ext uri="{9D8B030D-6E8A-4147-A177-3AD203B41FA5}">
                      <a16:colId xmlns:a16="http://schemas.microsoft.com/office/drawing/2014/main" val="3426952422"/>
                    </a:ext>
                  </a:extLst>
                </a:gridCol>
              </a:tblGrid>
              <a:tr h="0">
                <a:tc>
                  <a:txBody>
                    <a:bodyPr/>
                    <a:lstStyle/>
                    <a:p>
                      <a:r>
                        <a:rPr lang="en-US" sz="1200" b="1">
                          <a:latin typeface="Inter" panose="02000503000000020004" pitchFamily="2" charset="0"/>
                          <a:ea typeface="Inter" panose="02000503000000020004" pitchFamily="2" charset="0"/>
                          <a:cs typeface="Inter" panose="02000503000000020004" pitchFamily="2" charset="0"/>
                        </a:rPr>
                        <a:t>Adapter</a:t>
                      </a:r>
                    </a:p>
                  </a:txBody>
                  <a:tcPr anchor="ctr"/>
                </a:tc>
                <a:tc>
                  <a:txBody>
                    <a:bodyPr/>
                    <a:lstStyle/>
                    <a:p>
                      <a:r>
                        <a:rPr lang="en-US" sz="1200" b="1">
                          <a:latin typeface="Inter" panose="02000503000000020004" pitchFamily="2" charset="0"/>
                          <a:ea typeface="Inter" panose="02000503000000020004" pitchFamily="2" charset="0"/>
                          <a:cs typeface="Inter" panose="02000503000000020004" pitchFamily="2" charset="0"/>
                        </a:rPr>
                        <a:t>Functions</a:t>
                      </a:r>
                    </a:p>
                  </a:txBody>
                  <a:tcPr anchor="ctr"/>
                </a:tc>
                <a:tc>
                  <a:txBody>
                    <a:bodyPr/>
                    <a:lstStyle/>
                    <a:p>
                      <a:r>
                        <a:rPr lang="en-US" sz="1200" b="1" dirty="0">
                          <a:latin typeface="Inter" panose="02000503000000020004" pitchFamily="2" charset="0"/>
                          <a:ea typeface="Inter" panose="02000503000000020004" pitchFamily="2" charset="0"/>
                          <a:cs typeface="Inter" panose="02000503000000020004" pitchFamily="2" charset="0"/>
                        </a:rPr>
                        <a:t>Description</a:t>
                      </a:r>
                    </a:p>
                  </a:txBody>
                  <a:tcPr anchor="ctr"/>
                </a:tc>
                <a:extLst>
                  <a:ext uri="{0D108BD9-81ED-4DB2-BD59-A6C34878D82A}">
                    <a16:rowId xmlns:a16="http://schemas.microsoft.com/office/drawing/2014/main" val="2715640112"/>
                  </a:ext>
                </a:extLst>
              </a:tr>
              <a:tr h="238949">
                <a:tc>
                  <a:txBody>
                    <a:bodyPr/>
                    <a:lstStyle/>
                    <a:p>
                      <a:r>
                        <a:rPr lang="en-US" sz="1200" b="1" dirty="0">
                          <a:latin typeface="Inter" panose="02000503000000020004" pitchFamily="2" charset="0"/>
                          <a:ea typeface="Inter" panose="02000503000000020004" pitchFamily="2" charset="0"/>
                          <a:cs typeface="Inter" panose="02000503000000020004" pitchFamily="2" charset="0"/>
                        </a:rPr>
                        <a:t>Redis</a:t>
                      </a:r>
                    </a:p>
                  </a:txBody>
                  <a:tcPr anchor="ctr"/>
                </a:tc>
                <a:tc>
                  <a:txBody>
                    <a:bodyPr/>
                    <a:lstStyle/>
                    <a:p>
                      <a:r>
                        <a:rPr lang="en-US" sz="1200">
                          <a:latin typeface="Inter" panose="02000503000000020004" pitchFamily="2" charset="0"/>
                          <a:ea typeface="Inter" panose="02000503000000020004" pitchFamily="2" charset="0"/>
                          <a:cs typeface="Inter" panose="02000503000000020004" pitchFamily="2" charset="0"/>
                        </a:rPr>
                        <a:t>cache.get/set, queue.push/pop, ratelimit.check, lock.acquire</a:t>
                      </a:r>
                    </a:p>
                  </a:txBody>
                  <a:tcPr anchor="ctr"/>
                </a:tc>
                <a:tc>
                  <a:txBody>
                    <a:bodyPr/>
                    <a:lstStyle/>
                    <a:p>
                      <a:r>
                        <a:rPr lang="en-US" sz="1200" dirty="0">
                          <a:latin typeface="Inter" panose="02000503000000020004" pitchFamily="2" charset="0"/>
                          <a:ea typeface="Inter" panose="02000503000000020004" pitchFamily="2" charset="0"/>
                          <a:cs typeface="Inter" panose="02000503000000020004" pitchFamily="2" charset="0"/>
                        </a:rPr>
                        <a:t>In-memory infrastructure for caching (TTL), async job queues, rate limiting, and distributed locks.</a:t>
                      </a:r>
                    </a:p>
                  </a:txBody>
                  <a:tcPr anchor="ctr"/>
                </a:tc>
                <a:extLst>
                  <a:ext uri="{0D108BD9-81ED-4DB2-BD59-A6C34878D82A}">
                    <a16:rowId xmlns:a16="http://schemas.microsoft.com/office/drawing/2014/main" val="3315684605"/>
                  </a:ext>
                </a:extLst>
              </a:tr>
              <a:tr h="238949">
                <a:tc>
                  <a:txBody>
                    <a:bodyPr/>
                    <a:lstStyle/>
                    <a:p>
                      <a:r>
                        <a:rPr lang="en-US" sz="1200" b="1">
                          <a:latin typeface="Inter" panose="02000503000000020004" pitchFamily="2" charset="0"/>
                          <a:ea typeface="Inter" panose="02000503000000020004" pitchFamily="2" charset="0"/>
                          <a:cs typeface="Inter" panose="02000503000000020004" pitchFamily="2" charset="0"/>
                        </a:rPr>
                        <a:t>PostgreSQL</a:t>
                      </a:r>
                    </a:p>
                  </a:txBody>
                  <a:tcPr anchor="ctr"/>
                </a:tc>
                <a:tc>
                  <a:txBody>
                    <a:bodyPr/>
                    <a:lstStyle/>
                    <a:p>
                      <a:r>
                        <a:rPr lang="en-US" sz="1200" dirty="0" err="1">
                          <a:latin typeface="Inter" panose="02000503000000020004" pitchFamily="2" charset="0"/>
                          <a:ea typeface="Inter" panose="02000503000000020004" pitchFamily="2" charset="0"/>
                          <a:cs typeface="Inter" panose="02000503000000020004" pitchFamily="2" charset="0"/>
                        </a:rPr>
                        <a:t>repository.CRUD</a:t>
                      </a:r>
                      <a:r>
                        <a:rPr lang="en-US" sz="1200" dirty="0">
                          <a:latin typeface="Inter" panose="02000503000000020004" pitchFamily="2" charset="0"/>
                          <a:ea typeface="Inter" panose="02000503000000020004" pitchFamily="2" charset="0"/>
                          <a:cs typeface="Inter" panose="02000503000000020004" pitchFamily="2" charset="0"/>
                        </a:rPr>
                        <a:t>, </a:t>
                      </a:r>
                      <a:r>
                        <a:rPr lang="en-US" sz="1200" dirty="0" err="1">
                          <a:latin typeface="Inter" panose="02000503000000020004" pitchFamily="2" charset="0"/>
                          <a:ea typeface="Inter" panose="02000503000000020004" pitchFamily="2" charset="0"/>
                          <a:cs typeface="Inter" panose="02000503000000020004" pitchFamily="2" charset="0"/>
                        </a:rPr>
                        <a:t>transaction.begin</a:t>
                      </a:r>
                      <a:r>
                        <a:rPr lang="en-US" sz="1200" dirty="0">
                          <a:latin typeface="Inter" panose="02000503000000020004" pitchFamily="2" charset="0"/>
                          <a:ea typeface="Inter" panose="02000503000000020004" pitchFamily="2" charset="0"/>
                          <a:cs typeface="Inter" panose="02000503000000020004" pitchFamily="2" charset="0"/>
                        </a:rPr>
                        <a:t>/commit, </a:t>
                      </a:r>
                      <a:r>
                        <a:rPr lang="en-US" sz="1200" dirty="0" err="1">
                          <a:latin typeface="Inter" panose="02000503000000020004" pitchFamily="2" charset="0"/>
                          <a:ea typeface="Inter" panose="02000503000000020004" pitchFamily="2" charset="0"/>
                          <a:cs typeface="Inter" panose="02000503000000020004" pitchFamily="2" charset="0"/>
                        </a:rPr>
                        <a:t>query.execute</a:t>
                      </a:r>
                      <a:endParaRPr lang="en-US" sz="1200" dirty="0">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r>
                        <a:rPr lang="en-US" sz="1200">
                          <a:latin typeface="Inter" panose="02000503000000020004" pitchFamily="2" charset="0"/>
                          <a:ea typeface="Inter" panose="02000503000000020004" pitchFamily="2" charset="0"/>
                          <a:cs typeface="Inter" panose="02000503000000020004" pitchFamily="2" charset="0"/>
                        </a:rPr>
                        <a:t>Durable relational persistence: ORM-based CRUD, ACID transactions, and raw SQL for complex queries.</a:t>
                      </a:r>
                    </a:p>
                  </a:txBody>
                  <a:tcPr anchor="ctr"/>
                </a:tc>
                <a:extLst>
                  <a:ext uri="{0D108BD9-81ED-4DB2-BD59-A6C34878D82A}">
                    <a16:rowId xmlns:a16="http://schemas.microsoft.com/office/drawing/2014/main" val="3072260690"/>
                  </a:ext>
                </a:extLst>
              </a:tr>
              <a:tr h="238949">
                <a:tc>
                  <a:txBody>
                    <a:bodyPr/>
                    <a:lstStyle/>
                    <a:p>
                      <a:r>
                        <a:rPr lang="en-US" sz="1200" b="1" dirty="0">
                          <a:latin typeface="Inter" panose="02000503000000020004" pitchFamily="2" charset="0"/>
                          <a:ea typeface="Inter" panose="02000503000000020004" pitchFamily="2" charset="0"/>
                          <a:cs typeface="Inter" panose="02000503000000020004" pitchFamily="2" charset="0"/>
                        </a:rPr>
                        <a:t>Memgraph</a:t>
                      </a:r>
                    </a:p>
                  </a:txBody>
                  <a:tcPr anchor="ctr"/>
                </a:tc>
                <a:tc>
                  <a:txBody>
                    <a:bodyPr/>
                    <a:lstStyle/>
                    <a:p>
                      <a:r>
                        <a:rPr lang="en-US" sz="1200">
                          <a:latin typeface="Inter" panose="02000503000000020004" pitchFamily="2" charset="0"/>
                          <a:ea typeface="Inter" panose="02000503000000020004" pitchFamily="2" charset="0"/>
                          <a:cs typeface="Inter" panose="02000503000000020004" pitchFamily="2" charset="0"/>
                        </a:rPr>
                        <a:t>graph.query, graph.secure_query, graph.nl_to_cypher, graph.schema</a:t>
                      </a:r>
                    </a:p>
                  </a:txBody>
                  <a:tcPr anchor="ctr"/>
                </a:tc>
                <a:tc>
                  <a:txBody>
                    <a:bodyPr/>
                    <a:lstStyle/>
                    <a:p>
                      <a:r>
                        <a:rPr lang="en-US" sz="1200" dirty="0">
                          <a:latin typeface="Inter" panose="02000503000000020004" pitchFamily="2" charset="0"/>
                          <a:ea typeface="Inter" panose="02000503000000020004" pitchFamily="2" charset="0"/>
                          <a:cs typeface="Inter" panose="02000503000000020004" pitchFamily="2" charset="0"/>
                        </a:rPr>
                        <a:t>Graph data layer: raw and tenant-isolated Cypher queries, </a:t>
                      </a:r>
                      <a:r>
                        <a:rPr lang="en-US" sz="1200" dirty="0" err="1">
                          <a:latin typeface="Inter" panose="02000503000000020004" pitchFamily="2" charset="0"/>
                          <a:ea typeface="Inter" panose="02000503000000020004" pitchFamily="2" charset="0"/>
                          <a:cs typeface="Inter" panose="02000503000000020004" pitchFamily="2" charset="0"/>
                        </a:rPr>
                        <a:t>NL→Cypher</a:t>
                      </a:r>
                      <a:r>
                        <a:rPr lang="en-US" sz="1200" dirty="0">
                          <a:latin typeface="Inter" panose="02000503000000020004" pitchFamily="2" charset="0"/>
                          <a:ea typeface="Inter" panose="02000503000000020004" pitchFamily="2" charset="0"/>
                          <a:cs typeface="Inter" panose="02000503000000020004" pitchFamily="2" charset="0"/>
                        </a:rPr>
                        <a:t> translation, and schema introspection for context.</a:t>
                      </a:r>
                    </a:p>
                  </a:txBody>
                  <a:tcPr anchor="ctr"/>
                </a:tc>
                <a:extLst>
                  <a:ext uri="{0D108BD9-81ED-4DB2-BD59-A6C34878D82A}">
                    <a16:rowId xmlns:a16="http://schemas.microsoft.com/office/drawing/2014/main" val="2763063089"/>
                  </a:ext>
                </a:extLst>
              </a:tr>
            </a:tbl>
          </a:graphicData>
        </a:graphic>
      </p:graphicFrame>
      <p:sp>
        <p:nvSpPr>
          <p:cNvPr id="19" name="Footer Placeholder 10">
            <a:extLst>
              <a:ext uri="{FF2B5EF4-FFF2-40B4-BE49-F238E27FC236}">
                <a16:creationId xmlns:a16="http://schemas.microsoft.com/office/drawing/2014/main" id="{03EF8FA0-4910-7D7A-209F-A5F039C8EEE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304821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E2012-4E80-9C65-29CB-180BB4E47EE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6707826-B7D2-D192-3A4D-912975D43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75C97FF7-7038-FEC2-C34A-27DB280175C1}"/>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E521F84-2C90-9D35-B9C4-38E4AD67559A}"/>
              </a:ext>
            </a:extLst>
          </p:cNvPr>
          <p:cNvSpPr>
            <a:spLocks noGrp="1"/>
          </p:cNvSpPr>
          <p:nvPr>
            <p:ph type="sldNum" sz="quarter" idx="12"/>
          </p:nvPr>
        </p:nvSpPr>
        <p:spPr/>
        <p:txBody>
          <a:bodyPr/>
          <a:lstStyle/>
          <a:p>
            <a:fld id="{48F19E39-9933-F648-B2F3-3AC17C0DC986}" type="slidenum">
              <a:rPr lang="en-US" smtClean="0">
                <a:solidFill>
                  <a:schemeClr val="bg1"/>
                </a:solidFill>
              </a:rPr>
              <a:t>34</a:t>
            </a:fld>
            <a:endParaRPr lang="en-US" dirty="0">
              <a:solidFill>
                <a:schemeClr val="bg1"/>
              </a:solidFill>
            </a:endParaRPr>
          </a:p>
        </p:txBody>
      </p:sp>
      <p:sp>
        <p:nvSpPr>
          <p:cNvPr id="5" name="TextBox 4">
            <a:extLst>
              <a:ext uri="{FF2B5EF4-FFF2-40B4-BE49-F238E27FC236}">
                <a16:creationId xmlns:a16="http://schemas.microsoft.com/office/drawing/2014/main" id="{DEE74214-7D32-CFD1-3B67-81306322248D}"/>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RESILIENCE FRAMEWORK</a:t>
            </a:r>
          </a:p>
          <a:p>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handles failures with backup plans instead of crashing.(</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Circuit breaker, Retries, Fallbacks</a:t>
            </a:r>
            <a:r>
              <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rPr>
              <a:t>)</a:t>
            </a:r>
          </a:p>
        </p:txBody>
      </p:sp>
      <p:sp>
        <p:nvSpPr>
          <p:cNvPr id="10" name="TextBox 9">
            <a:extLst>
              <a:ext uri="{FF2B5EF4-FFF2-40B4-BE49-F238E27FC236}">
                <a16:creationId xmlns:a16="http://schemas.microsoft.com/office/drawing/2014/main" id="{AD5BA742-B82F-4F81-C179-E925FB320194}"/>
              </a:ext>
            </a:extLst>
          </p:cNvPr>
          <p:cNvSpPr txBox="1"/>
          <p:nvPr/>
        </p:nvSpPr>
        <p:spPr>
          <a:xfrm>
            <a:off x="596346" y="1159801"/>
            <a:ext cx="11127815" cy="3508653"/>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Circuit Breaker: </a:t>
            </a:r>
            <a:r>
              <a:rPr lang="en-US" sz="1400" i="0" dirty="0">
                <a:effectLst/>
                <a:latin typeface="Inter" panose="02000503000000020004" pitchFamily="2" charset="0"/>
                <a:ea typeface="Inter" panose="02000503000000020004" pitchFamily="2" charset="0"/>
                <a:cs typeface="Inter" panose="02000503000000020004" pitchFamily="2" charset="0"/>
              </a:rPr>
              <a:t>(</a:t>
            </a:r>
            <a:r>
              <a:rPr lang="en-US" sz="1400" dirty="0">
                <a:effectLst/>
                <a:latin typeface="Inter" panose="02000503000000020004" pitchFamily="2" charset="0"/>
                <a:ea typeface="Inter" panose="02000503000000020004" pitchFamily="2" charset="0"/>
                <a:cs typeface="Inter" panose="02000503000000020004" pitchFamily="2" charset="0"/>
              </a:rPr>
              <a:t>Stop calling a broken service)</a:t>
            </a:r>
          </a:p>
          <a:p>
            <a:pPr marL="285750" indent="-285750">
              <a:buFontTx/>
              <a:buChar char="-"/>
            </a:pPr>
            <a:r>
              <a:rPr lang="en-US" sz="1200" b="0" i="0" dirty="0">
                <a:effectLst/>
                <a:latin typeface="Inter" panose="02000503000000020004" pitchFamily="2" charset="0"/>
                <a:ea typeface="Inter" panose="02000503000000020004" pitchFamily="2" charset="0"/>
                <a:cs typeface="Inter" panose="02000503000000020004" pitchFamily="2" charset="0"/>
              </a:rPr>
              <a:t>If an LLM provider becomes unavailable, stops sending it requests. Each provider has independent circuit breaker state stored in Redis (</a:t>
            </a:r>
            <a:r>
              <a:rPr lang="en-US" sz="1200" dirty="0">
                <a:latin typeface="Inter" panose="02000503000000020004" pitchFamily="2" charset="0"/>
                <a:ea typeface="Inter" panose="02000503000000020004" pitchFamily="2" charset="0"/>
                <a:cs typeface="Inter" panose="02000503000000020004" pitchFamily="2" charset="0"/>
              </a:rPr>
              <a:t>circuit:{provider}</a:t>
            </a:r>
            <a:r>
              <a:rPr lang="en-US" sz="1200" b="0" i="0" dirty="0">
                <a:effectLst/>
                <a:latin typeface="Inter" panose="02000503000000020004" pitchFamily="2" charset="0"/>
                <a:ea typeface="Inter" panose="02000503000000020004" pitchFamily="2" charset="0"/>
                <a:cs typeface="Inter" panose="02000503000000020004" pitchFamily="2" charset="0"/>
              </a:rPr>
              <a:t>).</a:t>
            </a:r>
          </a:p>
          <a:p>
            <a:endParaRPr lang="en-US" sz="12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200" b="1" i="0" dirty="0">
                <a:effectLst/>
                <a:latin typeface="Inter" panose="02000503000000020004" pitchFamily="2" charset="0"/>
                <a:ea typeface="Inter" panose="02000503000000020004" pitchFamily="2" charset="0"/>
                <a:cs typeface="Inter" panose="02000503000000020004" pitchFamily="2" charset="0"/>
              </a:rPr>
              <a:t>States:</a:t>
            </a:r>
          </a:p>
          <a:p>
            <a:pPr marL="285750" indent="-285750" algn="l">
              <a:buFontTx/>
              <a:buChar char="-"/>
            </a:pPr>
            <a:r>
              <a:rPr lang="en-US" sz="1200" b="1" i="0" dirty="0">
                <a:effectLst/>
                <a:latin typeface="Inter" panose="02000503000000020004" pitchFamily="2" charset="0"/>
                <a:ea typeface="Inter" panose="02000503000000020004" pitchFamily="2" charset="0"/>
                <a:cs typeface="Inter" panose="02000503000000020004" pitchFamily="2" charset="0"/>
              </a:rPr>
              <a:t>CLOSED: </a:t>
            </a:r>
            <a:r>
              <a:rPr lang="en-US" sz="1200" b="0" i="0" dirty="0">
                <a:effectLst/>
                <a:latin typeface="Inter" panose="02000503000000020004" pitchFamily="2" charset="0"/>
                <a:ea typeface="Inter" panose="02000503000000020004" pitchFamily="2" charset="0"/>
                <a:cs typeface="Inter" panose="02000503000000020004" pitchFamily="2" charset="0"/>
              </a:rPr>
              <a:t>Normal operation. Requests go through. </a:t>
            </a:r>
          </a:p>
          <a:p>
            <a:pPr marL="285750" indent="-285750" algn="l">
              <a:buFontTx/>
              <a:buChar char="-"/>
            </a:pPr>
            <a:r>
              <a:rPr lang="en-US" sz="1200" b="1" i="0" dirty="0">
                <a:effectLst/>
                <a:latin typeface="Inter" panose="02000503000000020004" pitchFamily="2" charset="0"/>
                <a:ea typeface="Inter" panose="02000503000000020004" pitchFamily="2" charset="0"/>
                <a:cs typeface="Inter" panose="02000503000000020004" pitchFamily="2" charset="0"/>
              </a:rPr>
              <a:t>OPEN: </a:t>
            </a:r>
            <a:r>
              <a:rPr lang="en-US" sz="1200" b="0" i="0" dirty="0">
                <a:effectLst/>
                <a:latin typeface="Inter" panose="02000503000000020004" pitchFamily="2" charset="0"/>
                <a:ea typeface="Inter" panose="02000503000000020004" pitchFamily="2" charset="0"/>
                <a:cs typeface="Inter" panose="02000503000000020004" pitchFamily="2" charset="0"/>
              </a:rPr>
              <a:t>Service is broken. Requests are immediately rejected without trying. Returns fallback instead.</a:t>
            </a:r>
          </a:p>
          <a:p>
            <a:pPr marL="285750" indent="-285750" algn="l">
              <a:buFontTx/>
              <a:buChar char="-"/>
            </a:pPr>
            <a:r>
              <a:rPr lang="en-US" sz="1200" b="1" i="0" dirty="0">
                <a:effectLst/>
                <a:latin typeface="Inter" panose="02000503000000020004" pitchFamily="2" charset="0"/>
                <a:ea typeface="Inter" panose="02000503000000020004" pitchFamily="2" charset="0"/>
                <a:cs typeface="Inter" panose="02000503000000020004" pitchFamily="2" charset="0"/>
              </a:rPr>
              <a:t>HALF-OPEN:</a:t>
            </a:r>
            <a:r>
              <a:rPr lang="en-US" sz="1200" b="0" i="0" dirty="0">
                <a:effectLst/>
                <a:latin typeface="Inter" panose="02000503000000020004" pitchFamily="2" charset="0"/>
                <a:ea typeface="Inter" panose="02000503000000020004" pitchFamily="2" charset="0"/>
                <a:cs typeface="Inter" panose="02000503000000020004" pitchFamily="2" charset="0"/>
              </a:rPr>
              <a:t> Waiting to test recovery. Allows one (or a few) request(s) through to check if the service is healthy again.</a:t>
            </a:r>
            <a:endParaRPr lang="en-US" sz="1200" dirty="0">
              <a:latin typeface="Inter" panose="02000503000000020004" pitchFamily="2" charset="0"/>
              <a:ea typeface="Inter" panose="02000503000000020004" pitchFamily="2" charset="0"/>
              <a:cs typeface="Inter" panose="02000503000000020004" pitchFamily="2" charset="0"/>
            </a:endParaRPr>
          </a:p>
          <a:p>
            <a:pPr algn="l"/>
            <a:r>
              <a:rPr lang="en-US" sz="1200" b="1" i="0" dirty="0">
                <a:effectLst/>
                <a:latin typeface="Inter" panose="02000503000000020004" pitchFamily="2" charset="0"/>
                <a:ea typeface="Inter" panose="02000503000000020004" pitchFamily="2" charset="0"/>
                <a:cs typeface="Inter" panose="02000503000000020004" pitchFamily="2" charset="0"/>
              </a:rPr>
              <a:t>Example:</a:t>
            </a:r>
            <a:r>
              <a:rPr lang="en-US" sz="1200" b="0" i="0" dirty="0">
                <a:effectLst/>
                <a:latin typeface="Inter" panose="02000503000000020004" pitchFamily="2" charset="0"/>
                <a:ea typeface="Inter" panose="02000503000000020004" pitchFamily="2" charset="0"/>
                <a:cs typeface="Inter" panose="02000503000000020004" pitchFamily="2" charset="0"/>
              </a:rPr>
              <a:t> If OpenAI returns 5 consecutive 500 errors, circuit opens → requests immediately fail-fast → after 60s, one test request allowed → if successful, circuit closes.</a:t>
            </a:r>
          </a:p>
          <a:p>
            <a:endParaRPr lang="en-US" sz="1200" dirty="0">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Retries</a:t>
            </a:r>
            <a:r>
              <a:rPr lang="en-US" sz="1400" b="0" i="0" dirty="0">
                <a:effectLst/>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200" b="0" i="0" dirty="0">
                <a:effectLst/>
                <a:latin typeface="Inter" panose="02000503000000020004" pitchFamily="2" charset="0"/>
                <a:ea typeface="Inter" panose="02000503000000020004" pitchFamily="2" charset="0"/>
                <a:cs typeface="Inter" panose="02000503000000020004" pitchFamily="2" charset="0"/>
              </a:rPr>
              <a:t>If a request fails once, try again with an exponential delay (This prevents hammering a recovering service)</a:t>
            </a:r>
          </a:p>
          <a:p>
            <a:pPr marL="285750" indent="-285750">
              <a:buFontTx/>
              <a:buChar char="-"/>
            </a:pPr>
            <a:r>
              <a:rPr lang="en-US" sz="1200" dirty="0">
                <a:latin typeface="Inter" panose="02000503000000020004" pitchFamily="2" charset="0"/>
                <a:ea typeface="Inter" panose="02000503000000020004" pitchFamily="2" charset="0"/>
                <a:cs typeface="Inter" panose="02000503000000020004" pitchFamily="2" charset="0"/>
              </a:rPr>
              <a:t>1</a:t>
            </a:r>
            <a:r>
              <a:rPr lang="en-US" sz="1200" baseline="30000" dirty="0">
                <a:latin typeface="Inter" panose="02000503000000020004" pitchFamily="2" charset="0"/>
                <a:ea typeface="Inter" panose="02000503000000020004" pitchFamily="2" charset="0"/>
                <a:cs typeface="Inter" panose="02000503000000020004" pitchFamily="2" charset="0"/>
              </a:rPr>
              <a:t>st</a:t>
            </a:r>
            <a:r>
              <a:rPr lang="en-US" sz="1200" dirty="0">
                <a:latin typeface="Inter" panose="02000503000000020004" pitchFamily="2" charset="0"/>
                <a:ea typeface="Inter" panose="02000503000000020004" pitchFamily="2" charset="0"/>
                <a:cs typeface="Inter" panose="02000503000000020004" pitchFamily="2" charset="0"/>
              </a:rPr>
              <a:t> </a:t>
            </a:r>
            <a:r>
              <a:rPr lang="en-US" sz="1200" dirty="0" err="1">
                <a:latin typeface="Inter" panose="02000503000000020004" pitchFamily="2" charset="0"/>
                <a:ea typeface="Inter" panose="02000503000000020004" pitchFamily="2" charset="0"/>
                <a:cs typeface="Inter" panose="02000503000000020004" pitchFamily="2" charset="0"/>
              </a:rPr>
              <a:t>attept</a:t>
            </a:r>
            <a:r>
              <a:rPr lang="en-US" sz="1200" dirty="0">
                <a:latin typeface="Inter" panose="02000503000000020004" pitchFamily="2" charset="0"/>
                <a:ea typeface="Inter" panose="02000503000000020004" pitchFamily="2" charset="0"/>
                <a:cs typeface="Inter" panose="02000503000000020004" pitchFamily="2" charset="0"/>
              </a:rPr>
              <a:t> </a:t>
            </a:r>
            <a:r>
              <a:rPr lang="en-US" sz="1200" b="0" dirty="0">
                <a:effectLst/>
                <a:latin typeface="Inter" panose="02000503000000020004" pitchFamily="2" charset="0"/>
                <a:ea typeface="Inter" panose="02000503000000020004" pitchFamily="2" charset="0"/>
                <a:cs typeface="Inter" panose="02000503000000020004" pitchFamily="2" charset="0"/>
              </a:rPr>
              <a:t>→</a:t>
            </a:r>
            <a:r>
              <a:rPr lang="en-US" sz="1200" dirty="0">
                <a:latin typeface="Inter" panose="02000503000000020004" pitchFamily="2" charset="0"/>
                <a:ea typeface="Inter" panose="02000503000000020004" pitchFamily="2" charset="0"/>
                <a:cs typeface="Inter" panose="02000503000000020004" pitchFamily="2" charset="0"/>
              </a:rPr>
              <a:t> 0s, 2</a:t>
            </a:r>
            <a:r>
              <a:rPr lang="en-US" sz="1200" baseline="30000" dirty="0">
                <a:latin typeface="Inter" panose="02000503000000020004" pitchFamily="2" charset="0"/>
                <a:ea typeface="Inter" panose="02000503000000020004" pitchFamily="2" charset="0"/>
                <a:cs typeface="Inter" panose="02000503000000020004" pitchFamily="2" charset="0"/>
              </a:rPr>
              <a:t>nd</a:t>
            </a:r>
            <a:r>
              <a:rPr lang="en-US" sz="1200" dirty="0">
                <a:latin typeface="Inter" panose="02000503000000020004" pitchFamily="2" charset="0"/>
                <a:ea typeface="Inter" panose="02000503000000020004" pitchFamily="2" charset="0"/>
                <a:cs typeface="Inter" panose="02000503000000020004" pitchFamily="2" charset="0"/>
              </a:rPr>
              <a:t> attempt </a:t>
            </a:r>
            <a:r>
              <a:rPr lang="en-US" sz="1200" b="0" dirty="0">
                <a:effectLst/>
                <a:latin typeface="Inter" panose="02000503000000020004" pitchFamily="2" charset="0"/>
                <a:ea typeface="Inter" panose="02000503000000020004" pitchFamily="2" charset="0"/>
                <a:cs typeface="Inter" panose="02000503000000020004" pitchFamily="2" charset="0"/>
              </a:rPr>
              <a:t>→ 1s, 3</a:t>
            </a:r>
            <a:r>
              <a:rPr lang="en-US" sz="1200" b="0" baseline="30000" dirty="0">
                <a:effectLst/>
                <a:latin typeface="Inter" panose="02000503000000020004" pitchFamily="2" charset="0"/>
                <a:ea typeface="Inter" panose="02000503000000020004" pitchFamily="2" charset="0"/>
                <a:cs typeface="Inter" panose="02000503000000020004" pitchFamily="2" charset="0"/>
              </a:rPr>
              <a:t>rd</a:t>
            </a:r>
            <a:r>
              <a:rPr lang="en-US" sz="1200" b="0" dirty="0">
                <a:effectLst/>
                <a:latin typeface="Inter" panose="02000503000000020004" pitchFamily="2" charset="0"/>
                <a:ea typeface="Inter" panose="02000503000000020004" pitchFamily="2" charset="0"/>
                <a:cs typeface="Inter" panose="02000503000000020004" pitchFamily="2" charset="0"/>
              </a:rPr>
              <a:t> attempt → 2s, 4</a:t>
            </a:r>
            <a:r>
              <a:rPr lang="en-US" sz="1200" b="0" baseline="30000" dirty="0">
                <a:effectLst/>
                <a:latin typeface="Inter" panose="02000503000000020004" pitchFamily="2" charset="0"/>
                <a:ea typeface="Inter" panose="02000503000000020004" pitchFamily="2" charset="0"/>
                <a:cs typeface="Inter" panose="02000503000000020004" pitchFamily="2" charset="0"/>
              </a:rPr>
              <a:t>th</a:t>
            </a:r>
            <a:r>
              <a:rPr lang="en-US" sz="1200" b="0" dirty="0">
                <a:effectLst/>
                <a:latin typeface="Inter" panose="02000503000000020004" pitchFamily="2" charset="0"/>
                <a:ea typeface="Inter" panose="02000503000000020004" pitchFamily="2" charset="0"/>
                <a:cs typeface="Inter" panose="02000503000000020004" pitchFamily="2" charset="0"/>
              </a:rPr>
              <a:t> attempt → 4s, 5</a:t>
            </a:r>
            <a:r>
              <a:rPr lang="en-US" sz="1200" b="0" baseline="30000" dirty="0">
                <a:effectLst/>
                <a:latin typeface="Inter" panose="02000503000000020004" pitchFamily="2" charset="0"/>
                <a:ea typeface="Inter" panose="02000503000000020004" pitchFamily="2" charset="0"/>
                <a:cs typeface="Inter" panose="02000503000000020004" pitchFamily="2" charset="0"/>
              </a:rPr>
              <a:t>th</a:t>
            </a:r>
            <a:r>
              <a:rPr lang="en-US" sz="1200" b="0" dirty="0">
                <a:effectLst/>
                <a:latin typeface="Inter" panose="02000503000000020004" pitchFamily="2" charset="0"/>
                <a:ea typeface="Inter" panose="02000503000000020004" pitchFamily="2" charset="0"/>
                <a:cs typeface="Inter" panose="02000503000000020004" pitchFamily="2" charset="0"/>
              </a:rPr>
              <a:t> attempt → 8s, …</a:t>
            </a:r>
            <a:endParaRPr lang="en-US" sz="1200" b="0" i="0" dirty="0">
              <a:effectLst/>
              <a:latin typeface="Inter" panose="02000503000000020004" pitchFamily="2" charset="0"/>
              <a:ea typeface="Inter" panose="02000503000000020004" pitchFamily="2" charset="0"/>
              <a:cs typeface="Inter" panose="02000503000000020004" pitchFamily="2" charset="0"/>
            </a:endParaRPr>
          </a:p>
          <a:p>
            <a:pPr algn="l">
              <a:buFont typeface="Arial" panose="020B0604020202020204" pitchFamily="34" charset="0"/>
              <a:buChar char="•"/>
            </a:pPr>
            <a:endParaRPr lang="en-US" sz="1200" b="0" i="0" dirty="0">
              <a:effectLst/>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Provider Fallback Chain</a:t>
            </a:r>
          </a:p>
          <a:p>
            <a:pPr marL="285750" indent="-285750">
              <a:buFontTx/>
              <a:buChar char="-"/>
            </a:pPr>
            <a:r>
              <a:rPr lang="en-US" sz="1200" dirty="0">
                <a:effectLst/>
                <a:latin typeface="Inter" panose="02000503000000020004" pitchFamily="2" charset="0"/>
                <a:ea typeface="Inter" panose="02000503000000020004" pitchFamily="2" charset="0"/>
                <a:cs typeface="Inter" panose="02000503000000020004" pitchFamily="2" charset="0"/>
              </a:rPr>
              <a:t>If the primary provider fails, the system automatically tries the next provider in the chain.</a:t>
            </a:r>
            <a:endParaRPr lang="en-US" sz="12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200" b="0" dirty="0">
                <a:effectLst/>
                <a:latin typeface="Inter" panose="02000503000000020004" pitchFamily="2" charset="0"/>
                <a:ea typeface="Inter" panose="02000503000000020004" pitchFamily="2" charset="0"/>
                <a:cs typeface="Inter" panose="02000503000000020004" pitchFamily="2" charset="0"/>
              </a:rPr>
              <a:t>Request → Primary Provider (e.g., OpenAI GPT-4)</a:t>
            </a:r>
            <a:r>
              <a:rPr lang="en-US" sz="1200" dirty="0">
                <a:latin typeface="Inter" panose="02000503000000020004" pitchFamily="2" charset="0"/>
                <a:ea typeface="Inter" panose="02000503000000020004" pitchFamily="2" charset="0"/>
                <a:cs typeface="Inter" panose="02000503000000020004" pitchFamily="2" charset="0"/>
              </a:rPr>
              <a:t> </a:t>
            </a:r>
            <a:r>
              <a:rPr lang="en-US" sz="1200" b="0" dirty="0">
                <a:effectLst/>
                <a:latin typeface="Inter" panose="02000503000000020004" pitchFamily="2" charset="0"/>
                <a:ea typeface="Inter" panose="02000503000000020004" pitchFamily="2" charset="0"/>
                <a:cs typeface="Inter" panose="02000503000000020004" pitchFamily="2" charset="0"/>
              </a:rPr>
              <a:t>→ Fallback 1 (e.g., Azure OpenAI GPT-4) → failure → Fallback 2 (e.g., </a:t>
            </a:r>
            <a:r>
              <a:rPr lang="en-US" sz="1200" b="0" dirty="0" err="1">
                <a:effectLst/>
                <a:latin typeface="Inter" panose="02000503000000020004" pitchFamily="2" charset="0"/>
                <a:ea typeface="Inter" panose="02000503000000020004" pitchFamily="2" charset="0"/>
                <a:cs typeface="Inter" panose="02000503000000020004" pitchFamily="2" charset="0"/>
              </a:rPr>
              <a:t>Ollama</a:t>
            </a:r>
            <a:r>
              <a:rPr lang="en-US" sz="1200" b="0" dirty="0">
                <a:effectLst/>
                <a:latin typeface="Inter" panose="02000503000000020004" pitchFamily="2" charset="0"/>
                <a:ea typeface="Inter" panose="02000503000000020004" pitchFamily="2" charset="0"/>
                <a:cs typeface="Inter" panose="02000503000000020004" pitchFamily="2" charset="0"/>
              </a:rPr>
              <a:t> Mistral)</a:t>
            </a:r>
            <a:endParaRPr lang="en-US" sz="1200" dirty="0">
              <a:latin typeface="Inter" panose="02000503000000020004" pitchFamily="2" charset="0"/>
              <a:ea typeface="Inter" panose="02000503000000020004" pitchFamily="2" charset="0"/>
              <a:cs typeface="Inter" panose="02000503000000020004" pitchFamily="2" charset="0"/>
            </a:endParaRPr>
          </a:p>
        </p:txBody>
      </p:sp>
      <p:graphicFrame>
        <p:nvGraphicFramePr>
          <p:cNvPr id="6" name="Table 5">
            <a:extLst>
              <a:ext uri="{FF2B5EF4-FFF2-40B4-BE49-F238E27FC236}">
                <a16:creationId xmlns:a16="http://schemas.microsoft.com/office/drawing/2014/main" id="{9E85C237-3C28-682E-D299-5D04ECE78645}"/>
              </a:ext>
            </a:extLst>
          </p:cNvPr>
          <p:cNvGraphicFramePr>
            <a:graphicFrameLocks noGrp="1"/>
          </p:cNvGraphicFramePr>
          <p:nvPr>
            <p:extLst>
              <p:ext uri="{D42A27DB-BD31-4B8C-83A1-F6EECF244321}">
                <p14:modId xmlns:p14="http://schemas.microsoft.com/office/powerpoint/2010/main" val="2953587747"/>
              </p:ext>
            </p:extLst>
          </p:nvPr>
        </p:nvGraphicFramePr>
        <p:xfrm>
          <a:off x="3685297" y="4728863"/>
          <a:ext cx="8038864" cy="1371600"/>
        </p:xfrm>
        <a:graphic>
          <a:graphicData uri="http://schemas.openxmlformats.org/drawingml/2006/table">
            <a:tbl>
              <a:tblPr>
                <a:tableStyleId>{7DF18680-E054-41AD-8BC1-D1AEF772440D}</a:tableStyleId>
              </a:tblPr>
              <a:tblGrid>
                <a:gridCol w="2088653">
                  <a:extLst>
                    <a:ext uri="{9D8B030D-6E8A-4147-A177-3AD203B41FA5}">
                      <a16:colId xmlns:a16="http://schemas.microsoft.com/office/drawing/2014/main" val="2056700710"/>
                    </a:ext>
                  </a:extLst>
                </a:gridCol>
                <a:gridCol w="3024061">
                  <a:extLst>
                    <a:ext uri="{9D8B030D-6E8A-4147-A177-3AD203B41FA5}">
                      <a16:colId xmlns:a16="http://schemas.microsoft.com/office/drawing/2014/main" val="3954678039"/>
                    </a:ext>
                  </a:extLst>
                </a:gridCol>
                <a:gridCol w="2926150">
                  <a:extLst>
                    <a:ext uri="{9D8B030D-6E8A-4147-A177-3AD203B41FA5}">
                      <a16:colId xmlns:a16="http://schemas.microsoft.com/office/drawing/2014/main" val="110828197"/>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Metric</a:t>
                      </a:r>
                    </a:p>
                  </a:txBody>
                  <a:tcPr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What It Tracks</a:t>
                      </a:r>
                    </a:p>
                  </a:txBody>
                  <a:tcPr anchor="b"/>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Why We Care</a:t>
                      </a:r>
                    </a:p>
                  </a:txBody>
                  <a:tcPr anchor="b"/>
                </a:tc>
                <a:extLst>
                  <a:ext uri="{0D108BD9-81ED-4DB2-BD59-A6C34878D82A}">
                    <a16:rowId xmlns:a16="http://schemas.microsoft.com/office/drawing/2014/main" val="2506604900"/>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tokens_input</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How many tokens in the prompt</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Bigger prompts cost more</a:t>
                      </a:r>
                    </a:p>
                  </a:txBody>
                  <a:tcPr anchor="ctr"/>
                </a:tc>
                <a:extLst>
                  <a:ext uri="{0D108BD9-81ED-4DB2-BD59-A6C34878D82A}">
                    <a16:rowId xmlns:a16="http://schemas.microsoft.com/office/drawing/2014/main" val="1955520431"/>
                  </a:ext>
                </a:extLst>
              </a:tr>
              <a:tr h="175224">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tokens_output</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How many tokens in the response</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Longer answers cost more</a:t>
                      </a:r>
                    </a:p>
                  </a:txBody>
                  <a:tcPr anchor="ctr"/>
                </a:tc>
                <a:extLst>
                  <a:ext uri="{0D108BD9-81ED-4DB2-BD59-A6C34878D82A}">
                    <a16:rowId xmlns:a16="http://schemas.microsoft.com/office/drawing/2014/main" val="3811223906"/>
                  </a:ext>
                </a:extLst>
              </a:tr>
              <a:tr h="0">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cost_usd</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Estimated dollar cost</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For billing and budgets</a:t>
                      </a:r>
                    </a:p>
                  </a:txBody>
                  <a:tcPr anchor="ctr"/>
                </a:tc>
                <a:extLst>
                  <a:ext uri="{0D108BD9-81ED-4DB2-BD59-A6C34878D82A}">
                    <a16:rowId xmlns:a16="http://schemas.microsoft.com/office/drawing/2014/main" val="292105840"/>
                  </a:ext>
                </a:extLst>
              </a:tr>
              <a:tr h="175224">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latency_ms</a:t>
                      </a:r>
                    </a:p>
                  </a:txBody>
                  <a:tcPr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How long it took</a:t>
                      </a:r>
                    </a:p>
                  </a:txBody>
                  <a:tcPr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For performance monitoring</a:t>
                      </a:r>
                    </a:p>
                  </a:txBody>
                  <a:tcPr anchor="ctr"/>
                </a:tc>
                <a:extLst>
                  <a:ext uri="{0D108BD9-81ED-4DB2-BD59-A6C34878D82A}">
                    <a16:rowId xmlns:a16="http://schemas.microsoft.com/office/drawing/2014/main" val="2931985000"/>
                  </a:ext>
                </a:extLst>
              </a:tr>
            </a:tbl>
          </a:graphicData>
        </a:graphic>
      </p:graphicFrame>
      <p:sp>
        <p:nvSpPr>
          <p:cNvPr id="9" name="TextBox 8">
            <a:extLst>
              <a:ext uri="{FF2B5EF4-FFF2-40B4-BE49-F238E27FC236}">
                <a16:creationId xmlns:a16="http://schemas.microsoft.com/office/drawing/2014/main" id="{F7C93752-7F21-B856-48BD-DD13D91F4321}"/>
              </a:ext>
            </a:extLst>
          </p:cNvPr>
          <p:cNvSpPr txBox="1"/>
          <p:nvPr/>
        </p:nvSpPr>
        <p:spPr>
          <a:xfrm>
            <a:off x="596346" y="4704149"/>
            <a:ext cx="3088951" cy="677108"/>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Cost Tracking:</a:t>
            </a:r>
          </a:p>
          <a:p>
            <a:pPr marL="171450" indent="-171450" algn="l">
              <a:buFontTx/>
              <a:buChar char="-"/>
            </a:pPr>
            <a:r>
              <a:rPr lang="en-US" sz="1200" b="0" i="0" dirty="0">
                <a:effectLst/>
                <a:latin typeface="Inter" panose="02000503000000020004" pitchFamily="2" charset="0"/>
                <a:ea typeface="Inter" panose="02000503000000020004" pitchFamily="2" charset="0"/>
                <a:cs typeface="Inter" panose="02000503000000020004" pitchFamily="2" charset="0"/>
              </a:rPr>
              <a:t>Every LLM call is metered for billing and capacity planning.</a:t>
            </a:r>
          </a:p>
        </p:txBody>
      </p:sp>
      <p:sp>
        <p:nvSpPr>
          <p:cNvPr id="13" name="Footer Placeholder 10">
            <a:extLst>
              <a:ext uri="{FF2B5EF4-FFF2-40B4-BE49-F238E27FC236}">
                <a16:creationId xmlns:a16="http://schemas.microsoft.com/office/drawing/2014/main" id="{99A24494-6FD7-E89D-98BD-A64B086B50CF}"/>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050563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43AAC-5342-ECEE-E8C1-94597997307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49E02C0-F93A-ADF4-371A-D60A4BCDF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5F71263-E014-9333-0827-223F45C0843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B9184A3-BF23-0236-FD96-A746017003C6}"/>
              </a:ext>
            </a:extLst>
          </p:cNvPr>
          <p:cNvSpPr>
            <a:spLocks noGrp="1"/>
          </p:cNvSpPr>
          <p:nvPr>
            <p:ph type="sldNum" sz="quarter" idx="12"/>
          </p:nvPr>
        </p:nvSpPr>
        <p:spPr/>
        <p:txBody>
          <a:bodyPr/>
          <a:lstStyle/>
          <a:p>
            <a:fld id="{48F19E39-9933-F648-B2F3-3AC17C0DC986}" type="slidenum">
              <a:rPr lang="en-US" smtClean="0">
                <a:solidFill>
                  <a:schemeClr val="bg1"/>
                </a:solidFill>
              </a:rPr>
              <a:t>35</a:t>
            </a:fld>
            <a:endParaRPr lang="en-US" dirty="0">
              <a:solidFill>
                <a:schemeClr val="bg1"/>
              </a:solidFill>
            </a:endParaRPr>
          </a:p>
        </p:txBody>
      </p:sp>
      <p:sp>
        <p:nvSpPr>
          <p:cNvPr id="5" name="TextBox 4">
            <a:extLst>
              <a:ext uri="{FF2B5EF4-FFF2-40B4-BE49-F238E27FC236}">
                <a16:creationId xmlns:a16="http://schemas.microsoft.com/office/drawing/2014/main" id="{9413F5F4-924A-D548-59F3-5E9A136B333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BACKGROUND FRAMEWORK - APScheduler</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runs </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scheduled background tasks </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using APScheduler</a:t>
            </a:r>
            <a:endPar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10" name="TextBox 9">
            <a:extLst>
              <a:ext uri="{FF2B5EF4-FFF2-40B4-BE49-F238E27FC236}">
                <a16:creationId xmlns:a16="http://schemas.microsoft.com/office/drawing/2014/main" id="{AFFF7100-0164-7890-C6BB-19778529FB7E}"/>
              </a:ext>
            </a:extLst>
          </p:cNvPr>
          <p:cNvSpPr txBox="1"/>
          <p:nvPr/>
        </p:nvSpPr>
        <p:spPr>
          <a:xfrm>
            <a:off x="596346" y="1159801"/>
            <a:ext cx="11127815" cy="307777"/>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APScheduler</a:t>
            </a:r>
            <a:r>
              <a:rPr lang="en-US" sz="1400" b="1" dirty="0">
                <a:latin typeface="Inter" panose="02000503000000020004" pitchFamily="2" charset="0"/>
                <a:ea typeface="Inter" panose="02000503000000020004" pitchFamily="2" charset="0"/>
                <a:cs typeface="Inter" panose="02000503000000020004" pitchFamily="2" charset="0"/>
              </a:rPr>
              <a:t> </a:t>
            </a:r>
            <a:r>
              <a:rPr lang="en-US" sz="1400" dirty="0">
                <a:latin typeface="Inter" panose="02000503000000020004" pitchFamily="2" charset="0"/>
                <a:ea typeface="Inter" panose="02000503000000020004" pitchFamily="2" charset="0"/>
                <a:cs typeface="Inter" panose="02000503000000020004" pitchFamily="2" charset="0"/>
              </a:rPr>
              <a:t>is</a:t>
            </a:r>
            <a:r>
              <a:rPr lang="en-US" sz="1400" b="0" i="0" dirty="0">
                <a:effectLst/>
                <a:latin typeface="Inter" panose="02000503000000020004" pitchFamily="2" charset="0"/>
                <a:ea typeface="Inter" panose="02000503000000020004" pitchFamily="2" charset="0"/>
                <a:cs typeface="Inter" panose="02000503000000020004" pitchFamily="2" charset="0"/>
              </a:rPr>
              <a:t> </a:t>
            </a:r>
            <a:r>
              <a:rPr lang="en-US" sz="1400" dirty="0">
                <a:latin typeface="Inter" panose="02000503000000020004" pitchFamily="2" charset="0"/>
                <a:ea typeface="Inter" panose="02000503000000020004" pitchFamily="2" charset="0"/>
                <a:cs typeface="Inter" panose="02000503000000020004" pitchFamily="2" charset="0"/>
              </a:rPr>
              <a:t>a</a:t>
            </a:r>
            <a:r>
              <a:rPr lang="en-US" sz="1400" b="0" i="0" dirty="0">
                <a:effectLst/>
                <a:latin typeface="Inter" panose="02000503000000020004" pitchFamily="2" charset="0"/>
                <a:ea typeface="Inter" panose="02000503000000020004" pitchFamily="2" charset="0"/>
                <a:cs typeface="Inter" panose="02000503000000020004" pitchFamily="2" charset="0"/>
              </a:rPr>
              <a:t> Python job scheduler that executes tasks at fixed intervals without manual intervention.</a:t>
            </a:r>
          </a:p>
        </p:txBody>
      </p:sp>
      <p:graphicFrame>
        <p:nvGraphicFramePr>
          <p:cNvPr id="2" name="Table 1">
            <a:extLst>
              <a:ext uri="{FF2B5EF4-FFF2-40B4-BE49-F238E27FC236}">
                <a16:creationId xmlns:a16="http://schemas.microsoft.com/office/drawing/2014/main" id="{579A3CF4-B486-1602-A751-0334AE65CF28}"/>
              </a:ext>
            </a:extLst>
          </p:cNvPr>
          <p:cNvGraphicFramePr>
            <a:graphicFrameLocks noGrp="1"/>
          </p:cNvGraphicFramePr>
          <p:nvPr>
            <p:extLst>
              <p:ext uri="{D42A27DB-BD31-4B8C-83A1-F6EECF244321}">
                <p14:modId xmlns:p14="http://schemas.microsoft.com/office/powerpoint/2010/main" val="1275258387"/>
              </p:ext>
            </p:extLst>
          </p:nvPr>
        </p:nvGraphicFramePr>
        <p:xfrm>
          <a:off x="1418762" y="1911827"/>
          <a:ext cx="9354475" cy="3252999"/>
        </p:xfrm>
        <a:graphic>
          <a:graphicData uri="http://schemas.openxmlformats.org/drawingml/2006/table">
            <a:tbl>
              <a:tblPr>
                <a:tableStyleId>{073A0DAA-6AF3-43AB-8588-CEC1D06C72B9}</a:tableStyleId>
              </a:tblPr>
              <a:tblGrid>
                <a:gridCol w="1786215">
                  <a:extLst>
                    <a:ext uri="{9D8B030D-6E8A-4147-A177-3AD203B41FA5}">
                      <a16:colId xmlns:a16="http://schemas.microsoft.com/office/drawing/2014/main" val="850290159"/>
                    </a:ext>
                  </a:extLst>
                </a:gridCol>
                <a:gridCol w="1587747">
                  <a:extLst>
                    <a:ext uri="{9D8B030D-6E8A-4147-A177-3AD203B41FA5}">
                      <a16:colId xmlns:a16="http://schemas.microsoft.com/office/drawing/2014/main" val="440269005"/>
                    </a:ext>
                  </a:extLst>
                </a:gridCol>
                <a:gridCol w="5980513">
                  <a:extLst>
                    <a:ext uri="{9D8B030D-6E8A-4147-A177-3AD203B41FA5}">
                      <a16:colId xmlns:a16="http://schemas.microsoft.com/office/drawing/2014/main" val="1660814489"/>
                    </a:ext>
                  </a:extLst>
                </a:gridCol>
              </a:tblGrid>
              <a:tr h="351291">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Task</a:t>
                      </a:r>
                    </a:p>
                  </a:txBody>
                  <a:tcPr marL="31762" marR="31762" marT="15881" marB="158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Frequency</a:t>
                      </a:r>
                    </a:p>
                  </a:txBody>
                  <a:tcPr marL="31762" marR="31762" marT="15881" marB="15881" anchor="b"/>
                </a:tc>
                <a:tc>
                  <a:txBody>
                    <a:bodyPr/>
                    <a:lstStyle/>
                    <a:p>
                      <a:pPr algn="l" fontAlgn="b"/>
                      <a:r>
                        <a:rPr lang="en-US" sz="1300" b="1">
                          <a:solidFill>
                            <a:srgbClr val="000000"/>
                          </a:solidFill>
                          <a:effectLst/>
                          <a:latin typeface="Inter" panose="02000503000000020004" pitchFamily="2" charset="0"/>
                          <a:ea typeface="Inter" panose="02000503000000020004" pitchFamily="2" charset="0"/>
                          <a:cs typeface="Inter" panose="02000503000000020004" pitchFamily="2" charset="0"/>
                        </a:rPr>
                        <a:t>What It Does</a:t>
                      </a:r>
                    </a:p>
                  </a:txBody>
                  <a:tcPr marL="31762" marR="31762" marT="15881" marB="15881" anchor="b"/>
                </a:tc>
                <a:extLst>
                  <a:ext uri="{0D108BD9-81ED-4DB2-BD59-A6C34878D82A}">
                    <a16:rowId xmlns:a16="http://schemas.microsoft.com/office/drawing/2014/main" val="907635538"/>
                  </a:ext>
                </a:extLst>
              </a:tr>
              <a:tr h="650600">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Health Check</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Every 30 seconds</a:t>
                      </a: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Pings all critical services (PostgreSQL, Redis, Memgraph) to detect failures early. Also checks LLM providers are responsive and warms up models.</a:t>
                      </a:r>
                    </a:p>
                  </a:txBody>
                  <a:tcPr marL="31762" marR="31762" marT="15881" marB="15881" anchor="ctr"/>
                </a:tc>
                <a:extLst>
                  <a:ext uri="{0D108BD9-81ED-4DB2-BD59-A6C34878D82A}">
                    <a16:rowId xmlns:a16="http://schemas.microsoft.com/office/drawing/2014/main" val="467856662"/>
                  </a:ext>
                </a:extLst>
              </a:tr>
              <a:tr h="949908">
                <a:tc>
                  <a:txBody>
                    <a:bodyPr/>
                    <a:lstStyle/>
                    <a:p>
                      <a:pPr algn="l" fontAlgn="base"/>
                      <a:r>
                        <a:rPr lang="en-US" sz="1300" b="1" dirty="0">
                          <a:effectLst/>
                          <a:latin typeface="Inter" panose="02000503000000020004" pitchFamily="2" charset="0"/>
                          <a:ea typeface="Inter" panose="02000503000000020004" pitchFamily="2" charset="0"/>
                          <a:cs typeface="Inter" panose="02000503000000020004" pitchFamily="2" charset="0"/>
                        </a:rPr>
                        <a:t>Cleanup</a:t>
                      </a:r>
                      <a:endParaRPr lang="en-US" sz="1300" dirty="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Every hour</a:t>
                      </a: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Removes stale data to prevent database bloat: expired sessions, old cache entries, completed/failed jobs older than retention period, orphaned agent runs.</a:t>
                      </a:r>
                    </a:p>
                  </a:txBody>
                  <a:tcPr marL="31762" marR="31762" marT="15881" marB="15881" anchor="ctr"/>
                </a:tc>
                <a:extLst>
                  <a:ext uri="{0D108BD9-81ED-4DB2-BD59-A6C34878D82A}">
                    <a16:rowId xmlns:a16="http://schemas.microsoft.com/office/drawing/2014/main" val="1962580066"/>
                  </a:ext>
                </a:extLst>
              </a:tr>
              <a:tr h="65060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Backup</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Daily</a:t>
                      </a: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Creates recovery snapshots: PostgreSQL pg_dump, Redis RDB snapshot, Memgraph archives, and exports audit logs for compliance.</a:t>
                      </a:r>
                    </a:p>
                  </a:txBody>
                  <a:tcPr marL="31762" marR="31762" marT="15881" marB="15881" anchor="ctr"/>
                </a:tc>
                <a:extLst>
                  <a:ext uri="{0D108BD9-81ED-4DB2-BD59-A6C34878D82A}">
                    <a16:rowId xmlns:a16="http://schemas.microsoft.com/office/drawing/2014/main" val="522833955"/>
                  </a:ext>
                </a:extLst>
              </a:tr>
              <a:tr h="650600">
                <a:tc>
                  <a:txBody>
                    <a:bodyPr/>
                    <a:lstStyle/>
                    <a:p>
                      <a:pPr algn="l" fontAlgn="base"/>
                      <a:r>
                        <a:rPr lang="en-US" sz="1300" b="1">
                          <a:effectLst/>
                          <a:latin typeface="Inter" panose="02000503000000020004" pitchFamily="2" charset="0"/>
                          <a:ea typeface="Inter" panose="02000503000000020004" pitchFamily="2" charset="0"/>
                          <a:cs typeface="Inter" panose="02000503000000020004" pitchFamily="2" charset="0"/>
                        </a:rPr>
                        <a:t>Provider Monitoring</a:t>
                      </a:r>
                      <a:endParaRPr lang="en-US" sz="1300">
                        <a:effectLst/>
                        <a:latin typeface="Inter" panose="02000503000000020004" pitchFamily="2" charset="0"/>
                        <a:ea typeface="Inter" panose="02000503000000020004" pitchFamily="2" charset="0"/>
                        <a:cs typeface="Inter" panose="02000503000000020004" pitchFamily="2" charset="0"/>
                      </a:endParaRPr>
                    </a:p>
                  </a:txBody>
                  <a:tcPr marL="31762" marR="31762" marT="15881" marB="15881" anchor="ctr"/>
                </a:tc>
                <a:tc>
                  <a:txBody>
                    <a:bodyPr/>
                    <a:lstStyle/>
                    <a:p>
                      <a:pPr algn="l" fontAlgn="base"/>
                      <a:r>
                        <a:rPr lang="en-US" sz="1300">
                          <a:effectLst/>
                          <a:latin typeface="Inter" panose="02000503000000020004" pitchFamily="2" charset="0"/>
                          <a:ea typeface="Inter" panose="02000503000000020004" pitchFamily="2" charset="0"/>
                          <a:cs typeface="Inter" panose="02000503000000020004" pitchFamily="2" charset="0"/>
                        </a:rPr>
                        <a:t>Every 60 seconds</a:t>
                      </a:r>
                    </a:p>
                  </a:txBody>
                  <a:tcPr marL="31762" marR="31762" marT="15881" marB="15881" anchor="ctr"/>
                </a:tc>
                <a:tc>
                  <a:txBody>
                    <a:bodyPr/>
                    <a:lstStyle/>
                    <a:p>
                      <a:pPr algn="l" fontAlgn="base"/>
                      <a:r>
                        <a:rPr lang="en-US" sz="1300" dirty="0">
                          <a:effectLst/>
                          <a:latin typeface="Inter" panose="02000503000000020004" pitchFamily="2" charset="0"/>
                          <a:ea typeface="Inter" panose="02000503000000020004" pitchFamily="2" charset="0"/>
                          <a:cs typeface="Inter" panose="02000503000000020004" pitchFamily="2" charset="0"/>
                        </a:rPr>
                        <a:t>Checks LLM provider health, updates circuit breaker states, and emits metrics for dashboards.</a:t>
                      </a:r>
                    </a:p>
                  </a:txBody>
                  <a:tcPr marL="31762" marR="31762" marT="15881" marB="15881" anchor="ctr"/>
                </a:tc>
                <a:extLst>
                  <a:ext uri="{0D108BD9-81ED-4DB2-BD59-A6C34878D82A}">
                    <a16:rowId xmlns:a16="http://schemas.microsoft.com/office/drawing/2014/main" val="2302403958"/>
                  </a:ext>
                </a:extLst>
              </a:tr>
            </a:tbl>
          </a:graphicData>
        </a:graphic>
      </p:graphicFrame>
      <p:sp>
        <p:nvSpPr>
          <p:cNvPr id="3" name="Footer Placeholder 10">
            <a:extLst>
              <a:ext uri="{FF2B5EF4-FFF2-40B4-BE49-F238E27FC236}">
                <a16:creationId xmlns:a16="http://schemas.microsoft.com/office/drawing/2014/main" id="{4ABE2186-F335-544D-10DD-4B7F4EB24223}"/>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208682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C55A7-B6DE-012E-89D8-66752C3DA61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A16D205-956A-1BD3-2DDA-93975713E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62EF3A9-9952-A0B9-50F8-65B0E4EF218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94FCCDB-02C7-6ED0-3AD8-D7D6A34BB6F6}"/>
              </a:ext>
            </a:extLst>
          </p:cNvPr>
          <p:cNvSpPr>
            <a:spLocks noGrp="1"/>
          </p:cNvSpPr>
          <p:nvPr>
            <p:ph type="sldNum" sz="quarter" idx="12"/>
          </p:nvPr>
        </p:nvSpPr>
        <p:spPr/>
        <p:txBody>
          <a:bodyPr/>
          <a:lstStyle/>
          <a:p>
            <a:fld id="{48F19E39-9933-F648-B2F3-3AC17C0DC986}" type="slidenum">
              <a:rPr lang="en-US" smtClean="0">
                <a:solidFill>
                  <a:schemeClr val="bg1"/>
                </a:solidFill>
              </a:rPr>
              <a:t>36</a:t>
            </a:fld>
            <a:endParaRPr lang="en-US" dirty="0">
              <a:solidFill>
                <a:schemeClr val="bg1"/>
              </a:solidFill>
            </a:endParaRPr>
          </a:p>
        </p:txBody>
      </p:sp>
      <p:sp>
        <p:nvSpPr>
          <p:cNvPr id="5" name="TextBox 4">
            <a:extLst>
              <a:ext uri="{FF2B5EF4-FFF2-40B4-BE49-F238E27FC236}">
                <a16:creationId xmlns:a16="http://schemas.microsoft.com/office/drawing/2014/main" id="{0A495DAF-C7FC-286C-9941-22E4CE8F9FC6}"/>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OBSERVABILITY </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1/2)</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provides </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full visibility</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 into system behavior through metrics, traces, and logs.</a:t>
            </a:r>
            <a:endPar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10" name="TextBox 9">
            <a:extLst>
              <a:ext uri="{FF2B5EF4-FFF2-40B4-BE49-F238E27FC236}">
                <a16:creationId xmlns:a16="http://schemas.microsoft.com/office/drawing/2014/main" id="{A713F474-5359-91D2-6D32-23202F5E2CFF}"/>
              </a:ext>
            </a:extLst>
          </p:cNvPr>
          <p:cNvSpPr txBox="1"/>
          <p:nvPr/>
        </p:nvSpPr>
        <p:spPr>
          <a:xfrm>
            <a:off x="596346" y="1159801"/>
            <a:ext cx="11127815" cy="1815882"/>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Tracing (</a:t>
            </a:r>
            <a:r>
              <a:rPr lang="en-US" sz="1400" b="1" dirty="0" err="1">
                <a:effectLst/>
                <a:latin typeface="Inter" panose="02000503000000020004" pitchFamily="2" charset="0"/>
                <a:ea typeface="Inter" panose="02000503000000020004" pitchFamily="2" charset="0"/>
                <a:cs typeface="Inter" panose="02000503000000020004" pitchFamily="2" charset="0"/>
              </a:rPr>
              <a:t>OpenTelemetry</a:t>
            </a:r>
            <a:r>
              <a:rPr lang="en-US" sz="1400" b="1" dirty="0">
                <a:effectLst/>
                <a:latin typeface="Inter" panose="02000503000000020004" pitchFamily="2" charset="0"/>
                <a:ea typeface="Inter" panose="02000503000000020004" pitchFamily="2" charset="0"/>
                <a:cs typeface="Inter" panose="02000503000000020004" pitchFamily="2" charset="0"/>
              </a:rPr>
              <a:t> → APM Backend)</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Every request is traced end-to-end with distributed tracing using </a:t>
            </a:r>
            <a:r>
              <a:rPr lang="en-US" sz="1400" b="0" dirty="0" err="1">
                <a:effectLst/>
                <a:latin typeface="Inter" panose="02000503000000020004" pitchFamily="2" charset="0"/>
                <a:ea typeface="Inter" panose="02000503000000020004" pitchFamily="2" charset="0"/>
                <a:cs typeface="Inter" panose="02000503000000020004" pitchFamily="2" charset="0"/>
              </a:rPr>
              <a:t>OpenTelemetry</a:t>
            </a:r>
            <a:r>
              <a:rPr lang="en-US" sz="1400" b="0" dirty="0">
                <a:effectLst/>
                <a:latin typeface="Inter" panose="02000503000000020004" pitchFamily="2" charset="0"/>
                <a:ea typeface="Inter" panose="02000503000000020004" pitchFamily="2" charset="0"/>
                <a:cs typeface="Inter" panose="02000503000000020004" pitchFamily="2" charset="0"/>
              </a:rPr>
              <a:t>.</a:t>
            </a:r>
          </a:p>
          <a:p>
            <a:br>
              <a:rPr lang="en-US" sz="1400" b="0" dirty="0">
                <a:effectLst/>
                <a:latin typeface="Inter" panose="02000503000000020004" pitchFamily="2" charset="0"/>
                <a:ea typeface="Inter" panose="02000503000000020004" pitchFamily="2" charset="0"/>
                <a:cs typeface="Inter" panose="02000503000000020004" pitchFamily="2" charset="0"/>
              </a:rPr>
            </a:br>
            <a:r>
              <a:rPr lang="en-US" sz="1400" b="1" dirty="0">
                <a:effectLst/>
                <a:latin typeface="Inter" panose="02000503000000020004" pitchFamily="2" charset="0"/>
                <a:ea typeface="Inter" panose="02000503000000020004" pitchFamily="2" charset="0"/>
                <a:cs typeface="Inter" panose="02000503000000020004" pitchFamily="2" charset="0"/>
              </a:rPr>
              <a:t>How it works:</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Request arrives → App creates trace span → Child spans for: LLM call, DB query, tool invocation → OTLP export to collector → Visualize in Jaeger / Tempo / Datadog</a:t>
            </a:r>
          </a:p>
          <a:p>
            <a:br>
              <a:rPr lang="en-US" sz="1400" b="0" dirty="0">
                <a:effectLst/>
                <a:latin typeface="Inter" panose="02000503000000020004" pitchFamily="2" charset="0"/>
                <a:ea typeface="Inter" panose="02000503000000020004" pitchFamily="2" charset="0"/>
                <a:cs typeface="Inter" panose="02000503000000020004" pitchFamily="2" charset="0"/>
              </a:rPr>
            </a:br>
            <a:r>
              <a:rPr lang="en-US" sz="1400" b="1" dirty="0">
                <a:effectLst/>
                <a:latin typeface="Inter" panose="02000503000000020004" pitchFamily="2" charset="0"/>
                <a:ea typeface="Inter" panose="02000503000000020004" pitchFamily="2" charset="0"/>
                <a:cs typeface="Inter" panose="02000503000000020004" pitchFamily="2" charset="0"/>
              </a:rPr>
              <a:t>What It Captures:</a:t>
            </a:r>
          </a:p>
        </p:txBody>
      </p:sp>
      <p:graphicFrame>
        <p:nvGraphicFramePr>
          <p:cNvPr id="8" name="Table 7">
            <a:extLst>
              <a:ext uri="{FF2B5EF4-FFF2-40B4-BE49-F238E27FC236}">
                <a16:creationId xmlns:a16="http://schemas.microsoft.com/office/drawing/2014/main" id="{9636D4EF-0154-066A-24D8-856C141DAFF2}"/>
              </a:ext>
            </a:extLst>
          </p:cNvPr>
          <p:cNvGraphicFramePr>
            <a:graphicFrameLocks noGrp="1"/>
          </p:cNvGraphicFramePr>
          <p:nvPr>
            <p:extLst>
              <p:ext uri="{D42A27DB-BD31-4B8C-83A1-F6EECF244321}">
                <p14:modId xmlns:p14="http://schemas.microsoft.com/office/powerpoint/2010/main" val="2209593842"/>
              </p:ext>
            </p:extLst>
          </p:nvPr>
        </p:nvGraphicFramePr>
        <p:xfrm>
          <a:off x="1869989" y="3114880"/>
          <a:ext cx="8452022" cy="1901774"/>
        </p:xfrm>
        <a:graphic>
          <a:graphicData uri="http://schemas.openxmlformats.org/drawingml/2006/table">
            <a:tbl>
              <a:tblPr>
                <a:tableStyleId>{073A0DAA-6AF3-43AB-8588-CEC1D06C72B9}</a:tableStyleId>
              </a:tblPr>
              <a:tblGrid>
                <a:gridCol w="1383957">
                  <a:extLst>
                    <a:ext uri="{9D8B030D-6E8A-4147-A177-3AD203B41FA5}">
                      <a16:colId xmlns:a16="http://schemas.microsoft.com/office/drawing/2014/main" val="2467585421"/>
                    </a:ext>
                  </a:extLst>
                </a:gridCol>
                <a:gridCol w="7068065">
                  <a:extLst>
                    <a:ext uri="{9D8B030D-6E8A-4147-A177-3AD203B41FA5}">
                      <a16:colId xmlns:a16="http://schemas.microsoft.com/office/drawing/2014/main" val="819879769"/>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Span</a:t>
                      </a:r>
                    </a:p>
                  </a:txBody>
                  <a:tcPr marL="88803" marR="88803" marT="44401" marB="44401"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What It Captures</a:t>
                      </a:r>
                    </a:p>
                  </a:txBody>
                  <a:tcPr marL="88803" marR="88803" marT="44401" marB="44401" anchor="b"/>
                </a:tc>
                <a:extLst>
                  <a:ext uri="{0D108BD9-81ED-4DB2-BD59-A6C34878D82A}">
                    <a16:rowId xmlns:a16="http://schemas.microsoft.com/office/drawing/2014/main" val="2088971448"/>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agent_run</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Full execution from prompt to response</a:t>
                      </a:r>
                    </a:p>
                  </a:txBody>
                  <a:tcPr marL="88803" marR="88803" marT="44401" marB="44401" anchor="ctr"/>
                </a:tc>
                <a:extLst>
                  <a:ext uri="{0D108BD9-81ED-4DB2-BD59-A6C34878D82A}">
                    <a16:rowId xmlns:a16="http://schemas.microsoft.com/office/drawing/2014/main" val="2006559836"/>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step_execution</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Each TODO step within a run</a:t>
                      </a:r>
                    </a:p>
                  </a:txBody>
                  <a:tcPr marL="88803" marR="88803" marT="44401" marB="44401" anchor="ctr"/>
                </a:tc>
                <a:extLst>
                  <a:ext uri="{0D108BD9-81ED-4DB2-BD59-A6C34878D82A}">
                    <a16:rowId xmlns:a16="http://schemas.microsoft.com/office/drawing/2014/main" val="1839808021"/>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tool_invocation</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Every MCP tool call with inputs/outputs</a:t>
                      </a:r>
                    </a:p>
                  </a:txBody>
                  <a:tcPr marL="88803" marR="88803" marT="44401" marB="44401" anchor="ctr"/>
                </a:tc>
                <a:extLst>
                  <a:ext uri="{0D108BD9-81ED-4DB2-BD59-A6C34878D82A}">
                    <a16:rowId xmlns:a16="http://schemas.microsoft.com/office/drawing/2014/main" val="926093960"/>
                  </a:ext>
                </a:extLst>
              </a:tr>
              <a:tr h="233693">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db_query</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PostgreSQL, Redis, Memgraph queries with timing</a:t>
                      </a:r>
                    </a:p>
                  </a:txBody>
                  <a:tcPr marL="88803" marR="88803" marT="44401" marB="44401" anchor="ctr"/>
                </a:tc>
                <a:extLst>
                  <a:ext uri="{0D108BD9-81ED-4DB2-BD59-A6C34878D82A}">
                    <a16:rowId xmlns:a16="http://schemas.microsoft.com/office/drawing/2014/main" val="3678779408"/>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llm_call</a:t>
                      </a:r>
                    </a:p>
                  </a:txBody>
                  <a:tcPr marL="88803" marR="88803" marT="44401" marB="44401"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 requests with model, tokens, latency</a:t>
                      </a:r>
                    </a:p>
                  </a:txBody>
                  <a:tcPr marL="88803" marR="88803" marT="44401" marB="44401" anchor="ctr"/>
                </a:tc>
                <a:extLst>
                  <a:ext uri="{0D108BD9-81ED-4DB2-BD59-A6C34878D82A}">
                    <a16:rowId xmlns:a16="http://schemas.microsoft.com/office/drawing/2014/main" val="3999390504"/>
                  </a:ext>
                </a:extLst>
              </a:tr>
              <a:tr h="163585">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job_lifecycle</a:t>
                      </a:r>
                    </a:p>
                  </a:txBody>
                  <a:tcPr marL="88803" marR="88803" marT="44401" marB="44401"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enqueue → execute → complete/fail/cancel</a:t>
                      </a:r>
                    </a:p>
                  </a:txBody>
                  <a:tcPr marL="88803" marR="88803" marT="44401" marB="44401" anchor="ctr"/>
                </a:tc>
                <a:extLst>
                  <a:ext uri="{0D108BD9-81ED-4DB2-BD59-A6C34878D82A}">
                    <a16:rowId xmlns:a16="http://schemas.microsoft.com/office/drawing/2014/main" val="2451264588"/>
                  </a:ext>
                </a:extLst>
              </a:tr>
            </a:tbl>
          </a:graphicData>
        </a:graphic>
      </p:graphicFrame>
      <p:sp>
        <p:nvSpPr>
          <p:cNvPr id="9" name="TextBox 8">
            <a:extLst>
              <a:ext uri="{FF2B5EF4-FFF2-40B4-BE49-F238E27FC236}">
                <a16:creationId xmlns:a16="http://schemas.microsoft.com/office/drawing/2014/main" id="{B83C4DFD-982C-E232-C5B6-753EC31CE903}"/>
              </a:ext>
            </a:extLst>
          </p:cNvPr>
          <p:cNvSpPr txBox="1"/>
          <p:nvPr/>
        </p:nvSpPr>
        <p:spPr>
          <a:xfrm>
            <a:off x="596346" y="5155851"/>
            <a:ext cx="11127815" cy="523220"/>
          </a:xfrm>
          <a:prstGeom prst="rect">
            <a:avLst/>
          </a:prstGeom>
          <a:noFill/>
        </p:spPr>
        <p:txBody>
          <a:bodyPr wrap="square" rtlCol="0">
            <a:spAutoFit/>
          </a:bodyPr>
          <a:lstStyle/>
          <a:p>
            <a:r>
              <a:rPr lang="en-US" sz="1400" b="1" i="0" dirty="0">
                <a:effectLst/>
                <a:latin typeface="Inter" panose="02000503000000020004" pitchFamily="2" charset="0"/>
                <a:ea typeface="Inter" panose="02000503000000020004" pitchFamily="2" charset="0"/>
                <a:cs typeface="Inter" panose="02000503000000020004" pitchFamily="2" charset="0"/>
              </a:rPr>
              <a:t>Why tracing?</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When a request is slow, you can see exactly where time was spent — was it the LLM? The database? A specific tool?</a:t>
            </a:r>
          </a:p>
        </p:txBody>
      </p:sp>
      <p:sp>
        <p:nvSpPr>
          <p:cNvPr id="13" name="Footer Placeholder 10">
            <a:extLst>
              <a:ext uri="{FF2B5EF4-FFF2-40B4-BE49-F238E27FC236}">
                <a16:creationId xmlns:a16="http://schemas.microsoft.com/office/drawing/2014/main" id="{E6346BBE-2FBC-257F-A4AC-6315BF74639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422228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9757-4689-060D-885D-E458BEEAC768}"/>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69914AF-9114-00EF-B436-79AFA5AF6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3923FEC-51CF-69F2-9D6B-0B3EBCBAD9E7}"/>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7DF5B78-24F0-3598-D4A7-4B0AB282B561}"/>
              </a:ext>
            </a:extLst>
          </p:cNvPr>
          <p:cNvSpPr>
            <a:spLocks noGrp="1"/>
          </p:cNvSpPr>
          <p:nvPr>
            <p:ph type="sldNum" sz="quarter" idx="12"/>
          </p:nvPr>
        </p:nvSpPr>
        <p:spPr/>
        <p:txBody>
          <a:bodyPr/>
          <a:lstStyle/>
          <a:p>
            <a:fld id="{48F19E39-9933-F648-B2F3-3AC17C0DC986}" type="slidenum">
              <a:rPr lang="en-US" smtClean="0">
                <a:solidFill>
                  <a:schemeClr val="bg1"/>
                </a:solidFill>
              </a:rPr>
              <a:t>37</a:t>
            </a:fld>
            <a:endParaRPr lang="en-US" dirty="0">
              <a:solidFill>
                <a:schemeClr val="bg1"/>
              </a:solidFill>
            </a:endParaRPr>
          </a:p>
        </p:txBody>
      </p:sp>
      <p:sp>
        <p:nvSpPr>
          <p:cNvPr id="5" name="TextBox 4">
            <a:extLst>
              <a:ext uri="{FF2B5EF4-FFF2-40B4-BE49-F238E27FC236}">
                <a16:creationId xmlns:a16="http://schemas.microsoft.com/office/drawing/2014/main" id="{35BF1C67-0919-1C99-F468-50BBA8617D76}"/>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OBSERVABILITY</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2/2)</a:t>
            </a:r>
          </a:p>
          <a:p>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provides </a:t>
            </a: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full visibility</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 into system behavior through metrics, traces, and logs.</a:t>
            </a:r>
            <a:endParaRPr lang="en-US" sz="160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10" name="TextBox 9">
            <a:extLst>
              <a:ext uri="{FF2B5EF4-FFF2-40B4-BE49-F238E27FC236}">
                <a16:creationId xmlns:a16="http://schemas.microsoft.com/office/drawing/2014/main" id="{52D317E9-5DAE-D040-0C3D-D309808C9347}"/>
              </a:ext>
            </a:extLst>
          </p:cNvPr>
          <p:cNvSpPr txBox="1"/>
          <p:nvPr/>
        </p:nvSpPr>
        <p:spPr>
          <a:xfrm>
            <a:off x="596346" y="1159801"/>
            <a:ext cx="11127815" cy="523220"/>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Prometheus</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Prometheus scrapes metrics from the app and workers every 15 seconds.</a:t>
            </a:r>
          </a:p>
        </p:txBody>
      </p:sp>
      <p:graphicFrame>
        <p:nvGraphicFramePr>
          <p:cNvPr id="2" name="Table 1">
            <a:extLst>
              <a:ext uri="{FF2B5EF4-FFF2-40B4-BE49-F238E27FC236}">
                <a16:creationId xmlns:a16="http://schemas.microsoft.com/office/drawing/2014/main" id="{2F16CB89-5314-6FD6-5F14-68AC37717753}"/>
              </a:ext>
            </a:extLst>
          </p:cNvPr>
          <p:cNvGraphicFramePr>
            <a:graphicFrameLocks noGrp="1"/>
          </p:cNvGraphicFramePr>
          <p:nvPr>
            <p:extLst>
              <p:ext uri="{D42A27DB-BD31-4B8C-83A1-F6EECF244321}">
                <p14:modId xmlns:p14="http://schemas.microsoft.com/office/powerpoint/2010/main" val="2642682386"/>
              </p:ext>
            </p:extLst>
          </p:nvPr>
        </p:nvGraphicFramePr>
        <p:xfrm>
          <a:off x="1869989" y="1751276"/>
          <a:ext cx="8452022" cy="2041488"/>
        </p:xfrm>
        <a:graphic>
          <a:graphicData uri="http://schemas.openxmlformats.org/drawingml/2006/table">
            <a:tbl>
              <a:tblPr>
                <a:tableStyleId>{073A0DAA-6AF3-43AB-8588-CEC1D06C72B9}</a:tableStyleId>
              </a:tblPr>
              <a:tblGrid>
                <a:gridCol w="1383957">
                  <a:extLst>
                    <a:ext uri="{9D8B030D-6E8A-4147-A177-3AD203B41FA5}">
                      <a16:colId xmlns:a16="http://schemas.microsoft.com/office/drawing/2014/main" val="3746279035"/>
                    </a:ext>
                  </a:extLst>
                </a:gridCol>
                <a:gridCol w="7068065">
                  <a:extLst>
                    <a:ext uri="{9D8B030D-6E8A-4147-A177-3AD203B41FA5}">
                      <a16:colId xmlns:a16="http://schemas.microsoft.com/office/drawing/2014/main" val="1346853800"/>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Metric Category</a:t>
                      </a:r>
                    </a:p>
                  </a:txBody>
                  <a:tcPr marL="43953" marR="43953" marT="21976" marB="21976" anchor="b"/>
                </a:tc>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Examples</a:t>
                      </a:r>
                    </a:p>
                  </a:txBody>
                  <a:tcPr marL="43953" marR="43953" marT="21976" marB="21976" anchor="b"/>
                </a:tc>
                <a:extLst>
                  <a:ext uri="{0D108BD9-81ED-4DB2-BD59-A6C34878D82A}">
                    <a16:rowId xmlns:a16="http://schemas.microsoft.com/office/drawing/2014/main" val="2584133592"/>
                  </a:ext>
                </a:extLst>
              </a:tr>
              <a:tr h="163976">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HTTP</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http_request_duration_seconds, http_requests_total (by endpoint, method, status)</a:t>
                      </a:r>
                    </a:p>
                  </a:txBody>
                  <a:tcPr marL="43953" marR="43953" marT="21976" marB="21976" anchor="ctr"/>
                </a:tc>
                <a:extLst>
                  <a:ext uri="{0D108BD9-81ED-4DB2-BD59-A6C34878D82A}">
                    <a16:rowId xmlns:a16="http://schemas.microsoft.com/office/drawing/2014/main" val="3768610760"/>
                  </a:ext>
                </a:extLst>
              </a:tr>
              <a:tr h="16397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 Runs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agent_run_duration_seconds, agent_run_total (by status: success/failed)</a:t>
                      </a:r>
                    </a:p>
                  </a:txBody>
                  <a:tcPr marL="43953" marR="43953" marT="21976" marB="21976" anchor="ctr"/>
                </a:tc>
                <a:extLst>
                  <a:ext uri="{0D108BD9-81ED-4DB2-BD59-A6C34878D82A}">
                    <a16:rowId xmlns:a16="http://schemas.microsoft.com/office/drawing/2014/main" val="1270028021"/>
                  </a:ext>
                </a:extLst>
              </a:tr>
              <a:tr h="16397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Steps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agent_step_duration_seconds, agent_step_total (by type: tool/llm/graph)</a:t>
                      </a:r>
                    </a:p>
                  </a:txBody>
                  <a:tcPr marL="43953" marR="43953" marT="21976" marB="21976" anchor="ctr"/>
                </a:tc>
                <a:extLst>
                  <a:ext uri="{0D108BD9-81ED-4DB2-BD59-A6C34878D82A}">
                    <a16:rowId xmlns:a16="http://schemas.microsoft.com/office/drawing/2014/main" val="273875553"/>
                  </a:ext>
                </a:extLst>
              </a:tr>
              <a:tr h="126135">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Tools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tool_invocation_duration_seconds, tool_invocation_total (by tool name)</a:t>
                      </a:r>
                    </a:p>
                  </a:txBody>
                  <a:tcPr marL="43953" marR="43953" marT="21976" marB="21976" anchor="ctr"/>
                </a:tc>
                <a:extLst>
                  <a:ext uri="{0D108BD9-81ED-4DB2-BD59-A6C34878D82A}">
                    <a16:rowId xmlns:a16="http://schemas.microsoft.com/office/drawing/2014/main" val="231724543"/>
                  </a:ext>
                </a:extLst>
              </a:tr>
              <a:tr h="163976">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LLM</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llm_tokens_total, llm_cost_usd_total, llm_latency_seconds (by provider/model)</a:t>
                      </a:r>
                    </a:p>
                  </a:txBody>
                  <a:tcPr marL="43953" marR="43953" marT="21976" marB="21976" anchor="ctr"/>
                </a:tc>
                <a:extLst>
                  <a:ext uri="{0D108BD9-81ED-4DB2-BD59-A6C34878D82A}">
                    <a16:rowId xmlns:a16="http://schemas.microsoft.com/office/drawing/2014/main" val="1493038456"/>
                  </a:ext>
                </a:extLst>
              </a:tr>
              <a:tr h="126135">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Circuit Breaker</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circuit_breaker_state (0=closed, 1=open, 0.5=half-open)</a:t>
                      </a:r>
                    </a:p>
                  </a:txBody>
                  <a:tcPr marL="43953" marR="43953" marT="21976" marB="21976" anchor="ctr"/>
                </a:tc>
                <a:extLst>
                  <a:ext uri="{0D108BD9-81ED-4DB2-BD59-A6C34878D82A}">
                    <a16:rowId xmlns:a16="http://schemas.microsoft.com/office/drawing/2014/main" val="2295913698"/>
                  </a:ext>
                </a:extLst>
              </a:tr>
              <a:tr h="163976">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job_queue_depth, job_processing_duration_seconds, job_total (by status)</a:t>
                      </a:r>
                    </a:p>
                  </a:txBody>
                  <a:tcPr marL="43953" marR="43953" marT="21976" marB="21976" anchor="ctr"/>
                </a:tc>
                <a:extLst>
                  <a:ext uri="{0D108BD9-81ED-4DB2-BD59-A6C34878D82A}">
                    <a16:rowId xmlns:a16="http://schemas.microsoft.com/office/drawing/2014/main" val="4084370060"/>
                  </a:ext>
                </a:extLst>
              </a:tr>
              <a:tr h="126135">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System</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43953" marR="43953" marT="21976" marB="21976" anchor="ctr"/>
                </a:tc>
                <a:tc>
                  <a:txBody>
                    <a:bodyPr/>
                    <a:lstStyle/>
                    <a:p>
                      <a:pPr algn="l" fontAlgn="base"/>
                      <a:r>
                        <a:rPr lang="en-US" sz="1200" dirty="0" err="1">
                          <a:effectLst/>
                          <a:latin typeface="Inter" panose="02000503000000020004" pitchFamily="2" charset="0"/>
                          <a:ea typeface="Inter" panose="02000503000000020004" pitchFamily="2" charset="0"/>
                          <a:cs typeface="Inter" panose="02000503000000020004" pitchFamily="2" charset="0"/>
                        </a:rPr>
                        <a:t>component_health</a:t>
                      </a:r>
                      <a:r>
                        <a:rPr lang="en-US" sz="1200" dirty="0">
                          <a:effectLst/>
                          <a:latin typeface="Inter" panose="02000503000000020004" pitchFamily="2" charset="0"/>
                          <a:ea typeface="Inter" panose="02000503000000020004" pitchFamily="2" charset="0"/>
                          <a:cs typeface="Inter" panose="02000503000000020004" pitchFamily="2" charset="0"/>
                        </a:rPr>
                        <a:t> (1=healthy, 0=unhealthy per component)</a:t>
                      </a:r>
                    </a:p>
                  </a:txBody>
                  <a:tcPr marL="43953" marR="43953" marT="21976" marB="21976" anchor="ctr"/>
                </a:tc>
                <a:extLst>
                  <a:ext uri="{0D108BD9-81ED-4DB2-BD59-A6C34878D82A}">
                    <a16:rowId xmlns:a16="http://schemas.microsoft.com/office/drawing/2014/main" val="1584755215"/>
                  </a:ext>
                </a:extLst>
              </a:tr>
            </a:tbl>
          </a:graphicData>
        </a:graphic>
      </p:graphicFrame>
      <p:sp>
        <p:nvSpPr>
          <p:cNvPr id="3" name="TextBox 2">
            <a:extLst>
              <a:ext uri="{FF2B5EF4-FFF2-40B4-BE49-F238E27FC236}">
                <a16:creationId xmlns:a16="http://schemas.microsoft.com/office/drawing/2014/main" id="{B6874EBF-BFCA-3877-2FE0-F1DAF1D16042}"/>
              </a:ext>
            </a:extLst>
          </p:cNvPr>
          <p:cNvSpPr txBox="1"/>
          <p:nvPr/>
        </p:nvSpPr>
        <p:spPr>
          <a:xfrm>
            <a:off x="596345" y="3856631"/>
            <a:ext cx="11127815" cy="523220"/>
          </a:xfrm>
          <a:prstGeom prst="rect">
            <a:avLst/>
          </a:prstGeom>
          <a:noFill/>
        </p:spPr>
        <p:txBody>
          <a:bodyPr wrap="square" rtlCol="0">
            <a:spAutoFit/>
          </a:bodyPr>
          <a:lstStyle/>
          <a:p>
            <a:r>
              <a:rPr lang="en-US" sz="1400" b="1" dirty="0">
                <a:effectLst/>
                <a:latin typeface="Inter" panose="02000503000000020004" pitchFamily="2" charset="0"/>
                <a:ea typeface="Inter" panose="02000503000000020004" pitchFamily="2" charset="0"/>
                <a:cs typeface="Inter" panose="02000503000000020004" pitchFamily="2" charset="0"/>
              </a:rPr>
              <a:t>Grafana:</a:t>
            </a:r>
          </a:p>
          <a:p>
            <a:pPr marL="285750" indent="-285750">
              <a:buFontTx/>
              <a:buChar char="-"/>
            </a:pPr>
            <a:r>
              <a:rPr lang="en-US" sz="1400" b="0" dirty="0">
                <a:effectLst/>
                <a:latin typeface="Inter" panose="02000503000000020004" pitchFamily="2" charset="0"/>
                <a:ea typeface="Inter" panose="02000503000000020004" pitchFamily="2" charset="0"/>
                <a:cs typeface="Inter" panose="02000503000000020004" pitchFamily="2" charset="0"/>
              </a:rPr>
              <a:t>Pre-built Grafana dashboards visualize all metrics</a:t>
            </a:r>
          </a:p>
        </p:txBody>
      </p:sp>
      <p:graphicFrame>
        <p:nvGraphicFramePr>
          <p:cNvPr id="6" name="Table 5">
            <a:extLst>
              <a:ext uri="{FF2B5EF4-FFF2-40B4-BE49-F238E27FC236}">
                <a16:creationId xmlns:a16="http://schemas.microsoft.com/office/drawing/2014/main" id="{26032740-E6A5-8C3B-EB1B-E7B471D9C312}"/>
              </a:ext>
            </a:extLst>
          </p:cNvPr>
          <p:cNvGraphicFramePr>
            <a:graphicFrameLocks noGrp="1"/>
          </p:cNvGraphicFramePr>
          <p:nvPr>
            <p:extLst>
              <p:ext uri="{D42A27DB-BD31-4B8C-83A1-F6EECF244321}">
                <p14:modId xmlns:p14="http://schemas.microsoft.com/office/powerpoint/2010/main" val="3823999873"/>
              </p:ext>
            </p:extLst>
          </p:nvPr>
        </p:nvGraphicFramePr>
        <p:xfrm>
          <a:off x="1869989" y="4449777"/>
          <a:ext cx="8452022" cy="1697416"/>
        </p:xfrm>
        <a:graphic>
          <a:graphicData uri="http://schemas.openxmlformats.org/drawingml/2006/table">
            <a:tbl>
              <a:tblPr>
                <a:tableStyleId>{073A0DAA-6AF3-43AB-8588-CEC1D06C72B9}</a:tableStyleId>
              </a:tblPr>
              <a:tblGrid>
                <a:gridCol w="1383957">
                  <a:extLst>
                    <a:ext uri="{9D8B030D-6E8A-4147-A177-3AD203B41FA5}">
                      <a16:colId xmlns:a16="http://schemas.microsoft.com/office/drawing/2014/main" val="3738440467"/>
                    </a:ext>
                  </a:extLst>
                </a:gridCol>
                <a:gridCol w="7068065">
                  <a:extLst>
                    <a:ext uri="{9D8B030D-6E8A-4147-A177-3AD203B41FA5}">
                      <a16:colId xmlns:a16="http://schemas.microsoft.com/office/drawing/2014/main" val="3994732085"/>
                    </a:ext>
                  </a:extLst>
                </a:gridCol>
              </a:tblGrid>
              <a:tr h="0">
                <a:tc>
                  <a:txBody>
                    <a:bodyPr/>
                    <a:lstStyle/>
                    <a:p>
                      <a:pPr algn="l" fontAlgn="b"/>
                      <a:r>
                        <a:rPr lang="en-US" sz="1200" b="1">
                          <a:solidFill>
                            <a:srgbClr val="000000"/>
                          </a:solidFill>
                          <a:effectLst/>
                          <a:latin typeface="Inter" panose="02000503000000020004" pitchFamily="2" charset="0"/>
                          <a:ea typeface="Inter" panose="02000503000000020004" pitchFamily="2" charset="0"/>
                          <a:cs typeface="Inter" panose="02000503000000020004" pitchFamily="2" charset="0"/>
                        </a:rPr>
                        <a:t>Dashboard</a:t>
                      </a:r>
                    </a:p>
                  </a:txBody>
                  <a:tcPr marL="59607" marR="59607" marT="29804" marB="29804" anchor="b"/>
                </a:tc>
                <a:tc>
                  <a:txBody>
                    <a:bodyPr/>
                    <a:lstStyle/>
                    <a:p>
                      <a:pPr algn="l" fontAlgn="b"/>
                      <a:r>
                        <a:rPr lang="en-US" sz="1200" b="1" dirty="0">
                          <a:solidFill>
                            <a:srgbClr val="000000"/>
                          </a:solidFill>
                          <a:effectLst/>
                          <a:latin typeface="Inter" panose="02000503000000020004" pitchFamily="2" charset="0"/>
                          <a:ea typeface="Inter" panose="02000503000000020004" pitchFamily="2" charset="0"/>
                          <a:cs typeface="Inter" panose="02000503000000020004" pitchFamily="2" charset="0"/>
                        </a:rPr>
                        <a:t>Shows</a:t>
                      </a:r>
                    </a:p>
                  </a:txBody>
                  <a:tcPr marL="59607" marR="59607" marT="29804" marB="29804" anchor="b"/>
                </a:tc>
                <a:extLst>
                  <a:ext uri="{0D108BD9-81ED-4DB2-BD59-A6C34878D82A}">
                    <a16:rowId xmlns:a16="http://schemas.microsoft.com/office/drawing/2014/main" val="4203447212"/>
                  </a:ext>
                </a:extLst>
              </a:tr>
              <a:tr h="0">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HTTP Overview</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Request rate, latency percentiles (p50/p95/p99), error rate</a:t>
                      </a:r>
                    </a:p>
                  </a:txBody>
                  <a:tcPr marL="59607" marR="59607" marT="29804" marB="29804" anchor="ctr"/>
                </a:tc>
                <a:extLst>
                  <a:ext uri="{0D108BD9-81ED-4DB2-BD59-A6C34878D82A}">
                    <a16:rowId xmlns:a16="http://schemas.microsoft.com/office/drawing/2014/main" val="4103642857"/>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Agent Runs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Runs per minute, success rate, average duration, step breakdown</a:t>
                      </a:r>
                    </a:p>
                  </a:txBody>
                  <a:tcPr marL="59607" marR="59607" marT="29804" marB="29804" anchor="ctr"/>
                </a:tc>
                <a:extLst>
                  <a:ext uri="{0D108BD9-81ED-4DB2-BD59-A6C34878D82A}">
                    <a16:rowId xmlns:a16="http://schemas.microsoft.com/office/drawing/2014/main" val="3760947161"/>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Job Processing</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Queue depth, processing time, completion rate, failures</a:t>
                      </a:r>
                    </a:p>
                  </a:txBody>
                  <a:tcPr marL="59607" marR="59607" marT="29804" marB="29804" anchor="ctr"/>
                </a:tc>
                <a:extLst>
                  <a:ext uri="{0D108BD9-81ED-4DB2-BD59-A6C34878D82A}">
                    <a16:rowId xmlns:a16="http://schemas.microsoft.com/office/drawing/2014/main" val="2481825212"/>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Tool Invocations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Most-used tools, latency by tool, error rates</a:t>
                      </a:r>
                    </a:p>
                  </a:txBody>
                  <a:tcPr marL="59607" marR="59607" marT="29804" marB="29804" anchor="ctr"/>
                </a:tc>
                <a:extLst>
                  <a:ext uri="{0D108BD9-81ED-4DB2-BD59-A6C34878D82A}">
                    <a16:rowId xmlns:a16="http://schemas.microsoft.com/office/drawing/2014/main" val="3401677887"/>
                  </a:ext>
                </a:extLst>
              </a:tr>
              <a:tr h="0">
                <a:tc>
                  <a:txBody>
                    <a:bodyPr/>
                    <a:lstStyle/>
                    <a:p>
                      <a:pPr algn="l" fontAlgn="base"/>
                      <a:r>
                        <a:rPr lang="en-US" sz="1200" b="1">
                          <a:effectLst/>
                          <a:latin typeface="Inter" panose="02000503000000020004" pitchFamily="2" charset="0"/>
                          <a:ea typeface="Inter" panose="02000503000000020004" pitchFamily="2" charset="0"/>
                          <a:cs typeface="Inter" panose="02000503000000020004" pitchFamily="2" charset="0"/>
                        </a:rPr>
                        <a:t>LLM Providers</a:t>
                      </a:r>
                      <a:endParaRPr lang="en-US" sz="120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a:effectLst/>
                          <a:latin typeface="Inter" panose="02000503000000020004" pitchFamily="2" charset="0"/>
                          <a:ea typeface="Inter" panose="02000503000000020004" pitchFamily="2" charset="0"/>
                          <a:cs typeface="Inter" panose="02000503000000020004" pitchFamily="2" charset="0"/>
                        </a:rPr>
                        <a:t>Provider health, circuit breaker states, token usage, costs</a:t>
                      </a:r>
                    </a:p>
                  </a:txBody>
                  <a:tcPr marL="59607" marR="59607" marT="29804" marB="29804" anchor="ctr"/>
                </a:tc>
                <a:extLst>
                  <a:ext uri="{0D108BD9-81ED-4DB2-BD59-A6C34878D82A}">
                    <a16:rowId xmlns:a16="http://schemas.microsoft.com/office/drawing/2014/main" val="8155937"/>
                  </a:ext>
                </a:extLst>
              </a:tr>
              <a:tr h="0">
                <a:tc>
                  <a:txBody>
                    <a:bodyPr/>
                    <a:lstStyle/>
                    <a:p>
                      <a:pPr algn="l" fontAlgn="base"/>
                      <a:r>
                        <a:rPr lang="en-US" sz="1200" b="1" dirty="0">
                          <a:effectLst/>
                          <a:latin typeface="Inter" panose="02000503000000020004" pitchFamily="2" charset="0"/>
                          <a:ea typeface="Inter" panose="02000503000000020004" pitchFamily="2" charset="0"/>
                          <a:cs typeface="Inter" panose="02000503000000020004" pitchFamily="2" charset="0"/>
                        </a:rPr>
                        <a:t>System Health</a:t>
                      </a:r>
                      <a:endParaRPr lang="en-US" sz="1200" dirty="0">
                        <a:effectLst/>
                        <a:latin typeface="Inter" panose="02000503000000020004" pitchFamily="2" charset="0"/>
                        <a:ea typeface="Inter" panose="02000503000000020004" pitchFamily="2" charset="0"/>
                        <a:cs typeface="Inter" panose="02000503000000020004" pitchFamily="2" charset="0"/>
                      </a:endParaRPr>
                    </a:p>
                  </a:txBody>
                  <a:tcPr marL="59607" marR="59607" marT="29804" marB="29804" anchor="ctr"/>
                </a:tc>
                <a:tc>
                  <a:txBody>
                    <a:bodyPr/>
                    <a:lstStyle/>
                    <a:p>
                      <a:pPr algn="l" fontAlgn="base"/>
                      <a:r>
                        <a:rPr lang="en-US" sz="1200" dirty="0">
                          <a:effectLst/>
                          <a:latin typeface="Inter" panose="02000503000000020004" pitchFamily="2" charset="0"/>
                          <a:ea typeface="Inter" panose="02000503000000020004" pitchFamily="2" charset="0"/>
                          <a:cs typeface="Inter" panose="02000503000000020004" pitchFamily="2" charset="0"/>
                        </a:rPr>
                        <a:t>Component status (green/red), database connection pools, memory usage</a:t>
                      </a:r>
                    </a:p>
                  </a:txBody>
                  <a:tcPr marL="59607" marR="59607" marT="29804" marB="29804" anchor="ctr"/>
                </a:tc>
                <a:extLst>
                  <a:ext uri="{0D108BD9-81ED-4DB2-BD59-A6C34878D82A}">
                    <a16:rowId xmlns:a16="http://schemas.microsoft.com/office/drawing/2014/main" val="3938452000"/>
                  </a:ext>
                </a:extLst>
              </a:tr>
            </a:tbl>
          </a:graphicData>
        </a:graphic>
      </p:graphicFrame>
      <p:sp>
        <p:nvSpPr>
          <p:cNvPr id="8" name="Footer Placeholder 10">
            <a:extLst>
              <a:ext uri="{FF2B5EF4-FFF2-40B4-BE49-F238E27FC236}">
                <a16:creationId xmlns:a16="http://schemas.microsoft.com/office/drawing/2014/main" id="{4E35AA98-7CC6-F852-F8CB-D12A534F81D6}"/>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733022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F0F3D-1999-04F2-A193-AD469ED3515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749A9C7-5C12-B078-A7B0-C75E596DE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019EF0CE-E55E-0F4D-A048-68B5C59F180F}"/>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EEDE91CC-CA43-0E39-BE07-ECE007D0BFE2}"/>
              </a:ext>
            </a:extLst>
          </p:cNvPr>
          <p:cNvSpPr>
            <a:spLocks noGrp="1"/>
          </p:cNvSpPr>
          <p:nvPr>
            <p:ph type="sldNum" sz="quarter" idx="12"/>
          </p:nvPr>
        </p:nvSpPr>
        <p:spPr/>
        <p:txBody>
          <a:bodyPr/>
          <a:lstStyle/>
          <a:p>
            <a:fld id="{48F19E39-9933-F648-B2F3-3AC17C0DC986}" type="slidenum">
              <a:rPr lang="en-US" smtClean="0">
                <a:solidFill>
                  <a:schemeClr val="bg1"/>
                </a:solidFill>
              </a:rPr>
              <a:t>38</a:t>
            </a:fld>
            <a:endParaRPr lang="en-US" dirty="0">
              <a:solidFill>
                <a:schemeClr val="bg1"/>
              </a:solidFill>
            </a:endParaRPr>
          </a:p>
        </p:txBody>
      </p:sp>
      <p:sp>
        <p:nvSpPr>
          <p:cNvPr id="5" name="TextBox 4">
            <a:extLst>
              <a:ext uri="{FF2B5EF4-FFF2-40B4-BE49-F238E27FC236}">
                <a16:creationId xmlns:a16="http://schemas.microsoft.com/office/drawing/2014/main" id="{C63AF2AE-6A72-F1D3-4886-C38425FB14CE}"/>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PHASE 4: COMPLETION - Agent Run (Workflow A)</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For synchronous agent runs that </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execute in-process via </a:t>
            </a:r>
            <a:r>
              <a:rPr lang="en-US" sz="1600" b="0" i="0" dirty="0" err="1">
                <a:solidFill>
                  <a:srgbClr val="822334"/>
                </a:solidFill>
                <a:effectLst/>
                <a:latin typeface="Inter" panose="02000503000000020004" pitchFamily="2" charset="0"/>
                <a:ea typeface="Inter" panose="02000503000000020004" pitchFamily="2" charset="0"/>
                <a:cs typeface="Inter" panose="02000503000000020004" pitchFamily="2" charset="0"/>
              </a:rPr>
              <a:t>BackgroundTasks</a:t>
            </a:r>
            <a:r>
              <a:rPr lang="en-US" sz="1600" b="0" i="0" dirty="0">
                <a:solidFill>
                  <a:srgbClr val="822334"/>
                </a:solidFill>
                <a:effectLst/>
                <a:latin typeface="Inter" panose="02000503000000020004" pitchFamily="2" charset="0"/>
                <a:ea typeface="Inter" panose="02000503000000020004" pitchFamily="2" charset="0"/>
                <a:cs typeface="Inter" panose="02000503000000020004" pitchFamily="2" charset="0"/>
              </a:rPr>
              <a:t>.</a:t>
            </a:r>
          </a:p>
        </p:txBody>
      </p:sp>
      <p:sp>
        <p:nvSpPr>
          <p:cNvPr id="10" name="TextBox 9">
            <a:extLst>
              <a:ext uri="{FF2B5EF4-FFF2-40B4-BE49-F238E27FC236}">
                <a16:creationId xmlns:a16="http://schemas.microsoft.com/office/drawing/2014/main" id="{966F31FD-9431-F49E-181C-5BB9738999B8}"/>
              </a:ext>
            </a:extLst>
          </p:cNvPr>
          <p:cNvSpPr txBox="1"/>
          <p:nvPr/>
        </p:nvSpPr>
        <p:spPr>
          <a:xfrm>
            <a:off x="596347" y="1159801"/>
            <a:ext cx="5417658" cy="1908215"/>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State Machine:</a:t>
            </a:r>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300" dirty="0">
                <a:latin typeface="Inter" panose="02000503000000020004" pitchFamily="2" charset="0"/>
                <a:ea typeface="Inter" panose="02000503000000020004" pitchFamily="2" charset="0"/>
                <a:cs typeface="Inter" panose="02000503000000020004" pitchFamily="2" charset="0"/>
              </a:rPr>
              <a:t>queued → running → succeeded/failed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queued: Run created, waiting to start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running: Orchestrator is actively processing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succeeded: Completed successfully with output</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failed: Error occurred during execution</a:t>
            </a:r>
          </a:p>
          <a:p>
            <a:pPr marL="285750" indent="-285750" algn="l">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endParaRPr lang="en-US" sz="1200" b="1" i="0" dirty="0">
              <a:effectLst/>
              <a:latin typeface="Inter" panose="02000503000000020004" pitchFamily="2" charset="0"/>
              <a:ea typeface="Inter" panose="02000503000000020004" pitchFamily="2" charset="0"/>
              <a:cs typeface="Inter" panose="02000503000000020004" pitchFamily="2" charset="0"/>
            </a:endParaRPr>
          </a:p>
          <a:p>
            <a:r>
              <a:rPr lang="en-US" sz="1400" b="1" i="0" dirty="0">
                <a:effectLst/>
                <a:latin typeface="Inter" panose="02000503000000020004" pitchFamily="2" charset="0"/>
                <a:ea typeface="Inter" panose="02000503000000020004" pitchFamily="2" charset="0"/>
                <a:cs typeface="Inter" panose="02000503000000020004" pitchFamily="2" charset="0"/>
              </a:rPr>
              <a:t>Build API Payload</a:t>
            </a:r>
            <a:r>
              <a:rPr lang="en-US" sz="1400" b="1" dirty="0">
                <a:latin typeface="Inter" panose="02000503000000020004" pitchFamily="2" charset="0"/>
                <a:ea typeface="Inter" panose="02000503000000020004" pitchFamily="2" charset="0"/>
                <a:cs typeface="Inter" panose="02000503000000020004" pitchFamily="2" charset="0"/>
              </a:rPr>
              <a:t>:</a:t>
            </a:r>
            <a:endParaRPr lang="en-US" sz="1400" b="1" i="0" dirty="0">
              <a:effectLst/>
              <a:latin typeface="Inter" panose="02000503000000020004" pitchFamily="2" charset="0"/>
              <a:ea typeface="Inter" panose="02000503000000020004" pitchFamily="2" charset="0"/>
              <a:cs typeface="Inter" panose="02000503000000020004" pitchFamily="2" charset="0"/>
            </a:endParaRPr>
          </a:p>
        </p:txBody>
      </p:sp>
      <p:sp>
        <p:nvSpPr>
          <p:cNvPr id="7" name="TextBox 6">
            <a:extLst>
              <a:ext uri="{FF2B5EF4-FFF2-40B4-BE49-F238E27FC236}">
                <a16:creationId xmlns:a16="http://schemas.microsoft.com/office/drawing/2014/main" id="{8CA36B51-F58E-E4B6-ABA1-F2E4FB3B1E1D}"/>
              </a:ext>
            </a:extLst>
          </p:cNvPr>
          <p:cNvSpPr txBox="1"/>
          <p:nvPr/>
        </p:nvSpPr>
        <p:spPr>
          <a:xfrm>
            <a:off x="596347" y="3068016"/>
            <a:ext cx="6124493" cy="3139321"/>
          </a:xfrm>
          <a:prstGeom prst="rect">
            <a:avLst/>
          </a:prstGeom>
          <a:noFill/>
        </p:spPr>
        <p:txBody>
          <a:bodyPr wrap="square" rtlCol="0">
            <a:spAutoFit/>
          </a:bodyPr>
          <a:lstStyle/>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dirty="0">
                <a:solidFill>
                  <a:srgbClr val="0451A5"/>
                </a:solidFill>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"id"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"run-abc123"</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"succeeded"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"outputs"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"Found 5 institutions collaborating 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"steps"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"type"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llm</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classify_intent</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latency_ms</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340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"type"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"tool"</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graph.query</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latency_ms</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120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"todos"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query_graph</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"completed"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"action"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"summarize"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"completed"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"metrics"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"duration_ms"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2340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tokens_input</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850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err="1">
                <a:solidFill>
                  <a:srgbClr val="0451A5"/>
                </a:solidFill>
                <a:effectLst/>
                <a:latin typeface="Menlo" panose="020B0609030804020204" pitchFamily="49" charset="0"/>
                <a:ea typeface="Menlo" panose="020B0609030804020204" pitchFamily="49" charset="0"/>
                <a:cs typeface="Menlo" panose="020B0609030804020204" pitchFamily="49" charset="0"/>
              </a:rPr>
              <a:t>tokens_output</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420</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algn="l"/>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p:txBody>
      </p:sp>
      <p:sp>
        <p:nvSpPr>
          <p:cNvPr id="8" name="TextBox 7">
            <a:extLst>
              <a:ext uri="{FF2B5EF4-FFF2-40B4-BE49-F238E27FC236}">
                <a16:creationId xmlns:a16="http://schemas.microsoft.com/office/drawing/2014/main" id="{29880505-382B-445A-E160-108CBBBC062D}"/>
              </a:ext>
            </a:extLst>
          </p:cNvPr>
          <p:cNvSpPr txBox="1"/>
          <p:nvPr/>
        </p:nvSpPr>
        <p:spPr>
          <a:xfrm>
            <a:off x="6014005" y="1159801"/>
            <a:ext cx="5581650" cy="1508105"/>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Completion Steps:</a:t>
            </a:r>
          </a:p>
          <a:p>
            <a:pPr marL="342900" indent="-342900" algn="l">
              <a:buFont typeface="+mj-lt"/>
              <a:buAutoNum type="arabicPeriod"/>
            </a:pPr>
            <a:r>
              <a:rPr lang="en-US" sz="1300" b="0" i="0" dirty="0">
                <a:effectLst/>
                <a:latin typeface="Inter" panose="02000503000000020004" pitchFamily="2" charset="0"/>
                <a:ea typeface="Inter" panose="02000503000000020004" pitchFamily="2" charset="0"/>
                <a:cs typeface="Inter" panose="02000503000000020004" pitchFamily="2" charset="0"/>
              </a:rPr>
              <a:t>Log and store the completion event with timestamp, duration,  and outcome in </a:t>
            </a:r>
            <a:r>
              <a:rPr lang="en-US" sz="1300" b="0" i="0" dirty="0" err="1">
                <a:effectLst/>
                <a:latin typeface="Inter" panose="02000503000000020004" pitchFamily="2" charset="0"/>
                <a:ea typeface="Inter" panose="02000503000000020004" pitchFamily="2" charset="0"/>
                <a:cs typeface="Inter" panose="02000503000000020004" pitchFamily="2" charset="0"/>
              </a:rPr>
              <a:t>agent_runs</a:t>
            </a:r>
            <a:r>
              <a:rPr lang="en-US" sz="1300" b="0" i="0" dirty="0">
                <a:effectLst/>
                <a:latin typeface="Inter" panose="02000503000000020004" pitchFamily="2" charset="0"/>
                <a:ea typeface="Inter" panose="02000503000000020004" pitchFamily="2" charset="0"/>
                <a:cs typeface="Inter" panose="02000503000000020004" pitchFamily="2" charset="0"/>
              </a:rPr>
              <a:t> table.</a:t>
            </a:r>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marL="342900" indent="-342900" algn="l">
              <a:buFont typeface="+mj-lt"/>
              <a:buAutoNum type="arabicPeriod"/>
            </a:pPr>
            <a:r>
              <a:rPr lang="en-US" sz="1300" i="0" dirty="0">
                <a:effectLst/>
                <a:latin typeface="Inter" panose="02000503000000020004" pitchFamily="2" charset="0"/>
                <a:ea typeface="Inter" panose="02000503000000020004" pitchFamily="2" charset="0"/>
                <a:cs typeface="Inter" panose="02000503000000020004" pitchFamily="2" charset="0"/>
              </a:rPr>
              <a:t>Build API Payload</a:t>
            </a:r>
            <a:endParaRPr lang="en-US" sz="1300" dirty="0">
              <a:solidFill>
                <a:srgbClr val="616161"/>
              </a:solidFill>
              <a:latin typeface="Inter" panose="02000503000000020004" pitchFamily="2" charset="0"/>
              <a:ea typeface="Inter" panose="02000503000000020004" pitchFamily="2" charset="0"/>
              <a:cs typeface="Inter" panose="02000503000000020004" pitchFamily="2" charset="0"/>
            </a:endParaRPr>
          </a:p>
          <a:p>
            <a:pPr marL="342900" indent="-342900" algn="l">
              <a:buFont typeface="+mj-lt"/>
              <a:buAutoNum type="arabicPeriod"/>
            </a:pPr>
            <a:r>
              <a:rPr lang="en-US" sz="1300" i="0" dirty="0">
                <a:effectLst/>
                <a:latin typeface="Inter" panose="02000503000000020004" pitchFamily="2" charset="0"/>
                <a:ea typeface="Inter" panose="02000503000000020004" pitchFamily="2" charset="0"/>
                <a:cs typeface="Inter" panose="02000503000000020004" pitchFamily="2" charset="0"/>
              </a:rPr>
              <a:t>Return HTTP Response immediately </a:t>
            </a:r>
            <a:r>
              <a:rPr lang="en-US" sz="1300" dirty="0">
                <a:effectLst/>
                <a:latin typeface="Inter" panose="02000503000000020004" pitchFamily="2" charset="0"/>
                <a:ea typeface="Inter" panose="02000503000000020004" pitchFamily="2" charset="0"/>
                <a:cs typeface="Inter" panose="02000503000000020004" pitchFamily="2" charset="0"/>
              </a:rPr>
              <a:t>→</a:t>
            </a:r>
            <a:r>
              <a:rPr lang="en-US" sz="1300" i="0" dirty="0">
                <a:effectLst/>
                <a:latin typeface="Inter" panose="02000503000000020004" pitchFamily="2" charset="0"/>
                <a:ea typeface="Inter" panose="02000503000000020004" pitchFamily="2" charset="0"/>
                <a:cs typeface="Inter" panose="02000503000000020004" pitchFamily="2" charset="0"/>
              </a:rPr>
              <a:t> Status code: 200 OK (success) or 500 (failure)</a:t>
            </a:r>
          </a:p>
          <a:p>
            <a:pPr marL="342900" indent="-342900" algn="l">
              <a:buFont typeface="+mj-lt"/>
              <a:buAutoNum type="arabicPeriod"/>
            </a:pPr>
            <a:r>
              <a:rPr lang="en-US" sz="1300" i="0" dirty="0">
                <a:effectLst/>
                <a:latin typeface="Inter" panose="02000503000000020004" pitchFamily="2" charset="0"/>
                <a:ea typeface="Inter" panose="02000503000000020004" pitchFamily="2" charset="0"/>
                <a:cs typeface="Inter" panose="02000503000000020004" pitchFamily="2" charset="0"/>
              </a:rPr>
              <a:t>Client Polling (if needed)</a:t>
            </a:r>
            <a:r>
              <a:rPr lang="en-US" sz="1300" dirty="0">
                <a:latin typeface="Inter" panose="02000503000000020004" pitchFamily="2" charset="0"/>
                <a:ea typeface="Inter" panose="02000503000000020004" pitchFamily="2" charset="0"/>
                <a:cs typeface="Inter" panose="02000503000000020004" pitchFamily="2" charset="0"/>
              </a:rPr>
              <a:t> </a:t>
            </a:r>
            <a:r>
              <a:rPr lang="en-US" sz="1300" dirty="0">
                <a:effectLst/>
                <a:latin typeface="Inter" panose="02000503000000020004" pitchFamily="2" charset="0"/>
                <a:ea typeface="Inter" panose="02000503000000020004" pitchFamily="2" charset="0"/>
                <a:cs typeface="Inter" panose="02000503000000020004" pitchFamily="2" charset="0"/>
              </a:rPr>
              <a:t>→ </a:t>
            </a:r>
            <a:r>
              <a:rPr lang="en-US" sz="1300" i="0" dirty="0">
                <a:effectLst/>
                <a:latin typeface="Inter" panose="02000503000000020004" pitchFamily="2" charset="0"/>
                <a:ea typeface="Inter" panose="02000503000000020004" pitchFamily="2" charset="0"/>
                <a:cs typeface="Inter" panose="02000503000000020004" pitchFamily="2" charset="0"/>
              </a:rPr>
              <a:t>client polls GET /agent-runs/{id}</a:t>
            </a:r>
          </a:p>
        </p:txBody>
      </p:sp>
      <p:sp>
        <p:nvSpPr>
          <p:cNvPr id="15" name="Footer Placeholder 10">
            <a:extLst>
              <a:ext uri="{FF2B5EF4-FFF2-40B4-BE49-F238E27FC236}">
                <a16:creationId xmlns:a16="http://schemas.microsoft.com/office/drawing/2014/main" id="{73702B42-5E3D-90BE-E624-C28132DB932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173380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F76F-42C8-2476-1C9C-A89010A7EB9A}"/>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48B9011-2905-DCEE-3B57-D526C131EC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198749C-80FE-28FC-EB60-8DF07F6A968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A9178A7-F32C-78D8-405E-13080E7DA5F3}"/>
              </a:ext>
            </a:extLst>
          </p:cNvPr>
          <p:cNvSpPr>
            <a:spLocks noGrp="1"/>
          </p:cNvSpPr>
          <p:nvPr>
            <p:ph type="sldNum" sz="quarter" idx="12"/>
          </p:nvPr>
        </p:nvSpPr>
        <p:spPr/>
        <p:txBody>
          <a:bodyPr/>
          <a:lstStyle/>
          <a:p>
            <a:fld id="{48F19E39-9933-F648-B2F3-3AC17C0DC986}" type="slidenum">
              <a:rPr lang="en-US" smtClean="0">
                <a:solidFill>
                  <a:schemeClr val="bg1"/>
                </a:solidFill>
              </a:rPr>
              <a:t>39</a:t>
            </a:fld>
            <a:endParaRPr lang="en-US" dirty="0">
              <a:solidFill>
                <a:schemeClr val="bg1"/>
              </a:solidFill>
            </a:endParaRPr>
          </a:p>
        </p:txBody>
      </p:sp>
      <p:sp>
        <p:nvSpPr>
          <p:cNvPr id="5" name="TextBox 4">
            <a:extLst>
              <a:ext uri="{FF2B5EF4-FFF2-40B4-BE49-F238E27FC236}">
                <a16:creationId xmlns:a16="http://schemas.microsoft.com/office/drawing/2014/main" id="{31CD4B85-1850-85C7-223E-5F44B8CCA360}"/>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PHASE 4: COMPLETION - Long-Running Job Completion (Workflow B)</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1/2)</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For async jobs that run in a separate worker process.</a:t>
            </a:r>
          </a:p>
        </p:txBody>
      </p:sp>
      <p:sp>
        <p:nvSpPr>
          <p:cNvPr id="10" name="TextBox 9">
            <a:extLst>
              <a:ext uri="{FF2B5EF4-FFF2-40B4-BE49-F238E27FC236}">
                <a16:creationId xmlns:a16="http://schemas.microsoft.com/office/drawing/2014/main" id="{0E484D1A-6883-4691-4FBE-67BA759C75BB}"/>
              </a:ext>
            </a:extLst>
          </p:cNvPr>
          <p:cNvSpPr txBox="1"/>
          <p:nvPr/>
        </p:nvSpPr>
        <p:spPr>
          <a:xfrm>
            <a:off x="596347" y="1159801"/>
            <a:ext cx="10757453" cy="326243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State Machine:</a:t>
            </a:r>
            <a:r>
              <a:rPr lang="en-US" sz="1400" b="0" i="0" dirty="0">
                <a:effectLst/>
                <a:latin typeface="Inter" panose="02000503000000020004" pitchFamily="2" charset="0"/>
                <a:ea typeface="Inter" panose="02000503000000020004" pitchFamily="2" charset="0"/>
                <a:cs typeface="Inter" panose="02000503000000020004" pitchFamily="2" charset="0"/>
              </a:rPr>
              <a:t>  </a:t>
            </a:r>
          </a:p>
          <a:p>
            <a:pPr algn="l"/>
            <a:r>
              <a:rPr lang="en-US" sz="1400" b="0" i="0" dirty="0">
                <a:effectLst/>
                <a:latin typeface="Inter" panose="02000503000000020004" pitchFamily="2" charset="0"/>
                <a:ea typeface="Inter" panose="02000503000000020004" pitchFamily="2" charset="0"/>
                <a:cs typeface="Inter" panose="02000503000000020004" pitchFamily="2" charset="0"/>
              </a:rPr>
              <a:t>queued → running → finished/failed/cancelled</a:t>
            </a:r>
          </a:p>
          <a:p>
            <a:pPr algn="l"/>
            <a:r>
              <a:rPr lang="en-US" sz="1300" b="0" i="0" dirty="0">
                <a:effectLst/>
                <a:latin typeface="Inter" panose="02000503000000020004" pitchFamily="2" charset="0"/>
                <a:ea typeface="Inter" panose="02000503000000020004" pitchFamily="2" charset="0"/>
                <a:cs typeface="Inter" panose="02000503000000020004" pitchFamily="2" charset="0"/>
              </a:rPr>
              <a:t>queued: Job in Redis queue, waiting for worker</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running: Worker picked it up, actively processing</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finished: Completed successfully</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failed: Error occurred</a:t>
            </a:r>
          </a:p>
          <a:p>
            <a:pPr marL="285750" indent="-285750" algn="l">
              <a:buFontTx/>
              <a:buChar char="-"/>
            </a:pPr>
            <a:r>
              <a:rPr lang="en-US" sz="1300" b="0" i="0" dirty="0">
                <a:effectLst/>
                <a:latin typeface="Inter" panose="02000503000000020004" pitchFamily="2" charset="0"/>
                <a:ea typeface="Inter" panose="02000503000000020004" pitchFamily="2" charset="0"/>
                <a:cs typeface="Inter" panose="02000503000000020004" pitchFamily="2" charset="0"/>
              </a:rPr>
              <a:t>cancelled: User requested cancellation</a:t>
            </a:r>
            <a:endParaRPr lang="en-US" sz="1300" dirty="0">
              <a:latin typeface="Inter" panose="02000503000000020004" pitchFamily="2" charset="0"/>
              <a:ea typeface="Inter" panose="02000503000000020004" pitchFamily="2" charset="0"/>
              <a:cs typeface="Inter" panose="02000503000000020004" pitchFamily="2" charset="0"/>
            </a:endParaRPr>
          </a:p>
          <a:p>
            <a:endParaRPr lang="en-US" sz="12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Completion Steps:</a:t>
            </a: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1. Update PostgreSQL jobs table: </a:t>
            </a:r>
          </a:p>
          <a:p>
            <a:pPr lvl="1"/>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FF"/>
                </a:solidFill>
                <a:effectLst/>
                <a:latin typeface="Menlo" panose="020B0609030804020204" pitchFamily="49" charset="0"/>
                <a:ea typeface="Menlo" panose="020B0609030804020204" pitchFamily="49" charset="0"/>
                <a:cs typeface="Menlo" panose="020B0609030804020204" pitchFamily="49" charset="0"/>
              </a:rPr>
              <a:t>status</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'finished'</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err="1">
                <a:solidFill>
                  <a:srgbClr val="000000"/>
                </a:solidFill>
                <a:effectLst/>
                <a:latin typeface="Menlo" panose="020B0609030804020204" pitchFamily="49" charset="0"/>
                <a:ea typeface="Menlo" panose="020B0609030804020204" pitchFamily="49" charset="0"/>
                <a:cs typeface="Menlo" panose="020B0609030804020204" pitchFamily="49" charset="0"/>
              </a:rPr>
              <a:t>completed_at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0000FF"/>
                </a:solidFill>
                <a:effectLst/>
                <a:latin typeface="Menlo" panose="020B0609030804020204" pitchFamily="49" charset="0"/>
                <a:ea typeface="Menlo" panose="020B0609030804020204" pitchFamily="49" charset="0"/>
                <a:cs typeface="Menlo" panose="020B0609030804020204" pitchFamily="49" charset="0"/>
              </a:rPr>
              <a:t>NOW</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err="1">
                <a:solidFill>
                  <a:srgbClr val="000000"/>
                </a:solidFill>
                <a:effectLst/>
                <a:latin typeface="Menlo" panose="020B0609030804020204" pitchFamily="49" charset="0"/>
                <a:ea typeface="Menlo" panose="020B0609030804020204" pitchFamily="49" charset="0"/>
                <a:cs typeface="Menlo" panose="020B0609030804020204" pitchFamily="49" charset="0"/>
              </a:rPr>
              <a:t>result_json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'{"response": "Found 5 institutions...", "tokens": 1850}’</a:t>
            </a:r>
            <a:r>
              <a:rPr lang="en-US" sz="1300" b="0" i="0" dirty="0">
                <a:effectLst/>
                <a:latin typeface="Inter" panose="02000503000000020004" pitchFamily="2" charset="0"/>
                <a:ea typeface="Inter" panose="02000503000000020004" pitchFamily="2" charset="0"/>
                <a:cs typeface="Inter" panose="02000503000000020004" pitchFamily="2" charset="0"/>
              </a:rPr>
              <a:t>}</a:t>
            </a:r>
          </a:p>
          <a:p>
            <a:endParaRPr lang="en-US" sz="1300" b="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2. Record Events:</a:t>
            </a:r>
            <a:r>
              <a:rPr lang="en-US" sz="1300" i="0" dirty="0">
                <a:effectLst/>
                <a:latin typeface="Inter" panose="02000503000000020004" pitchFamily="2" charset="0"/>
                <a:ea typeface="Inter" panose="02000503000000020004" pitchFamily="2" charset="0"/>
                <a:cs typeface="Inter" panose="02000503000000020004" pitchFamily="2" charset="0"/>
              </a:rPr>
              <a:t> Every state is recorded as an event in </a:t>
            </a:r>
            <a:r>
              <a:rPr lang="en-US" sz="1300" i="0" dirty="0" err="1">
                <a:effectLst/>
                <a:latin typeface="Inter" panose="02000503000000020004" pitchFamily="2" charset="0"/>
                <a:ea typeface="Inter" panose="02000503000000020004" pitchFamily="2" charset="0"/>
                <a:cs typeface="Inter" panose="02000503000000020004" pitchFamily="2" charset="0"/>
              </a:rPr>
              <a:t>job_events</a:t>
            </a:r>
            <a:r>
              <a:rPr lang="en-US" sz="1300" i="0" dirty="0">
                <a:effectLst/>
                <a:latin typeface="Inter" panose="02000503000000020004" pitchFamily="2" charset="0"/>
                <a:ea typeface="Inter" panose="02000503000000020004" pitchFamily="2" charset="0"/>
                <a:cs typeface="Inter" panose="02000503000000020004" pitchFamily="2" charset="0"/>
              </a:rPr>
              <a:t> table.</a:t>
            </a:r>
            <a:r>
              <a:rPr lang="en-US" sz="1300" dirty="0">
                <a:latin typeface="Inter" panose="02000503000000020004" pitchFamily="2" charset="0"/>
                <a:ea typeface="Inter" panose="02000503000000020004" pitchFamily="2" charset="0"/>
                <a:cs typeface="Inter" panose="02000503000000020004" pitchFamily="2" charset="0"/>
              </a:rPr>
              <a:t> </a:t>
            </a:r>
            <a:r>
              <a:rPr lang="en-US" sz="1300" i="0" dirty="0">
                <a:effectLst/>
                <a:latin typeface="Inter" panose="02000503000000020004" pitchFamily="2" charset="0"/>
                <a:ea typeface="Inter" panose="02000503000000020004" pitchFamily="2" charset="0"/>
                <a:cs typeface="Inter" panose="02000503000000020004" pitchFamily="2" charset="0"/>
              </a:rPr>
              <a:t>Events are append-only (never deleted) for compliance</a:t>
            </a:r>
          </a:p>
        </p:txBody>
      </p:sp>
      <p:graphicFrame>
        <p:nvGraphicFramePr>
          <p:cNvPr id="2" name="Table 1">
            <a:extLst>
              <a:ext uri="{FF2B5EF4-FFF2-40B4-BE49-F238E27FC236}">
                <a16:creationId xmlns:a16="http://schemas.microsoft.com/office/drawing/2014/main" id="{1E0298CC-830B-FE1D-D5DA-A5AF1BA8A718}"/>
              </a:ext>
            </a:extLst>
          </p:cNvPr>
          <p:cNvGraphicFramePr>
            <a:graphicFrameLocks noGrp="1"/>
          </p:cNvGraphicFramePr>
          <p:nvPr>
            <p:extLst>
              <p:ext uri="{D42A27DB-BD31-4B8C-83A1-F6EECF244321}">
                <p14:modId xmlns:p14="http://schemas.microsoft.com/office/powerpoint/2010/main" val="4045092041"/>
              </p:ext>
            </p:extLst>
          </p:nvPr>
        </p:nvGraphicFramePr>
        <p:xfrm>
          <a:off x="3535605" y="4447647"/>
          <a:ext cx="5120789" cy="1628102"/>
        </p:xfrm>
        <a:graphic>
          <a:graphicData uri="http://schemas.openxmlformats.org/drawingml/2006/table">
            <a:tbl>
              <a:tblPr>
                <a:tableStyleId>{00A15C55-8517-42AA-B614-E9B94910E393}</a:tableStyleId>
              </a:tblPr>
              <a:tblGrid>
                <a:gridCol w="531342">
                  <a:extLst>
                    <a:ext uri="{9D8B030D-6E8A-4147-A177-3AD203B41FA5}">
                      <a16:colId xmlns:a16="http://schemas.microsoft.com/office/drawing/2014/main" val="3882626501"/>
                    </a:ext>
                  </a:extLst>
                </a:gridCol>
                <a:gridCol w="835279">
                  <a:extLst>
                    <a:ext uri="{9D8B030D-6E8A-4147-A177-3AD203B41FA5}">
                      <a16:colId xmlns:a16="http://schemas.microsoft.com/office/drawing/2014/main" val="266250100"/>
                    </a:ext>
                  </a:extLst>
                </a:gridCol>
                <a:gridCol w="2946425">
                  <a:extLst>
                    <a:ext uri="{9D8B030D-6E8A-4147-A177-3AD203B41FA5}">
                      <a16:colId xmlns:a16="http://schemas.microsoft.com/office/drawing/2014/main" val="2741715830"/>
                    </a:ext>
                  </a:extLst>
                </a:gridCol>
                <a:gridCol w="807743">
                  <a:extLst>
                    <a:ext uri="{9D8B030D-6E8A-4147-A177-3AD203B41FA5}">
                      <a16:colId xmlns:a16="http://schemas.microsoft.com/office/drawing/2014/main" val="1683345782"/>
                    </a:ext>
                  </a:extLst>
                </a:gridCol>
              </a:tblGrid>
              <a:tr h="0">
                <a:tc>
                  <a:txBody>
                    <a:bodyPr/>
                    <a:lstStyle/>
                    <a:p>
                      <a:pPr algn="l" fontAlgn="b"/>
                      <a:r>
                        <a:rPr lang="en-US" sz="1100" b="1" dirty="0" err="1">
                          <a:solidFill>
                            <a:srgbClr val="000000"/>
                          </a:solidFill>
                          <a:effectLst/>
                          <a:latin typeface="InaiMathi" pitchFamily="2" charset="0"/>
                          <a:cs typeface="InaiMathi" pitchFamily="2" charset="0"/>
                        </a:rPr>
                        <a:t>seq_id</a:t>
                      </a:r>
                      <a:endParaRPr lang="en-US" sz="1100" b="1" dirty="0">
                        <a:solidFill>
                          <a:srgbClr val="000000"/>
                        </a:solidFill>
                        <a:effectLst/>
                        <a:latin typeface="InaiMathi" pitchFamily="2" charset="0"/>
                        <a:cs typeface="InaiMathi" pitchFamily="2" charset="0"/>
                      </a:endParaRPr>
                    </a:p>
                  </a:txBody>
                  <a:tcPr marL="64945" marR="64945" marT="32473" marB="32473" anchor="b"/>
                </a:tc>
                <a:tc>
                  <a:txBody>
                    <a:bodyPr/>
                    <a:lstStyle/>
                    <a:p>
                      <a:pPr algn="l" fontAlgn="b"/>
                      <a:r>
                        <a:rPr lang="en-US" sz="1100" b="1">
                          <a:solidFill>
                            <a:srgbClr val="000000"/>
                          </a:solidFill>
                          <a:effectLst/>
                          <a:latin typeface="InaiMathi" pitchFamily="2" charset="0"/>
                          <a:cs typeface="InaiMathi" pitchFamily="2" charset="0"/>
                        </a:rPr>
                        <a:t>event_type</a:t>
                      </a:r>
                    </a:p>
                  </a:txBody>
                  <a:tcPr marL="64945" marR="64945" marT="32473" marB="32473" anchor="b"/>
                </a:tc>
                <a:tc>
                  <a:txBody>
                    <a:bodyPr/>
                    <a:lstStyle/>
                    <a:p>
                      <a:pPr algn="l" fontAlgn="b"/>
                      <a:r>
                        <a:rPr lang="en-US" sz="1100" b="1" dirty="0" err="1">
                          <a:solidFill>
                            <a:srgbClr val="000000"/>
                          </a:solidFill>
                          <a:effectLst/>
                          <a:latin typeface="InaiMathi" pitchFamily="2" charset="0"/>
                          <a:cs typeface="InaiMathi" pitchFamily="2" charset="0"/>
                        </a:rPr>
                        <a:t>event_json</a:t>
                      </a:r>
                      <a:endParaRPr lang="en-US" sz="1100" b="1" dirty="0">
                        <a:solidFill>
                          <a:srgbClr val="000000"/>
                        </a:solidFill>
                        <a:effectLst/>
                        <a:latin typeface="InaiMathi" pitchFamily="2" charset="0"/>
                        <a:cs typeface="InaiMathi" pitchFamily="2" charset="0"/>
                      </a:endParaRPr>
                    </a:p>
                  </a:txBody>
                  <a:tcPr marL="64945" marR="64945" marT="32473" marB="32473" anchor="b"/>
                </a:tc>
                <a:tc>
                  <a:txBody>
                    <a:bodyPr/>
                    <a:lstStyle/>
                    <a:p>
                      <a:pPr algn="l" fontAlgn="b"/>
                      <a:r>
                        <a:rPr lang="en-US" sz="1100" b="1" dirty="0" err="1">
                          <a:solidFill>
                            <a:srgbClr val="000000"/>
                          </a:solidFill>
                          <a:effectLst/>
                          <a:latin typeface="InaiMathi" pitchFamily="2" charset="0"/>
                          <a:cs typeface="InaiMathi" pitchFamily="2" charset="0"/>
                        </a:rPr>
                        <a:t>created_at</a:t>
                      </a:r>
                      <a:endParaRPr lang="en-US" sz="1100" b="1" dirty="0">
                        <a:solidFill>
                          <a:srgbClr val="000000"/>
                        </a:solidFill>
                        <a:effectLst/>
                        <a:latin typeface="InaiMathi" pitchFamily="2" charset="0"/>
                        <a:cs typeface="InaiMathi" pitchFamily="2" charset="0"/>
                      </a:endParaRPr>
                    </a:p>
                  </a:txBody>
                  <a:tcPr marL="64945" marR="64945" marT="32473" marB="32473" anchor="b"/>
                </a:tc>
                <a:extLst>
                  <a:ext uri="{0D108BD9-81ED-4DB2-BD59-A6C34878D82A}">
                    <a16:rowId xmlns:a16="http://schemas.microsoft.com/office/drawing/2014/main" val="1894546526"/>
                  </a:ext>
                </a:extLst>
              </a:tr>
              <a:tr h="0">
                <a:tc>
                  <a:txBody>
                    <a:bodyPr/>
                    <a:lstStyle/>
                    <a:p>
                      <a:pPr algn="l" fontAlgn="base"/>
                      <a:r>
                        <a:rPr lang="en-US" sz="1100">
                          <a:effectLst/>
                          <a:latin typeface="InaiMathi" pitchFamily="2" charset="0"/>
                          <a:cs typeface="InaiMathi" pitchFamily="2" charset="0"/>
                        </a:rPr>
                        <a:t>1</a:t>
                      </a:r>
                    </a:p>
                  </a:txBody>
                  <a:tcPr marL="64945" marR="64945" marT="32473" marB="32473" anchor="ctr"/>
                </a:tc>
                <a:tc>
                  <a:txBody>
                    <a:bodyPr/>
                    <a:lstStyle/>
                    <a:p>
                      <a:pPr algn="l" fontAlgn="base"/>
                      <a:r>
                        <a:rPr lang="en-US" sz="1100">
                          <a:effectLst/>
                          <a:latin typeface="InaiMathi" pitchFamily="2" charset="0"/>
                          <a:cs typeface="InaiMathi" pitchFamily="2" charset="0"/>
                        </a:rPr>
                        <a:t>queued</a:t>
                      </a:r>
                    </a:p>
                  </a:txBody>
                  <a:tcPr marL="64945" marR="64945" marT="32473" marB="32473" anchor="ctr"/>
                </a:tc>
                <a:tc>
                  <a:txBody>
                    <a:bodyPr/>
                    <a:lstStyle/>
                    <a:p>
                      <a:pPr algn="l" fontAlgn="base"/>
                      <a:r>
                        <a:rPr lang="en-US" sz="1100" dirty="0">
                          <a:effectLst/>
                          <a:latin typeface="InaiMathi" pitchFamily="2" charset="0"/>
                          <a:cs typeface="InaiMathi" pitchFamily="2" charset="0"/>
                        </a:rPr>
                        <a:t>{"queue": "</a:t>
                      </a:r>
                      <a:r>
                        <a:rPr lang="en-US" sz="1100" dirty="0" err="1">
                          <a:effectLst/>
                          <a:latin typeface="InaiMathi" pitchFamily="2" charset="0"/>
                          <a:cs typeface="InaiMathi" pitchFamily="2" charset="0"/>
                        </a:rPr>
                        <a:t>agent.run</a:t>
                      </a:r>
                      <a:r>
                        <a:rPr lang="en-US" sz="1100" dirty="0">
                          <a:effectLst/>
                          <a:latin typeface="InaiMathi" pitchFamily="2" charset="0"/>
                          <a:cs typeface="InaiMathi" pitchFamily="2" charset="0"/>
                        </a:rPr>
                        <a:t>"}</a:t>
                      </a:r>
                    </a:p>
                  </a:txBody>
                  <a:tcPr marL="64945" marR="64945" marT="32473" marB="32473" anchor="ctr"/>
                </a:tc>
                <a:tc>
                  <a:txBody>
                    <a:bodyPr/>
                    <a:lstStyle/>
                    <a:p>
                      <a:pPr algn="l" fontAlgn="base"/>
                      <a:r>
                        <a:rPr lang="en-US" sz="1100" dirty="0">
                          <a:effectLst/>
                          <a:latin typeface="InaiMathi" pitchFamily="2" charset="0"/>
                          <a:cs typeface="InaiMathi" pitchFamily="2" charset="0"/>
                        </a:rPr>
                        <a:t>10:00:00</a:t>
                      </a:r>
                    </a:p>
                  </a:txBody>
                  <a:tcPr marL="64945" marR="64945" marT="32473" marB="32473" anchor="ctr"/>
                </a:tc>
                <a:extLst>
                  <a:ext uri="{0D108BD9-81ED-4DB2-BD59-A6C34878D82A}">
                    <a16:rowId xmlns:a16="http://schemas.microsoft.com/office/drawing/2014/main" val="967396942"/>
                  </a:ext>
                </a:extLst>
              </a:tr>
              <a:tr h="0">
                <a:tc>
                  <a:txBody>
                    <a:bodyPr/>
                    <a:lstStyle/>
                    <a:p>
                      <a:pPr algn="l" fontAlgn="base"/>
                      <a:r>
                        <a:rPr lang="en-US" sz="1100">
                          <a:effectLst/>
                          <a:latin typeface="InaiMathi" pitchFamily="2" charset="0"/>
                          <a:cs typeface="InaiMathi" pitchFamily="2" charset="0"/>
                        </a:rPr>
                        <a:t>2</a:t>
                      </a:r>
                    </a:p>
                  </a:txBody>
                  <a:tcPr marL="64945" marR="64945" marT="32473" marB="32473" anchor="ctr"/>
                </a:tc>
                <a:tc>
                  <a:txBody>
                    <a:bodyPr/>
                    <a:lstStyle/>
                    <a:p>
                      <a:pPr algn="l" fontAlgn="base"/>
                      <a:r>
                        <a:rPr lang="en-US" sz="1100" dirty="0">
                          <a:effectLst/>
                          <a:latin typeface="InaiMathi" pitchFamily="2" charset="0"/>
                          <a:cs typeface="InaiMathi" pitchFamily="2" charset="0"/>
                        </a:rPr>
                        <a:t>started</a:t>
                      </a:r>
                    </a:p>
                  </a:txBody>
                  <a:tcPr marL="64945" marR="64945" marT="32473" marB="32473" anchor="ctr"/>
                </a:tc>
                <a:tc>
                  <a:txBody>
                    <a:bodyPr/>
                    <a:lstStyle/>
                    <a:p>
                      <a:pPr algn="l" fontAlgn="base"/>
                      <a:r>
                        <a:rPr lang="en-US" sz="1100">
                          <a:effectLst/>
                          <a:latin typeface="InaiMathi" pitchFamily="2" charset="0"/>
                          <a:cs typeface="InaiMathi" pitchFamily="2" charset="0"/>
                        </a:rPr>
                        <a:t>{"worker": "worker-1"}</a:t>
                      </a:r>
                    </a:p>
                  </a:txBody>
                  <a:tcPr marL="64945" marR="64945" marT="32473" marB="32473" anchor="ctr"/>
                </a:tc>
                <a:tc>
                  <a:txBody>
                    <a:bodyPr/>
                    <a:lstStyle/>
                    <a:p>
                      <a:pPr algn="l" fontAlgn="base"/>
                      <a:r>
                        <a:rPr lang="en-US" sz="1100">
                          <a:effectLst/>
                          <a:latin typeface="InaiMathi" pitchFamily="2" charset="0"/>
                          <a:cs typeface="InaiMathi" pitchFamily="2" charset="0"/>
                        </a:rPr>
                        <a:t>10:00:02</a:t>
                      </a:r>
                    </a:p>
                  </a:txBody>
                  <a:tcPr marL="64945" marR="64945" marT="32473" marB="32473" anchor="ctr"/>
                </a:tc>
                <a:extLst>
                  <a:ext uri="{0D108BD9-81ED-4DB2-BD59-A6C34878D82A}">
                    <a16:rowId xmlns:a16="http://schemas.microsoft.com/office/drawing/2014/main" val="1595113937"/>
                  </a:ext>
                </a:extLst>
              </a:tr>
              <a:tr h="0">
                <a:tc>
                  <a:txBody>
                    <a:bodyPr/>
                    <a:lstStyle/>
                    <a:p>
                      <a:pPr algn="l" fontAlgn="base"/>
                      <a:r>
                        <a:rPr lang="en-US" sz="1100">
                          <a:effectLst/>
                          <a:latin typeface="InaiMathi" pitchFamily="2" charset="0"/>
                          <a:cs typeface="InaiMathi" pitchFamily="2" charset="0"/>
                        </a:rPr>
                        <a:t>3</a:t>
                      </a:r>
                    </a:p>
                  </a:txBody>
                  <a:tcPr marL="64945" marR="64945" marT="32473" marB="32473" anchor="ctr"/>
                </a:tc>
                <a:tc>
                  <a:txBody>
                    <a:bodyPr/>
                    <a:lstStyle/>
                    <a:p>
                      <a:pPr algn="l" fontAlgn="base"/>
                      <a:r>
                        <a:rPr lang="en-US" sz="1100">
                          <a:effectLst/>
                          <a:latin typeface="InaiMathi" pitchFamily="2" charset="0"/>
                          <a:cs typeface="InaiMathi" pitchFamily="2" charset="0"/>
                        </a:rPr>
                        <a:t>progress</a:t>
                      </a:r>
                    </a:p>
                  </a:txBody>
                  <a:tcPr marL="64945" marR="64945" marT="32473" marB="32473" anchor="ctr"/>
                </a:tc>
                <a:tc>
                  <a:txBody>
                    <a:bodyPr/>
                    <a:lstStyle/>
                    <a:p>
                      <a:pPr algn="l" fontAlgn="base"/>
                      <a:r>
                        <a:rPr lang="en-US" sz="1100">
                          <a:effectLst/>
                          <a:latin typeface="InaiMathi" pitchFamily="2" charset="0"/>
                          <a:cs typeface="InaiMathi" pitchFamily="2" charset="0"/>
                        </a:rPr>
                        <a:t>{"step": 1, "message": "Classifying intent"}</a:t>
                      </a:r>
                    </a:p>
                  </a:txBody>
                  <a:tcPr marL="64945" marR="64945" marT="32473" marB="32473" anchor="ctr"/>
                </a:tc>
                <a:tc>
                  <a:txBody>
                    <a:bodyPr/>
                    <a:lstStyle/>
                    <a:p>
                      <a:pPr algn="l" fontAlgn="base"/>
                      <a:r>
                        <a:rPr lang="en-US" sz="1100">
                          <a:effectLst/>
                          <a:latin typeface="InaiMathi" pitchFamily="2" charset="0"/>
                          <a:cs typeface="InaiMathi" pitchFamily="2" charset="0"/>
                        </a:rPr>
                        <a:t>10:00:03</a:t>
                      </a:r>
                    </a:p>
                  </a:txBody>
                  <a:tcPr marL="64945" marR="64945" marT="32473" marB="32473" anchor="ctr"/>
                </a:tc>
                <a:extLst>
                  <a:ext uri="{0D108BD9-81ED-4DB2-BD59-A6C34878D82A}">
                    <a16:rowId xmlns:a16="http://schemas.microsoft.com/office/drawing/2014/main" val="2700406855"/>
                  </a:ext>
                </a:extLst>
              </a:tr>
              <a:tr h="0">
                <a:tc>
                  <a:txBody>
                    <a:bodyPr/>
                    <a:lstStyle/>
                    <a:p>
                      <a:pPr algn="l" fontAlgn="base"/>
                      <a:r>
                        <a:rPr lang="en-US" sz="1100">
                          <a:effectLst/>
                          <a:latin typeface="InaiMathi" pitchFamily="2" charset="0"/>
                          <a:cs typeface="InaiMathi" pitchFamily="2" charset="0"/>
                        </a:rPr>
                        <a:t>4</a:t>
                      </a:r>
                    </a:p>
                  </a:txBody>
                  <a:tcPr marL="64945" marR="64945" marT="32473" marB="32473" anchor="ctr"/>
                </a:tc>
                <a:tc>
                  <a:txBody>
                    <a:bodyPr/>
                    <a:lstStyle/>
                    <a:p>
                      <a:pPr algn="l" fontAlgn="base"/>
                      <a:r>
                        <a:rPr lang="en-US" sz="1100">
                          <a:effectLst/>
                          <a:latin typeface="InaiMathi" pitchFamily="2" charset="0"/>
                          <a:cs typeface="InaiMathi" pitchFamily="2" charset="0"/>
                        </a:rPr>
                        <a:t>progress</a:t>
                      </a:r>
                    </a:p>
                  </a:txBody>
                  <a:tcPr marL="64945" marR="64945" marT="32473" marB="32473" anchor="ctr"/>
                </a:tc>
                <a:tc>
                  <a:txBody>
                    <a:bodyPr/>
                    <a:lstStyle/>
                    <a:p>
                      <a:pPr algn="l" fontAlgn="base"/>
                      <a:r>
                        <a:rPr lang="en-US" sz="1100">
                          <a:effectLst/>
                          <a:latin typeface="InaiMathi" pitchFamily="2" charset="0"/>
                          <a:cs typeface="InaiMathi" pitchFamily="2" charset="0"/>
                        </a:rPr>
                        <a:t>{"step": 2, "message": "Executing graph query"}</a:t>
                      </a:r>
                    </a:p>
                  </a:txBody>
                  <a:tcPr marL="64945" marR="64945" marT="32473" marB="32473" anchor="ctr"/>
                </a:tc>
                <a:tc>
                  <a:txBody>
                    <a:bodyPr/>
                    <a:lstStyle/>
                    <a:p>
                      <a:pPr algn="l" fontAlgn="base"/>
                      <a:r>
                        <a:rPr lang="en-US" sz="1100">
                          <a:effectLst/>
                          <a:latin typeface="InaiMathi" pitchFamily="2" charset="0"/>
                          <a:cs typeface="InaiMathi" pitchFamily="2" charset="0"/>
                        </a:rPr>
                        <a:t>10:00:05</a:t>
                      </a:r>
                    </a:p>
                  </a:txBody>
                  <a:tcPr marL="64945" marR="64945" marT="32473" marB="32473" anchor="ctr"/>
                </a:tc>
                <a:extLst>
                  <a:ext uri="{0D108BD9-81ED-4DB2-BD59-A6C34878D82A}">
                    <a16:rowId xmlns:a16="http://schemas.microsoft.com/office/drawing/2014/main" val="1059797956"/>
                  </a:ext>
                </a:extLst>
              </a:tr>
              <a:tr h="0">
                <a:tc>
                  <a:txBody>
                    <a:bodyPr/>
                    <a:lstStyle/>
                    <a:p>
                      <a:pPr algn="l" fontAlgn="base"/>
                      <a:r>
                        <a:rPr lang="en-US" sz="1100">
                          <a:effectLst/>
                          <a:latin typeface="InaiMathi" pitchFamily="2" charset="0"/>
                          <a:cs typeface="InaiMathi" pitchFamily="2" charset="0"/>
                        </a:rPr>
                        <a:t>5</a:t>
                      </a:r>
                    </a:p>
                  </a:txBody>
                  <a:tcPr marL="64945" marR="64945" marT="32473" marB="32473" anchor="ctr"/>
                </a:tc>
                <a:tc>
                  <a:txBody>
                    <a:bodyPr/>
                    <a:lstStyle/>
                    <a:p>
                      <a:pPr algn="l" fontAlgn="base"/>
                      <a:r>
                        <a:rPr lang="en-US" sz="1100">
                          <a:effectLst/>
                          <a:latin typeface="InaiMathi" pitchFamily="2" charset="0"/>
                          <a:cs typeface="InaiMathi" pitchFamily="2" charset="0"/>
                        </a:rPr>
                        <a:t>progress</a:t>
                      </a:r>
                    </a:p>
                  </a:txBody>
                  <a:tcPr marL="64945" marR="64945" marT="32473" marB="32473" anchor="ctr"/>
                </a:tc>
                <a:tc>
                  <a:txBody>
                    <a:bodyPr/>
                    <a:lstStyle/>
                    <a:p>
                      <a:pPr algn="l" fontAlgn="base"/>
                      <a:r>
                        <a:rPr lang="en-US" sz="1100">
                          <a:effectLst/>
                          <a:latin typeface="InaiMathi" pitchFamily="2" charset="0"/>
                          <a:cs typeface="InaiMathi" pitchFamily="2" charset="0"/>
                        </a:rPr>
                        <a:t>{"step": 3, "message": "Generating response"}</a:t>
                      </a:r>
                    </a:p>
                  </a:txBody>
                  <a:tcPr marL="64945" marR="64945" marT="32473" marB="32473" anchor="ctr"/>
                </a:tc>
                <a:tc>
                  <a:txBody>
                    <a:bodyPr/>
                    <a:lstStyle/>
                    <a:p>
                      <a:pPr algn="l" fontAlgn="base"/>
                      <a:r>
                        <a:rPr lang="en-US" sz="1100">
                          <a:effectLst/>
                          <a:latin typeface="InaiMathi" pitchFamily="2" charset="0"/>
                          <a:cs typeface="InaiMathi" pitchFamily="2" charset="0"/>
                        </a:rPr>
                        <a:t>10:00:08</a:t>
                      </a:r>
                    </a:p>
                  </a:txBody>
                  <a:tcPr marL="64945" marR="64945" marT="32473" marB="32473" anchor="ctr"/>
                </a:tc>
                <a:extLst>
                  <a:ext uri="{0D108BD9-81ED-4DB2-BD59-A6C34878D82A}">
                    <a16:rowId xmlns:a16="http://schemas.microsoft.com/office/drawing/2014/main" val="3625610617"/>
                  </a:ext>
                </a:extLst>
              </a:tr>
              <a:tr h="0">
                <a:tc>
                  <a:txBody>
                    <a:bodyPr/>
                    <a:lstStyle/>
                    <a:p>
                      <a:pPr algn="l" fontAlgn="base"/>
                      <a:r>
                        <a:rPr lang="en-US" sz="1100">
                          <a:effectLst/>
                          <a:latin typeface="InaiMathi" pitchFamily="2" charset="0"/>
                          <a:cs typeface="InaiMathi" pitchFamily="2" charset="0"/>
                        </a:rPr>
                        <a:t>6</a:t>
                      </a:r>
                    </a:p>
                  </a:txBody>
                  <a:tcPr marL="64945" marR="64945" marT="32473" marB="32473" anchor="ctr"/>
                </a:tc>
                <a:tc>
                  <a:txBody>
                    <a:bodyPr/>
                    <a:lstStyle/>
                    <a:p>
                      <a:pPr algn="l" fontAlgn="base"/>
                      <a:r>
                        <a:rPr lang="en-US" sz="1100">
                          <a:effectLst/>
                          <a:latin typeface="InaiMathi" pitchFamily="2" charset="0"/>
                          <a:cs typeface="InaiMathi" pitchFamily="2" charset="0"/>
                        </a:rPr>
                        <a:t>complete</a:t>
                      </a:r>
                    </a:p>
                  </a:txBody>
                  <a:tcPr marL="64945" marR="64945" marT="32473" marB="32473" anchor="ctr"/>
                </a:tc>
                <a:tc>
                  <a:txBody>
                    <a:bodyPr/>
                    <a:lstStyle/>
                    <a:p>
                      <a:pPr algn="l" fontAlgn="base"/>
                      <a:r>
                        <a:rPr lang="en-US" sz="1100">
                          <a:effectLst/>
                          <a:latin typeface="InaiMathi" pitchFamily="2" charset="0"/>
                          <a:cs typeface="InaiMathi" pitchFamily="2" charset="0"/>
                        </a:rPr>
                        <a:t>{"status": "finished", "duration_ms": 8000}</a:t>
                      </a:r>
                    </a:p>
                  </a:txBody>
                  <a:tcPr marL="64945" marR="64945" marT="32473" marB="32473" anchor="ctr"/>
                </a:tc>
                <a:tc>
                  <a:txBody>
                    <a:bodyPr/>
                    <a:lstStyle/>
                    <a:p>
                      <a:pPr algn="l" fontAlgn="base"/>
                      <a:r>
                        <a:rPr lang="en-US" sz="1100" dirty="0">
                          <a:effectLst/>
                          <a:latin typeface="InaiMathi" pitchFamily="2" charset="0"/>
                          <a:cs typeface="InaiMathi" pitchFamily="2" charset="0"/>
                        </a:rPr>
                        <a:t>10:00:10</a:t>
                      </a:r>
                    </a:p>
                  </a:txBody>
                  <a:tcPr marL="64945" marR="64945" marT="32473" marB="32473" anchor="ctr"/>
                </a:tc>
                <a:extLst>
                  <a:ext uri="{0D108BD9-81ED-4DB2-BD59-A6C34878D82A}">
                    <a16:rowId xmlns:a16="http://schemas.microsoft.com/office/drawing/2014/main" val="1127552143"/>
                  </a:ext>
                </a:extLst>
              </a:tr>
            </a:tbl>
          </a:graphicData>
        </a:graphic>
      </p:graphicFrame>
      <p:sp>
        <p:nvSpPr>
          <p:cNvPr id="3" name="Footer Placeholder 10">
            <a:extLst>
              <a:ext uri="{FF2B5EF4-FFF2-40B4-BE49-F238E27FC236}">
                <a16:creationId xmlns:a16="http://schemas.microsoft.com/office/drawing/2014/main" id="{F945A2C5-5F2C-0BF4-E011-D1F60922FD07}"/>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054439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F035F-D663-1FED-9735-DCDE5831C9B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4F7191C-9694-D8F5-9B49-0EADC3522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FBF63D09-610A-747D-004A-7A8E3A548438}"/>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A46BFC8-33C7-920A-A822-3E1C2F4F952B}"/>
              </a:ext>
            </a:extLst>
          </p:cNvPr>
          <p:cNvSpPr>
            <a:spLocks noGrp="1"/>
          </p:cNvSpPr>
          <p:nvPr>
            <p:ph type="sldNum" sz="quarter" idx="12"/>
          </p:nvPr>
        </p:nvSpPr>
        <p:spPr/>
        <p:txBody>
          <a:bodyPr/>
          <a:lstStyle/>
          <a:p>
            <a:fld id="{48F19E39-9933-F648-B2F3-3AC17C0DC986}" type="slidenum">
              <a:rPr lang="en-US" smtClean="0">
                <a:solidFill>
                  <a:schemeClr val="bg1"/>
                </a:solidFill>
              </a:rPr>
              <a:t>40</a:t>
            </a:fld>
            <a:endParaRPr lang="en-US" dirty="0">
              <a:solidFill>
                <a:schemeClr val="bg1"/>
              </a:solidFill>
            </a:endParaRPr>
          </a:p>
        </p:txBody>
      </p:sp>
      <p:sp>
        <p:nvSpPr>
          <p:cNvPr id="5" name="TextBox 4">
            <a:extLst>
              <a:ext uri="{FF2B5EF4-FFF2-40B4-BE49-F238E27FC236}">
                <a16:creationId xmlns:a16="http://schemas.microsoft.com/office/drawing/2014/main" id="{DD7F88C6-917F-757C-84A0-C41DB39D74BA}"/>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PHASE 4: COMPLETION - Long-Running Job Completion (Workflow B)</a:t>
            </a:r>
            <a:r>
              <a:rPr lang="en-US" sz="2000" b="1" dirty="0">
                <a:solidFill>
                  <a:srgbClr val="822334"/>
                </a:solidFill>
                <a:effectLst/>
                <a:latin typeface="Inter" panose="02000503000000020004" pitchFamily="2" charset="0"/>
                <a:ea typeface="Inter" panose="02000503000000020004" pitchFamily="2" charset="0"/>
                <a:cs typeface="Inter" panose="02000503000000020004" pitchFamily="2" charset="0"/>
              </a:rPr>
              <a:t> - </a:t>
            </a:r>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(Part 2/2)</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For async jobs that run in a separate worker process.</a:t>
            </a:r>
          </a:p>
        </p:txBody>
      </p:sp>
      <p:sp>
        <p:nvSpPr>
          <p:cNvPr id="8" name="TextBox 7">
            <a:extLst>
              <a:ext uri="{FF2B5EF4-FFF2-40B4-BE49-F238E27FC236}">
                <a16:creationId xmlns:a16="http://schemas.microsoft.com/office/drawing/2014/main" id="{593F18AD-74AB-0ED6-5E8C-575C433D02E1}"/>
              </a:ext>
            </a:extLst>
          </p:cNvPr>
          <p:cNvSpPr txBox="1"/>
          <p:nvPr/>
        </p:nvSpPr>
        <p:spPr>
          <a:xfrm>
            <a:off x="596348" y="1159801"/>
            <a:ext cx="10855955" cy="5278368"/>
          </a:xfrm>
          <a:prstGeom prst="rect">
            <a:avLst/>
          </a:prstGeom>
          <a:noFill/>
        </p:spPr>
        <p:txBody>
          <a:bodyPr wrap="square" rtlCol="0">
            <a:spAutoFit/>
          </a:bodyPr>
          <a:lstStyle/>
          <a:p>
            <a:r>
              <a:rPr lang="en-US" sz="1300" b="1" i="0" dirty="0">
                <a:effectLst/>
                <a:latin typeface="Inter" panose="02000503000000020004" pitchFamily="2" charset="0"/>
                <a:ea typeface="Inter" panose="02000503000000020004" pitchFamily="2" charset="0"/>
                <a:cs typeface="Inter" panose="02000503000000020004" pitchFamily="2" charset="0"/>
              </a:rPr>
              <a:t>3. Progress Event Format</a:t>
            </a:r>
          </a:p>
          <a:p>
            <a:pPr marL="285750" indent="-285750">
              <a:buFontTx/>
              <a:buChar char="-"/>
            </a:pP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stage: Which phase: initialization, orchestration, finalization</a:t>
            </a:r>
          </a:p>
          <a:p>
            <a:pPr marL="285750" indent="-285750">
              <a:buFontTx/>
              <a:buChar char="-"/>
            </a:pP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message: Human-readable description of current action</a:t>
            </a:r>
          </a:p>
          <a:p>
            <a:pPr marL="285750" indent="-285750">
              <a:buFontTx/>
              <a:buChar char="-"/>
            </a:pP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percent: Progress bar value (</a:t>
            </a:r>
            <a:r>
              <a:rPr lang="en-US" sz="1300" b="0" dirty="0">
                <a:solidFill>
                  <a:srgbClr val="098658"/>
                </a:solidFill>
                <a:effectLst/>
                <a:latin typeface="Inter" panose="02000503000000020004" pitchFamily="2" charset="0"/>
                <a:ea typeface="Inter" panose="02000503000000020004" pitchFamily="2" charset="0"/>
                <a:cs typeface="Inter" panose="02000503000000020004" pitchFamily="2" charset="0"/>
              </a:rPr>
              <a:t>0-100</a:t>
            </a:r>
            <a:r>
              <a:rPr lang="en-US" sz="1300" b="0" dirty="0">
                <a:solidFill>
                  <a:srgbClr val="000000"/>
                </a:solidFill>
                <a:effectLst/>
                <a:latin typeface="Inter" panose="02000503000000020004" pitchFamily="2" charset="0"/>
                <a:ea typeface="Inter" panose="02000503000000020004" pitchFamily="2" charset="0"/>
                <a:cs typeface="Inter" panose="02000503000000020004" pitchFamily="2" charset="0"/>
              </a:rPr>
              <a:t>) for the UI</a:t>
            </a:r>
            <a:endParaRPr lang="en-US" b="0" i="0" dirty="0">
              <a:effectLst/>
              <a:latin typeface="Inter" panose="02000503000000020004" pitchFamily="2" charset="0"/>
              <a:ea typeface="Inter" panose="02000503000000020004" pitchFamily="2" charset="0"/>
              <a:cs typeface="Inter" panose="02000503000000020004" pitchFamily="2" charset="0"/>
            </a:endParaRPr>
          </a:p>
          <a:p>
            <a:endPar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"stage"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"orchestration"</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"message"</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"Executing step 3 of 5: </a:t>
            </a:r>
            <a:r>
              <a:rPr lang="en-US" sz="1100" b="0" i="0" dirty="0" err="1">
                <a:solidFill>
                  <a:srgbClr val="A31515"/>
                </a:solidFill>
                <a:effectLst/>
                <a:latin typeface="Menlo" panose="020B0609030804020204" pitchFamily="49" charset="0"/>
                <a:ea typeface="Menlo" panose="020B0609030804020204" pitchFamily="49" charset="0"/>
                <a:cs typeface="Menlo" panose="020B0609030804020204" pitchFamily="49" charset="0"/>
              </a:rPr>
              <a:t>graph.query</a:t>
            </a:r>
            <a:r>
              <a:rPr lang="en-US" sz="1100" b="0" i="0" dirty="0">
                <a:solidFill>
                  <a:srgbClr val="A31515"/>
                </a:solidFill>
                <a:effectLst/>
                <a:latin typeface="Menlo" panose="020B0609030804020204" pitchFamily="49" charset="0"/>
                <a:ea typeface="Menlo" panose="020B0609030804020204" pitchFamily="49" charset="0"/>
                <a:cs typeface="Menlo" panose="020B0609030804020204" pitchFamily="49" charset="0"/>
              </a:rPr>
              <a: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sz="1100" b="0" i="0" dirty="0">
              <a:solidFill>
                <a:srgbClr val="E5E7EB"/>
              </a:solidFill>
              <a:effectLst/>
              <a:latin typeface="Menlo" panose="020B0609030804020204" pitchFamily="49" charset="0"/>
              <a:ea typeface="Menlo" panose="020B0609030804020204" pitchFamily="49" charset="0"/>
              <a:cs typeface="Menlo" panose="020B0609030804020204" pitchFamily="49" charset="0"/>
            </a:endParaRPr>
          </a:p>
          <a:p>
            <a:pPr lvl="1"/>
            <a:r>
              <a:rPr lang="en-US" sz="1100" b="0" i="0" dirty="0">
                <a:solidFill>
                  <a:srgbClr val="0451A5"/>
                </a:solidFill>
                <a:effectLst/>
                <a:latin typeface="Menlo" panose="020B0609030804020204" pitchFamily="49" charset="0"/>
                <a:ea typeface="Menlo" panose="020B0609030804020204" pitchFamily="49" charset="0"/>
                <a:cs typeface="Menlo" panose="020B0609030804020204" pitchFamily="49" charset="0"/>
              </a:rPr>
              <a:t>"percent"</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 </a:t>
            </a:r>
            <a:r>
              <a:rPr lang="en-US" sz="1100" b="0" i="0" dirty="0">
                <a:solidFill>
                  <a:srgbClr val="098658"/>
                </a:solidFill>
                <a:effectLst/>
                <a:latin typeface="Menlo" panose="020B0609030804020204" pitchFamily="49" charset="0"/>
                <a:ea typeface="Menlo" panose="020B0609030804020204" pitchFamily="49" charset="0"/>
                <a:cs typeface="Menlo" panose="020B0609030804020204" pitchFamily="49" charset="0"/>
              </a:rPr>
              <a:t>60</a:t>
            </a:r>
            <a:r>
              <a:rPr lang="en-US" sz="1100" b="0" i="0" dirty="0">
                <a:solidFill>
                  <a:srgbClr val="000000"/>
                </a:solidFill>
                <a:effectLst/>
                <a:latin typeface="Menlo" panose="020B0609030804020204" pitchFamily="49" charset="0"/>
                <a:ea typeface="Menlo" panose="020B0609030804020204" pitchFamily="49" charset="0"/>
                <a:cs typeface="Menlo" panose="020B0609030804020204" pitchFamily="49" charset="0"/>
              </a:rPr>
              <a:t>}</a:t>
            </a:r>
            <a:endParaRPr lang="en-US" b="1" i="0" dirty="0">
              <a:solidFill>
                <a:srgbClr val="616161"/>
              </a:solidFill>
              <a:effectLst/>
              <a:latin typeface="-apple-system"/>
            </a:endParaRPr>
          </a:p>
          <a:p>
            <a:endParaRPr lang="en-US" sz="130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4. Stream Updates via Server-Sent Events (SSE),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SSE is</a:t>
            </a:r>
            <a:r>
              <a:rPr lang="en-US" sz="1300" b="0" i="0" dirty="0">
                <a:effectLst/>
                <a:latin typeface="Inter" panose="02000503000000020004" pitchFamily="2" charset="0"/>
                <a:ea typeface="Inter" panose="02000503000000020004" pitchFamily="2" charset="0"/>
                <a:cs typeface="Inter" panose="02000503000000020004" pitchFamily="2" charset="0"/>
              </a:rPr>
              <a:t> a way for the server to push updates to the client in real-time (one-way communication).</a:t>
            </a:r>
            <a:r>
              <a:rPr lang="en-US" sz="1300" i="0" dirty="0">
                <a:effectLst/>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400" b="0" i="0" dirty="0">
                <a:effectLst/>
                <a:latin typeface="Inter" panose="02000503000000020004" pitchFamily="2" charset="0"/>
                <a:ea typeface="Inter" panose="02000503000000020004" pitchFamily="2" charset="0"/>
                <a:cs typeface="Inter" panose="02000503000000020004" pitchFamily="2" charset="0"/>
              </a:rPr>
              <a:t>Server sends empty ping every 15s,</a:t>
            </a:r>
            <a:r>
              <a:rPr lang="en-US" sz="1300" b="0" dirty="0">
                <a:latin typeface="Inter" panose="02000503000000020004" pitchFamily="2" charset="0"/>
                <a:ea typeface="Inter" panose="02000503000000020004" pitchFamily="2" charset="0"/>
                <a:cs typeface="Inter" panose="02000503000000020004" pitchFamily="2" charset="0"/>
              </a:rPr>
              <a:t> to</a:t>
            </a:r>
            <a:r>
              <a:rPr lang="en-US" sz="1300" i="0" dirty="0">
                <a:effectLst/>
                <a:latin typeface="Inter" panose="02000503000000020004" pitchFamily="2" charset="0"/>
                <a:ea typeface="Inter" panose="02000503000000020004" pitchFamily="2" charset="0"/>
                <a:cs typeface="Inter" panose="02000503000000020004" pitchFamily="2" charset="0"/>
              </a:rPr>
              <a:t> prevent connection timeout.</a:t>
            </a:r>
            <a:r>
              <a:rPr lang="en-US" sz="1300" dirty="0">
                <a:latin typeface="Inter" panose="02000503000000020004" pitchFamily="2" charset="0"/>
                <a:ea typeface="Inter" panose="02000503000000020004" pitchFamily="2" charset="0"/>
                <a:cs typeface="Inter" panose="02000503000000020004" pitchFamily="2" charset="0"/>
              </a:rPr>
              <a:t> </a:t>
            </a:r>
            <a:r>
              <a:rPr lang="en-US" sz="1300" i="0" dirty="0">
                <a:effectLst/>
                <a:latin typeface="Inter" panose="02000503000000020004" pitchFamily="2" charset="0"/>
                <a:ea typeface="Inter" panose="02000503000000020004" pitchFamily="2" charset="0"/>
                <a:cs typeface="Inter" panose="02000503000000020004" pitchFamily="2" charset="0"/>
              </a:rPr>
              <a:t>Client displays progress bar and step-by-step log</a:t>
            </a:r>
            <a:endParaRPr lang="en-US" sz="1300" b="0" i="0" dirty="0">
              <a:effectLst/>
              <a:latin typeface="Inter" panose="02000503000000020004" pitchFamily="2" charset="0"/>
              <a:ea typeface="Inter" panose="02000503000000020004" pitchFamily="2" charset="0"/>
              <a:cs typeface="Inter" panose="02000503000000020004" pitchFamily="2" charset="0"/>
            </a:endParaRPr>
          </a:p>
          <a:p>
            <a:pPr algn="l"/>
            <a:endParaRPr lang="en-US" sz="13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How it works:</a:t>
            </a:r>
            <a:endParaRPr lang="en-US" sz="1100" b="0" dirty="0">
              <a:solidFill>
                <a:srgbClr val="000000"/>
              </a:solidFill>
              <a:effectLst/>
              <a:latin typeface="Menlo" panose="020B0609030804020204" pitchFamily="49" charset="0"/>
            </a:endParaRPr>
          </a:p>
          <a:p>
            <a:pPr lvl="1"/>
            <a:r>
              <a:rPr lang="en-US" sz="1100" b="0" dirty="0">
                <a:solidFill>
                  <a:srgbClr val="000000"/>
                </a:solidFill>
                <a:effectLst/>
                <a:latin typeface="Menlo" panose="020B0609030804020204" pitchFamily="49" charset="0"/>
              </a:rPr>
              <a:t>Client opens: GET /v1/jobs/{</a:t>
            </a:r>
            <a:r>
              <a:rPr lang="en-US" sz="1100" b="0" dirty="0">
                <a:solidFill>
                  <a:srgbClr val="CD3131"/>
                </a:solidFill>
                <a:effectLst/>
                <a:latin typeface="Menlo" panose="020B0609030804020204" pitchFamily="49" charset="0"/>
              </a:rPr>
              <a:t>id</a:t>
            </a:r>
            <a:r>
              <a:rPr lang="en-US" sz="1100" b="0" dirty="0">
                <a:solidFill>
                  <a:srgbClr val="000000"/>
                </a:solidFill>
                <a:effectLst/>
                <a:latin typeface="Menlo" panose="020B0609030804020204" pitchFamily="49" charset="0"/>
              </a:rPr>
              <a:t>}/events</a:t>
            </a:r>
          </a:p>
          <a:p>
            <a:pPr lvl="1"/>
            <a:r>
              <a:rPr lang="en-US" sz="1100" b="0" dirty="0">
                <a:solidFill>
                  <a:srgbClr val="000000"/>
                </a:solidFill>
                <a:effectLst/>
                <a:latin typeface="Menlo" panose="020B0609030804020204" pitchFamily="49" charset="0"/>
              </a:rPr>
              <a:t>Server sends:</a:t>
            </a:r>
          </a:p>
          <a:p>
            <a:pPr lvl="1"/>
            <a:r>
              <a:rPr lang="en-US" sz="1100" b="0" dirty="0">
                <a:solidFill>
                  <a:srgbClr val="000000"/>
                </a:solidFill>
                <a:effectLst/>
                <a:latin typeface="Menlo" panose="020B0609030804020204" pitchFamily="49" charset="0"/>
              </a:rPr>
              <a:t>event: started</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"status"</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"running"</a:t>
            </a:r>
            <a:r>
              <a:rPr lang="en-US" sz="1100" b="0" dirty="0">
                <a:solidFill>
                  <a:srgbClr val="000000"/>
                </a:solidFill>
                <a:effectLst/>
                <a:latin typeface="Menlo" panose="020B0609030804020204" pitchFamily="49" charset="0"/>
              </a:rPr>
              <a:t>}</a:t>
            </a:r>
          </a:p>
          <a:p>
            <a:pPr lvl="1"/>
            <a:r>
              <a:rPr lang="en-US" sz="1100" b="0" dirty="0">
                <a:solidFill>
                  <a:srgbClr val="000000"/>
                </a:solidFill>
                <a:effectLst/>
                <a:latin typeface="Menlo" panose="020B0609030804020204" pitchFamily="49" charset="0"/>
              </a:rPr>
              <a:t>event: progress</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"message"</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"Step 2 of 5"</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"percent"</a:t>
            </a:r>
            <a:r>
              <a:rPr lang="en-US" sz="1100" b="0" dirty="0">
                <a:solidFill>
                  <a:srgbClr val="000000"/>
                </a:solidFill>
                <a:effectLst/>
                <a:latin typeface="Menlo" panose="020B0609030804020204" pitchFamily="49" charset="0"/>
              </a:rPr>
              <a:t>: </a:t>
            </a:r>
            <a:r>
              <a:rPr lang="en-US" sz="1100" b="0" dirty="0">
                <a:solidFill>
                  <a:srgbClr val="098658"/>
                </a:solidFill>
                <a:effectLst/>
                <a:latin typeface="Menlo" panose="020B0609030804020204" pitchFamily="49" charset="0"/>
              </a:rPr>
              <a:t>40</a:t>
            </a:r>
            <a:r>
              <a:rPr lang="en-US" sz="1100" b="0" dirty="0">
                <a:solidFill>
                  <a:srgbClr val="000000"/>
                </a:solidFill>
                <a:effectLst/>
                <a:latin typeface="Menlo" panose="020B0609030804020204" pitchFamily="49" charset="0"/>
              </a:rPr>
              <a:t>}</a:t>
            </a:r>
          </a:p>
          <a:p>
            <a:pPr lvl="1"/>
            <a:r>
              <a:rPr lang="en-US" sz="1100" b="0" dirty="0">
                <a:solidFill>
                  <a:srgbClr val="000000"/>
                </a:solidFill>
                <a:effectLst/>
                <a:latin typeface="Menlo" panose="020B0609030804020204" pitchFamily="49" charset="0"/>
              </a:rPr>
              <a:t>event: progress</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"message"</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"Step 5 of 5"</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"percent"</a:t>
            </a:r>
            <a:r>
              <a:rPr lang="en-US" sz="1100" b="0" dirty="0">
                <a:solidFill>
                  <a:srgbClr val="000000"/>
                </a:solidFill>
                <a:effectLst/>
                <a:latin typeface="Menlo" panose="020B0609030804020204" pitchFamily="49" charset="0"/>
              </a:rPr>
              <a:t>: </a:t>
            </a:r>
            <a:r>
              <a:rPr lang="en-US" sz="1100" b="0" dirty="0">
                <a:solidFill>
                  <a:srgbClr val="098658"/>
                </a:solidFill>
                <a:effectLst/>
                <a:latin typeface="Menlo" panose="020B0609030804020204" pitchFamily="49" charset="0"/>
              </a:rPr>
              <a:t>95</a:t>
            </a:r>
            <a:r>
              <a:rPr lang="en-US" sz="1100" b="0" dirty="0">
                <a:solidFill>
                  <a:srgbClr val="000000"/>
                </a:solidFill>
                <a:effectLst/>
                <a:latin typeface="Menlo" panose="020B0609030804020204" pitchFamily="49" charset="0"/>
              </a:rPr>
              <a:t>}</a:t>
            </a:r>
          </a:p>
          <a:p>
            <a:pPr lvl="1"/>
            <a:r>
              <a:rPr lang="en-US" sz="1100" b="0" dirty="0">
                <a:solidFill>
                  <a:srgbClr val="000000"/>
                </a:solidFill>
                <a:effectLst/>
                <a:latin typeface="Menlo" panose="020B0609030804020204" pitchFamily="49" charset="0"/>
              </a:rPr>
              <a:t>event: complete</a:t>
            </a:r>
          </a:p>
          <a:p>
            <a:pPr lvl="1"/>
            <a:r>
              <a:rPr lang="en-US" sz="1100" b="0" dirty="0">
                <a:solidFill>
                  <a:srgbClr val="000000"/>
                </a:solidFill>
                <a:effectLst/>
                <a:latin typeface="Menlo" panose="020B0609030804020204" pitchFamily="49" charset="0"/>
              </a:rPr>
              <a:t>data: {</a:t>
            </a:r>
            <a:r>
              <a:rPr lang="en-US" sz="1100" b="0" dirty="0">
                <a:solidFill>
                  <a:srgbClr val="0451A5"/>
                </a:solidFill>
                <a:effectLst/>
                <a:latin typeface="Menlo" panose="020B0609030804020204" pitchFamily="49" charset="0"/>
              </a:rPr>
              <a:t>"status"</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"finished"</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"result"</a:t>
            </a:r>
            <a:r>
              <a:rPr lang="en-US" sz="1100" b="0" dirty="0">
                <a:solidFill>
                  <a:srgbClr val="000000"/>
                </a:solidFill>
                <a:effectLst/>
                <a:latin typeface="Menlo" panose="020B0609030804020204" pitchFamily="49" charset="0"/>
              </a:rPr>
              <a:t>: {</a:t>
            </a:r>
            <a:r>
              <a:rPr lang="en-US" sz="1100" b="0" dirty="0">
                <a:solidFill>
                  <a:srgbClr val="CD3131"/>
                </a:solidFill>
                <a:effectLst/>
                <a:latin typeface="Menlo" panose="020B0609030804020204" pitchFamily="49" charset="0"/>
              </a:rPr>
              <a:t>...</a:t>
            </a:r>
            <a:r>
              <a:rPr lang="en-US" sz="1100" b="0" dirty="0">
                <a:solidFill>
                  <a:srgbClr val="000000"/>
                </a:solidFill>
                <a:effectLst/>
                <a:latin typeface="Menlo" panose="020B0609030804020204" pitchFamily="49" charset="0"/>
              </a:rPr>
              <a:t>}}</a:t>
            </a:r>
            <a:endParaRPr lang="en-US" b="0" i="0" dirty="0">
              <a:solidFill>
                <a:srgbClr val="616161"/>
              </a:solidFill>
              <a:effectLst/>
              <a:latin typeface="-apple-system"/>
            </a:endParaRP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a:p>
            <a:r>
              <a:rPr lang="en-US" sz="1300" b="1" i="0" dirty="0">
                <a:effectLst/>
                <a:latin typeface="Inter" panose="02000503000000020004" pitchFamily="2" charset="0"/>
                <a:ea typeface="Inter" panose="02000503000000020004" pitchFamily="2" charset="0"/>
                <a:cs typeface="Inter" panose="02000503000000020004" pitchFamily="2" charset="0"/>
              </a:rPr>
              <a:t>5. Emit Terminal Status</a:t>
            </a:r>
            <a:r>
              <a:rPr lang="en-US" sz="1300" i="0" dirty="0">
                <a:effectLst/>
                <a:latin typeface="Inter" panose="02000503000000020004" pitchFamily="2" charset="0"/>
                <a:ea typeface="Inter" panose="02000503000000020004" pitchFamily="2" charset="0"/>
                <a:cs typeface="Inter" panose="02000503000000020004" pitchFamily="2" charset="0"/>
              </a:rPr>
              <a:t> - Client knows to close the SSE connection and stop polling/listening</a:t>
            </a:r>
            <a:endParaRPr lang="en-US" sz="13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Final SSE event: </a:t>
            </a:r>
            <a:r>
              <a:rPr lang="en-US" sz="1400" b="0" dirty="0">
                <a:solidFill>
                  <a:srgbClr val="000000"/>
                </a:solidFill>
                <a:effectLst/>
                <a:latin typeface="Menlo" panose="020B0609030804020204" pitchFamily="49" charset="0"/>
              </a:rPr>
              <a:t> </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"event"</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"complete"</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"status"</a:t>
            </a:r>
            <a:r>
              <a:rPr lang="en-US" sz="1100" b="0" dirty="0">
                <a:solidFill>
                  <a:srgbClr val="000000"/>
                </a:solidFill>
                <a:effectLst/>
                <a:latin typeface="Menlo" panose="020B0609030804020204" pitchFamily="49" charset="0"/>
              </a:rPr>
              <a:t>: </a:t>
            </a:r>
            <a:r>
              <a:rPr lang="en-US" sz="1100" b="0" dirty="0">
                <a:solidFill>
                  <a:srgbClr val="A31515"/>
                </a:solidFill>
                <a:effectLst/>
                <a:latin typeface="Menlo" panose="020B0609030804020204" pitchFamily="49" charset="0"/>
              </a:rPr>
              <a:t>"finished"</a:t>
            </a:r>
            <a:r>
              <a:rPr lang="en-US" sz="1100" b="0" dirty="0">
                <a:solidFill>
                  <a:srgbClr val="000000"/>
                </a:solidFill>
                <a:effectLst/>
                <a:latin typeface="Menlo" panose="020B0609030804020204" pitchFamily="49" charset="0"/>
              </a:rPr>
              <a:t>, </a:t>
            </a:r>
            <a:r>
              <a:rPr lang="en-US" sz="1100" b="0" dirty="0">
                <a:solidFill>
                  <a:srgbClr val="0451A5"/>
                </a:solidFill>
                <a:effectLst/>
                <a:latin typeface="Menlo" panose="020B0609030804020204" pitchFamily="49" charset="0"/>
              </a:rPr>
              <a:t>"result"</a:t>
            </a:r>
            <a:r>
              <a:rPr lang="en-US" sz="1100" b="0" dirty="0">
                <a:solidFill>
                  <a:srgbClr val="000000"/>
                </a:solidFill>
                <a:effectLst/>
                <a:latin typeface="Menlo" panose="020B0609030804020204" pitchFamily="49" charset="0"/>
              </a:rPr>
              <a:t>: {</a:t>
            </a:r>
            <a:r>
              <a:rPr lang="en-US" sz="1100" b="0" dirty="0">
                <a:solidFill>
                  <a:srgbClr val="CD3131"/>
                </a:solidFill>
                <a:effectLst/>
                <a:latin typeface="Menlo" panose="020B0609030804020204" pitchFamily="49" charset="0"/>
              </a:rPr>
              <a:t>...</a:t>
            </a:r>
            <a:r>
              <a:rPr lang="en-US" sz="1100" b="0" dirty="0">
                <a:solidFill>
                  <a:srgbClr val="000000"/>
                </a:solidFill>
                <a:effectLst/>
                <a:latin typeface="Menlo" panose="020B0609030804020204" pitchFamily="49" charset="0"/>
              </a:rPr>
              <a:t>}</a:t>
            </a: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p:txBody>
      </p:sp>
      <p:sp>
        <p:nvSpPr>
          <p:cNvPr id="3" name="Footer Placeholder 10">
            <a:extLst>
              <a:ext uri="{FF2B5EF4-FFF2-40B4-BE49-F238E27FC236}">
                <a16:creationId xmlns:a16="http://schemas.microsoft.com/office/drawing/2014/main" id="{093ECE06-1A0F-4CC2-F02B-E9E2752B60D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1929585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A6AAF-D189-105D-DDA8-7F4D65C308D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D673241-72EF-95C1-FD96-045B147AB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35C5B219-AE52-80BC-6782-1BB8E65F182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F0FA0FA-AAD0-EBEA-B995-E7D3D9FC00D4}"/>
              </a:ext>
            </a:extLst>
          </p:cNvPr>
          <p:cNvSpPr>
            <a:spLocks noGrp="1"/>
          </p:cNvSpPr>
          <p:nvPr>
            <p:ph type="sldNum" sz="quarter" idx="12"/>
          </p:nvPr>
        </p:nvSpPr>
        <p:spPr/>
        <p:txBody>
          <a:bodyPr/>
          <a:lstStyle/>
          <a:p>
            <a:fld id="{48F19E39-9933-F648-B2F3-3AC17C0DC986}" type="slidenum">
              <a:rPr lang="en-US" smtClean="0">
                <a:solidFill>
                  <a:schemeClr val="bg1"/>
                </a:solidFill>
              </a:rPr>
              <a:t>41</a:t>
            </a:fld>
            <a:endParaRPr lang="en-US" dirty="0">
              <a:solidFill>
                <a:schemeClr val="bg1"/>
              </a:solidFill>
            </a:endParaRPr>
          </a:p>
        </p:txBody>
      </p:sp>
      <p:sp>
        <p:nvSpPr>
          <p:cNvPr id="5" name="TextBox 4">
            <a:extLst>
              <a:ext uri="{FF2B5EF4-FFF2-40B4-BE49-F238E27FC236}">
                <a16:creationId xmlns:a16="http://schemas.microsoft.com/office/drawing/2014/main" id="{EDF68A9A-3B99-72AC-66B5-6A6DFF0F1E4F}"/>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CONCLUSION</a:t>
            </a:r>
          </a:p>
          <a:p>
            <a:pPr algn="l"/>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Closed the production gap</a:t>
            </a:r>
            <a:endPar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8" name="TextBox 7">
            <a:extLst>
              <a:ext uri="{FF2B5EF4-FFF2-40B4-BE49-F238E27FC236}">
                <a16:creationId xmlns:a16="http://schemas.microsoft.com/office/drawing/2014/main" id="{1DFE6932-17DE-7337-303E-B9810CDE1B99}"/>
              </a:ext>
            </a:extLst>
          </p:cNvPr>
          <p:cNvSpPr txBox="1"/>
          <p:nvPr/>
        </p:nvSpPr>
        <p:spPr>
          <a:xfrm>
            <a:off x="596349" y="1159801"/>
            <a:ext cx="9718084" cy="4293483"/>
          </a:xfrm>
          <a:prstGeom prst="rect">
            <a:avLst/>
          </a:prstGeom>
          <a:noFill/>
        </p:spPr>
        <p:txBody>
          <a:bodyPr wrap="square" rtlCol="0">
            <a:spAutoFit/>
          </a:bodyPr>
          <a:lstStyle/>
          <a:p>
            <a:r>
              <a:rPr lang="en-US" sz="1300" b="1" dirty="0">
                <a:latin typeface="Inter" panose="02000503000000020004" pitchFamily="2" charset="0"/>
                <a:ea typeface="Inter" panose="02000503000000020004" pitchFamily="2" charset="0"/>
                <a:cs typeface="Inter" panose="02000503000000020004" pitchFamily="2" charset="0"/>
              </a:rPr>
              <a:t>Closed the production gap:</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NL → Cypher with safe, auditable, reproducible workflows, no dev bottleneck, no black-box risk.</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Full enterprise stack delivered:</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Secure UIs, gateway, orchestration, workers, and DBs, built for CINECA’s multi-tenant ops.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Controlled agency, not chat:</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Agent runs plan &amp; execute via MCP tools, with RBAC, tenant isolation, I/O guards, and </a:t>
            </a:r>
            <a:br>
              <a:rPr lang="en-US" sz="1300" dirty="0">
                <a:latin typeface="Inter" panose="02000503000000020004" pitchFamily="2" charset="0"/>
                <a:ea typeface="Inter" panose="02000503000000020004" pitchFamily="2" charset="0"/>
                <a:cs typeface="Inter" panose="02000503000000020004" pitchFamily="2" charset="0"/>
              </a:rPr>
            </a:br>
            <a:r>
              <a:rPr lang="en-US" sz="1300" dirty="0">
                <a:latin typeface="Inter" panose="02000503000000020004" pitchFamily="2" charset="0"/>
                <a:ea typeface="Inter" panose="02000503000000020004" pitchFamily="2" charset="0"/>
                <a:cs typeface="Inter" panose="02000503000000020004" pitchFamily="2" charset="0"/>
              </a:rPr>
              <a:t>safe </a:t>
            </a:r>
            <a:r>
              <a:rPr lang="en-US" sz="1300" dirty="0" err="1">
                <a:latin typeface="Inter" panose="02000503000000020004" pitchFamily="2" charset="0"/>
                <a:ea typeface="Inter" panose="02000503000000020004" pitchFamily="2" charset="0"/>
                <a:cs typeface="Inter" panose="02000503000000020004" pitchFamily="2" charset="0"/>
              </a:rPr>
              <a:t>NL→Cypher</a:t>
            </a:r>
            <a:r>
              <a:rPr lang="en-US" sz="1300" dirty="0">
                <a:latin typeface="Inter" panose="02000503000000020004" pitchFamily="2" charset="0"/>
                <a:ea typeface="Inter" panose="02000503000000020004" pitchFamily="2" charset="0"/>
                <a:cs typeface="Inter" panose="02000503000000020004" pitchFamily="2" charset="0"/>
              </a:rPr>
              <a:t> (normalize → lookup → gen → 6-check → exec → summarize).</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Production-ready at scale:</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76 </a:t>
            </a:r>
            <a:r>
              <a:rPr lang="en-US" sz="1300" dirty="0" err="1">
                <a:latin typeface="Inter" panose="02000503000000020004" pitchFamily="2" charset="0"/>
                <a:ea typeface="Inter" panose="02000503000000020004" pitchFamily="2" charset="0"/>
                <a:cs typeface="Inter" panose="02000503000000020004" pitchFamily="2" charset="0"/>
              </a:rPr>
              <a:t>FastAPI</a:t>
            </a:r>
            <a:r>
              <a:rPr lang="en-US" sz="1300" dirty="0">
                <a:latin typeface="Inter" panose="02000503000000020004" pitchFamily="2" charset="0"/>
                <a:ea typeface="Inter" panose="02000503000000020004" pitchFamily="2" charset="0"/>
                <a:cs typeface="Inter" panose="02000503000000020004" pitchFamily="2" charset="0"/>
              </a:rPr>
              <a:t> endpoints, 34 tools, Redis + Postgres + Graph DB, auto-tests, retries, fallbacks, circuit breakers.</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Built-in observability:</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Tracing (</a:t>
            </a:r>
            <a:r>
              <a:rPr lang="en-US" sz="1300" dirty="0" err="1">
                <a:latin typeface="Inter" panose="02000503000000020004" pitchFamily="2" charset="0"/>
                <a:ea typeface="Inter" panose="02000503000000020004" pitchFamily="2" charset="0"/>
                <a:cs typeface="Inter" panose="02000503000000020004" pitchFamily="2" charset="0"/>
              </a:rPr>
              <a:t>OpenTelemetry</a:t>
            </a:r>
            <a:r>
              <a:rPr lang="en-US" sz="1300" dirty="0">
                <a:latin typeface="Inter" panose="02000503000000020004" pitchFamily="2" charset="0"/>
                <a:ea typeface="Inter" panose="02000503000000020004" pitchFamily="2" charset="0"/>
                <a:cs typeface="Inter" panose="02000503000000020004" pitchFamily="2" charset="0"/>
              </a:rPr>
              <a:t>), metrics (Prometheus), dashboards (Grafana), for debugging, auditing, and cost tracking.</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No vendor lock-in:</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Plug in OpenAI, Azure, </a:t>
            </a:r>
            <a:r>
              <a:rPr lang="en-US" sz="1300" dirty="0" err="1">
                <a:latin typeface="Inter" panose="02000503000000020004" pitchFamily="2" charset="0"/>
                <a:ea typeface="Inter" panose="02000503000000020004" pitchFamily="2" charset="0"/>
                <a:cs typeface="Inter" panose="02000503000000020004" pitchFamily="2" charset="0"/>
              </a:rPr>
              <a:t>Ollama</a:t>
            </a:r>
            <a:r>
              <a:rPr lang="en-US" sz="1300" dirty="0">
                <a:latin typeface="Inter" panose="02000503000000020004" pitchFamily="2" charset="0"/>
                <a:ea typeface="Inter" panose="02000503000000020004" pitchFamily="2" charset="0"/>
                <a:cs typeface="Inter" panose="02000503000000020004" pitchFamily="2" charset="0"/>
              </a:rPr>
              <a:t>; select per request/session/tenant, supporting sovereignty &amp; cost control.</a:t>
            </a:r>
          </a:p>
          <a:p>
            <a:endParaRPr lang="en-US" sz="1300" b="1"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Key contribution:</a:t>
            </a:r>
            <a:r>
              <a:rPr lang="en-US" sz="1300" dirty="0">
                <a:latin typeface="Inter" panose="02000503000000020004" pitchFamily="2" charset="0"/>
                <a:ea typeface="Inter" panose="02000503000000020004" pitchFamily="2" charset="0"/>
                <a:cs typeface="Inter" panose="02000503000000020004" pitchFamily="2" charset="0"/>
              </a:rPr>
              <a: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 secure, extensible NL-to-action platform, ready for tools/models/tenants expansion at Sapienza &amp; CINECA.</a:t>
            </a:r>
          </a:p>
        </p:txBody>
      </p:sp>
      <p:sp>
        <p:nvSpPr>
          <p:cNvPr id="2" name="Footer Placeholder 10">
            <a:extLst>
              <a:ext uri="{FF2B5EF4-FFF2-40B4-BE49-F238E27FC236}">
                <a16:creationId xmlns:a16="http://schemas.microsoft.com/office/drawing/2014/main" id="{476B84CE-95F6-241B-9077-C5A03F8429C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6" name="Picture 5">
            <a:extLst>
              <a:ext uri="{FF2B5EF4-FFF2-40B4-BE49-F238E27FC236}">
                <a16:creationId xmlns:a16="http://schemas.microsoft.com/office/drawing/2014/main" id="{70F0AF8C-392C-C08F-BE2A-8F5DFA42795D}"/>
              </a:ext>
            </a:extLst>
          </p:cNvPr>
          <p:cNvPicPr>
            <a:picLocks noChangeAspect="1"/>
          </p:cNvPicPr>
          <p:nvPr/>
        </p:nvPicPr>
        <p:blipFill>
          <a:blip r:embed="rId3"/>
          <a:stretch>
            <a:fillRect/>
          </a:stretch>
        </p:blipFill>
        <p:spPr>
          <a:xfrm>
            <a:off x="8754364" y="1012922"/>
            <a:ext cx="2599436" cy="2293620"/>
          </a:xfrm>
          <a:prstGeom prst="rect">
            <a:avLst/>
          </a:prstGeom>
        </p:spPr>
      </p:pic>
    </p:spTree>
    <p:extLst>
      <p:ext uri="{BB962C8B-B14F-4D97-AF65-F5344CB8AC3E}">
        <p14:creationId xmlns:p14="http://schemas.microsoft.com/office/powerpoint/2010/main" val="616135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3740-ADEF-18D0-C6A8-6292885DC3B8}"/>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9058BDFE-BFBA-591B-30B3-5415D2DAE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F4F18F3D-DE1C-9794-FA3F-68D54701AA5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BEBD4F1-C901-A885-53F2-4C039E831760}"/>
              </a:ext>
            </a:extLst>
          </p:cNvPr>
          <p:cNvSpPr>
            <a:spLocks noGrp="1"/>
          </p:cNvSpPr>
          <p:nvPr>
            <p:ph type="sldNum" sz="quarter" idx="12"/>
          </p:nvPr>
        </p:nvSpPr>
        <p:spPr/>
        <p:txBody>
          <a:bodyPr/>
          <a:lstStyle/>
          <a:p>
            <a:fld id="{48F19E39-9933-F648-B2F3-3AC17C0DC986}" type="slidenum">
              <a:rPr lang="en-US" smtClean="0">
                <a:solidFill>
                  <a:schemeClr val="bg1"/>
                </a:solidFill>
              </a:rPr>
              <a:t>42</a:t>
            </a:fld>
            <a:endParaRPr lang="en-US" dirty="0">
              <a:solidFill>
                <a:schemeClr val="bg1"/>
              </a:solidFill>
            </a:endParaRPr>
          </a:p>
        </p:txBody>
      </p:sp>
      <p:sp>
        <p:nvSpPr>
          <p:cNvPr id="2" name="TextBox 1">
            <a:extLst>
              <a:ext uri="{FF2B5EF4-FFF2-40B4-BE49-F238E27FC236}">
                <a16:creationId xmlns:a16="http://schemas.microsoft.com/office/drawing/2014/main" id="{6CD29052-CA49-342E-5890-0B4A2E6B6B62}"/>
              </a:ext>
            </a:extLst>
          </p:cNvPr>
          <p:cNvSpPr txBox="1"/>
          <p:nvPr/>
        </p:nvSpPr>
        <p:spPr>
          <a:xfrm>
            <a:off x="596348" y="374273"/>
            <a:ext cx="10920461"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COMPARISON WITH SOTA</a:t>
            </a:r>
          </a:p>
          <a:p>
            <a:pPr algn="l"/>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Capability-by-capability comparison of your CINECA Agentic Platform against Top-10 similar platforms</a:t>
            </a:r>
            <a:endParaRPr lang="en-US" sz="13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5" name="Footer Placeholder 10">
            <a:extLst>
              <a:ext uri="{FF2B5EF4-FFF2-40B4-BE49-F238E27FC236}">
                <a16:creationId xmlns:a16="http://schemas.microsoft.com/office/drawing/2014/main" id="{3CFCD47F-1929-6272-C538-EFE6FBDEECAF}"/>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graphicFrame>
        <p:nvGraphicFramePr>
          <p:cNvPr id="6" name="Table 5">
            <a:extLst>
              <a:ext uri="{FF2B5EF4-FFF2-40B4-BE49-F238E27FC236}">
                <a16:creationId xmlns:a16="http://schemas.microsoft.com/office/drawing/2014/main" id="{2113590E-91A9-B59B-F78E-29D995613D94}"/>
              </a:ext>
            </a:extLst>
          </p:cNvPr>
          <p:cNvGraphicFramePr>
            <a:graphicFrameLocks noGrp="1"/>
          </p:cNvGraphicFramePr>
          <p:nvPr/>
        </p:nvGraphicFramePr>
        <p:xfrm>
          <a:off x="596348" y="1314239"/>
          <a:ext cx="11081302" cy="4558104"/>
        </p:xfrm>
        <a:graphic>
          <a:graphicData uri="http://schemas.openxmlformats.org/drawingml/2006/table">
            <a:tbl>
              <a:tblPr>
                <a:tableStyleId>{073A0DAA-6AF3-43AB-8588-CEC1D06C72B9}</a:tableStyleId>
              </a:tblPr>
              <a:tblGrid>
                <a:gridCol w="708577">
                  <a:extLst>
                    <a:ext uri="{9D8B030D-6E8A-4147-A177-3AD203B41FA5}">
                      <a16:colId xmlns:a16="http://schemas.microsoft.com/office/drawing/2014/main" val="679095527"/>
                    </a:ext>
                  </a:extLst>
                </a:gridCol>
                <a:gridCol w="923925">
                  <a:extLst>
                    <a:ext uri="{9D8B030D-6E8A-4147-A177-3AD203B41FA5}">
                      <a16:colId xmlns:a16="http://schemas.microsoft.com/office/drawing/2014/main" val="2228619161"/>
                    </a:ext>
                  </a:extLst>
                </a:gridCol>
                <a:gridCol w="1104900">
                  <a:extLst>
                    <a:ext uri="{9D8B030D-6E8A-4147-A177-3AD203B41FA5}">
                      <a16:colId xmlns:a16="http://schemas.microsoft.com/office/drawing/2014/main" val="3786018971"/>
                    </a:ext>
                  </a:extLst>
                </a:gridCol>
                <a:gridCol w="933450">
                  <a:extLst>
                    <a:ext uri="{9D8B030D-6E8A-4147-A177-3AD203B41FA5}">
                      <a16:colId xmlns:a16="http://schemas.microsoft.com/office/drawing/2014/main" val="1980632396"/>
                    </a:ext>
                  </a:extLst>
                </a:gridCol>
                <a:gridCol w="1049759">
                  <a:extLst>
                    <a:ext uri="{9D8B030D-6E8A-4147-A177-3AD203B41FA5}">
                      <a16:colId xmlns:a16="http://schemas.microsoft.com/office/drawing/2014/main" val="1873488955"/>
                    </a:ext>
                  </a:extLst>
                </a:gridCol>
                <a:gridCol w="944122">
                  <a:extLst>
                    <a:ext uri="{9D8B030D-6E8A-4147-A177-3AD203B41FA5}">
                      <a16:colId xmlns:a16="http://schemas.microsoft.com/office/drawing/2014/main" val="2276810120"/>
                    </a:ext>
                  </a:extLst>
                </a:gridCol>
                <a:gridCol w="944122">
                  <a:extLst>
                    <a:ext uri="{9D8B030D-6E8A-4147-A177-3AD203B41FA5}">
                      <a16:colId xmlns:a16="http://schemas.microsoft.com/office/drawing/2014/main" val="2342820622"/>
                    </a:ext>
                  </a:extLst>
                </a:gridCol>
                <a:gridCol w="852947">
                  <a:extLst>
                    <a:ext uri="{9D8B030D-6E8A-4147-A177-3AD203B41FA5}">
                      <a16:colId xmlns:a16="http://schemas.microsoft.com/office/drawing/2014/main" val="3095727070"/>
                    </a:ext>
                  </a:extLst>
                </a:gridCol>
                <a:gridCol w="832848">
                  <a:extLst>
                    <a:ext uri="{9D8B030D-6E8A-4147-A177-3AD203B41FA5}">
                      <a16:colId xmlns:a16="http://schemas.microsoft.com/office/drawing/2014/main" val="3244696296"/>
                    </a:ext>
                  </a:extLst>
                </a:gridCol>
                <a:gridCol w="879475">
                  <a:extLst>
                    <a:ext uri="{9D8B030D-6E8A-4147-A177-3AD203B41FA5}">
                      <a16:colId xmlns:a16="http://schemas.microsoft.com/office/drawing/2014/main" val="762742898"/>
                    </a:ext>
                  </a:extLst>
                </a:gridCol>
                <a:gridCol w="1278527">
                  <a:extLst>
                    <a:ext uri="{9D8B030D-6E8A-4147-A177-3AD203B41FA5}">
                      <a16:colId xmlns:a16="http://schemas.microsoft.com/office/drawing/2014/main" val="243060970"/>
                    </a:ext>
                  </a:extLst>
                </a:gridCol>
                <a:gridCol w="628650">
                  <a:extLst>
                    <a:ext uri="{9D8B030D-6E8A-4147-A177-3AD203B41FA5}">
                      <a16:colId xmlns:a16="http://schemas.microsoft.com/office/drawing/2014/main" val="3220075890"/>
                    </a:ext>
                  </a:extLst>
                </a:gridCol>
              </a:tblGrid>
              <a:tr h="343383">
                <a:tc>
                  <a:txBody>
                    <a:bodyPr/>
                    <a:lstStyle/>
                    <a:p>
                      <a:r>
                        <a:rPr lang="en-US" sz="800" b="1">
                          <a:latin typeface="Inter" panose="02000503000000020004" pitchFamily="2" charset="0"/>
                          <a:ea typeface="Inter" panose="02000503000000020004" pitchFamily="2" charset="0"/>
                          <a:cs typeface="Inter" panose="02000503000000020004" pitchFamily="2" charset="0"/>
                        </a:rPr>
                        <a:t>Platform</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Full Stack (UI + API + Jobs)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Orchestration Durability (Retries, Resume)</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Agent Planning Loop (Multi-Step Tools)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Tool Ecosystem &amp; Schema Controls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Security &amp; Governance (RBAC, Audit)</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Graph </a:t>
                      </a:r>
                      <a:r>
                        <a:rPr lang="en-US" sz="800" b="1" dirty="0" err="1">
                          <a:latin typeface="Inter" panose="02000503000000020004" pitchFamily="2" charset="0"/>
                          <a:ea typeface="Inter" panose="02000503000000020004" pitchFamily="2" charset="0"/>
                          <a:cs typeface="Inter" panose="02000503000000020004" pitchFamily="2" charset="0"/>
                        </a:rPr>
                        <a:t>NL→Cypher</a:t>
                      </a:r>
                      <a:r>
                        <a:rPr lang="en-US" sz="800" b="1" dirty="0">
                          <a:latin typeface="Inter" panose="02000503000000020004" pitchFamily="2" charset="0"/>
                          <a:ea typeface="Inter" panose="02000503000000020004" pitchFamily="2" charset="0"/>
                          <a:cs typeface="Inter" panose="02000503000000020004" pitchFamily="2" charset="0"/>
                        </a:rPr>
                        <a:t> Support (Secure + Tenant-Aware)</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Observability (Tracing, Metrics, LLM Logs)</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LLM-Agnostic (Model Provider Independent)</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License / Pricing</a:t>
                      </a:r>
                    </a:p>
                  </a:txBody>
                  <a:tcPr marL="14082" marR="14082" marT="7041" marB="7041" anchor="ctr"/>
                </a:tc>
                <a:tc>
                  <a:txBody>
                    <a:bodyPr/>
                    <a:lstStyle/>
                    <a:p>
                      <a:r>
                        <a:rPr lang="en-US" sz="800" b="1">
                          <a:latin typeface="Inter" panose="02000503000000020004" pitchFamily="2" charset="0"/>
                          <a:ea typeface="Inter" panose="02000503000000020004" pitchFamily="2" charset="0"/>
                          <a:cs typeface="Inter" panose="02000503000000020004" pitchFamily="2" charset="0"/>
                        </a:rPr>
                        <a:t>Typical Limitation Compared to CAP</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Fit Score</a:t>
                      </a:r>
                    </a:p>
                  </a:txBody>
                  <a:tcPr marL="14082" marR="14082" marT="7041" marB="7041" anchor="ctr"/>
                </a:tc>
                <a:extLst>
                  <a:ext uri="{0D108BD9-81ED-4DB2-BD59-A6C34878D82A}">
                    <a16:rowId xmlns:a16="http://schemas.microsoft.com/office/drawing/2014/main" val="2619669052"/>
                  </a:ext>
                </a:extLst>
              </a:tr>
              <a:tr h="230847">
                <a:tc>
                  <a:txBody>
                    <a:bodyPr/>
                    <a:lstStyle/>
                    <a:p>
                      <a:r>
                        <a:rPr lang="en-US" sz="800" b="1" dirty="0">
                          <a:latin typeface="Inter" panose="02000503000000020004" pitchFamily="2" charset="0"/>
                          <a:ea typeface="Inter" panose="02000503000000020004" pitchFamily="2" charset="0"/>
                          <a:cs typeface="Inter" panose="02000503000000020004" pitchFamily="2" charset="0"/>
                        </a:rPr>
                        <a:t>CINECA Agentic Platform</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Full-stack: UI + API + Jobs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Durable: retries + checkpoints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Built-in MCP loop engine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Native registry + schema audit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JWT, RBAC, tenancy, I/O guards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Built-in NL→Cypher with validation &amp; tenancy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Full telemetry + LLM evals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 (OpenAI, Ollama, etc.)</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Custom-built (Internal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5.0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387434083"/>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Temporal</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Engine only (no UI/tools)</a:t>
                      </a:r>
                    </a:p>
                  </a:txBody>
                  <a:tcPr marL="14082" marR="14082" marT="7041" marB="7041" anchor="ctr"/>
                </a:tc>
                <a:tc>
                  <a:txBody>
                    <a:bodyPr/>
                    <a:lstStyle/>
                    <a:p>
                      <a:r>
                        <a:rPr lang="en-US" sz="800" b="1" dirty="0">
                          <a:latin typeface="Inter" panose="02000503000000020004" pitchFamily="2" charset="0"/>
                          <a:ea typeface="Inter" panose="02000503000000020004" pitchFamily="2" charset="0"/>
                          <a:cs typeface="Inter" panose="02000503000000020004" pitchFamily="2" charset="0"/>
                        </a:rPr>
                        <a:t>★ Best-in-class workflow durability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 agentic planning loop</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dirty="0" err="1">
                          <a:latin typeface="Inter" panose="02000503000000020004" pitchFamily="2" charset="0"/>
                          <a:ea typeface="Inter" panose="02000503000000020004" pitchFamily="2" charset="0"/>
                          <a:cs typeface="Inter" panose="02000503000000020004" pitchFamily="2" charset="0"/>
                        </a:rPr>
                        <a:t>Pluginable</a:t>
                      </a:r>
                      <a:r>
                        <a:rPr lang="en-US" sz="800" dirty="0">
                          <a:latin typeface="Inter" panose="02000503000000020004" pitchFamily="2" charset="0"/>
                          <a:ea typeface="Inter" panose="02000503000000020004" pitchFamily="2" charset="0"/>
                          <a:cs typeface="Inter" panose="02000503000000020004" pitchFamily="2" charset="0"/>
                        </a:rPr>
                        <a:t> tools (not MCP-native)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Fine-grained RBAC + auth options</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 graph layer</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Metrics + traces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 + Paid Cloud</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 agentic loop or UI; not a full platform</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4.0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090798750"/>
                  </a:ext>
                </a:extLst>
              </a:tr>
              <a:tr h="118312">
                <a:tc>
                  <a:txBody>
                    <a:bodyPr/>
                    <a:lstStyle/>
                    <a:p>
                      <a:r>
                        <a:rPr lang="en-US" sz="800" b="1">
                          <a:latin typeface="Inter" panose="02000503000000020004" pitchFamily="2" charset="0"/>
                          <a:ea typeface="Inter" panose="02000503000000020004" pitchFamily="2" charset="0"/>
                          <a:cs typeface="Inter" panose="02000503000000020004" pitchFamily="2" charset="0"/>
                        </a:rPr>
                        <a:t>Argo Workflows</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K8s-native stack</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DAGs + Retry Semantics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agent loop</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Container steps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Basic RBAC via K8s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Cypher / graph features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Limited metrics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(Apache-2.0)</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K8s-focused; lacks planning &amp; tool UX</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a:t>
                      </a:r>
                      <a:r>
                        <a:rPr lang="en-US" sz="800" b="1">
                          <a:latin typeface="Inter" panose="02000503000000020004" pitchFamily="2" charset="0"/>
                          <a:ea typeface="Inter" panose="02000503000000020004" pitchFamily="2" charset="0"/>
                          <a:cs typeface="Inter" panose="02000503000000020004" pitchFamily="2" charset="0"/>
                        </a:rPr>
                        <a:t>3.5</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935089079"/>
                  </a:ext>
                </a:extLst>
              </a:tr>
              <a:tr h="230847">
                <a:tc>
                  <a:txBody>
                    <a:bodyPr/>
                    <a:lstStyle/>
                    <a:p>
                      <a:r>
                        <a:rPr lang="en-US" sz="800" b="1" dirty="0" err="1">
                          <a:latin typeface="Inter" panose="02000503000000020004" pitchFamily="2" charset="0"/>
                          <a:ea typeface="Inter" panose="02000503000000020004" pitchFamily="2" charset="0"/>
                          <a:cs typeface="Inter" panose="02000503000000020004" pitchFamily="2" charset="0"/>
                        </a:rPr>
                        <a:t>LangGraph</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Library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Durable w/ state checkpointing</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Agent loop with state machine model</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Built-in agent tool patterns</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 RBAC / audit; DIY needed</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Custom </a:t>
                      </a:r>
                      <a:r>
                        <a:rPr lang="en-US" sz="800" dirty="0" err="1">
                          <a:latin typeface="Inter" panose="02000503000000020004" pitchFamily="2" charset="0"/>
                          <a:ea typeface="Inter" panose="02000503000000020004" pitchFamily="2" charset="0"/>
                          <a:cs typeface="Inter" panose="02000503000000020004" pitchFamily="2" charset="0"/>
                        </a:rPr>
                        <a:t>NL→Cypher</a:t>
                      </a:r>
                      <a:r>
                        <a:rPr lang="en-US" sz="800" dirty="0">
                          <a:latin typeface="Inter" panose="02000503000000020004" pitchFamily="2" charset="0"/>
                          <a:ea typeface="Inter" panose="02000503000000020004" pitchFamily="2" charset="0"/>
                          <a:cs typeface="Inter" panose="02000503000000020004" pitchFamily="2" charset="0"/>
                        </a:rPr>
                        <a:t> possible</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Partial (via adapters)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No orchestration stack; governance must be added manually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4.0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887219543"/>
                  </a:ext>
                </a:extLst>
              </a:tr>
              <a:tr h="230847">
                <a:tc>
                  <a:txBody>
                    <a:bodyPr/>
                    <a:lstStyle/>
                    <a:p>
                      <a:r>
                        <a:rPr lang="en-US" sz="800" b="1">
                          <a:latin typeface="Inter" panose="02000503000000020004" pitchFamily="2" charset="0"/>
                          <a:ea typeface="Inter" panose="02000503000000020004" pitchFamily="2" charset="0"/>
                          <a:cs typeface="Inter" panose="02000503000000020004" pitchFamily="2" charset="0"/>
                        </a:rPr>
                        <a:t>OpenAI Agents SDK</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SDK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Runtime-level retry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SDK-defined agent planning</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Typed tools as functions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RBAC or tenancy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Custom Cypher interface possible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Logs via app code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Partial (OpenAI-focused)</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 + Paid OpenAI API</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 job system, no multi-tenant security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3.5</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2192455954"/>
                  </a:ext>
                </a:extLst>
              </a:tr>
              <a:tr h="230847">
                <a:tc>
                  <a:txBody>
                    <a:bodyPr/>
                    <a:lstStyle/>
                    <a:p>
                      <a:r>
                        <a:rPr lang="en-US" sz="800" b="1">
                          <a:latin typeface="Inter" panose="02000503000000020004" pitchFamily="2" charset="0"/>
                          <a:ea typeface="Inter" panose="02000503000000020004" pitchFamily="2" charset="0"/>
                          <a:cs typeface="Inter" panose="02000503000000020004" pitchFamily="2" charset="0"/>
                        </a:rPr>
                        <a:t>Semantic Kernel</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Middleware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Retry via plugins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Plugin-based agent orchestration</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Tools + DI + planner interfaces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Basic auth via host app</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Requires custom NL→Cypher logic</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Custom logs via adapters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Middleware only; lacks orchestration/runtime infra</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3.5</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4204987183"/>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LlamaIndex</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RAG/agent SDK</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Partial retries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Tool-using planner + query agents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Strong RAG support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RBAC, audit, tenancy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External Cypher logic possible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Logs via app code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(MIT) + Paid Cloud</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 durability, security, or orchestration stack</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794314083"/>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Haystack</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Library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Retryable components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Agent + tools (non-durable)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Tool abstraction + DSL</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auth/governance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Cypher possible w/ custom nodes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Basic logs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(Apache-2.0)</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Not production-grade orchestration</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950745492"/>
                  </a:ext>
                </a:extLst>
              </a:tr>
              <a:tr h="174580">
                <a:tc>
                  <a:txBody>
                    <a:bodyPr/>
                    <a:lstStyle/>
                    <a:p>
                      <a:r>
                        <a:rPr lang="en-US" sz="800" b="1" dirty="0">
                          <a:latin typeface="Inter" panose="02000503000000020004" pitchFamily="2" charset="0"/>
                          <a:ea typeface="Inter" panose="02000503000000020004" pitchFamily="2" charset="0"/>
                          <a:cs typeface="Inter" panose="02000503000000020004" pitchFamily="2" charset="0"/>
                        </a:rPr>
                        <a:t>n8n</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GUI product + workflow UI</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Retry + error steps</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Linear tool invocation (not agentic)</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Large integration catalog</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Role-based app-level security</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Not graph-native</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Workflow logs; no LLM eval</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(SUL) + Paid Cloud SaaS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Good for automation; lacks agentic structure</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2.5</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609414411"/>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Windmill</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UI + job scripting platform</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Durable jobs + cron</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agent loop</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Script-based tool definitions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RBAC, SSO, auditing</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Not graph-native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Run logs and dashboards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Partial (not LLM-centric)</a:t>
                      </a:r>
                    </a:p>
                  </a:txBody>
                  <a:tcPr marL="14082" marR="14082" marT="7041" marB="7041" anchor="ctr"/>
                </a:tc>
                <a:tc>
                  <a:txBody>
                    <a:bodyPr/>
                    <a:lstStyle/>
                    <a:p>
                      <a:r>
                        <a:rPr lang="en-US" sz="800" b="0">
                          <a:latin typeface="Inter" panose="02000503000000020004" pitchFamily="2" charset="0"/>
                          <a:ea typeface="Inter" panose="02000503000000020004" pitchFamily="2" charset="0"/>
                          <a:cs typeface="Inter" panose="02000503000000020004" pitchFamily="2" charset="0"/>
                        </a:rPr>
                        <a:t>Free OSS (AGPL mix) + Paid tiers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Good for internal workflows; lacks agent stack</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a:t>
                      </a:r>
                      <a:r>
                        <a:rPr lang="en-US" sz="800" b="1">
                          <a:latin typeface="Inter" panose="02000503000000020004" pitchFamily="2" charset="0"/>
                          <a:ea typeface="Inter" panose="02000503000000020004" pitchFamily="2" charset="0"/>
                          <a:cs typeface="Inter" panose="02000503000000020004" pitchFamily="2" charset="0"/>
                        </a:rPr>
                        <a:t>3.5</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1405766487"/>
                  </a:ext>
                </a:extLst>
              </a:tr>
              <a:tr h="174580">
                <a:tc>
                  <a:txBody>
                    <a:bodyPr/>
                    <a:lstStyle/>
                    <a:p>
                      <a:r>
                        <a:rPr lang="en-US" sz="800" b="1">
                          <a:latin typeface="Inter" panose="02000503000000020004" pitchFamily="2" charset="0"/>
                          <a:ea typeface="Inter" panose="02000503000000020004" pitchFamily="2" charset="0"/>
                          <a:cs typeface="Inter" panose="02000503000000020004" pitchFamily="2" charset="0"/>
                        </a:rPr>
                        <a:t>Langfuse</a:t>
                      </a:r>
                      <a:endParaRPr lang="en-US" sz="80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Observability layer only</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execution</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 planning or tool use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Eval schema for prompts/tools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Some logging support</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Not applicable</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Best-in-class for LLM tracing</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 Yes</a:t>
                      </a:r>
                    </a:p>
                  </a:txBody>
                  <a:tcPr marL="14082" marR="14082" marT="7041" marB="7041" anchor="ctr"/>
                </a:tc>
                <a:tc>
                  <a:txBody>
                    <a:bodyPr/>
                    <a:lstStyle/>
                    <a:p>
                      <a:r>
                        <a:rPr lang="en-US" sz="800" b="0" dirty="0">
                          <a:latin typeface="Inter" panose="02000503000000020004" pitchFamily="2" charset="0"/>
                          <a:ea typeface="Inter" panose="02000503000000020004" pitchFamily="2" charset="0"/>
                          <a:cs typeface="Inter" panose="02000503000000020004" pitchFamily="2" charset="0"/>
                        </a:rPr>
                        <a:t>Free OSS (MIT Core) + Paid SaaS</a:t>
                      </a:r>
                    </a:p>
                  </a:txBody>
                  <a:tcPr marL="14082" marR="14082" marT="7041" marB="7041" anchor="ctr"/>
                </a:tc>
                <a:tc>
                  <a:txBody>
                    <a:bodyPr/>
                    <a:lstStyle/>
                    <a:p>
                      <a:r>
                        <a:rPr lang="en-US" sz="800">
                          <a:latin typeface="Inter" panose="02000503000000020004" pitchFamily="2" charset="0"/>
                          <a:ea typeface="Inter" panose="02000503000000020004" pitchFamily="2" charset="0"/>
                          <a:cs typeface="Inter" panose="02000503000000020004" pitchFamily="2" charset="0"/>
                        </a:rPr>
                        <a:t>Tracing/monitoring only; no workflow or orchestration</a:t>
                      </a:r>
                    </a:p>
                  </a:txBody>
                  <a:tcPr marL="14082" marR="14082" marT="7041" marB="7041" anchor="ctr"/>
                </a:tc>
                <a:tc>
                  <a:txBody>
                    <a:bodyPr/>
                    <a:lstStyle/>
                    <a:p>
                      <a:r>
                        <a:rPr lang="en-US" sz="800" dirty="0">
                          <a:latin typeface="Inter" panose="02000503000000020004" pitchFamily="2" charset="0"/>
                          <a:ea typeface="Inter" panose="02000503000000020004" pitchFamily="2" charset="0"/>
                          <a:cs typeface="Inter" panose="02000503000000020004" pitchFamily="2" charset="0"/>
                        </a:rPr>
                        <a:t>★★ </a:t>
                      </a:r>
                      <a:r>
                        <a:rPr lang="en-US" sz="800" b="1" dirty="0">
                          <a:latin typeface="Inter" panose="02000503000000020004" pitchFamily="2" charset="0"/>
                          <a:ea typeface="Inter" panose="02000503000000020004" pitchFamily="2" charset="0"/>
                          <a:cs typeface="Inter" panose="02000503000000020004" pitchFamily="2" charset="0"/>
                        </a:rPr>
                        <a:t>3.0</a:t>
                      </a:r>
                      <a:endParaRPr lang="en-US" sz="800" dirty="0">
                        <a:latin typeface="Inter" panose="02000503000000020004" pitchFamily="2" charset="0"/>
                        <a:ea typeface="Inter" panose="02000503000000020004" pitchFamily="2" charset="0"/>
                        <a:cs typeface="Inter" panose="02000503000000020004" pitchFamily="2" charset="0"/>
                      </a:endParaRPr>
                    </a:p>
                  </a:txBody>
                  <a:tcPr marL="14082" marR="14082" marT="7041" marB="7041" anchor="ctr"/>
                </a:tc>
                <a:extLst>
                  <a:ext uri="{0D108BD9-81ED-4DB2-BD59-A6C34878D82A}">
                    <a16:rowId xmlns:a16="http://schemas.microsoft.com/office/drawing/2014/main" val="888637995"/>
                  </a:ext>
                </a:extLst>
              </a:tr>
            </a:tbl>
          </a:graphicData>
        </a:graphic>
      </p:graphicFrame>
    </p:spTree>
    <p:extLst>
      <p:ext uri="{BB962C8B-B14F-4D97-AF65-F5344CB8AC3E}">
        <p14:creationId xmlns:p14="http://schemas.microsoft.com/office/powerpoint/2010/main" val="1854710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32A92-1903-2B69-69F9-1FDD1D373C5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EC579A26-8AD0-270D-4602-2E20E24F8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AC0586A-8198-240E-A9B2-0EEE0BFEF9A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0FD818FD-359D-3C1B-D71E-3C8C323B1D1C}"/>
              </a:ext>
            </a:extLst>
          </p:cNvPr>
          <p:cNvSpPr>
            <a:spLocks noGrp="1"/>
          </p:cNvSpPr>
          <p:nvPr>
            <p:ph type="sldNum" sz="quarter" idx="12"/>
          </p:nvPr>
        </p:nvSpPr>
        <p:spPr/>
        <p:txBody>
          <a:bodyPr/>
          <a:lstStyle/>
          <a:p>
            <a:fld id="{48F19E39-9933-F648-B2F3-3AC17C0DC986}" type="slidenum">
              <a:rPr lang="en-US" smtClean="0">
                <a:solidFill>
                  <a:schemeClr val="bg1"/>
                </a:solidFill>
              </a:rPr>
              <a:t>43</a:t>
            </a:fld>
            <a:endParaRPr lang="en-US" dirty="0">
              <a:solidFill>
                <a:schemeClr val="bg1"/>
              </a:solidFill>
            </a:endParaRPr>
          </a:p>
        </p:txBody>
      </p:sp>
      <p:sp>
        <p:nvSpPr>
          <p:cNvPr id="5" name="TextBox 4">
            <a:extLst>
              <a:ext uri="{FF2B5EF4-FFF2-40B4-BE49-F238E27FC236}">
                <a16:creationId xmlns:a16="http://schemas.microsoft.com/office/drawing/2014/main" id="{BD3F92B9-E405-D398-03C1-CC12F156009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FUTURE WORKS</a:t>
            </a:r>
          </a:p>
          <a:p>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Make Orchestration More Autonomous and More Reliable</a:t>
            </a:r>
          </a:p>
        </p:txBody>
      </p:sp>
      <p:sp>
        <p:nvSpPr>
          <p:cNvPr id="8" name="TextBox 7">
            <a:extLst>
              <a:ext uri="{FF2B5EF4-FFF2-40B4-BE49-F238E27FC236}">
                <a16:creationId xmlns:a16="http://schemas.microsoft.com/office/drawing/2014/main" id="{29880EE3-9E24-691D-4605-554F9301A2E2}"/>
              </a:ext>
            </a:extLst>
          </p:cNvPr>
          <p:cNvSpPr txBox="1"/>
          <p:nvPr/>
        </p:nvSpPr>
        <p:spPr>
          <a:xfrm>
            <a:off x="596348" y="1159801"/>
            <a:ext cx="10855955" cy="4493538"/>
          </a:xfrm>
          <a:prstGeom prst="rect">
            <a:avLst/>
          </a:prstGeom>
          <a:noFill/>
        </p:spPr>
        <p:txBody>
          <a:bodyPr wrap="square" rtlCol="0">
            <a:spAutoFit/>
          </a:bodyPr>
          <a:lstStyle/>
          <a:p>
            <a:r>
              <a:rPr lang="en-US" sz="1300" b="1" dirty="0">
                <a:latin typeface="Inter" panose="02000503000000020004" pitchFamily="2" charset="0"/>
                <a:ea typeface="Inter" panose="02000503000000020004" pitchFamily="2" charset="0"/>
                <a:cs typeface="Inter" panose="02000503000000020004" pitchFamily="2" charset="0"/>
              </a:rPr>
              <a:t>Continue at CINECA (fixed-term contract): </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per latest HR update, keep improving, scaling, and deploying the platform across other CINECA HPC software environments.</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Alternatively, contribute to other AI-related areas aligned with CINECA priorities, depending on team needs and preferred direction.</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Unify Workflows A + B (single lifecycle; B as default)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Merge both into one execution path; use Workflow B (jobs + workers) as the base because it’s durable, fault-tolerant, scalable, SSE-native. Keep a “sync-like” UX by streaming job events immediately (no in-process execution).</a:t>
            </a:r>
          </a:p>
          <a:p>
            <a:pPr marL="285750" indent="-285750">
              <a:buFontTx/>
              <a:buChar char="-"/>
            </a:pPr>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Add “Ask Mode” (non-agentic Q&amp;A / data retrieval)</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Lightweight path: no TODO decomposition, but still enforce RBAC, tenant isolation, validation, auditing.</a:t>
            </a:r>
          </a:p>
          <a:p>
            <a:endParaRPr lang="en-US" sz="1300" dirty="0">
              <a:latin typeface="Inter" panose="02000503000000020004" pitchFamily="2" charset="0"/>
              <a:ea typeface="Inter" panose="02000503000000020004" pitchFamily="2" charset="0"/>
              <a:cs typeface="Inter" panose="02000503000000020004" pitchFamily="2" charset="0"/>
            </a:endParaRPr>
          </a:p>
          <a:p>
            <a:r>
              <a:rPr lang="en-US" sz="1300" b="1" dirty="0">
                <a:latin typeface="Inter" panose="02000503000000020004" pitchFamily="2" charset="0"/>
                <a:ea typeface="Inter" panose="02000503000000020004" pitchFamily="2" charset="0"/>
                <a:cs typeface="Inter" panose="02000503000000020004" pitchFamily="2" charset="0"/>
              </a:rPr>
              <a:t>Strengthen autonomy and reliability in the orchestration engine:</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Handle more prompt types reliably (easy → hard, clean → messy)</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(easy): “How many Blast nodes are there?”</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(ambiguous): “Show top collaborations.” → ask “top by what?” or apply a safe default.</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(multi-intent): “Find top institutions and export to CSV.” → plan: query → export.</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(risky): “Delete failed jobs.” → refuse or require admin + confirmation.</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Recover and reproduce runs (checkpointing + deterministic re-runs)</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worker crashes after step 2/5 → resume from step 3, not restart.</a:t>
            </a:r>
          </a:p>
          <a:p>
            <a:pPr marL="285750"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Smarter scheduling under load (priorities + quotas + caps + backpressure)</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Prioritize quick interactive chat jobs over long ETL jobs.</a:t>
            </a:r>
          </a:p>
          <a:p>
            <a:pPr marL="742950" lvl="1" indent="-285750">
              <a:buFontTx/>
              <a:buChar char="-"/>
            </a:pPr>
            <a:r>
              <a:rPr lang="en-US" sz="1300" dirty="0">
                <a:latin typeface="Inter" panose="02000503000000020004" pitchFamily="2" charset="0"/>
                <a:ea typeface="Inter" panose="02000503000000020004" pitchFamily="2" charset="0"/>
                <a:cs typeface="Inter" panose="02000503000000020004" pitchFamily="2" charset="0"/>
              </a:rPr>
              <a:t>Example: Tenant A max 20 concurrent jobs; Tenant B max 5.</a:t>
            </a:r>
          </a:p>
        </p:txBody>
      </p:sp>
      <p:sp>
        <p:nvSpPr>
          <p:cNvPr id="2" name="Footer Placeholder 10">
            <a:extLst>
              <a:ext uri="{FF2B5EF4-FFF2-40B4-BE49-F238E27FC236}">
                <a16:creationId xmlns:a16="http://schemas.microsoft.com/office/drawing/2014/main" id="{63381028-D1C0-039F-A531-4A39337273D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891229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BD821E8-3354-7535-EC13-817D28E08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EB8FA11-B90D-462B-2C75-69B11774F45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3EE6864-9854-8F88-F097-07FDF4A8AF9D}"/>
              </a:ext>
            </a:extLst>
          </p:cNvPr>
          <p:cNvSpPr>
            <a:spLocks noGrp="1"/>
          </p:cNvSpPr>
          <p:nvPr>
            <p:ph type="sldNum" sz="quarter" idx="12"/>
          </p:nvPr>
        </p:nvSpPr>
        <p:spPr/>
        <p:txBody>
          <a:bodyPr/>
          <a:lstStyle/>
          <a:p>
            <a:fld id="{48F19E39-9933-F648-B2F3-3AC17C0DC986}" type="slidenum">
              <a:rPr lang="en-US" smtClean="0">
                <a:solidFill>
                  <a:schemeClr val="bg1"/>
                </a:solidFill>
              </a:rPr>
              <a:t>44</a:t>
            </a:fld>
            <a:endParaRPr lang="en-US" dirty="0">
              <a:solidFill>
                <a:schemeClr val="bg1"/>
              </a:solidFill>
            </a:endParaRPr>
          </a:p>
        </p:txBody>
      </p:sp>
      <p:sp>
        <p:nvSpPr>
          <p:cNvPr id="8" name="TextBox 7">
            <a:extLst>
              <a:ext uri="{FF2B5EF4-FFF2-40B4-BE49-F238E27FC236}">
                <a16:creationId xmlns:a16="http://schemas.microsoft.com/office/drawing/2014/main" id="{A35675E4-D55C-3F6B-0DEB-5576B0D311F5}"/>
              </a:ext>
            </a:extLst>
          </p:cNvPr>
          <p:cNvSpPr txBox="1"/>
          <p:nvPr/>
        </p:nvSpPr>
        <p:spPr>
          <a:xfrm>
            <a:off x="3015354" y="2782669"/>
            <a:ext cx="6161291" cy="646331"/>
          </a:xfrm>
          <a:prstGeom prst="rect">
            <a:avLst/>
          </a:prstGeom>
          <a:noFill/>
        </p:spPr>
        <p:txBody>
          <a:bodyPr wrap="square" rtlCol="0">
            <a:spAutoFit/>
          </a:bodyPr>
          <a:lstStyle/>
          <a:p>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Thanks For Your Attention</a:t>
            </a:r>
          </a:p>
        </p:txBody>
      </p:sp>
      <p:sp>
        <p:nvSpPr>
          <p:cNvPr id="9" name="Footer Placeholder 10">
            <a:extLst>
              <a:ext uri="{FF2B5EF4-FFF2-40B4-BE49-F238E27FC236}">
                <a16:creationId xmlns:a16="http://schemas.microsoft.com/office/drawing/2014/main" id="{7618E793-AC74-1A5F-6374-9011F2565FC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911629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14132</TotalTime>
  <Words>11622</Words>
  <Application>Microsoft Macintosh PowerPoint</Application>
  <PresentationFormat>Widescreen</PresentationFormat>
  <Paragraphs>1642</Paragraphs>
  <Slides>44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-apple-system</vt:lpstr>
      <vt:lpstr>Arial</vt:lpstr>
      <vt:lpstr>Calibri</vt:lpstr>
      <vt:lpstr>Calibri Light</vt:lpstr>
      <vt:lpstr>Courier New</vt:lpstr>
      <vt:lpstr>InaiMathi</vt:lpstr>
      <vt:lpstr>Inter</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 feili</dc:creator>
  <cp:lastModifiedBy>arman feili</cp:lastModifiedBy>
  <cp:revision>159</cp:revision>
  <dcterms:created xsi:type="dcterms:W3CDTF">2024-03-13T12:10:15Z</dcterms:created>
  <dcterms:modified xsi:type="dcterms:W3CDTF">2026-03-01T20:56:45Z</dcterms:modified>
</cp:coreProperties>
</file>